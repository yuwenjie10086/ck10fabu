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图_仅背景不可编辑" descr="bg_full_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可编辑背景暗化层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可编辑圆环"/>
          <p:cNvSpPr/>
          <p:nvPr/>
        </p:nvSpPr>
        <p:spPr>
          <a:xfrm>
            <a:off x="2148840" y="201168"/>
            <a:ext cx="7891272" cy="4800600"/>
          </a:xfrm>
          <a:prstGeom prst="ellipse">
            <a:avLst/>
          </a:prstGeom>
          <a:noFill/>
          <a:ln w="13970">
            <a:solidFill>
              <a:srgbClr val="1688D8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可编辑连线"/>
          <p:cNvCxnSpPr/>
          <p:nvPr/>
        </p:nvCxnSpPr>
        <p:spPr>
          <a:xfrm>
            <a:off x="4343400" y="1042415"/>
            <a:ext cx="594360" cy="0"/>
          </a:xfrm>
          <a:prstGeom prst="line">
            <a:avLst/>
          </a:prstGeom>
          <a:ln w="8890">
            <a:solidFill>
              <a:srgbClr val="A5EEF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可编辑连线"/>
          <p:cNvCxnSpPr/>
          <p:nvPr/>
        </p:nvCxnSpPr>
        <p:spPr>
          <a:xfrm>
            <a:off x="7315200" y="1042415"/>
            <a:ext cx="594360" cy="0"/>
          </a:xfrm>
          <a:prstGeom prst="line">
            <a:avLst/>
          </a:prstGeom>
          <a:ln w="8890">
            <a:solidFill>
              <a:srgbClr val="A5EEF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_Z H I   K A "/>
          <p:cNvSpPr txBox="1"/>
          <p:nvPr/>
        </p:nvSpPr>
        <p:spPr>
          <a:xfrm>
            <a:off x="4983480" y="923544"/>
            <a:ext cx="23317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A5EEFF"/>
                </a:solidFill>
                <a:latin typeface="Arial"/>
                <a:ea typeface="Noto Sans CJK SC"/>
              </a:rPr>
              <a:t>Z H I   K A O   M A N A G E R</a:t>
            </a:r>
          </a:p>
        </p:txBody>
      </p:sp>
      <p:cxnSp>
        <p:nvCxnSpPr>
          <p:cNvPr id="12" name="可编辑连线"/>
          <p:cNvCxnSpPr/>
          <p:nvPr/>
        </p:nvCxnSpPr>
        <p:spPr>
          <a:xfrm>
            <a:off x="4480560" y="2331720"/>
            <a:ext cx="914400" cy="3017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可编辑连线"/>
          <p:cNvCxnSpPr/>
          <p:nvPr/>
        </p:nvCxnSpPr>
        <p:spPr>
          <a:xfrm>
            <a:off x="5394960" y="2633472"/>
            <a:ext cx="685800" cy="109728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可编辑连线"/>
          <p:cNvCxnSpPr/>
          <p:nvPr/>
        </p:nvCxnSpPr>
        <p:spPr>
          <a:xfrm flipV="1">
            <a:off x="6080760" y="2487168"/>
            <a:ext cx="640080" cy="25603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可编辑连线"/>
          <p:cNvCxnSpPr/>
          <p:nvPr/>
        </p:nvCxnSpPr>
        <p:spPr>
          <a:xfrm flipV="1">
            <a:off x="6720840" y="2359152"/>
            <a:ext cx="960120" cy="12801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可编辑连线"/>
          <p:cNvCxnSpPr/>
          <p:nvPr/>
        </p:nvCxnSpPr>
        <p:spPr>
          <a:xfrm>
            <a:off x="4480560" y="2331720"/>
            <a:ext cx="914400" cy="3017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可编辑连线"/>
          <p:cNvCxnSpPr/>
          <p:nvPr/>
        </p:nvCxnSpPr>
        <p:spPr>
          <a:xfrm>
            <a:off x="5394960" y="2633472"/>
            <a:ext cx="685800" cy="109728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可编辑连线"/>
          <p:cNvCxnSpPr/>
          <p:nvPr/>
        </p:nvCxnSpPr>
        <p:spPr>
          <a:xfrm flipV="1">
            <a:off x="6080760" y="2487168"/>
            <a:ext cx="640080" cy="25603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 flipV="1">
            <a:off x="6720840" y="2359152"/>
            <a:ext cx="960120" cy="12801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可编辑连线"/>
          <p:cNvCxnSpPr/>
          <p:nvPr/>
        </p:nvCxnSpPr>
        <p:spPr>
          <a:xfrm>
            <a:off x="4480560" y="2331720"/>
            <a:ext cx="914400" cy="3017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可编辑连线"/>
          <p:cNvCxnSpPr/>
          <p:nvPr/>
        </p:nvCxnSpPr>
        <p:spPr>
          <a:xfrm>
            <a:off x="5394960" y="2633472"/>
            <a:ext cx="685800" cy="109728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可编辑连线"/>
          <p:cNvCxnSpPr/>
          <p:nvPr/>
        </p:nvCxnSpPr>
        <p:spPr>
          <a:xfrm flipV="1">
            <a:off x="6080760" y="2487168"/>
            <a:ext cx="640080" cy="25603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可编辑连线"/>
          <p:cNvCxnSpPr/>
          <p:nvPr/>
        </p:nvCxnSpPr>
        <p:spPr>
          <a:xfrm flipV="1">
            <a:off x="6720840" y="2359152"/>
            <a:ext cx="960120" cy="128016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_让每一座烤房，都有一份可"/>
          <p:cNvSpPr txBox="1"/>
          <p:nvPr/>
        </p:nvSpPr>
        <p:spPr>
          <a:xfrm>
            <a:off x="3246120" y="2999232"/>
            <a:ext cx="571500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rial"/>
                <a:ea typeface="Noto Sans CJK SC"/>
              </a:rPr>
              <a:t>让每一座烤房，都有一份可计算的“健康档案”</a:t>
            </a:r>
          </a:p>
        </p:txBody>
      </p:sp>
      <p:cxnSp>
        <p:nvCxnSpPr>
          <p:cNvPr id="25" name="可编辑连线"/>
          <p:cNvCxnSpPr/>
          <p:nvPr/>
        </p:nvCxnSpPr>
        <p:spPr>
          <a:xfrm>
            <a:off x="3611880" y="3493008"/>
            <a:ext cx="5010912" cy="0"/>
          </a:xfrm>
          <a:prstGeom prst="line">
            <a:avLst/>
          </a:prstGeom>
          <a:ln w="1143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_一库清底   |   双"/>
          <p:cNvSpPr txBox="1"/>
          <p:nvPr/>
        </p:nvSpPr>
        <p:spPr>
          <a:xfrm>
            <a:off x="3017520" y="3822191"/>
            <a:ext cx="6172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Noto Sans CJK SC"/>
              </a:rPr>
              <a:t>一库清底   |   双模决策   |   三智落地   |   四队长效</a:t>
            </a:r>
          </a:p>
        </p:txBody>
      </p:sp>
      <p:sp>
        <p:nvSpPr>
          <p:cNvPr id="27" name="文本_基于健康评估的烤房用投管"/>
          <p:cNvSpPr txBox="1"/>
          <p:nvPr/>
        </p:nvSpPr>
        <p:spPr>
          <a:xfrm>
            <a:off x="3703320" y="4462272"/>
            <a:ext cx="480060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Noto Sans CJK SC"/>
              </a:rPr>
              <a:t>基于健康评估的烤房用投管一体化解决方案</a:t>
            </a:r>
          </a:p>
        </p:txBody>
      </p:sp>
      <p:sp>
        <p:nvSpPr>
          <p:cNvPr id="28" name="文本_湖北烟草创客大赛   ·"/>
          <p:cNvSpPr txBox="1"/>
          <p:nvPr/>
        </p:nvSpPr>
        <p:spPr>
          <a:xfrm>
            <a:off x="3273552" y="6144768"/>
            <a:ext cx="57607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C7DCE8"/>
                </a:solidFill>
                <a:latin typeface="Arial"/>
                <a:ea typeface="Noto Sans CJK SC"/>
              </a:rPr>
              <a:t>湖北烟草创客大赛   ·   决赛发布      宜昌市烟草公司   ·   智同道合创客小组      2026.10</a:t>
            </a:r>
          </a:p>
        </p:txBody>
      </p:sp>
      <p:sp>
        <p:nvSpPr>
          <p:cNvPr id="30" name="封面主标题_智烤管家_连续渐变可编辑"/>
          <p:cNvSpPr txBox="1"/>
          <p:nvPr/>
        </p:nvSpPr>
        <p:spPr>
          <a:xfrm>
            <a:off x="3328416" y="1371600"/>
            <a:ext cx="5449824" cy="1115568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4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C8FAFF"/>
                    </a:gs>
                    <a:gs pos="100000">
                      <a:srgbClr val="20D9FF"/>
                    </a:gs>
                  </a:gsLst>
                  <a:lin ang="5400000" scaled="1"/>
                </a:gradFill>
              </a:rPr>
              <a:t>智烤管家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烟区一线，最怕这 3 件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烟区一线，最怕这 </a:t>
            </a:r>
            <a:r>
              <a:rPr sz="27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3</a:t>
            </a:r>
            <a:r>
              <a:rPr sz="27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 件事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“有没有烤房”，而是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  <a:ea typeface="Noto Sans CJK SC"/>
              </a:rPr>
              <a:t>不是“有没有烤房”，而是分配、抢修、投入仍靠经验和人工</a:t>
            </a:r>
          </a:p>
        </p:txBody>
      </p:sp>
      <p:sp>
        <p:nvSpPr>
          <p:cNvPr id="10" name="文本_01"/>
          <p:cNvSpPr txBox="1"/>
          <p:nvPr/>
        </p:nvSpPr>
        <p:spPr>
          <a:xfrm>
            <a:off x="868680" y="1783080"/>
            <a:ext cx="77724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 i="1">
                <a:latin typeface="Times New Roman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12" name="文本_分不到"/>
          <p:cNvSpPr txBox="1"/>
          <p:nvPr/>
        </p:nvSpPr>
        <p:spPr>
          <a:xfrm>
            <a:off x="1920240" y="1764792"/>
            <a:ext cx="205740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分不到</a:t>
            </a:r>
          </a:p>
        </p:txBody>
      </p:sp>
      <p:sp>
        <p:nvSpPr>
          <p:cNvPr id="13" name="文本_旺季状态不透明｜烟农无法"/>
          <p:cNvSpPr txBox="1"/>
          <p:nvPr/>
        </p:nvSpPr>
        <p:spPr>
          <a:xfrm>
            <a:off x="1920240" y="2313432"/>
            <a:ext cx="379476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Noto Sans CJK SC"/>
              </a:rPr>
              <a:t>旺季状态不透明｜烟农无法自主选择｜临时需求难调剂</a:t>
            </a:r>
          </a:p>
        </p:txBody>
      </p:sp>
      <p:sp>
        <p:nvSpPr>
          <p:cNvPr id="14" name="可编辑圆环"/>
          <p:cNvSpPr/>
          <p:nvPr/>
        </p:nvSpPr>
        <p:spPr>
          <a:xfrm>
            <a:off x="497204" y="2468880"/>
            <a:ext cx="165735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可编辑圆环"/>
          <p:cNvSpPr/>
          <p:nvPr/>
        </p:nvSpPr>
        <p:spPr>
          <a:xfrm>
            <a:off x="668655" y="2455164"/>
            <a:ext cx="131445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圆环"/>
          <p:cNvSpPr/>
          <p:nvPr/>
        </p:nvSpPr>
        <p:spPr>
          <a:xfrm>
            <a:off x="822959" y="2441448"/>
            <a:ext cx="1005840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可编辑连线"/>
          <p:cNvCxnSpPr/>
          <p:nvPr/>
        </p:nvCxnSpPr>
        <p:spPr>
          <a:xfrm flipV="1">
            <a:off x="1325880" y="193852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可编辑圆环"/>
          <p:cNvSpPr/>
          <p:nvPr/>
        </p:nvSpPr>
        <p:spPr>
          <a:xfrm>
            <a:off x="1293876" y="1911095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7022592" y="2039112"/>
            <a:ext cx="310896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193584" y="2039112"/>
            <a:ext cx="310896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可编辑圆环"/>
          <p:cNvSpPr/>
          <p:nvPr/>
        </p:nvSpPr>
        <p:spPr>
          <a:xfrm>
            <a:off x="7063740" y="235000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可编辑圆环"/>
          <p:cNvSpPr/>
          <p:nvPr/>
        </p:nvSpPr>
        <p:spPr>
          <a:xfrm>
            <a:off x="7200899" y="233629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可编辑圆环"/>
          <p:cNvSpPr/>
          <p:nvPr/>
        </p:nvSpPr>
        <p:spPr>
          <a:xfrm>
            <a:off x="7324344" y="232257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可编辑连线"/>
          <p:cNvCxnSpPr/>
          <p:nvPr/>
        </p:nvCxnSpPr>
        <p:spPr>
          <a:xfrm flipV="1">
            <a:off x="7726679" y="181965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可编辑圆环"/>
          <p:cNvSpPr/>
          <p:nvPr/>
        </p:nvSpPr>
        <p:spPr>
          <a:xfrm>
            <a:off x="7694675" y="179222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可编辑矩形"/>
          <p:cNvSpPr/>
          <p:nvPr/>
        </p:nvSpPr>
        <p:spPr>
          <a:xfrm>
            <a:off x="7573060" y="1735531"/>
            <a:ext cx="307238" cy="87782"/>
          </a:xfrm>
          <a:prstGeom prst="roundRect">
            <a:avLst/>
          </a:prstGeom>
          <a:solidFill>
            <a:srgbClr val="22CCFA">
              <a:alpha val="95000"/>
            </a:srgbClr>
          </a:solidFill>
          <a:ln w="889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可编辑圆环"/>
          <p:cNvSpPr/>
          <p:nvPr/>
        </p:nvSpPr>
        <p:spPr>
          <a:xfrm>
            <a:off x="7621341" y="1761865"/>
            <a:ext cx="30723" cy="30723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可编辑矩形"/>
          <p:cNvSpPr/>
          <p:nvPr/>
        </p:nvSpPr>
        <p:spPr>
          <a:xfrm>
            <a:off x="7573060" y="1867204"/>
            <a:ext cx="307238" cy="87782"/>
          </a:xfrm>
          <a:prstGeom prst="roundRect">
            <a:avLst/>
          </a:prstGeom>
          <a:solidFill>
            <a:srgbClr val="22CCFA">
              <a:alpha val="95000"/>
            </a:srgbClr>
          </a:solidFill>
          <a:ln w="889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可编辑圆环"/>
          <p:cNvSpPr/>
          <p:nvPr/>
        </p:nvSpPr>
        <p:spPr>
          <a:xfrm>
            <a:off x="7621341" y="1893539"/>
            <a:ext cx="30723" cy="30723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可编辑矩形"/>
          <p:cNvSpPr/>
          <p:nvPr/>
        </p:nvSpPr>
        <p:spPr>
          <a:xfrm>
            <a:off x="7573060" y="1998878"/>
            <a:ext cx="307238" cy="87782"/>
          </a:xfrm>
          <a:prstGeom prst="roundRect">
            <a:avLst/>
          </a:prstGeom>
          <a:solidFill>
            <a:srgbClr val="22CCFA">
              <a:alpha val="95000"/>
            </a:srgbClr>
          </a:solidFill>
          <a:ln w="889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可编辑圆环"/>
          <p:cNvSpPr/>
          <p:nvPr/>
        </p:nvSpPr>
        <p:spPr>
          <a:xfrm>
            <a:off x="7621341" y="2025213"/>
            <a:ext cx="30723" cy="30723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文本_资源调度"/>
          <p:cNvSpPr txBox="1"/>
          <p:nvPr/>
        </p:nvSpPr>
        <p:spPr>
          <a:xfrm>
            <a:off x="8302752" y="1764792"/>
            <a:ext cx="1874519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资源调度</a:t>
            </a:r>
          </a:p>
        </p:txBody>
      </p:sp>
      <p:sp>
        <p:nvSpPr>
          <p:cNvPr id="34" name="文本_烤房在哪、是否空闲、谁在"/>
          <p:cNvSpPr txBox="1"/>
          <p:nvPr/>
        </p:nvSpPr>
        <p:spPr>
          <a:xfrm>
            <a:off x="8302752" y="2185416"/>
            <a:ext cx="31546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Noto Sans CJK SC"/>
              </a:rPr>
              <a:t>烤房在哪、是否空闲、谁在使用，
缺少一张动态资源图</a:t>
            </a:r>
          </a:p>
        </p:txBody>
      </p:sp>
      <p:cxnSp>
        <p:nvCxnSpPr>
          <p:cNvPr id="35" name="可编辑连线"/>
          <p:cNvCxnSpPr/>
          <p:nvPr/>
        </p:nvCxnSpPr>
        <p:spPr>
          <a:xfrm>
            <a:off x="8284464" y="2788920"/>
            <a:ext cx="2825496" cy="0"/>
          </a:xfrm>
          <a:prstGeom prst="line">
            <a:avLst/>
          </a:prstGeom>
          <a:ln w="10160">
            <a:solidFill>
              <a:srgbClr val="22CCFA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_02"/>
          <p:cNvSpPr txBox="1"/>
          <p:nvPr/>
        </p:nvSpPr>
        <p:spPr>
          <a:xfrm>
            <a:off x="868680" y="3118104"/>
            <a:ext cx="77724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 i="1">
                <a:latin typeface="Times New Roman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39" name="文本_修不及"/>
          <p:cNvSpPr txBox="1"/>
          <p:nvPr/>
        </p:nvSpPr>
        <p:spPr>
          <a:xfrm>
            <a:off x="1920240" y="3099816"/>
            <a:ext cx="205740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修不及</a:t>
            </a:r>
          </a:p>
        </p:txBody>
      </p:sp>
      <p:sp>
        <p:nvSpPr>
          <p:cNvPr id="40" name="文本_故障逐级上报｜人员靠电话"/>
          <p:cNvSpPr txBox="1"/>
          <p:nvPr/>
        </p:nvSpPr>
        <p:spPr>
          <a:xfrm>
            <a:off x="1920240" y="3648456"/>
            <a:ext cx="379476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Noto Sans CJK SC"/>
              </a:rPr>
              <a:t>故障逐级上报｜人员靠电话找｜配件靠人工调</a:t>
            </a:r>
          </a:p>
        </p:txBody>
      </p:sp>
      <p:sp>
        <p:nvSpPr>
          <p:cNvPr id="41" name="可编辑圆环"/>
          <p:cNvSpPr/>
          <p:nvPr/>
        </p:nvSpPr>
        <p:spPr>
          <a:xfrm>
            <a:off x="497204" y="3803904"/>
            <a:ext cx="165735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圆环"/>
          <p:cNvSpPr/>
          <p:nvPr/>
        </p:nvSpPr>
        <p:spPr>
          <a:xfrm>
            <a:off x="668655" y="3790188"/>
            <a:ext cx="131445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圆环"/>
          <p:cNvSpPr/>
          <p:nvPr/>
        </p:nvSpPr>
        <p:spPr>
          <a:xfrm>
            <a:off x="822959" y="3776472"/>
            <a:ext cx="1005840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可编辑连线"/>
          <p:cNvCxnSpPr/>
          <p:nvPr/>
        </p:nvCxnSpPr>
        <p:spPr>
          <a:xfrm flipV="1">
            <a:off x="1325880" y="327355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可编辑圆环"/>
          <p:cNvSpPr/>
          <p:nvPr/>
        </p:nvSpPr>
        <p:spPr>
          <a:xfrm>
            <a:off x="1293876" y="324612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7022592" y="3374136"/>
            <a:ext cx="310896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7193584" y="3374136"/>
            <a:ext cx="310896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可编辑圆环"/>
          <p:cNvSpPr/>
          <p:nvPr/>
        </p:nvSpPr>
        <p:spPr>
          <a:xfrm>
            <a:off x="7063740" y="368503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可编辑圆环"/>
          <p:cNvSpPr/>
          <p:nvPr/>
        </p:nvSpPr>
        <p:spPr>
          <a:xfrm>
            <a:off x="7200899" y="367131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可编辑圆环"/>
          <p:cNvSpPr/>
          <p:nvPr/>
        </p:nvSpPr>
        <p:spPr>
          <a:xfrm>
            <a:off x="7324344" y="365760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可编辑连线"/>
          <p:cNvCxnSpPr/>
          <p:nvPr/>
        </p:nvCxnSpPr>
        <p:spPr>
          <a:xfrm flipV="1">
            <a:off x="7726679" y="315468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可编辑圆环"/>
          <p:cNvSpPr/>
          <p:nvPr/>
        </p:nvSpPr>
        <p:spPr>
          <a:xfrm>
            <a:off x="7694675" y="3127248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可编辑连线"/>
          <p:cNvCxnSpPr/>
          <p:nvPr/>
        </p:nvCxnSpPr>
        <p:spPr>
          <a:xfrm flipV="1">
            <a:off x="7603784" y="3123224"/>
            <a:ext cx="254569" cy="228234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可编辑圆环"/>
          <p:cNvSpPr/>
          <p:nvPr/>
        </p:nvSpPr>
        <p:spPr>
          <a:xfrm>
            <a:off x="7568671" y="3316345"/>
            <a:ext cx="79004" cy="79004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可编辑连线"/>
          <p:cNvCxnSpPr/>
          <p:nvPr/>
        </p:nvCxnSpPr>
        <p:spPr>
          <a:xfrm>
            <a:off x="7638897" y="3123224"/>
            <a:ext cx="210678" cy="219456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可编辑矩形"/>
          <p:cNvSpPr/>
          <p:nvPr/>
        </p:nvSpPr>
        <p:spPr>
          <a:xfrm>
            <a:off x="7814462" y="3311956"/>
            <a:ext cx="79004" cy="52669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文本_抢修服务"/>
          <p:cNvSpPr txBox="1"/>
          <p:nvPr/>
        </p:nvSpPr>
        <p:spPr>
          <a:xfrm>
            <a:off x="8302752" y="3099816"/>
            <a:ext cx="1874519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抢修服务</a:t>
            </a:r>
          </a:p>
        </p:txBody>
      </p:sp>
      <p:sp>
        <p:nvSpPr>
          <p:cNvPr id="59" name="文本_故障发生以后才“找人找件"/>
          <p:cNvSpPr txBox="1"/>
          <p:nvPr/>
        </p:nvSpPr>
        <p:spPr>
          <a:xfrm>
            <a:off x="8302752" y="3520440"/>
            <a:ext cx="31546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Noto Sans CJK SC"/>
              </a:rPr>
              <a:t>故障发生以后才“找人找件”，
时间被消耗在协调上</a:t>
            </a:r>
          </a:p>
        </p:txBody>
      </p:sp>
      <p:cxnSp>
        <p:nvCxnSpPr>
          <p:cNvPr id="60" name="可编辑连线"/>
          <p:cNvCxnSpPr/>
          <p:nvPr/>
        </p:nvCxnSpPr>
        <p:spPr>
          <a:xfrm>
            <a:off x="8284464" y="4123944"/>
            <a:ext cx="2825496" cy="0"/>
          </a:xfrm>
          <a:prstGeom prst="line">
            <a:avLst/>
          </a:prstGeom>
          <a:ln w="10160">
            <a:solidFill>
              <a:srgbClr val="22CCFA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_03"/>
          <p:cNvSpPr txBox="1"/>
          <p:nvPr/>
        </p:nvSpPr>
        <p:spPr>
          <a:xfrm>
            <a:off x="868680" y="4453128"/>
            <a:ext cx="77724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 i="1">
                <a:latin typeface="Times New Roman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64" name="文本_投不准"/>
          <p:cNvSpPr txBox="1"/>
          <p:nvPr/>
        </p:nvSpPr>
        <p:spPr>
          <a:xfrm>
            <a:off x="1920240" y="4434840"/>
            <a:ext cx="205740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投不准</a:t>
            </a:r>
          </a:p>
        </p:txBody>
      </p:sp>
      <p:sp>
        <p:nvSpPr>
          <p:cNvPr id="65" name="文本_哪栋该修｜哪个村真缺｜新"/>
          <p:cNvSpPr txBox="1"/>
          <p:nvPr/>
        </p:nvSpPr>
        <p:spPr>
          <a:xfrm>
            <a:off x="1920240" y="4983480"/>
            <a:ext cx="379476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Noto Sans CJK SC"/>
              </a:rPr>
              <a:t>哪栋该修｜哪个村真缺｜新建在哪里，缺少量化依据</a:t>
            </a:r>
          </a:p>
        </p:txBody>
      </p:sp>
      <p:sp>
        <p:nvSpPr>
          <p:cNvPr id="66" name="可编辑圆环"/>
          <p:cNvSpPr/>
          <p:nvPr/>
        </p:nvSpPr>
        <p:spPr>
          <a:xfrm>
            <a:off x="497204" y="5138928"/>
            <a:ext cx="165735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可编辑圆环"/>
          <p:cNvSpPr/>
          <p:nvPr/>
        </p:nvSpPr>
        <p:spPr>
          <a:xfrm>
            <a:off x="668655" y="5125212"/>
            <a:ext cx="131445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可编辑圆环"/>
          <p:cNvSpPr/>
          <p:nvPr/>
        </p:nvSpPr>
        <p:spPr>
          <a:xfrm>
            <a:off x="822959" y="5111496"/>
            <a:ext cx="1005840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可编辑连线"/>
          <p:cNvCxnSpPr/>
          <p:nvPr/>
        </p:nvCxnSpPr>
        <p:spPr>
          <a:xfrm flipV="1">
            <a:off x="1325880" y="460857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可编辑圆环"/>
          <p:cNvSpPr/>
          <p:nvPr/>
        </p:nvSpPr>
        <p:spPr>
          <a:xfrm>
            <a:off x="1293876" y="458114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evron 70"/>
          <p:cNvSpPr/>
          <p:nvPr/>
        </p:nvSpPr>
        <p:spPr>
          <a:xfrm>
            <a:off x="7022592" y="4709160"/>
            <a:ext cx="310896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evron 71"/>
          <p:cNvSpPr/>
          <p:nvPr/>
        </p:nvSpPr>
        <p:spPr>
          <a:xfrm>
            <a:off x="7193584" y="4709160"/>
            <a:ext cx="310896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可编辑圆环"/>
          <p:cNvSpPr/>
          <p:nvPr/>
        </p:nvSpPr>
        <p:spPr>
          <a:xfrm>
            <a:off x="7063740" y="5020056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可编辑圆环"/>
          <p:cNvSpPr/>
          <p:nvPr/>
        </p:nvSpPr>
        <p:spPr>
          <a:xfrm>
            <a:off x="7200899" y="5006340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可编辑圆环"/>
          <p:cNvSpPr/>
          <p:nvPr/>
        </p:nvSpPr>
        <p:spPr>
          <a:xfrm>
            <a:off x="7324344" y="4992624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可编辑连线"/>
          <p:cNvCxnSpPr/>
          <p:nvPr/>
        </p:nvCxnSpPr>
        <p:spPr>
          <a:xfrm flipV="1">
            <a:off x="7726679" y="4489704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可编辑圆环"/>
          <p:cNvSpPr/>
          <p:nvPr/>
        </p:nvSpPr>
        <p:spPr>
          <a:xfrm>
            <a:off x="7694675" y="4462272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可编辑矩形"/>
          <p:cNvSpPr/>
          <p:nvPr/>
        </p:nvSpPr>
        <p:spPr>
          <a:xfrm>
            <a:off x="7559893" y="4559198"/>
            <a:ext cx="74615" cy="153619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矩形"/>
          <p:cNvSpPr/>
          <p:nvPr/>
        </p:nvSpPr>
        <p:spPr>
          <a:xfrm>
            <a:off x="7665232" y="4471416"/>
            <a:ext cx="74615" cy="24140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可编辑矩形"/>
          <p:cNvSpPr/>
          <p:nvPr/>
        </p:nvSpPr>
        <p:spPr>
          <a:xfrm>
            <a:off x="7770571" y="4352909"/>
            <a:ext cx="74615" cy="359907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可编辑连线"/>
          <p:cNvCxnSpPr/>
          <p:nvPr/>
        </p:nvCxnSpPr>
        <p:spPr>
          <a:xfrm>
            <a:off x="7529169" y="4721595"/>
            <a:ext cx="381854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文本_投入决策"/>
          <p:cNvSpPr txBox="1"/>
          <p:nvPr/>
        </p:nvSpPr>
        <p:spPr>
          <a:xfrm>
            <a:off x="8302752" y="4434840"/>
            <a:ext cx="1874519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38000">
                      <a:srgbClr val="FFFFFF"/>
                    </a:gs>
                    <a:gs pos="69000">
                      <a:srgbClr val="D5FBFF"/>
                    </a:gs>
                    <a:gs pos="100000">
                      <a:srgbClr val="17D4F7"/>
                    </a:gs>
                  </a:gsLst>
                  <a:lin ang="5400000" scaled="1"/>
                </a:gradFill>
              </a:rPr>
              <a:t>投入决策</a:t>
            </a:r>
          </a:p>
        </p:txBody>
      </p:sp>
      <p:sp>
        <p:nvSpPr>
          <p:cNvPr id="84" name="文本_把“有多少栋”当“有多少"/>
          <p:cNvSpPr txBox="1"/>
          <p:nvPr/>
        </p:nvSpPr>
        <p:spPr>
          <a:xfrm>
            <a:off x="8302752" y="4855464"/>
            <a:ext cx="31546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Noto Sans CJK SC"/>
              </a:rPr>
              <a:t>把“有多少栋”当“有多少能力”，
容易造成供需错配</a:t>
            </a:r>
          </a:p>
        </p:txBody>
      </p:sp>
      <p:cxnSp>
        <p:nvCxnSpPr>
          <p:cNvPr id="85" name="可编辑连线"/>
          <p:cNvCxnSpPr/>
          <p:nvPr/>
        </p:nvCxnSpPr>
        <p:spPr>
          <a:xfrm>
            <a:off x="8284464" y="5458968"/>
            <a:ext cx="2825496" cy="0"/>
          </a:xfrm>
          <a:prstGeom prst="line">
            <a:avLst/>
          </a:prstGeom>
          <a:ln w="10160">
            <a:solidFill>
              <a:srgbClr val="22CCFA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文本_表面： 用房、抢修、投入"/>
          <p:cNvSpPr txBox="1"/>
          <p:nvPr/>
        </p:nvSpPr>
        <p:spPr>
          <a:xfrm>
            <a:off x="2011680" y="6080760"/>
            <a:ext cx="813816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Noto Sans CJK SC"/>
              </a:rPr>
              <a:t>表面： 用房、抢修、投入     |     根因： “用—投—管” 没有形成数据闭环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1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三愁背后，是三条链断了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三难背后，是三条链没有打通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问题不在“有没有烤房”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问题不在“有没有烤房”，而在资源无统筹、投入无量化、管护无闭环</a:t>
            </a:r>
          </a:p>
        </p:txBody>
      </p:sp>
      <p:sp>
        <p:nvSpPr>
          <p:cNvPr id="9" name="可编辑圆环"/>
          <p:cNvSpPr/>
          <p:nvPr/>
        </p:nvSpPr>
        <p:spPr>
          <a:xfrm>
            <a:off x="5052060" y="306324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可编辑圆环"/>
          <p:cNvSpPr/>
          <p:nvPr/>
        </p:nvSpPr>
        <p:spPr>
          <a:xfrm>
            <a:off x="5189220" y="304952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可编辑圆环"/>
          <p:cNvSpPr/>
          <p:nvPr/>
        </p:nvSpPr>
        <p:spPr>
          <a:xfrm>
            <a:off x="5312664" y="303580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可编辑连线"/>
          <p:cNvCxnSpPr/>
          <p:nvPr/>
        </p:nvCxnSpPr>
        <p:spPr>
          <a:xfrm flipV="1">
            <a:off x="5715000" y="253288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可编辑圆环"/>
          <p:cNvSpPr/>
          <p:nvPr/>
        </p:nvSpPr>
        <p:spPr>
          <a:xfrm>
            <a:off x="5682996" y="250545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可编辑矩形"/>
          <p:cNvSpPr/>
          <p:nvPr/>
        </p:nvSpPr>
        <p:spPr>
          <a:xfrm>
            <a:off x="5477987" y="2591409"/>
            <a:ext cx="474024" cy="342351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398983" y="2328062"/>
            <a:ext cx="632033" cy="316016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矩形"/>
          <p:cNvSpPr/>
          <p:nvPr/>
        </p:nvSpPr>
        <p:spPr>
          <a:xfrm>
            <a:off x="5655746" y="2703332"/>
            <a:ext cx="118506" cy="184343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文本_01"/>
          <p:cNvSpPr txBox="1"/>
          <p:nvPr/>
        </p:nvSpPr>
        <p:spPr>
          <a:xfrm>
            <a:off x="6199632" y="2011680"/>
            <a:ext cx="713232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20" name="文本_用房管理断链"/>
          <p:cNvSpPr txBox="1"/>
          <p:nvPr/>
        </p:nvSpPr>
        <p:spPr>
          <a:xfrm>
            <a:off x="7022592" y="2103120"/>
            <a:ext cx="23317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资源统筹断链</a:t>
            </a:r>
          </a:p>
        </p:txBody>
      </p:sp>
      <p:sp>
        <p:nvSpPr>
          <p:cNvPr id="21" name="文本_空闲不清 / 状态不明 "/>
          <p:cNvSpPr txBox="1"/>
          <p:nvPr/>
        </p:nvSpPr>
        <p:spPr>
          <a:xfrm>
            <a:off x="7022592" y="2596896"/>
            <a:ext cx="28803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Noto Sans CJK SC"/>
              </a:rPr>
              <a:t>状态不明 / 空闲不清 / 调剂靠电话</a:t>
            </a:r>
          </a:p>
        </p:txBody>
      </p:sp>
      <p:sp>
        <p:nvSpPr>
          <p:cNvPr id="22" name="可编辑圆环"/>
          <p:cNvSpPr/>
          <p:nvPr/>
        </p:nvSpPr>
        <p:spPr>
          <a:xfrm>
            <a:off x="3954780" y="48006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可编辑圆环"/>
          <p:cNvSpPr/>
          <p:nvPr/>
        </p:nvSpPr>
        <p:spPr>
          <a:xfrm>
            <a:off x="4091939" y="47868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可编辑圆环"/>
          <p:cNvSpPr/>
          <p:nvPr/>
        </p:nvSpPr>
        <p:spPr>
          <a:xfrm>
            <a:off x="4215383" y="47731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可编辑连线"/>
          <p:cNvCxnSpPr/>
          <p:nvPr/>
        </p:nvCxnSpPr>
        <p:spPr>
          <a:xfrm flipV="1">
            <a:off x="4617720" y="42702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可编辑圆环"/>
          <p:cNvSpPr/>
          <p:nvPr/>
        </p:nvSpPr>
        <p:spPr>
          <a:xfrm>
            <a:off x="4585716" y="42428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可编辑连线"/>
          <p:cNvCxnSpPr/>
          <p:nvPr/>
        </p:nvCxnSpPr>
        <p:spPr>
          <a:xfrm flipV="1">
            <a:off x="4448738" y="4192706"/>
            <a:ext cx="350033" cy="313822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可编辑圆环"/>
          <p:cNvSpPr/>
          <p:nvPr/>
        </p:nvSpPr>
        <p:spPr>
          <a:xfrm>
            <a:off x="4400458" y="4458248"/>
            <a:ext cx="108630" cy="108630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可编辑连线"/>
          <p:cNvCxnSpPr/>
          <p:nvPr/>
        </p:nvCxnSpPr>
        <p:spPr>
          <a:xfrm>
            <a:off x="4497019" y="4192706"/>
            <a:ext cx="289682" cy="301752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可编辑矩形"/>
          <p:cNvSpPr/>
          <p:nvPr/>
        </p:nvSpPr>
        <p:spPr>
          <a:xfrm>
            <a:off x="4738420" y="4452213"/>
            <a:ext cx="108630" cy="72420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文本_02"/>
          <p:cNvSpPr txBox="1"/>
          <p:nvPr/>
        </p:nvSpPr>
        <p:spPr>
          <a:xfrm>
            <a:off x="640080" y="3895344"/>
            <a:ext cx="73152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34" name="文本_维修保障断链"/>
          <p:cNvSpPr txBox="1"/>
          <p:nvPr/>
        </p:nvSpPr>
        <p:spPr>
          <a:xfrm>
            <a:off x="1600200" y="3959352"/>
            <a:ext cx="219456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管护服务断链</a:t>
            </a:r>
          </a:p>
        </p:txBody>
      </p:sp>
      <p:sp>
        <p:nvSpPr>
          <p:cNvPr id="35" name="文本_故障发现慢 / 找人找件"/>
          <p:cNvSpPr txBox="1"/>
          <p:nvPr/>
        </p:nvSpPr>
        <p:spPr>
          <a:xfrm>
            <a:off x="1600200" y="4434840"/>
            <a:ext cx="2395728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Noto Sans CJK SC"/>
              </a:rPr>
              <a:t>报修找人慢 / 配件协调慢 /
过程反馈弱</a:t>
            </a:r>
          </a:p>
        </p:txBody>
      </p:sp>
      <p:sp>
        <p:nvSpPr>
          <p:cNvPr id="36" name="可编辑圆环"/>
          <p:cNvSpPr/>
          <p:nvPr/>
        </p:nvSpPr>
        <p:spPr>
          <a:xfrm>
            <a:off x="7246620" y="48006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圆环"/>
          <p:cNvSpPr/>
          <p:nvPr/>
        </p:nvSpPr>
        <p:spPr>
          <a:xfrm>
            <a:off x="7383780" y="47868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圆环"/>
          <p:cNvSpPr/>
          <p:nvPr/>
        </p:nvSpPr>
        <p:spPr>
          <a:xfrm>
            <a:off x="7507224" y="47731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可编辑连线"/>
          <p:cNvCxnSpPr/>
          <p:nvPr/>
        </p:nvCxnSpPr>
        <p:spPr>
          <a:xfrm flipV="1">
            <a:off x="7909560" y="42702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可编辑圆环"/>
          <p:cNvSpPr/>
          <p:nvPr/>
        </p:nvSpPr>
        <p:spPr>
          <a:xfrm>
            <a:off x="7877556" y="42428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矩形"/>
          <p:cNvSpPr/>
          <p:nvPr/>
        </p:nvSpPr>
        <p:spPr>
          <a:xfrm>
            <a:off x="7687177" y="4332427"/>
            <a:ext cx="99486" cy="204825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矩形"/>
          <p:cNvSpPr/>
          <p:nvPr/>
        </p:nvSpPr>
        <p:spPr>
          <a:xfrm>
            <a:off x="7827629" y="4215384"/>
            <a:ext cx="99486" cy="321868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矩形"/>
          <p:cNvSpPr/>
          <p:nvPr/>
        </p:nvSpPr>
        <p:spPr>
          <a:xfrm>
            <a:off x="7968081" y="4057375"/>
            <a:ext cx="99486" cy="479877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可编辑连线"/>
          <p:cNvCxnSpPr/>
          <p:nvPr/>
        </p:nvCxnSpPr>
        <p:spPr>
          <a:xfrm>
            <a:off x="7646212" y="4548957"/>
            <a:ext cx="509138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_03"/>
          <p:cNvSpPr txBox="1"/>
          <p:nvPr/>
        </p:nvSpPr>
        <p:spPr>
          <a:xfrm>
            <a:off x="8641080" y="3895344"/>
            <a:ext cx="73152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48" name="文本_投入决策断链"/>
          <p:cNvSpPr txBox="1"/>
          <p:nvPr/>
        </p:nvSpPr>
        <p:spPr>
          <a:xfrm>
            <a:off x="9400032" y="3959352"/>
            <a:ext cx="2212848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投入决策断链</a:t>
            </a:r>
          </a:p>
        </p:txBody>
      </p:sp>
      <p:sp>
        <p:nvSpPr>
          <p:cNvPr id="49" name="文本_真实需求不清 / 供需错"/>
          <p:cNvSpPr txBox="1"/>
          <p:nvPr/>
        </p:nvSpPr>
        <p:spPr>
          <a:xfrm>
            <a:off x="9400032" y="4434840"/>
            <a:ext cx="228600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  <a:ea typeface="Noto Sans CJK SC"/>
              </a:rPr>
              <a:t>真实缺口不清 / 供需脱节 /
维修新建凭经验</a:t>
            </a:r>
          </a:p>
        </p:txBody>
      </p:sp>
      <p:sp>
        <p:nvSpPr>
          <p:cNvPr id="50" name="Rounded Rectangle 49"/>
          <p:cNvSpPr/>
          <p:nvPr/>
        </p:nvSpPr>
        <p:spPr>
          <a:xfrm rot="2700000">
            <a:off x="5795832" y="3730020"/>
            <a:ext cx="263347" cy="118506"/>
          </a:xfrm>
          <a:prstGeom prst="roundRect">
            <a:avLst/>
          </a:prstGeom>
          <a:noFill/>
          <a:ln w="2540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 rot="2700000">
            <a:off x="6015288" y="3583716"/>
            <a:ext cx="263347" cy="118506"/>
          </a:xfrm>
          <a:prstGeom prst="roundRect">
            <a:avLst/>
          </a:prstGeom>
          <a:noFill/>
          <a:ln w="2540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可编辑连线"/>
          <p:cNvCxnSpPr/>
          <p:nvPr/>
        </p:nvCxnSpPr>
        <p:spPr>
          <a:xfrm flipH="1">
            <a:off x="5120640" y="3090672"/>
            <a:ext cx="731520" cy="292608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可编辑连线"/>
          <p:cNvCxnSpPr/>
          <p:nvPr/>
        </p:nvCxnSpPr>
        <p:spPr>
          <a:xfrm flipH="1">
            <a:off x="4617720" y="3383280"/>
            <a:ext cx="502920" cy="77724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可编辑连线"/>
          <p:cNvCxnSpPr/>
          <p:nvPr/>
        </p:nvCxnSpPr>
        <p:spPr>
          <a:xfrm flipH="1">
            <a:off x="5120640" y="3090672"/>
            <a:ext cx="731520" cy="292608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可编辑连线"/>
          <p:cNvCxnSpPr/>
          <p:nvPr/>
        </p:nvCxnSpPr>
        <p:spPr>
          <a:xfrm flipH="1">
            <a:off x="4617720" y="3383280"/>
            <a:ext cx="502920" cy="77724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可编辑连线"/>
          <p:cNvCxnSpPr/>
          <p:nvPr/>
        </p:nvCxnSpPr>
        <p:spPr>
          <a:xfrm flipH="1">
            <a:off x="5120640" y="3090672"/>
            <a:ext cx="731520" cy="292608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可编辑连线"/>
          <p:cNvCxnSpPr/>
          <p:nvPr/>
        </p:nvCxnSpPr>
        <p:spPr>
          <a:xfrm flipH="1">
            <a:off x="4617720" y="3383280"/>
            <a:ext cx="502920" cy="77724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可编辑连线"/>
          <p:cNvCxnSpPr/>
          <p:nvPr/>
        </p:nvCxnSpPr>
        <p:spPr>
          <a:xfrm>
            <a:off x="6126480" y="3090672"/>
            <a:ext cx="1005840" cy="31089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可编辑连线"/>
          <p:cNvCxnSpPr/>
          <p:nvPr/>
        </p:nvCxnSpPr>
        <p:spPr>
          <a:xfrm>
            <a:off x="7132320" y="3401568"/>
            <a:ext cx="749807" cy="7589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可编辑连线"/>
          <p:cNvCxnSpPr/>
          <p:nvPr/>
        </p:nvCxnSpPr>
        <p:spPr>
          <a:xfrm>
            <a:off x="6126480" y="3090672"/>
            <a:ext cx="1005840" cy="31089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可编辑连线"/>
          <p:cNvCxnSpPr/>
          <p:nvPr/>
        </p:nvCxnSpPr>
        <p:spPr>
          <a:xfrm>
            <a:off x="7132320" y="3401568"/>
            <a:ext cx="749807" cy="7589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可编辑连线"/>
          <p:cNvCxnSpPr/>
          <p:nvPr/>
        </p:nvCxnSpPr>
        <p:spPr>
          <a:xfrm>
            <a:off x="6126480" y="3090672"/>
            <a:ext cx="1005840" cy="310896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可编辑连线"/>
          <p:cNvCxnSpPr/>
          <p:nvPr/>
        </p:nvCxnSpPr>
        <p:spPr>
          <a:xfrm>
            <a:off x="7132320" y="3401568"/>
            <a:ext cx="749807" cy="7589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可编辑连线"/>
          <p:cNvCxnSpPr/>
          <p:nvPr/>
        </p:nvCxnSpPr>
        <p:spPr>
          <a:xfrm>
            <a:off x="4892040" y="4617720"/>
            <a:ext cx="1188720" cy="32004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可编辑连线"/>
          <p:cNvCxnSpPr/>
          <p:nvPr/>
        </p:nvCxnSpPr>
        <p:spPr>
          <a:xfrm flipV="1">
            <a:off x="6080760" y="4617720"/>
            <a:ext cx="1554480" cy="32004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可编辑连线"/>
          <p:cNvCxnSpPr/>
          <p:nvPr/>
        </p:nvCxnSpPr>
        <p:spPr>
          <a:xfrm>
            <a:off x="4892040" y="4617720"/>
            <a:ext cx="1188720" cy="32004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可编辑连线"/>
          <p:cNvCxnSpPr/>
          <p:nvPr/>
        </p:nvCxnSpPr>
        <p:spPr>
          <a:xfrm flipV="1">
            <a:off x="6080760" y="4617720"/>
            <a:ext cx="1554480" cy="32004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可编辑连线"/>
          <p:cNvCxnSpPr/>
          <p:nvPr/>
        </p:nvCxnSpPr>
        <p:spPr>
          <a:xfrm>
            <a:off x="4892040" y="4617720"/>
            <a:ext cx="1188720" cy="32004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可编辑连线"/>
          <p:cNvCxnSpPr/>
          <p:nvPr/>
        </p:nvCxnSpPr>
        <p:spPr>
          <a:xfrm flipV="1">
            <a:off x="6080760" y="4617720"/>
            <a:ext cx="1554480" cy="32004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文本_根因： “用—投—管” "/>
          <p:cNvSpPr txBox="1"/>
          <p:nvPr/>
        </p:nvSpPr>
        <p:spPr>
          <a:xfrm>
            <a:off x="3017520" y="6108192"/>
            <a:ext cx="6172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C400"/>
                </a:solidFill>
                <a:latin typeface="Arial"/>
                <a:ea typeface="Noto Sans CJK SC"/>
              </a:rPr>
              <a:t>根因：资源无统筹  ｜  投入无量化  ｜  管护无闭环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一套方案，做成 4 件事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一套“1234”，把三难串成一个闭环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摸清家底，到科学决策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C400"/>
                </a:solidFill>
                <a:latin typeface="Arial"/>
                <a:ea typeface="Noto Sans CJK SC"/>
              </a:rPr>
              <a:t>一库见底 → 双模决策 → 三智落地 → 四队长效</a:t>
            </a:r>
          </a:p>
        </p:txBody>
      </p:sp>
      <p:cxnSp>
        <p:nvCxnSpPr>
          <p:cNvPr id="9" name="可编辑连线"/>
          <p:cNvCxnSpPr/>
          <p:nvPr/>
        </p:nvCxnSpPr>
        <p:spPr>
          <a:xfrm flipV="1">
            <a:off x="1691640" y="4334256"/>
            <a:ext cx="2816352" cy="62179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可编辑连线"/>
          <p:cNvCxnSpPr/>
          <p:nvPr/>
        </p:nvCxnSpPr>
        <p:spPr>
          <a:xfrm flipV="1">
            <a:off x="4507992" y="3794760"/>
            <a:ext cx="3054096" cy="53949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可编辑连线"/>
          <p:cNvCxnSpPr/>
          <p:nvPr/>
        </p:nvCxnSpPr>
        <p:spPr>
          <a:xfrm flipV="1">
            <a:off x="7562088" y="3246120"/>
            <a:ext cx="2999232" cy="54864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可编辑连线"/>
          <p:cNvCxnSpPr/>
          <p:nvPr/>
        </p:nvCxnSpPr>
        <p:spPr>
          <a:xfrm flipV="1">
            <a:off x="1691640" y="4334256"/>
            <a:ext cx="2816352" cy="62179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可编辑连线"/>
          <p:cNvCxnSpPr/>
          <p:nvPr/>
        </p:nvCxnSpPr>
        <p:spPr>
          <a:xfrm flipV="1">
            <a:off x="4507992" y="3794760"/>
            <a:ext cx="3054096" cy="53949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可编辑连线"/>
          <p:cNvCxnSpPr/>
          <p:nvPr/>
        </p:nvCxnSpPr>
        <p:spPr>
          <a:xfrm flipV="1">
            <a:off x="7562088" y="3246120"/>
            <a:ext cx="2999232" cy="54864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可编辑连线"/>
          <p:cNvCxnSpPr/>
          <p:nvPr/>
        </p:nvCxnSpPr>
        <p:spPr>
          <a:xfrm flipV="1">
            <a:off x="1691640" y="4334256"/>
            <a:ext cx="2816352" cy="62179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可编辑连线"/>
          <p:cNvCxnSpPr/>
          <p:nvPr/>
        </p:nvCxnSpPr>
        <p:spPr>
          <a:xfrm flipV="1">
            <a:off x="4507992" y="3794760"/>
            <a:ext cx="3054096" cy="539496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可编辑连线"/>
          <p:cNvCxnSpPr/>
          <p:nvPr/>
        </p:nvCxnSpPr>
        <p:spPr>
          <a:xfrm flipV="1">
            <a:off x="7562088" y="3246120"/>
            <a:ext cx="2999232" cy="54864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_01"/>
          <p:cNvSpPr txBox="1"/>
          <p:nvPr/>
        </p:nvSpPr>
        <p:spPr>
          <a:xfrm>
            <a:off x="868680" y="3721608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21" name="文本_一库清底"/>
          <p:cNvSpPr txBox="1"/>
          <p:nvPr/>
        </p:nvSpPr>
        <p:spPr>
          <a:xfrm>
            <a:off x="1600200" y="3840480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C400"/>
                </a:solidFill>
                <a:latin typeface="Arial"/>
                <a:ea typeface="Noto Sans CJK SC"/>
              </a:rPr>
              <a:t>一库见底</a:t>
            </a:r>
          </a:p>
        </p:txBody>
      </p:sp>
      <p:sp>
        <p:nvSpPr>
          <p:cNvPr id="22" name="文本_一房一档 / 状态可视 "/>
          <p:cNvSpPr txBox="1"/>
          <p:nvPr/>
        </p:nvSpPr>
        <p:spPr>
          <a:xfrm>
            <a:off x="1307592" y="4297680"/>
            <a:ext cx="26060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一房一档 / 标准统一 / 底数清楚</a:t>
            </a:r>
          </a:p>
        </p:txBody>
      </p:sp>
      <p:sp>
        <p:nvSpPr>
          <p:cNvPr id="23" name="可编辑圆环"/>
          <p:cNvSpPr/>
          <p:nvPr/>
        </p:nvSpPr>
        <p:spPr>
          <a:xfrm>
            <a:off x="1028700" y="521208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可编辑圆环"/>
          <p:cNvSpPr/>
          <p:nvPr/>
        </p:nvSpPr>
        <p:spPr>
          <a:xfrm>
            <a:off x="1165860" y="519836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可编辑圆环"/>
          <p:cNvSpPr/>
          <p:nvPr/>
        </p:nvSpPr>
        <p:spPr>
          <a:xfrm>
            <a:off x="1289304" y="518464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可编辑连线"/>
          <p:cNvCxnSpPr/>
          <p:nvPr/>
        </p:nvCxnSpPr>
        <p:spPr>
          <a:xfrm flipV="1">
            <a:off x="1691640" y="468172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可编辑圆环"/>
          <p:cNvSpPr/>
          <p:nvPr/>
        </p:nvSpPr>
        <p:spPr>
          <a:xfrm>
            <a:off x="1659636" y="465429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可编辑矩形"/>
          <p:cNvSpPr/>
          <p:nvPr/>
        </p:nvSpPr>
        <p:spPr>
          <a:xfrm>
            <a:off x="1520464" y="4749393"/>
            <a:ext cx="342351" cy="247253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1463405" y="4559198"/>
            <a:ext cx="456468" cy="228234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可编辑矩形"/>
          <p:cNvSpPr/>
          <p:nvPr/>
        </p:nvSpPr>
        <p:spPr>
          <a:xfrm>
            <a:off x="1648846" y="4830226"/>
            <a:ext cx="85587" cy="133136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evron 30"/>
          <p:cNvSpPr/>
          <p:nvPr/>
        </p:nvSpPr>
        <p:spPr>
          <a:xfrm>
            <a:off x="3291840" y="4791456"/>
            <a:ext cx="256032" cy="201168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3432657" y="4791456"/>
            <a:ext cx="256032" cy="201168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文本_02"/>
          <p:cNvSpPr txBox="1"/>
          <p:nvPr/>
        </p:nvSpPr>
        <p:spPr>
          <a:xfrm>
            <a:off x="3685031" y="3099816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36" name="文本_双模决策"/>
          <p:cNvSpPr txBox="1"/>
          <p:nvPr/>
        </p:nvSpPr>
        <p:spPr>
          <a:xfrm>
            <a:off x="4416552" y="321868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C400"/>
                </a:solidFill>
                <a:latin typeface="Arial"/>
                <a:ea typeface="Noto Sans CJK SC"/>
              </a:rPr>
              <a:t>双模决策</a:t>
            </a:r>
          </a:p>
        </p:txBody>
      </p:sp>
      <p:sp>
        <p:nvSpPr>
          <p:cNvPr id="37" name="文本_健康评估 / 供需推演 "/>
          <p:cNvSpPr txBox="1"/>
          <p:nvPr/>
        </p:nvSpPr>
        <p:spPr>
          <a:xfrm>
            <a:off x="4123944" y="3675888"/>
            <a:ext cx="26060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健康评估 / 发展导引 / 决策更准</a:t>
            </a:r>
          </a:p>
        </p:txBody>
      </p:sp>
      <p:sp>
        <p:nvSpPr>
          <p:cNvPr id="38" name="可编辑圆环"/>
          <p:cNvSpPr/>
          <p:nvPr/>
        </p:nvSpPr>
        <p:spPr>
          <a:xfrm>
            <a:off x="3845052" y="45902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圆环"/>
          <p:cNvSpPr/>
          <p:nvPr/>
        </p:nvSpPr>
        <p:spPr>
          <a:xfrm>
            <a:off x="3982211" y="45765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圆环"/>
          <p:cNvSpPr/>
          <p:nvPr/>
        </p:nvSpPr>
        <p:spPr>
          <a:xfrm>
            <a:off x="4105655" y="456285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可编辑连线"/>
          <p:cNvCxnSpPr/>
          <p:nvPr/>
        </p:nvCxnSpPr>
        <p:spPr>
          <a:xfrm flipV="1">
            <a:off x="4507992" y="405993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可编辑圆环"/>
          <p:cNvSpPr/>
          <p:nvPr/>
        </p:nvSpPr>
        <p:spPr>
          <a:xfrm>
            <a:off x="4475988" y="403250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矩形"/>
          <p:cNvSpPr/>
          <p:nvPr/>
        </p:nvSpPr>
        <p:spPr>
          <a:xfrm>
            <a:off x="4327306" y="4127601"/>
            <a:ext cx="80832" cy="16642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矩形"/>
          <p:cNvSpPr/>
          <p:nvPr/>
        </p:nvSpPr>
        <p:spPr>
          <a:xfrm>
            <a:off x="4441423" y="4032504"/>
            <a:ext cx="80832" cy="261518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可编辑矩形"/>
          <p:cNvSpPr/>
          <p:nvPr/>
        </p:nvSpPr>
        <p:spPr>
          <a:xfrm>
            <a:off x="4555540" y="3904122"/>
            <a:ext cx="80832" cy="38990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可编辑连线"/>
          <p:cNvCxnSpPr/>
          <p:nvPr/>
        </p:nvCxnSpPr>
        <p:spPr>
          <a:xfrm>
            <a:off x="4294022" y="4303532"/>
            <a:ext cx="413674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hevron 46"/>
          <p:cNvSpPr/>
          <p:nvPr/>
        </p:nvSpPr>
        <p:spPr>
          <a:xfrm>
            <a:off x="6108192" y="4169664"/>
            <a:ext cx="256032" cy="201168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vron 47"/>
          <p:cNvSpPr/>
          <p:nvPr/>
        </p:nvSpPr>
        <p:spPr>
          <a:xfrm>
            <a:off x="6249009" y="4169664"/>
            <a:ext cx="256032" cy="201168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文本_03"/>
          <p:cNvSpPr txBox="1"/>
          <p:nvPr/>
        </p:nvSpPr>
        <p:spPr>
          <a:xfrm>
            <a:off x="6739127" y="2560320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52" name="文本_三智落地"/>
          <p:cNvSpPr txBox="1"/>
          <p:nvPr/>
        </p:nvSpPr>
        <p:spPr>
          <a:xfrm>
            <a:off x="7470648" y="2679192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C400"/>
                </a:solidFill>
                <a:latin typeface="Arial"/>
                <a:ea typeface="Noto Sans CJK SC"/>
              </a:rPr>
              <a:t>三智落地</a:t>
            </a:r>
          </a:p>
        </p:txBody>
      </p:sp>
      <p:sp>
        <p:nvSpPr>
          <p:cNvPr id="53" name="文本_智用 / 智投 / 智管"/>
          <p:cNvSpPr txBox="1"/>
          <p:nvPr/>
        </p:nvSpPr>
        <p:spPr>
          <a:xfrm>
            <a:off x="7178040" y="3136392"/>
            <a:ext cx="26060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智投 / 智用 / 智管</a:t>
            </a:r>
          </a:p>
        </p:txBody>
      </p:sp>
      <p:sp>
        <p:nvSpPr>
          <p:cNvPr id="54" name="可编辑圆环"/>
          <p:cNvSpPr/>
          <p:nvPr/>
        </p:nvSpPr>
        <p:spPr>
          <a:xfrm>
            <a:off x="6899148" y="40507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可编辑圆环"/>
          <p:cNvSpPr/>
          <p:nvPr/>
        </p:nvSpPr>
        <p:spPr>
          <a:xfrm>
            <a:off x="7036307" y="40370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可编辑圆环"/>
          <p:cNvSpPr/>
          <p:nvPr/>
        </p:nvSpPr>
        <p:spPr>
          <a:xfrm>
            <a:off x="7159751" y="40233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可编辑连线"/>
          <p:cNvCxnSpPr/>
          <p:nvPr/>
        </p:nvCxnSpPr>
        <p:spPr>
          <a:xfrm flipV="1">
            <a:off x="7562088" y="35204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可编辑圆环"/>
          <p:cNvSpPr/>
          <p:nvPr/>
        </p:nvSpPr>
        <p:spPr>
          <a:xfrm>
            <a:off x="7530083" y="3493008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ear 6 58"/>
          <p:cNvSpPr/>
          <p:nvPr/>
        </p:nvSpPr>
        <p:spPr>
          <a:xfrm>
            <a:off x="7362383" y="3412175"/>
            <a:ext cx="399409" cy="399409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可编辑圆环"/>
          <p:cNvSpPr/>
          <p:nvPr/>
        </p:nvSpPr>
        <p:spPr>
          <a:xfrm>
            <a:off x="7514539" y="3564331"/>
            <a:ext cx="95097" cy="95097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evron 60"/>
          <p:cNvSpPr/>
          <p:nvPr/>
        </p:nvSpPr>
        <p:spPr>
          <a:xfrm>
            <a:off x="9162288" y="3630168"/>
            <a:ext cx="256032" cy="201168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evron 61"/>
          <p:cNvSpPr/>
          <p:nvPr/>
        </p:nvSpPr>
        <p:spPr>
          <a:xfrm>
            <a:off x="9303105" y="3630168"/>
            <a:ext cx="256032" cy="201168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文本_04"/>
          <p:cNvSpPr txBox="1"/>
          <p:nvPr/>
        </p:nvSpPr>
        <p:spPr>
          <a:xfrm>
            <a:off x="9738360" y="2011679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04</a:t>
            </a:r>
          </a:p>
        </p:txBody>
      </p:sp>
      <p:sp>
        <p:nvSpPr>
          <p:cNvPr id="66" name="文本_四队长效"/>
          <p:cNvSpPr txBox="1"/>
          <p:nvPr/>
        </p:nvSpPr>
        <p:spPr>
          <a:xfrm>
            <a:off x="10469880" y="2130552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C400"/>
                </a:solidFill>
                <a:latin typeface="Arial"/>
                <a:ea typeface="Noto Sans CJK SC"/>
              </a:rPr>
              <a:t>四队长效</a:t>
            </a:r>
          </a:p>
        </p:txBody>
      </p:sp>
      <p:sp>
        <p:nvSpPr>
          <p:cNvPr id="67" name="文本_专班推进 / 维修服务 "/>
          <p:cNvSpPr txBox="1"/>
          <p:nvPr/>
        </p:nvSpPr>
        <p:spPr>
          <a:xfrm>
            <a:off x="10177272" y="2587752"/>
            <a:ext cx="26060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技术 / 抢修 / 养护 / 综合 + 运维基金</a:t>
            </a:r>
          </a:p>
        </p:txBody>
      </p:sp>
      <p:sp>
        <p:nvSpPr>
          <p:cNvPr id="68" name="可编辑圆环"/>
          <p:cNvSpPr/>
          <p:nvPr/>
        </p:nvSpPr>
        <p:spPr>
          <a:xfrm>
            <a:off x="9898380" y="350215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可编辑圆环"/>
          <p:cNvSpPr/>
          <p:nvPr/>
        </p:nvSpPr>
        <p:spPr>
          <a:xfrm>
            <a:off x="10035540" y="348843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可编辑圆环"/>
          <p:cNvSpPr/>
          <p:nvPr/>
        </p:nvSpPr>
        <p:spPr>
          <a:xfrm>
            <a:off x="10158984" y="347472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可编辑连线"/>
          <p:cNvCxnSpPr/>
          <p:nvPr/>
        </p:nvCxnSpPr>
        <p:spPr>
          <a:xfrm flipV="1">
            <a:off x="10561320" y="297180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可编辑圆环"/>
          <p:cNvSpPr/>
          <p:nvPr/>
        </p:nvSpPr>
        <p:spPr>
          <a:xfrm>
            <a:off x="10529316" y="2944368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可编辑圆环"/>
          <p:cNvSpPr/>
          <p:nvPr/>
        </p:nvSpPr>
        <p:spPr>
          <a:xfrm>
            <a:off x="10423428" y="2960059"/>
            <a:ext cx="66568" cy="66568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可编辑矩形"/>
          <p:cNvSpPr/>
          <p:nvPr/>
        </p:nvSpPr>
        <p:spPr>
          <a:xfrm>
            <a:off x="10403457" y="3043269"/>
            <a:ext cx="106509" cy="99852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可编辑圆环"/>
          <p:cNvSpPr/>
          <p:nvPr/>
        </p:nvSpPr>
        <p:spPr>
          <a:xfrm>
            <a:off x="10632643" y="2960059"/>
            <a:ext cx="66568" cy="66568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可编辑矩形"/>
          <p:cNvSpPr/>
          <p:nvPr/>
        </p:nvSpPr>
        <p:spPr>
          <a:xfrm>
            <a:off x="10612672" y="3043269"/>
            <a:ext cx="106509" cy="99852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可编辑圆环"/>
          <p:cNvSpPr/>
          <p:nvPr/>
        </p:nvSpPr>
        <p:spPr>
          <a:xfrm>
            <a:off x="10513771" y="2915838"/>
            <a:ext cx="95097" cy="95097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可编辑矩形"/>
          <p:cNvSpPr/>
          <p:nvPr/>
        </p:nvSpPr>
        <p:spPr>
          <a:xfrm>
            <a:off x="10485241" y="3034710"/>
            <a:ext cx="152156" cy="142646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文本_把“看不清、修不及、投不"/>
          <p:cNvSpPr txBox="1"/>
          <p:nvPr/>
        </p:nvSpPr>
        <p:spPr>
          <a:xfrm>
            <a:off x="1828800" y="6016752"/>
            <a:ext cx="8458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Noto Sans CJK SC"/>
              </a:rPr>
              <a:t>把“看不清、修不及、投不准”，变成“看得见、管得住、投得准”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6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一库清底：先把家底摸清楚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C400"/>
                </a:solidFill>
                <a:latin typeface="Noto Serif CJK SC"/>
                <a:ea typeface="Noto Serif CJK SC"/>
              </a:rPr>
              <a:t>一库见底：先把“家底”变成可用数据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让每一座烤房，都有一份动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让每一座烤房都有一份动态更新、全过程可溯的档案</a:t>
            </a:r>
          </a:p>
        </p:txBody>
      </p:sp>
      <p:sp>
        <p:nvSpPr>
          <p:cNvPr id="10" name="文本_01"/>
          <p:cNvSpPr txBox="1"/>
          <p:nvPr/>
        </p:nvSpPr>
        <p:spPr>
          <a:xfrm>
            <a:off x="960120" y="1783080"/>
            <a:ext cx="749808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11" name="可编辑圆环"/>
          <p:cNvSpPr/>
          <p:nvPr/>
        </p:nvSpPr>
        <p:spPr>
          <a:xfrm>
            <a:off x="148590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可编辑圆环"/>
          <p:cNvSpPr/>
          <p:nvPr/>
        </p:nvSpPr>
        <p:spPr>
          <a:xfrm>
            <a:off x="1623060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可编辑圆环"/>
          <p:cNvSpPr/>
          <p:nvPr/>
        </p:nvSpPr>
        <p:spPr>
          <a:xfrm>
            <a:off x="1746504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148840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116836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矩形"/>
          <p:cNvSpPr/>
          <p:nvPr/>
        </p:nvSpPr>
        <p:spPr>
          <a:xfrm>
            <a:off x="2011314" y="1839772"/>
            <a:ext cx="275051" cy="343814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可编辑连线"/>
          <p:cNvCxnSpPr/>
          <p:nvPr/>
        </p:nvCxnSpPr>
        <p:spPr>
          <a:xfrm>
            <a:off x="2062886" y="1934321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可编辑连线"/>
          <p:cNvCxnSpPr/>
          <p:nvPr/>
        </p:nvCxnSpPr>
        <p:spPr>
          <a:xfrm>
            <a:off x="2062886" y="200738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>
            <a:off x="2062886" y="208044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_现场采集"/>
          <p:cNvSpPr txBox="1"/>
          <p:nvPr/>
        </p:nvSpPr>
        <p:spPr>
          <a:xfrm>
            <a:off x="1463040" y="2487168"/>
            <a:ext cx="1874519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现场采集</a:t>
            </a:r>
          </a:p>
        </p:txBody>
      </p:sp>
      <p:sp>
        <p:nvSpPr>
          <p:cNvPr id="22" name="文本_位置、容量、状态、设备、"/>
          <p:cNvSpPr txBox="1"/>
          <p:nvPr/>
        </p:nvSpPr>
        <p:spPr>
          <a:xfrm>
            <a:off x="731520" y="2907792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C400"/>
                </a:solidFill>
                <a:latin typeface="Arial"/>
                <a:ea typeface="Noto Sans CJK SC"/>
              </a:rPr>
              <a:t>加热 / 散热 / 自控 / 附属，18个关键部件</a:t>
            </a:r>
          </a:p>
        </p:txBody>
      </p:sp>
      <p:sp>
        <p:nvSpPr>
          <p:cNvPr id="23" name="Chevron 22"/>
          <p:cNvSpPr/>
          <p:nvPr/>
        </p:nvSpPr>
        <p:spPr>
          <a:xfrm>
            <a:off x="3867912" y="2240280"/>
            <a:ext cx="320040" cy="25603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4043934" y="2240280"/>
            <a:ext cx="320040" cy="25603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文本_02"/>
          <p:cNvSpPr txBox="1"/>
          <p:nvPr/>
        </p:nvSpPr>
        <p:spPr>
          <a:xfrm>
            <a:off x="4709159" y="1783080"/>
            <a:ext cx="749808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27" name="可编辑圆环"/>
          <p:cNvSpPr/>
          <p:nvPr/>
        </p:nvSpPr>
        <p:spPr>
          <a:xfrm>
            <a:off x="523494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可编辑圆环"/>
          <p:cNvSpPr/>
          <p:nvPr/>
        </p:nvSpPr>
        <p:spPr>
          <a:xfrm>
            <a:off x="5372099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可编辑圆环"/>
          <p:cNvSpPr/>
          <p:nvPr/>
        </p:nvSpPr>
        <p:spPr>
          <a:xfrm>
            <a:off x="5495543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可编辑连线"/>
          <p:cNvCxnSpPr/>
          <p:nvPr/>
        </p:nvCxnSpPr>
        <p:spPr>
          <a:xfrm flipV="1">
            <a:off x="5897879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可编辑圆环"/>
          <p:cNvSpPr/>
          <p:nvPr/>
        </p:nvSpPr>
        <p:spPr>
          <a:xfrm>
            <a:off x="5865875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可编辑矩形"/>
          <p:cNvSpPr/>
          <p:nvPr/>
        </p:nvSpPr>
        <p:spPr>
          <a:xfrm>
            <a:off x="5760354" y="1839772"/>
            <a:ext cx="275051" cy="343814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可编辑连线"/>
          <p:cNvCxnSpPr/>
          <p:nvPr/>
        </p:nvCxnSpPr>
        <p:spPr>
          <a:xfrm>
            <a:off x="5811926" y="1934321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可编辑连线"/>
          <p:cNvCxnSpPr/>
          <p:nvPr/>
        </p:nvCxnSpPr>
        <p:spPr>
          <a:xfrm>
            <a:off x="5811926" y="200738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可编辑连线"/>
          <p:cNvCxnSpPr/>
          <p:nvPr/>
        </p:nvCxnSpPr>
        <p:spPr>
          <a:xfrm>
            <a:off x="5811926" y="208044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_标准判定"/>
          <p:cNvSpPr txBox="1"/>
          <p:nvPr/>
        </p:nvSpPr>
        <p:spPr>
          <a:xfrm>
            <a:off x="5212079" y="2487168"/>
            <a:ext cx="1874519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标准判定</a:t>
            </a:r>
          </a:p>
        </p:txBody>
      </p:sp>
      <p:sp>
        <p:nvSpPr>
          <p:cNvPr id="38" name="文本_统一口径 / 健康评分 "/>
          <p:cNvSpPr txBox="1"/>
          <p:nvPr/>
        </p:nvSpPr>
        <p:spPr>
          <a:xfrm>
            <a:off x="4480559" y="2907792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正常 / 损坏 / 缺失；优良 / 一般 / 较差</a:t>
            </a:r>
          </a:p>
        </p:txBody>
      </p:sp>
      <p:sp>
        <p:nvSpPr>
          <p:cNvPr id="39" name="Chevron 38"/>
          <p:cNvSpPr/>
          <p:nvPr/>
        </p:nvSpPr>
        <p:spPr>
          <a:xfrm>
            <a:off x="7616952" y="2240280"/>
            <a:ext cx="320040" cy="25603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evron 39"/>
          <p:cNvSpPr/>
          <p:nvPr/>
        </p:nvSpPr>
        <p:spPr>
          <a:xfrm>
            <a:off x="7792974" y="2240280"/>
            <a:ext cx="320040" cy="25603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文本_03"/>
          <p:cNvSpPr txBox="1"/>
          <p:nvPr/>
        </p:nvSpPr>
        <p:spPr>
          <a:xfrm>
            <a:off x="8458200" y="1783080"/>
            <a:ext cx="749808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43" name="可编辑圆环"/>
          <p:cNvSpPr/>
          <p:nvPr/>
        </p:nvSpPr>
        <p:spPr>
          <a:xfrm>
            <a:off x="898398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圆环"/>
          <p:cNvSpPr/>
          <p:nvPr/>
        </p:nvSpPr>
        <p:spPr>
          <a:xfrm>
            <a:off x="9121140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可编辑圆环"/>
          <p:cNvSpPr/>
          <p:nvPr/>
        </p:nvSpPr>
        <p:spPr>
          <a:xfrm>
            <a:off x="9244584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可编辑连线"/>
          <p:cNvCxnSpPr/>
          <p:nvPr/>
        </p:nvCxnSpPr>
        <p:spPr>
          <a:xfrm flipV="1">
            <a:off x="9646920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可编辑圆环"/>
          <p:cNvSpPr/>
          <p:nvPr/>
        </p:nvSpPr>
        <p:spPr>
          <a:xfrm>
            <a:off x="9614916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可编辑矩形"/>
          <p:cNvSpPr/>
          <p:nvPr/>
        </p:nvSpPr>
        <p:spPr>
          <a:xfrm>
            <a:off x="9483608" y="1925726"/>
            <a:ext cx="326623" cy="223479"/>
          </a:xfrm>
          <a:prstGeom prst="roundRect">
            <a:avLst/>
          </a:prstGeom>
          <a:solidFill>
            <a:srgbClr val="2E8ED0">
              <a:alpha val="90000"/>
            </a:srgbClr>
          </a:solidFill>
          <a:ln w="1143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可编辑矩形"/>
          <p:cNvSpPr/>
          <p:nvPr/>
        </p:nvSpPr>
        <p:spPr>
          <a:xfrm>
            <a:off x="9526584" y="1856963"/>
            <a:ext cx="120335" cy="85953"/>
          </a:xfrm>
          <a:prstGeom prst="rect">
            <a:avLst/>
          </a:prstGeom>
          <a:solidFill>
            <a:srgbClr val="2E8ED0">
              <a:alpha val="90000"/>
            </a:srgbClr>
          </a:solidFill>
          <a:ln w="1143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文本_一房一档"/>
          <p:cNvSpPr txBox="1"/>
          <p:nvPr/>
        </p:nvSpPr>
        <p:spPr>
          <a:xfrm>
            <a:off x="8961120" y="2487168"/>
            <a:ext cx="1874519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一房一档</a:t>
            </a:r>
          </a:p>
        </p:txBody>
      </p:sp>
      <p:sp>
        <p:nvSpPr>
          <p:cNvPr id="52" name="文本_动态更新 / 可查可用 "/>
          <p:cNvSpPr txBox="1"/>
          <p:nvPr/>
        </p:nvSpPr>
        <p:spPr>
          <a:xfrm>
            <a:off x="8229600" y="2907792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基础信息 / 部件状态 / 维修记录 / 用户评价</a:t>
            </a:r>
          </a:p>
        </p:txBody>
      </p:sp>
      <p:sp>
        <p:nvSpPr>
          <p:cNvPr id="53" name="Teardrop 52"/>
          <p:cNvSpPr/>
          <p:nvPr/>
        </p:nvSpPr>
        <p:spPr>
          <a:xfrm rot="10800000">
            <a:off x="6076188" y="4311396"/>
            <a:ext cx="210312" cy="210312"/>
          </a:xfrm>
          <a:prstGeom prst="teardrop">
            <a:avLst/>
          </a:prstGeom>
          <a:solidFill>
            <a:srgbClr val="45F29D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可编辑圆环"/>
          <p:cNvSpPr/>
          <p:nvPr/>
        </p:nvSpPr>
        <p:spPr>
          <a:xfrm>
            <a:off x="6158209" y="4393417"/>
            <a:ext cx="46268" cy="46268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可编辑矩形"/>
          <p:cNvSpPr/>
          <p:nvPr/>
        </p:nvSpPr>
        <p:spPr>
          <a:xfrm>
            <a:off x="5861304" y="3822191"/>
            <a:ext cx="868680" cy="457200"/>
          </a:xfrm>
          <a:prstGeom prst="roundRect">
            <a:avLst/>
          </a:prstGeom>
          <a:solidFill>
            <a:srgbClr val="092542">
              <a:alpha val="90000"/>
            </a:srgbClr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文本_正常运行&#10;682座"/>
          <p:cNvSpPr txBox="1"/>
          <p:nvPr/>
        </p:nvSpPr>
        <p:spPr>
          <a:xfrm>
            <a:off x="5907024" y="3858768"/>
            <a:ext cx="7772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Noto Sans CJK SC"/>
              </a:rPr>
              <a:t>加热系统
状态可查</a:t>
            </a:r>
          </a:p>
        </p:txBody>
      </p:sp>
      <p:sp>
        <p:nvSpPr>
          <p:cNvPr id="57" name="Teardrop 56"/>
          <p:cNvSpPr/>
          <p:nvPr/>
        </p:nvSpPr>
        <p:spPr>
          <a:xfrm rot="10800000">
            <a:off x="7319771" y="4119372"/>
            <a:ext cx="210312" cy="210312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可编辑圆环"/>
          <p:cNvSpPr/>
          <p:nvPr/>
        </p:nvSpPr>
        <p:spPr>
          <a:xfrm>
            <a:off x="7401793" y="4201393"/>
            <a:ext cx="46268" cy="46268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可编辑矩形"/>
          <p:cNvSpPr/>
          <p:nvPr/>
        </p:nvSpPr>
        <p:spPr>
          <a:xfrm>
            <a:off x="7104888" y="3630168"/>
            <a:ext cx="868680" cy="457200"/>
          </a:xfrm>
          <a:prstGeom prst="roundRect">
            <a:avLst/>
          </a:prstGeom>
          <a:solidFill>
            <a:srgbClr val="092542">
              <a:alpha val="90000"/>
            </a:srgbClr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文本_空闲可用&#10;156座"/>
          <p:cNvSpPr txBox="1"/>
          <p:nvPr/>
        </p:nvSpPr>
        <p:spPr>
          <a:xfrm>
            <a:off x="7150607" y="3666744"/>
            <a:ext cx="7772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Noto Sans CJK SC"/>
              </a:rPr>
              <a:t>散热系统
状态可查</a:t>
            </a:r>
          </a:p>
        </p:txBody>
      </p:sp>
      <p:sp>
        <p:nvSpPr>
          <p:cNvPr id="61" name="Teardrop 60"/>
          <p:cNvSpPr/>
          <p:nvPr/>
        </p:nvSpPr>
        <p:spPr>
          <a:xfrm rot="10800000">
            <a:off x="8627364" y="4741164"/>
            <a:ext cx="210312" cy="210312"/>
          </a:xfrm>
          <a:prstGeom prst="teardrop">
            <a:avLst/>
          </a:prstGeom>
          <a:solidFill>
            <a:srgbClr val="FF6B61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可编辑圆环"/>
          <p:cNvSpPr/>
          <p:nvPr/>
        </p:nvSpPr>
        <p:spPr>
          <a:xfrm>
            <a:off x="8709385" y="4823185"/>
            <a:ext cx="46268" cy="46268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可编辑矩形"/>
          <p:cNvSpPr/>
          <p:nvPr/>
        </p:nvSpPr>
        <p:spPr>
          <a:xfrm>
            <a:off x="8412480" y="4251959"/>
            <a:ext cx="868680" cy="457200"/>
          </a:xfrm>
          <a:prstGeom prst="roundRect">
            <a:avLst/>
          </a:prstGeom>
          <a:solidFill>
            <a:srgbClr val="092542">
              <a:alpha val="90000"/>
            </a:srgbClr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文本_故障停用&#10;28座"/>
          <p:cNvSpPr txBox="1"/>
          <p:nvPr/>
        </p:nvSpPr>
        <p:spPr>
          <a:xfrm>
            <a:off x="8458200" y="4288536"/>
            <a:ext cx="7772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Noto Sans CJK SC"/>
              </a:rPr>
              <a:t>自控 / 附属
状态可查</a:t>
            </a:r>
          </a:p>
        </p:txBody>
      </p:sp>
      <p:cxnSp>
        <p:nvCxnSpPr>
          <p:cNvPr id="65" name="可编辑连线"/>
          <p:cNvCxnSpPr/>
          <p:nvPr/>
        </p:nvCxnSpPr>
        <p:spPr>
          <a:xfrm flipV="1">
            <a:off x="5074920" y="4709160"/>
            <a:ext cx="502920" cy="365760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可编辑连线"/>
          <p:cNvCxnSpPr/>
          <p:nvPr/>
        </p:nvCxnSpPr>
        <p:spPr>
          <a:xfrm>
            <a:off x="5577840" y="4709160"/>
            <a:ext cx="594360" cy="182880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可编辑连线"/>
          <p:cNvCxnSpPr/>
          <p:nvPr/>
        </p:nvCxnSpPr>
        <p:spPr>
          <a:xfrm flipV="1">
            <a:off x="6172200" y="4526280"/>
            <a:ext cx="594360" cy="365760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可编辑连线"/>
          <p:cNvCxnSpPr/>
          <p:nvPr/>
        </p:nvCxnSpPr>
        <p:spPr>
          <a:xfrm>
            <a:off x="6766560" y="4526280"/>
            <a:ext cx="731519" cy="182880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可编辑连线"/>
          <p:cNvCxnSpPr/>
          <p:nvPr/>
        </p:nvCxnSpPr>
        <p:spPr>
          <a:xfrm flipV="1">
            <a:off x="7498079" y="4407408"/>
            <a:ext cx="548641" cy="301752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可编辑连线"/>
          <p:cNvCxnSpPr/>
          <p:nvPr/>
        </p:nvCxnSpPr>
        <p:spPr>
          <a:xfrm>
            <a:off x="8046720" y="4407408"/>
            <a:ext cx="731520" cy="347472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可编辑连线"/>
          <p:cNvCxnSpPr/>
          <p:nvPr/>
        </p:nvCxnSpPr>
        <p:spPr>
          <a:xfrm>
            <a:off x="8778240" y="4754880"/>
            <a:ext cx="457200" cy="320040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可编辑连线"/>
          <p:cNvCxnSpPr/>
          <p:nvPr/>
        </p:nvCxnSpPr>
        <p:spPr>
          <a:xfrm flipH="1">
            <a:off x="8778240" y="5074920"/>
            <a:ext cx="457200" cy="320040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可编辑连线"/>
          <p:cNvCxnSpPr/>
          <p:nvPr/>
        </p:nvCxnSpPr>
        <p:spPr>
          <a:xfrm flipH="1" flipV="1">
            <a:off x="7955279" y="5257800"/>
            <a:ext cx="822961" cy="137160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可编辑连线"/>
          <p:cNvCxnSpPr/>
          <p:nvPr/>
        </p:nvCxnSpPr>
        <p:spPr>
          <a:xfrm flipH="1">
            <a:off x="7132320" y="5257800"/>
            <a:ext cx="822959" cy="182880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可编辑连线"/>
          <p:cNvCxnSpPr/>
          <p:nvPr/>
        </p:nvCxnSpPr>
        <p:spPr>
          <a:xfrm flipH="1" flipV="1">
            <a:off x="6035040" y="5285232"/>
            <a:ext cx="1097280" cy="155448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可编辑连线"/>
          <p:cNvCxnSpPr/>
          <p:nvPr/>
        </p:nvCxnSpPr>
        <p:spPr>
          <a:xfrm flipH="1" flipV="1">
            <a:off x="5074920" y="5074920"/>
            <a:ext cx="960120" cy="210312"/>
          </a:xfrm>
          <a:prstGeom prst="line">
            <a:avLst/>
          </a:prstGeom>
          <a:ln w="15240">
            <a:solidFill>
              <a:srgbClr val="22CCFA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可编辑圆环"/>
          <p:cNvSpPr/>
          <p:nvPr/>
        </p:nvSpPr>
        <p:spPr>
          <a:xfrm>
            <a:off x="5458968" y="4983480"/>
            <a:ext cx="54864" cy="54864"/>
          </a:xfrm>
          <a:prstGeom prst="ellipse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可编辑圆环"/>
          <p:cNvSpPr/>
          <p:nvPr/>
        </p:nvSpPr>
        <p:spPr>
          <a:xfrm>
            <a:off x="6099048" y="4773168"/>
            <a:ext cx="54864" cy="54864"/>
          </a:xfrm>
          <a:prstGeom prst="ellipse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圆环"/>
          <p:cNvSpPr/>
          <p:nvPr/>
        </p:nvSpPr>
        <p:spPr>
          <a:xfrm>
            <a:off x="6464807" y="5111496"/>
            <a:ext cx="54864" cy="54864"/>
          </a:xfrm>
          <a:prstGeom prst="ellipse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可编辑圆环"/>
          <p:cNvSpPr/>
          <p:nvPr/>
        </p:nvSpPr>
        <p:spPr>
          <a:xfrm>
            <a:off x="7104888" y="4727448"/>
            <a:ext cx="54864" cy="54864"/>
          </a:xfrm>
          <a:prstGeom prst="ellipse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可编辑圆环"/>
          <p:cNvSpPr/>
          <p:nvPr/>
        </p:nvSpPr>
        <p:spPr>
          <a:xfrm>
            <a:off x="7653528" y="5020055"/>
            <a:ext cx="54864" cy="54864"/>
          </a:xfrm>
          <a:prstGeom prst="ellipse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可编辑圆环"/>
          <p:cNvSpPr/>
          <p:nvPr/>
        </p:nvSpPr>
        <p:spPr>
          <a:xfrm>
            <a:off x="8385048" y="4754880"/>
            <a:ext cx="54864" cy="54864"/>
          </a:xfrm>
          <a:prstGeom prst="ellipse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可编辑矩形"/>
          <p:cNvSpPr/>
          <p:nvPr/>
        </p:nvSpPr>
        <p:spPr>
          <a:xfrm>
            <a:off x="9189720" y="3767328"/>
            <a:ext cx="2468880" cy="1856231"/>
          </a:xfrm>
          <a:prstGeom prst="roundRect">
            <a:avLst/>
          </a:prstGeom>
          <a:solidFill>
            <a:srgbClr val="081F38">
              <a:alpha val="78000"/>
            </a:srgbClr>
          </a:solidFill>
          <a:ln w="1143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文本_烤房档案"/>
          <p:cNvSpPr txBox="1"/>
          <p:nvPr/>
        </p:nvSpPr>
        <p:spPr>
          <a:xfrm>
            <a:off x="9345168" y="3822191"/>
            <a:ext cx="10515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5EEFF"/>
                </a:solidFill>
                <a:latin typeface="Arial"/>
                <a:ea typeface="Noto Sans CJK SC"/>
              </a:rPr>
              <a:t>烤房档案</a:t>
            </a:r>
          </a:p>
        </p:txBody>
      </p:sp>
      <p:sp>
        <p:nvSpPr>
          <p:cNvPr id="85" name="文本_YN-5301"/>
          <p:cNvSpPr txBox="1"/>
          <p:nvPr/>
        </p:nvSpPr>
        <p:spPr>
          <a:xfrm>
            <a:off x="10314432" y="3822191"/>
            <a:ext cx="96012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  <a:ea typeface="Noto Sans CJK SC"/>
              </a:rPr>
              <a:t>YN-5301</a:t>
            </a:r>
          </a:p>
        </p:txBody>
      </p:sp>
      <p:sp>
        <p:nvSpPr>
          <p:cNvPr id="86" name="可编辑矩形"/>
          <p:cNvSpPr/>
          <p:nvPr/>
        </p:nvSpPr>
        <p:spPr>
          <a:xfrm>
            <a:off x="9506833" y="4415637"/>
            <a:ext cx="408188" cy="294802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Isosceles Triangle 86"/>
          <p:cNvSpPr/>
          <p:nvPr/>
        </p:nvSpPr>
        <p:spPr>
          <a:xfrm>
            <a:off x="9438802" y="4188866"/>
            <a:ext cx="544250" cy="272125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可编辑矩形"/>
          <p:cNvSpPr/>
          <p:nvPr/>
        </p:nvSpPr>
        <p:spPr>
          <a:xfrm>
            <a:off x="9659904" y="4512015"/>
            <a:ext cx="102047" cy="158739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文本_位置   XX县 XX镇"/>
          <p:cNvSpPr txBox="1"/>
          <p:nvPr/>
        </p:nvSpPr>
        <p:spPr>
          <a:xfrm>
            <a:off x="10168128" y="4160520"/>
            <a:ext cx="1234440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位置   XX县 XX镇
容量   3 吨
设备   热风炉 / 自控系统
使用情况   当前空闲</a:t>
            </a:r>
          </a:p>
        </p:txBody>
      </p:sp>
      <p:sp>
        <p:nvSpPr>
          <p:cNvPr id="90" name="文本_健康评分"/>
          <p:cNvSpPr txBox="1"/>
          <p:nvPr/>
        </p:nvSpPr>
        <p:spPr>
          <a:xfrm>
            <a:off x="9345168" y="4956048"/>
            <a:ext cx="713232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  <a:ea typeface="Noto Sans CJK SC"/>
              </a:rPr>
              <a:t>部件状态</a:t>
            </a:r>
          </a:p>
        </p:txBody>
      </p:sp>
      <p:sp>
        <p:nvSpPr>
          <p:cNvPr id="91" name="可编辑圆环"/>
          <p:cNvSpPr/>
          <p:nvPr/>
        </p:nvSpPr>
        <p:spPr>
          <a:xfrm>
            <a:off x="9372600" y="5193792"/>
            <a:ext cx="512064" cy="512064"/>
          </a:xfrm>
          <a:prstGeom prst="ellipse">
            <a:avLst/>
          </a:prstGeom>
          <a:solidFill>
            <a:srgbClr val="0C466C">
              <a:alpha val="85000"/>
            </a:srgbClr>
          </a:solidFill>
          <a:ln w="381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文本_92"/>
          <p:cNvSpPr txBox="1"/>
          <p:nvPr/>
        </p:nvSpPr>
        <p:spPr>
          <a:xfrm>
            <a:off x="9372600" y="5202936"/>
            <a:ext cx="512064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400"/>
                </a:solidFill>
                <a:latin typeface="Arial"/>
                <a:ea typeface="Noto Sans CJK SC"/>
              </a:rPr>
              <a:t>18项</a:t>
            </a:r>
          </a:p>
        </p:txBody>
      </p:sp>
      <p:sp>
        <p:nvSpPr>
          <p:cNvPr id="93" name="文本_设备状态"/>
          <p:cNvSpPr txBox="1"/>
          <p:nvPr/>
        </p:nvSpPr>
        <p:spPr>
          <a:xfrm>
            <a:off x="9994392" y="5102352"/>
            <a:ext cx="530352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基础信息</a:t>
            </a:r>
          </a:p>
        </p:txBody>
      </p:sp>
      <p:sp>
        <p:nvSpPr>
          <p:cNvPr id="94" name="可编辑矩形"/>
          <p:cNvSpPr/>
          <p:nvPr/>
        </p:nvSpPr>
        <p:spPr>
          <a:xfrm>
            <a:off x="10533888" y="5138928"/>
            <a:ext cx="749808" cy="73152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可编辑矩形"/>
          <p:cNvSpPr/>
          <p:nvPr/>
        </p:nvSpPr>
        <p:spPr>
          <a:xfrm>
            <a:off x="10533888" y="5138928"/>
            <a:ext cx="689823" cy="73152"/>
          </a:xfrm>
          <a:prstGeom prst="roundRect">
            <a:avLst/>
          </a:prstGeom>
          <a:solidFill>
            <a:srgbClr val="22CCF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文本_运行效率"/>
          <p:cNvSpPr txBox="1"/>
          <p:nvPr/>
        </p:nvSpPr>
        <p:spPr>
          <a:xfrm>
            <a:off x="9994392" y="5266944"/>
            <a:ext cx="530352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维修记录</a:t>
            </a:r>
          </a:p>
        </p:txBody>
      </p:sp>
      <p:sp>
        <p:nvSpPr>
          <p:cNvPr id="97" name="可编辑矩形"/>
          <p:cNvSpPr/>
          <p:nvPr/>
        </p:nvSpPr>
        <p:spPr>
          <a:xfrm>
            <a:off x="10533888" y="5303520"/>
            <a:ext cx="749808" cy="73152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可编辑矩形"/>
          <p:cNvSpPr/>
          <p:nvPr/>
        </p:nvSpPr>
        <p:spPr>
          <a:xfrm>
            <a:off x="10533888" y="5303520"/>
            <a:ext cx="644834" cy="73152"/>
          </a:xfrm>
          <a:prstGeom prst="roundRect">
            <a:avLst/>
          </a:prstGeom>
          <a:solidFill>
            <a:srgbClr val="22CCF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文本_维护记录"/>
          <p:cNvSpPr txBox="1"/>
          <p:nvPr/>
        </p:nvSpPr>
        <p:spPr>
          <a:xfrm>
            <a:off x="9994392" y="5431536"/>
            <a:ext cx="530352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用户评价</a:t>
            </a:r>
          </a:p>
        </p:txBody>
      </p:sp>
      <p:sp>
        <p:nvSpPr>
          <p:cNvPr id="100" name="可编辑矩形"/>
          <p:cNvSpPr/>
          <p:nvPr/>
        </p:nvSpPr>
        <p:spPr>
          <a:xfrm>
            <a:off x="10533888" y="5468112"/>
            <a:ext cx="749808" cy="73152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可编辑矩形"/>
          <p:cNvSpPr/>
          <p:nvPr/>
        </p:nvSpPr>
        <p:spPr>
          <a:xfrm>
            <a:off x="10533888" y="5468112"/>
            <a:ext cx="599846" cy="73152"/>
          </a:xfrm>
          <a:prstGeom prst="roundRect">
            <a:avLst/>
          </a:prstGeom>
          <a:solidFill>
            <a:srgbClr val="22CCF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文本_综合评分"/>
          <p:cNvSpPr txBox="1"/>
          <p:nvPr/>
        </p:nvSpPr>
        <p:spPr>
          <a:xfrm>
            <a:off x="9994392" y="5596128"/>
            <a:ext cx="530352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动态归档</a:t>
            </a:r>
          </a:p>
        </p:txBody>
      </p:sp>
      <p:sp>
        <p:nvSpPr>
          <p:cNvPr id="103" name="可编辑矩形"/>
          <p:cNvSpPr/>
          <p:nvPr/>
        </p:nvSpPr>
        <p:spPr>
          <a:xfrm>
            <a:off x="10533888" y="5632704"/>
            <a:ext cx="749808" cy="73152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可编辑矩形"/>
          <p:cNvSpPr/>
          <p:nvPr/>
        </p:nvSpPr>
        <p:spPr>
          <a:xfrm>
            <a:off x="10533888" y="5632704"/>
            <a:ext cx="667329" cy="73152"/>
          </a:xfrm>
          <a:prstGeom prst="roundRect">
            <a:avLst/>
          </a:prstGeom>
          <a:solidFill>
            <a:srgbClr val="22CCF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文本_结果：  空闲房在哪、故"/>
          <p:cNvSpPr txBox="1"/>
          <p:nvPr/>
        </p:nvSpPr>
        <p:spPr>
          <a:xfrm>
            <a:off x="2057400" y="6108192"/>
            <a:ext cx="809244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C400"/>
                </a:solidFill>
                <a:latin typeface="Arial"/>
                <a:ea typeface="Noto Sans CJK SC"/>
              </a:rPr>
              <a:t>结果：现场拍照录入、实时归档、全程可溯，一座烤房一份动态健康档案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5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模型① 烤房健康评估：从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模型① 烤房健康评估：从打分到维修优先序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给一座烤房一个分数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不是为了“打分”，而是把风险变成可执行的维修优先序</a:t>
            </a:r>
          </a:p>
        </p:txBody>
      </p:sp>
      <p:sp>
        <p:nvSpPr>
          <p:cNvPr id="10" name="文本_01"/>
          <p:cNvSpPr txBox="1"/>
          <p:nvPr/>
        </p:nvSpPr>
        <p:spPr>
          <a:xfrm>
            <a:off x="1188720" y="1600200"/>
            <a:ext cx="731520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11" name="可编辑圆环"/>
          <p:cNvSpPr/>
          <p:nvPr/>
        </p:nvSpPr>
        <p:spPr>
          <a:xfrm>
            <a:off x="157734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可编辑圆环"/>
          <p:cNvSpPr/>
          <p:nvPr/>
        </p:nvSpPr>
        <p:spPr>
          <a:xfrm>
            <a:off x="171450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可编辑圆环"/>
          <p:cNvSpPr/>
          <p:nvPr/>
        </p:nvSpPr>
        <p:spPr>
          <a:xfrm>
            <a:off x="1837944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24028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20827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矩形"/>
          <p:cNvSpPr/>
          <p:nvPr/>
        </p:nvSpPr>
        <p:spPr>
          <a:xfrm>
            <a:off x="2093976" y="1591056"/>
            <a:ext cx="292608" cy="365760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可编辑连线"/>
          <p:cNvCxnSpPr/>
          <p:nvPr/>
        </p:nvCxnSpPr>
        <p:spPr>
          <a:xfrm>
            <a:off x="2148840" y="1691640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可编辑连线"/>
          <p:cNvCxnSpPr/>
          <p:nvPr/>
        </p:nvCxnSpPr>
        <p:spPr>
          <a:xfrm>
            <a:off x="2148840" y="1769364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>
            <a:off x="2148840" y="1847088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_状态标准化"/>
          <p:cNvSpPr txBox="1"/>
          <p:nvPr/>
        </p:nvSpPr>
        <p:spPr>
          <a:xfrm>
            <a:off x="1188720" y="2148840"/>
            <a:ext cx="210312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评价输入</a:t>
            </a:r>
          </a:p>
        </p:txBody>
      </p:sp>
      <p:sp>
        <p:nvSpPr>
          <p:cNvPr id="22" name="文本_12类部件 / 状态采集"/>
          <p:cNvSpPr txBox="1"/>
          <p:nvPr/>
        </p:nvSpPr>
        <p:spPr>
          <a:xfrm>
            <a:off x="868680" y="2560320"/>
            <a:ext cx="2743200" cy="3017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部件状态80% / 管护情况10% / 现场评价10%</a:t>
            </a:r>
          </a:p>
        </p:txBody>
      </p:sp>
      <p:sp>
        <p:nvSpPr>
          <p:cNvPr id="24" name="文本_02"/>
          <p:cNvSpPr txBox="1"/>
          <p:nvPr/>
        </p:nvSpPr>
        <p:spPr>
          <a:xfrm>
            <a:off x="4937760" y="1600200"/>
            <a:ext cx="731520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25" name="可编辑圆环"/>
          <p:cNvSpPr/>
          <p:nvPr/>
        </p:nvSpPr>
        <p:spPr>
          <a:xfrm>
            <a:off x="532638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可编辑圆环"/>
          <p:cNvSpPr/>
          <p:nvPr/>
        </p:nvSpPr>
        <p:spPr>
          <a:xfrm>
            <a:off x="546354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可编辑圆环"/>
          <p:cNvSpPr/>
          <p:nvPr/>
        </p:nvSpPr>
        <p:spPr>
          <a:xfrm>
            <a:off x="5586983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可编辑连线"/>
          <p:cNvCxnSpPr/>
          <p:nvPr/>
        </p:nvCxnSpPr>
        <p:spPr>
          <a:xfrm flipV="1">
            <a:off x="598932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可编辑圆环"/>
          <p:cNvSpPr/>
          <p:nvPr/>
        </p:nvSpPr>
        <p:spPr>
          <a:xfrm>
            <a:off x="595731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ear 6 29"/>
          <p:cNvSpPr/>
          <p:nvPr/>
        </p:nvSpPr>
        <p:spPr>
          <a:xfrm>
            <a:off x="5797296" y="1581912"/>
            <a:ext cx="384048" cy="384048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可编辑圆环"/>
          <p:cNvSpPr/>
          <p:nvPr/>
        </p:nvSpPr>
        <p:spPr>
          <a:xfrm>
            <a:off x="5943600" y="1728216"/>
            <a:ext cx="91440" cy="91440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文本_AHP组合评分"/>
          <p:cNvSpPr txBox="1"/>
          <p:nvPr/>
        </p:nvSpPr>
        <p:spPr>
          <a:xfrm>
            <a:off x="4937760" y="2148840"/>
            <a:ext cx="210312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AHP综合评分</a:t>
            </a:r>
          </a:p>
        </p:txBody>
      </p:sp>
      <p:sp>
        <p:nvSpPr>
          <p:cNvPr id="34" name="文本_权重确定 / 综合评价 "/>
          <p:cNvSpPr txBox="1"/>
          <p:nvPr/>
        </p:nvSpPr>
        <p:spPr>
          <a:xfrm>
            <a:off x="4617720" y="2560320"/>
            <a:ext cx="2743200" cy="3017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建设年限 / 使用时长 / 养护记录 / 实时工况</a:t>
            </a:r>
          </a:p>
        </p:txBody>
      </p:sp>
      <p:sp>
        <p:nvSpPr>
          <p:cNvPr id="36" name="文本_03"/>
          <p:cNvSpPr txBox="1"/>
          <p:nvPr/>
        </p:nvSpPr>
        <p:spPr>
          <a:xfrm>
            <a:off x="8778240" y="1600200"/>
            <a:ext cx="731520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37" name="可编辑圆环"/>
          <p:cNvSpPr/>
          <p:nvPr/>
        </p:nvSpPr>
        <p:spPr>
          <a:xfrm>
            <a:off x="916686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圆环"/>
          <p:cNvSpPr/>
          <p:nvPr/>
        </p:nvSpPr>
        <p:spPr>
          <a:xfrm>
            <a:off x="930402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圆环"/>
          <p:cNvSpPr/>
          <p:nvPr/>
        </p:nvSpPr>
        <p:spPr>
          <a:xfrm>
            <a:off x="9427464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可编辑连线"/>
          <p:cNvCxnSpPr/>
          <p:nvPr/>
        </p:nvCxnSpPr>
        <p:spPr>
          <a:xfrm flipV="1">
            <a:off x="982980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可编辑圆环"/>
          <p:cNvSpPr/>
          <p:nvPr/>
        </p:nvSpPr>
        <p:spPr>
          <a:xfrm>
            <a:off x="979779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矩形"/>
          <p:cNvSpPr/>
          <p:nvPr/>
        </p:nvSpPr>
        <p:spPr>
          <a:xfrm>
            <a:off x="9656064" y="1751076"/>
            <a:ext cx="77724" cy="16002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矩形"/>
          <p:cNvSpPr/>
          <p:nvPr/>
        </p:nvSpPr>
        <p:spPr>
          <a:xfrm>
            <a:off x="9765792" y="1659636"/>
            <a:ext cx="77724" cy="25146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矩形"/>
          <p:cNvSpPr/>
          <p:nvPr/>
        </p:nvSpPr>
        <p:spPr>
          <a:xfrm>
            <a:off x="9875520" y="1536192"/>
            <a:ext cx="77724" cy="37490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可编辑连线"/>
          <p:cNvCxnSpPr/>
          <p:nvPr/>
        </p:nvCxnSpPr>
        <p:spPr>
          <a:xfrm>
            <a:off x="9624060" y="1920240"/>
            <a:ext cx="397764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本_Weibull估寿"/>
          <p:cNvSpPr txBox="1"/>
          <p:nvPr/>
        </p:nvSpPr>
        <p:spPr>
          <a:xfrm>
            <a:off x="8778240" y="2148840"/>
            <a:ext cx="210312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C400"/>
                </a:solidFill>
                <a:latin typeface="Arial"/>
                <a:ea typeface="Noto Sans CJK SC"/>
              </a:rPr>
              <a:t>60分安全预警</a:t>
            </a:r>
          </a:p>
        </p:txBody>
      </p:sp>
      <p:sp>
        <p:nvSpPr>
          <p:cNvPr id="48" name="文本_剩余寿命 / 失效概率 "/>
          <p:cNvSpPr txBox="1"/>
          <p:nvPr/>
        </p:nvSpPr>
        <p:spPr>
          <a:xfrm>
            <a:off x="8458200" y="2560320"/>
            <a:ext cx="2743200" cy="3017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健康评分 / 风险状态 / 维保优先清单</a:t>
            </a:r>
          </a:p>
        </p:txBody>
      </p:sp>
      <p:sp>
        <p:nvSpPr>
          <p:cNvPr id="49" name="Chevron 48"/>
          <p:cNvSpPr/>
          <p:nvPr/>
        </p:nvSpPr>
        <p:spPr>
          <a:xfrm>
            <a:off x="3749039" y="1938528"/>
            <a:ext cx="301752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vron 49"/>
          <p:cNvSpPr/>
          <p:nvPr/>
        </p:nvSpPr>
        <p:spPr>
          <a:xfrm>
            <a:off x="3915003" y="1938528"/>
            <a:ext cx="301752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>
            <a:off x="7726679" y="1938528"/>
            <a:ext cx="301752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7892643" y="1938528"/>
            <a:ext cx="301752" cy="228600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可编辑矩形"/>
          <p:cNvSpPr/>
          <p:nvPr/>
        </p:nvSpPr>
        <p:spPr>
          <a:xfrm>
            <a:off x="2743200" y="4167378"/>
            <a:ext cx="822959" cy="594360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2606040" y="3710178"/>
            <a:ext cx="1097280" cy="548640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可编辑矩形"/>
          <p:cNvSpPr/>
          <p:nvPr/>
        </p:nvSpPr>
        <p:spPr>
          <a:xfrm>
            <a:off x="3051810" y="4361688"/>
            <a:ext cx="205739" cy="320040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可编辑圆环"/>
          <p:cNvSpPr/>
          <p:nvPr/>
        </p:nvSpPr>
        <p:spPr>
          <a:xfrm>
            <a:off x="1261872" y="2788920"/>
            <a:ext cx="310896" cy="310896"/>
          </a:xfrm>
          <a:prstGeom prst="ellipse">
            <a:avLst/>
          </a:prstGeom>
          <a:solidFill>
            <a:srgbClr val="0B4165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文本_加热系统"/>
          <p:cNvSpPr txBox="1"/>
          <p:nvPr/>
        </p:nvSpPr>
        <p:spPr>
          <a:xfrm>
            <a:off x="1664208" y="2798064"/>
            <a:ext cx="128016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部件状态 80%</a:t>
            </a:r>
          </a:p>
        </p:txBody>
      </p:sp>
      <p:cxnSp>
        <p:nvCxnSpPr>
          <p:cNvPr id="58" name="可编辑连线"/>
          <p:cNvCxnSpPr/>
          <p:nvPr/>
        </p:nvCxnSpPr>
        <p:spPr>
          <a:xfrm>
            <a:off x="2697480" y="2944368"/>
            <a:ext cx="301752" cy="877823"/>
          </a:xfrm>
          <a:prstGeom prst="line">
            <a:avLst/>
          </a:prstGeom>
          <a:ln w="10160">
            <a:solidFill>
              <a:srgbClr val="22CCFA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可编辑圆环"/>
          <p:cNvSpPr/>
          <p:nvPr/>
        </p:nvSpPr>
        <p:spPr>
          <a:xfrm>
            <a:off x="1261872" y="3163824"/>
            <a:ext cx="310896" cy="310896"/>
          </a:xfrm>
          <a:prstGeom prst="ellipse">
            <a:avLst/>
          </a:prstGeom>
          <a:solidFill>
            <a:srgbClr val="0B4165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文本_通风系统"/>
          <p:cNvSpPr txBox="1"/>
          <p:nvPr/>
        </p:nvSpPr>
        <p:spPr>
          <a:xfrm>
            <a:off x="1664208" y="3172968"/>
            <a:ext cx="128016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管护情况 10%</a:t>
            </a:r>
          </a:p>
        </p:txBody>
      </p:sp>
      <p:cxnSp>
        <p:nvCxnSpPr>
          <p:cNvPr id="61" name="可编辑连线"/>
          <p:cNvCxnSpPr/>
          <p:nvPr/>
        </p:nvCxnSpPr>
        <p:spPr>
          <a:xfrm>
            <a:off x="2697480" y="3319272"/>
            <a:ext cx="301752" cy="649224"/>
          </a:xfrm>
          <a:prstGeom prst="line">
            <a:avLst/>
          </a:prstGeom>
          <a:ln w="10160">
            <a:solidFill>
              <a:srgbClr val="22CCFA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可编辑圆环"/>
          <p:cNvSpPr/>
          <p:nvPr/>
        </p:nvSpPr>
        <p:spPr>
          <a:xfrm>
            <a:off x="1261872" y="3538728"/>
            <a:ext cx="310896" cy="310896"/>
          </a:xfrm>
          <a:prstGeom prst="ellipse">
            <a:avLst/>
          </a:prstGeom>
          <a:solidFill>
            <a:srgbClr val="0B4165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文本_温湿度控制"/>
          <p:cNvSpPr txBox="1"/>
          <p:nvPr/>
        </p:nvSpPr>
        <p:spPr>
          <a:xfrm>
            <a:off x="1664208" y="3547872"/>
            <a:ext cx="128016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现场评价 10%</a:t>
            </a:r>
          </a:p>
        </p:txBody>
      </p:sp>
      <p:cxnSp>
        <p:nvCxnSpPr>
          <p:cNvPr id="64" name="可编辑连线"/>
          <p:cNvCxnSpPr/>
          <p:nvPr/>
        </p:nvCxnSpPr>
        <p:spPr>
          <a:xfrm>
            <a:off x="2697480" y="3694176"/>
            <a:ext cx="301752" cy="420624"/>
          </a:xfrm>
          <a:prstGeom prst="line">
            <a:avLst/>
          </a:prstGeom>
          <a:ln w="10160">
            <a:solidFill>
              <a:srgbClr val="22CCFA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可编辑圆环"/>
          <p:cNvSpPr/>
          <p:nvPr/>
        </p:nvSpPr>
        <p:spPr>
          <a:xfrm>
            <a:off x="1261872" y="3913632"/>
            <a:ext cx="310896" cy="310896"/>
          </a:xfrm>
          <a:prstGeom prst="ellipse">
            <a:avLst/>
          </a:prstGeom>
          <a:solidFill>
            <a:srgbClr val="0B4165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文本_电气系统"/>
          <p:cNvSpPr txBox="1"/>
          <p:nvPr/>
        </p:nvSpPr>
        <p:spPr>
          <a:xfrm>
            <a:off x="1664208" y="3922776"/>
            <a:ext cx="128016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建设年限 / 时长</a:t>
            </a:r>
          </a:p>
        </p:txBody>
      </p:sp>
      <p:cxnSp>
        <p:nvCxnSpPr>
          <p:cNvPr id="67" name="可编辑连线"/>
          <p:cNvCxnSpPr/>
          <p:nvPr/>
        </p:nvCxnSpPr>
        <p:spPr>
          <a:xfrm>
            <a:off x="2697480" y="4069080"/>
            <a:ext cx="301752" cy="192024"/>
          </a:xfrm>
          <a:prstGeom prst="line">
            <a:avLst/>
          </a:prstGeom>
          <a:ln w="10160">
            <a:solidFill>
              <a:srgbClr val="22CCFA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可编辑圆环"/>
          <p:cNvSpPr/>
          <p:nvPr/>
        </p:nvSpPr>
        <p:spPr>
          <a:xfrm>
            <a:off x="1261872" y="4288536"/>
            <a:ext cx="310896" cy="310896"/>
          </a:xfrm>
          <a:prstGeom prst="ellipse">
            <a:avLst/>
          </a:prstGeom>
          <a:solidFill>
            <a:srgbClr val="0B4165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文本_围护结构"/>
          <p:cNvSpPr txBox="1"/>
          <p:nvPr/>
        </p:nvSpPr>
        <p:spPr>
          <a:xfrm>
            <a:off x="1664208" y="4297680"/>
            <a:ext cx="128016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养护记录 / 工况</a:t>
            </a:r>
          </a:p>
        </p:txBody>
      </p:sp>
      <p:cxnSp>
        <p:nvCxnSpPr>
          <p:cNvPr id="70" name="可编辑连线"/>
          <p:cNvCxnSpPr/>
          <p:nvPr/>
        </p:nvCxnSpPr>
        <p:spPr>
          <a:xfrm flipV="1">
            <a:off x="2697480" y="4407407"/>
            <a:ext cx="301752" cy="36577"/>
          </a:xfrm>
          <a:prstGeom prst="line">
            <a:avLst/>
          </a:prstGeom>
          <a:ln w="10160">
            <a:solidFill>
              <a:srgbClr val="22CCFA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文本_…"/>
          <p:cNvSpPr txBox="1"/>
          <p:nvPr/>
        </p:nvSpPr>
        <p:spPr>
          <a:xfrm>
            <a:off x="1371600" y="4672583"/>
            <a:ext cx="164592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Noto Sans CJK SC"/>
              </a:rPr>
              <a:t>…</a:t>
            </a:r>
          </a:p>
        </p:txBody>
      </p:sp>
      <p:cxnSp>
        <p:nvCxnSpPr>
          <p:cNvPr id="72" name="可编辑连线"/>
          <p:cNvCxnSpPr/>
          <p:nvPr/>
        </p:nvCxnSpPr>
        <p:spPr>
          <a:xfrm>
            <a:off x="6537960" y="3733037"/>
            <a:ext cx="235588" cy="136018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可编辑连线"/>
          <p:cNvCxnSpPr/>
          <p:nvPr/>
        </p:nvCxnSpPr>
        <p:spPr>
          <a:xfrm>
            <a:off x="6773548" y="3869055"/>
            <a:ext cx="0" cy="272033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可编辑连线"/>
          <p:cNvCxnSpPr/>
          <p:nvPr/>
        </p:nvCxnSpPr>
        <p:spPr>
          <a:xfrm flipH="1">
            <a:off x="6537960" y="4141088"/>
            <a:ext cx="235588" cy="136018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可编辑连线"/>
          <p:cNvCxnSpPr/>
          <p:nvPr/>
        </p:nvCxnSpPr>
        <p:spPr>
          <a:xfrm flipH="1" flipV="1">
            <a:off x="6302371" y="4141088"/>
            <a:ext cx="235589" cy="136018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可编辑连线"/>
          <p:cNvCxnSpPr/>
          <p:nvPr/>
        </p:nvCxnSpPr>
        <p:spPr>
          <a:xfrm flipV="1">
            <a:off x="6302371" y="3869055"/>
            <a:ext cx="0" cy="272033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可编辑连线"/>
          <p:cNvCxnSpPr/>
          <p:nvPr/>
        </p:nvCxnSpPr>
        <p:spPr>
          <a:xfrm flipV="1">
            <a:off x="6302371" y="3733037"/>
            <a:ext cx="235589" cy="136018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可编辑连线"/>
          <p:cNvCxnSpPr/>
          <p:nvPr/>
        </p:nvCxnSpPr>
        <p:spPr>
          <a:xfrm>
            <a:off x="6537960" y="3476548"/>
            <a:ext cx="457714" cy="264262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可编辑连线"/>
          <p:cNvCxnSpPr/>
          <p:nvPr/>
        </p:nvCxnSpPr>
        <p:spPr>
          <a:xfrm>
            <a:off x="6995674" y="3740810"/>
            <a:ext cx="0" cy="528523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可编辑连线"/>
          <p:cNvCxnSpPr/>
          <p:nvPr/>
        </p:nvCxnSpPr>
        <p:spPr>
          <a:xfrm flipH="1">
            <a:off x="6537960" y="4269333"/>
            <a:ext cx="457714" cy="264262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可编辑连线"/>
          <p:cNvCxnSpPr/>
          <p:nvPr/>
        </p:nvCxnSpPr>
        <p:spPr>
          <a:xfrm flipH="1" flipV="1">
            <a:off x="6080245" y="4269333"/>
            <a:ext cx="457715" cy="264262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可编辑连线"/>
          <p:cNvCxnSpPr/>
          <p:nvPr/>
        </p:nvCxnSpPr>
        <p:spPr>
          <a:xfrm flipV="1">
            <a:off x="6080245" y="3740810"/>
            <a:ext cx="0" cy="528523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可编辑连线"/>
          <p:cNvCxnSpPr/>
          <p:nvPr/>
        </p:nvCxnSpPr>
        <p:spPr>
          <a:xfrm flipV="1">
            <a:off x="6080245" y="3476548"/>
            <a:ext cx="457715" cy="264262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可编辑连线"/>
          <p:cNvCxnSpPr/>
          <p:nvPr/>
        </p:nvCxnSpPr>
        <p:spPr>
          <a:xfrm>
            <a:off x="6537960" y="3227832"/>
            <a:ext cx="673109" cy="388620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可编辑连线"/>
          <p:cNvCxnSpPr/>
          <p:nvPr/>
        </p:nvCxnSpPr>
        <p:spPr>
          <a:xfrm>
            <a:off x="7211069" y="3616452"/>
            <a:ext cx="0" cy="777240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可编辑连线"/>
          <p:cNvCxnSpPr/>
          <p:nvPr/>
        </p:nvCxnSpPr>
        <p:spPr>
          <a:xfrm flipH="1">
            <a:off x="6537960" y="4393692"/>
            <a:ext cx="673109" cy="388620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可编辑连线"/>
          <p:cNvCxnSpPr/>
          <p:nvPr/>
        </p:nvCxnSpPr>
        <p:spPr>
          <a:xfrm flipH="1" flipV="1">
            <a:off x="5864850" y="4393692"/>
            <a:ext cx="673110" cy="388620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可编辑连线"/>
          <p:cNvCxnSpPr/>
          <p:nvPr/>
        </p:nvCxnSpPr>
        <p:spPr>
          <a:xfrm flipV="1">
            <a:off x="5864850" y="3616451"/>
            <a:ext cx="0" cy="777241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可编辑连线"/>
          <p:cNvCxnSpPr/>
          <p:nvPr/>
        </p:nvCxnSpPr>
        <p:spPr>
          <a:xfrm flipV="1">
            <a:off x="5864850" y="3227832"/>
            <a:ext cx="673110" cy="388619"/>
          </a:xfrm>
          <a:prstGeom prst="line">
            <a:avLst/>
          </a:prstGeom>
          <a:ln w="7620">
            <a:solidFill>
              <a:srgbClr val="4E94B7">
                <a:alpha val="6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可编辑连线"/>
          <p:cNvCxnSpPr/>
          <p:nvPr/>
        </p:nvCxnSpPr>
        <p:spPr>
          <a:xfrm flipV="1">
            <a:off x="6537960" y="3227832"/>
            <a:ext cx="0" cy="777240"/>
          </a:xfrm>
          <a:prstGeom prst="line">
            <a:avLst/>
          </a:prstGeom>
          <a:ln w="7620">
            <a:solidFill>
              <a:srgbClr val="4E94B7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文本_设备状态&#10;0.28"/>
          <p:cNvSpPr txBox="1"/>
          <p:nvPr/>
        </p:nvSpPr>
        <p:spPr>
          <a:xfrm>
            <a:off x="6062472" y="3026663"/>
            <a:ext cx="9601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部件状态
80%</a:t>
            </a:r>
          </a:p>
        </p:txBody>
      </p:sp>
      <p:cxnSp>
        <p:nvCxnSpPr>
          <p:cNvPr id="92" name="可编辑连线"/>
          <p:cNvCxnSpPr/>
          <p:nvPr/>
        </p:nvCxnSpPr>
        <p:spPr>
          <a:xfrm flipV="1">
            <a:off x="6537960" y="3616452"/>
            <a:ext cx="673109" cy="388620"/>
          </a:xfrm>
          <a:prstGeom prst="line">
            <a:avLst/>
          </a:prstGeom>
          <a:ln w="7620">
            <a:solidFill>
              <a:srgbClr val="4E94B7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文本_运行环境&#10;0.18"/>
          <p:cNvSpPr txBox="1"/>
          <p:nvPr/>
        </p:nvSpPr>
        <p:spPr>
          <a:xfrm>
            <a:off x="6735581" y="3415284"/>
            <a:ext cx="9601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管护情况
10%</a:t>
            </a:r>
          </a:p>
        </p:txBody>
      </p:sp>
      <p:cxnSp>
        <p:nvCxnSpPr>
          <p:cNvPr id="94" name="可编辑连线"/>
          <p:cNvCxnSpPr/>
          <p:nvPr/>
        </p:nvCxnSpPr>
        <p:spPr>
          <a:xfrm>
            <a:off x="6537960" y="4005072"/>
            <a:ext cx="673109" cy="388620"/>
          </a:xfrm>
          <a:prstGeom prst="line">
            <a:avLst/>
          </a:prstGeom>
          <a:ln w="7620">
            <a:solidFill>
              <a:srgbClr val="4E94B7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文本_使用年限&#10;0.15"/>
          <p:cNvSpPr txBox="1"/>
          <p:nvPr/>
        </p:nvSpPr>
        <p:spPr>
          <a:xfrm>
            <a:off x="6735581" y="4192524"/>
            <a:ext cx="9601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现场评价
10%</a:t>
            </a:r>
          </a:p>
        </p:txBody>
      </p:sp>
      <p:cxnSp>
        <p:nvCxnSpPr>
          <p:cNvPr id="96" name="可编辑连线"/>
          <p:cNvCxnSpPr/>
          <p:nvPr/>
        </p:nvCxnSpPr>
        <p:spPr>
          <a:xfrm>
            <a:off x="6537960" y="4005072"/>
            <a:ext cx="0" cy="777240"/>
          </a:xfrm>
          <a:prstGeom prst="line">
            <a:avLst/>
          </a:prstGeom>
          <a:ln w="7620">
            <a:solidFill>
              <a:srgbClr val="4E94B7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文本_维护条件&#10;0.12"/>
          <p:cNvSpPr txBox="1"/>
          <p:nvPr/>
        </p:nvSpPr>
        <p:spPr>
          <a:xfrm>
            <a:off x="6062472" y="4581144"/>
            <a:ext cx="9601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建设年限</a:t>
            </a:r>
          </a:p>
        </p:txBody>
      </p:sp>
      <p:cxnSp>
        <p:nvCxnSpPr>
          <p:cNvPr id="98" name="可编辑连线"/>
          <p:cNvCxnSpPr/>
          <p:nvPr/>
        </p:nvCxnSpPr>
        <p:spPr>
          <a:xfrm flipH="1">
            <a:off x="5864850" y="4005072"/>
            <a:ext cx="673110" cy="388620"/>
          </a:xfrm>
          <a:prstGeom prst="line">
            <a:avLst/>
          </a:prstGeom>
          <a:ln w="7620">
            <a:solidFill>
              <a:srgbClr val="4E94B7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文本_故障历史&#10;0.20"/>
          <p:cNvSpPr txBox="1"/>
          <p:nvPr/>
        </p:nvSpPr>
        <p:spPr>
          <a:xfrm>
            <a:off x="5389362" y="4192524"/>
            <a:ext cx="9601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使用时长</a:t>
            </a:r>
          </a:p>
        </p:txBody>
      </p:sp>
      <p:cxnSp>
        <p:nvCxnSpPr>
          <p:cNvPr id="100" name="可编辑连线"/>
          <p:cNvCxnSpPr/>
          <p:nvPr/>
        </p:nvCxnSpPr>
        <p:spPr>
          <a:xfrm flipH="1" flipV="1">
            <a:off x="5864850" y="3616451"/>
            <a:ext cx="673110" cy="388621"/>
          </a:xfrm>
          <a:prstGeom prst="line">
            <a:avLst/>
          </a:prstGeom>
          <a:ln w="7620">
            <a:solidFill>
              <a:srgbClr val="4E94B7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_结构安全&#10;0.07"/>
          <p:cNvSpPr txBox="1"/>
          <p:nvPr/>
        </p:nvSpPr>
        <p:spPr>
          <a:xfrm>
            <a:off x="5389362" y="3415283"/>
            <a:ext cx="9601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养护记录</a:t>
            </a:r>
          </a:p>
        </p:txBody>
      </p:sp>
      <p:cxnSp>
        <p:nvCxnSpPr>
          <p:cNvPr id="102" name="可编辑连线"/>
          <p:cNvCxnSpPr/>
          <p:nvPr/>
        </p:nvCxnSpPr>
        <p:spPr>
          <a:xfrm>
            <a:off x="6537960" y="3367735"/>
            <a:ext cx="430790" cy="388620"/>
          </a:xfrm>
          <a:prstGeom prst="line">
            <a:avLst/>
          </a:prstGeom>
          <a:ln w="1905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可编辑连线"/>
          <p:cNvCxnSpPr/>
          <p:nvPr/>
        </p:nvCxnSpPr>
        <p:spPr>
          <a:xfrm flipH="1">
            <a:off x="6928363" y="3756355"/>
            <a:ext cx="40387" cy="474116"/>
          </a:xfrm>
          <a:prstGeom prst="line">
            <a:avLst/>
          </a:prstGeom>
          <a:ln w="1905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可编辑连线"/>
          <p:cNvCxnSpPr/>
          <p:nvPr/>
        </p:nvCxnSpPr>
        <p:spPr>
          <a:xfrm flipH="1">
            <a:off x="6537960" y="4230471"/>
            <a:ext cx="390403" cy="178765"/>
          </a:xfrm>
          <a:prstGeom prst="line">
            <a:avLst/>
          </a:prstGeom>
          <a:ln w="1905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可编辑连线"/>
          <p:cNvCxnSpPr/>
          <p:nvPr/>
        </p:nvCxnSpPr>
        <p:spPr>
          <a:xfrm flipH="1" flipV="1">
            <a:off x="6053321" y="4284878"/>
            <a:ext cx="484639" cy="124358"/>
          </a:xfrm>
          <a:prstGeom prst="line">
            <a:avLst/>
          </a:prstGeom>
          <a:ln w="1905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可编辑连线"/>
          <p:cNvCxnSpPr/>
          <p:nvPr/>
        </p:nvCxnSpPr>
        <p:spPr>
          <a:xfrm flipV="1">
            <a:off x="6053321" y="3849624"/>
            <a:ext cx="215395" cy="435254"/>
          </a:xfrm>
          <a:prstGeom prst="line">
            <a:avLst/>
          </a:prstGeom>
          <a:ln w="1905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可编辑连线"/>
          <p:cNvCxnSpPr/>
          <p:nvPr/>
        </p:nvCxnSpPr>
        <p:spPr>
          <a:xfrm flipV="1">
            <a:off x="6268716" y="3367735"/>
            <a:ext cx="269244" cy="481889"/>
          </a:xfrm>
          <a:prstGeom prst="line">
            <a:avLst/>
          </a:prstGeom>
          <a:ln w="1905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可编辑圆环"/>
          <p:cNvSpPr/>
          <p:nvPr/>
        </p:nvSpPr>
        <p:spPr>
          <a:xfrm>
            <a:off x="6515100" y="3344875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可编辑圆环"/>
          <p:cNvSpPr/>
          <p:nvPr/>
        </p:nvSpPr>
        <p:spPr>
          <a:xfrm>
            <a:off x="6945890" y="3733495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可编辑圆环"/>
          <p:cNvSpPr/>
          <p:nvPr/>
        </p:nvSpPr>
        <p:spPr>
          <a:xfrm>
            <a:off x="6905503" y="4207611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可编辑圆环"/>
          <p:cNvSpPr/>
          <p:nvPr/>
        </p:nvSpPr>
        <p:spPr>
          <a:xfrm>
            <a:off x="6515100" y="4386376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可编辑圆环"/>
          <p:cNvSpPr/>
          <p:nvPr/>
        </p:nvSpPr>
        <p:spPr>
          <a:xfrm>
            <a:off x="6030461" y="4262018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可编辑圆环"/>
          <p:cNvSpPr/>
          <p:nvPr/>
        </p:nvSpPr>
        <p:spPr>
          <a:xfrm>
            <a:off x="6245856" y="3826763"/>
            <a:ext cx="45720" cy="45720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可编辑连线"/>
          <p:cNvCxnSpPr/>
          <p:nvPr/>
        </p:nvCxnSpPr>
        <p:spPr>
          <a:xfrm>
            <a:off x="8823960" y="3200400"/>
            <a:ext cx="0" cy="1783080"/>
          </a:xfrm>
          <a:prstGeom prst="line">
            <a:avLst/>
          </a:prstGeom>
          <a:ln w="10160">
            <a:solidFill>
              <a:srgbClr val="FFFFFF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可编辑连线"/>
          <p:cNvCxnSpPr/>
          <p:nvPr/>
        </p:nvCxnSpPr>
        <p:spPr>
          <a:xfrm>
            <a:off x="8823960" y="4983480"/>
            <a:ext cx="2743200" cy="0"/>
          </a:xfrm>
          <a:prstGeom prst="line">
            <a:avLst/>
          </a:prstGeom>
          <a:ln w="10160">
            <a:solidFill>
              <a:srgbClr val="FFFFFF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可编辑连线"/>
          <p:cNvCxnSpPr/>
          <p:nvPr/>
        </p:nvCxnSpPr>
        <p:spPr>
          <a:xfrm>
            <a:off x="8823960" y="3346704"/>
            <a:ext cx="210312" cy="1384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可编辑连线"/>
          <p:cNvCxnSpPr/>
          <p:nvPr/>
        </p:nvCxnSpPr>
        <p:spPr>
          <a:xfrm>
            <a:off x="9034272" y="3360544"/>
            <a:ext cx="210312" cy="37813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可编辑连线"/>
          <p:cNvCxnSpPr/>
          <p:nvPr/>
        </p:nvCxnSpPr>
        <p:spPr>
          <a:xfrm>
            <a:off x="9244584" y="3398357"/>
            <a:ext cx="210312" cy="59948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可编辑连线"/>
          <p:cNvCxnSpPr/>
          <p:nvPr/>
        </p:nvCxnSpPr>
        <p:spPr>
          <a:xfrm>
            <a:off x="9454896" y="3458305"/>
            <a:ext cx="210312" cy="81175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可编辑连线"/>
          <p:cNvCxnSpPr/>
          <p:nvPr/>
        </p:nvCxnSpPr>
        <p:spPr>
          <a:xfrm>
            <a:off x="9665208" y="3539480"/>
            <a:ext cx="210312" cy="10179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可编辑连线"/>
          <p:cNvCxnSpPr/>
          <p:nvPr/>
        </p:nvCxnSpPr>
        <p:spPr>
          <a:xfrm>
            <a:off x="9875520" y="3641270"/>
            <a:ext cx="210312" cy="12194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可编辑连线"/>
          <p:cNvCxnSpPr/>
          <p:nvPr/>
        </p:nvCxnSpPr>
        <p:spPr>
          <a:xfrm>
            <a:off x="10085832" y="3763216"/>
            <a:ext cx="210312" cy="141735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可编辑连线"/>
          <p:cNvCxnSpPr/>
          <p:nvPr/>
        </p:nvCxnSpPr>
        <p:spPr>
          <a:xfrm>
            <a:off x="10296144" y="3904951"/>
            <a:ext cx="210312" cy="161221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可编辑连线"/>
          <p:cNvCxnSpPr/>
          <p:nvPr/>
        </p:nvCxnSpPr>
        <p:spPr>
          <a:xfrm>
            <a:off x="10506456" y="4066172"/>
            <a:ext cx="210312" cy="180447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可编辑连线"/>
          <p:cNvCxnSpPr/>
          <p:nvPr/>
        </p:nvCxnSpPr>
        <p:spPr>
          <a:xfrm>
            <a:off x="10716768" y="4246619"/>
            <a:ext cx="210312" cy="199447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可编辑连线"/>
          <p:cNvCxnSpPr/>
          <p:nvPr/>
        </p:nvCxnSpPr>
        <p:spPr>
          <a:xfrm>
            <a:off x="10927080" y="4446066"/>
            <a:ext cx="210312" cy="218247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可编辑连线"/>
          <p:cNvCxnSpPr/>
          <p:nvPr/>
        </p:nvCxnSpPr>
        <p:spPr>
          <a:xfrm>
            <a:off x="11137392" y="4664313"/>
            <a:ext cx="210312" cy="236871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可编辑连线"/>
          <p:cNvCxnSpPr/>
          <p:nvPr/>
        </p:nvCxnSpPr>
        <p:spPr>
          <a:xfrm>
            <a:off x="8823960" y="3346704"/>
            <a:ext cx="210312" cy="1384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可编辑连线"/>
          <p:cNvCxnSpPr/>
          <p:nvPr/>
        </p:nvCxnSpPr>
        <p:spPr>
          <a:xfrm>
            <a:off x="9034272" y="3360544"/>
            <a:ext cx="210312" cy="37813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可编辑连线"/>
          <p:cNvCxnSpPr/>
          <p:nvPr/>
        </p:nvCxnSpPr>
        <p:spPr>
          <a:xfrm>
            <a:off x="9244584" y="3398357"/>
            <a:ext cx="210312" cy="59948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可编辑连线"/>
          <p:cNvCxnSpPr/>
          <p:nvPr/>
        </p:nvCxnSpPr>
        <p:spPr>
          <a:xfrm>
            <a:off x="9454896" y="3458305"/>
            <a:ext cx="210312" cy="81175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可编辑连线"/>
          <p:cNvCxnSpPr/>
          <p:nvPr/>
        </p:nvCxnSpPr>
        <p:spPr>
          <a:xfrm>
            <a:off x="9665208" y="3539480"/>
            <a:ext cx="210312" cy="10179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可编辑连线"/>
          <p:cNvCxnSpPr/>
          <p:nvPr/>
        </p:nvCxnSpPr>
        <p:spPr>
          <a:xfrm>
            <a:off x="9875520" y="3641270"/>
            <a:ext cx="210312" cy="12194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可编辑连线"/>
          <p:cNvCxnSpPr/>
          <p:nvPr/>
        </p:nvCxnSpPr>
        <p:spPr>
          <a:xfrm>
            <a:off x="10085832" y="3763216"/>
            <a:ext cx="210312" cy="141735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可编辑连线"/>
          <p:cNvCxnSpPr/>
          <p:nvPr/>
        </p:nvCxnSpPr>
        <p:spPr>
          <a:xfrm>
            <a:off x="10296144" y="3904951"/>
            <a:ext cx="210312" cy="161221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可编辑连线"/>
          <p:cNvCxnSpPr/>
          <p:nvPr/>
        </p:nvCxnSpPr>
        <p:spPr>
          <a:xfrm>
            <a:off x="10506456" y="4066172"/>
            <a:ext cx="210312" cy="180447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可编辑连线"/>
          <p:cNvCxnSpPr/>
          <p:nvPr/>
        </p:nvCxnSpPr>
        <p:spPr>
          <a:xfrm>
            <a:off x="10716768" y="4246619"/>
            <a:ext cx="210312" cy="199447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可编辑连线"/>
          <p:cNvCxnSpPr/>
          <p:nvPr/>
        </p:nvCxnSpPr>
        <p:spPr>
          <a:xfrm>
            <a:off x="10927080" y="4446066"/>
            <a:ext cx="210312" cy="218247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可编辑连线"/>
          <p:cNvCxnSpPr/>
          <p:nvPr/>
        </p:nvCxnSpPr>
        <p:spPr>
          <a:xfrm>
            <a:off x="11137392" y="4664313"/>
            <a:ext cx="210312" cy="236871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可编辑连线"/>
          <p:cNvCxnSpPr/>
          <p:nvPr/>
        </p:nvCxnSpPr>
        <p:spPr>
          <a:xfrm>
            <a:off x="8823960" y="3346704"/>
            <a:ext cx="210312" cy="1384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可编辑连线"/>
          <p:cNvCxnSpPr/>
          <p:nvPr/>
        </p:nvCxnSpPr>
        <p:spPr>
          <a:xfrm>
            <a:off x="9034272" y="3360544"/>
            <a:ext cx="210312" cy="37813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可编辑连线"/>
          <p:cNvCxnSpPr/>
          <p:nvPr/>
        </p:nvCxnSpPr>
        <p:spPr>
          <a:xfrm>
            <a:off x="9244584" y="3398357"/>
            <a:ext cx="210312" cy="59948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可编辑连线"/>
          <p:cNvCxnSpPr/>
          <p:nvPr/>
        </p:nvCxnSpPr>
        <p:spPr>
          <a:xfrm>
            <a:off x="9454896" y="3458305"/>
            <a:ext cx="210312" cy="81175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可编辑连线"/>
          <p:cNvCxnSpPr/>
          <p:nvPr/>
        </p:nvCxnSpPr>
        <p:spPr>
          <a:xfrm>
            <a:off x="9665208" y="3539480"/>
            <a:ext cx="210312" cy="10179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可编辑连线"/>
          <p:cNvCxnSpPr/>
          <p:nvPr/>
        </p:nvCxnSpPr>
        <p:spPr>
          <a:xfrm>
            <a:off x="9875520" y="3641270"/>
            <a:ext cx="210312" cy="121946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可编辑连线"/>
          <p:cNvCxnSpPr/>
          <p:nvPr/>
        </p:nvCxnSpPr>
        <p:spPr>
          <a:xfrm>
            <a:off x="10085832" y="3763216"/>
            <a:ext cx="210312" cy="141735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可编辑连线"/>
          <p:cNvCxnSpPr/>
          <p:nvPr/>
        </p:nvCxnSpPr>
        <p:spPr>
          <a:xfrm>
            <a:off x="10296144" y="3904951"/>
            <a:ext cx="210312" cy="161221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可编辑连线"/>
          <p:cNvCxnSpPr/>
          <p:nvPr/>
        </p:nvCxnSpPr>
        <p:spPr>
          <a:xfrm>
            <a:off x="10506456" y="4066172"/>
            <a:ext cx="210312" cy="180447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可编辑连线"/>
          <p:cNvCxnSpPr/>
          <p:nvPr/>
        </p:nvCxnSpPr>
        <p:spPr>
          <a:xfrm>
            <a:off x="10716768" y="4246619"/>
            <a:ext cx="210312" cy="199447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可编辑连线"/>
          <p:cNvCxnSpPr/>
          <p:nvPr/>
        </p:nvCxnSpPr>
        <p:spPr>
          <a:xfrm>
            <a:off x="10927080" y="4446066"/>
            <a:ext cx="210312" cy="218247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可编辑连线"/>
          <p:cNvCxnSpPr/>
          <p:nvPr/>
        </p:nvCxnSpPr>
        <p:spPr>
          <a:xfrm>
            <a:off x="11137392" y="4664313"/>
            <a:ext cx="210312" cy="236871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可编辑连线"/>
          <p:cNvCxnSpPr/>
          <p:nvPr/>
        </p:nvCxnSpPr>
        <p:spPr>
          <a:xfrm>
            <a:off x="8823960" y="3511296"/>
            <a:ext cx="210312" cy="124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可编辑连线"/>
          <p:cNvCxnSpPr/>
          <p:nvPr/>
        </p:nvCxnSpPr>
        <p:spPr>
          <a:xfrm>
            <a:off x="9034272" y="3511420"/>
            <a:ext cx="210312" cy="24097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可编辑连线"/>
          <p:cNvCxnSpPr/>
          <p:nvPr/>
        </p:nvCxnSpPr>
        <p:spPr>
          <a:xfrm>
            <a:off x="9244584" y="3535517"/>
            <a:ext cx="210312" cy="4623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可编辑连线"/>
          <p:cNvCxnSpPr/>
          <p:nvPr/>
        </p:nvCxnSpPr>
        <p:spPr>
          <a:xfrm>
            <a:off x="9454896" y="3581749"/>
            <a:ext cx="210312" cy="67459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可编辑连线"/>
          <p:cNvCxnSpPr/>
          <p:nvPr/>
        </p:nvCxnSpPr>
        <p:spPr>
          <a:xfrm>
            <a:off x="9665208" y="3649208"/>
            <a:ext cx="210312" cy="88074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可编辑连线"/>
          <p:cNvCxnSpPr/>
          <p:nvPr/>
        </p:nvCxnSpPr>
        <p:spPr>
          <a:xfrm>
            <a:off x="9875520" y="3737282"/>
            <a:ext cx="210312" cy="10823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可编辑连线"/>
          <p:cNvCxnSpPr/>
          <p:nvPr/>
        </p:nvCxnSpPr>
        <p:spPr>
          <a:xfrm>
            <a:off x="10085832" y="3845512"/>
            <a:ext cx="210312" cy="128019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可编辑连线"/>
          <p:cNvCxnSpPr/>
          <p:nvPr/>
        </p:nvCxnSpPr>
        <p:spPr>
          <a:xfrm>
            <a:off x="10296144" y="3973531"/>
            <a:ext cx="210312" cy="147505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可编辑连线"/>
          <p:cNvCxnSpPr/>
          <p:nvPr/>
        </p:nvCxnSpPr>
        <p:spPr>
          <a:xfrm>
            <a:off x="10506456" y="4121036"/>
            <a:ext cx="210312" cy="166731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可编辑连线"/>
          <p:cNvCxnSpPr/>
          <p:nvPr/>
        </p:nvCxnSpPr>
        <p:spPr>
          <a:xfrm>
            <a:off x="10716768" y="4287767"/>
            <a:ext cx="210312" cy="185731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可编辑连线"/>
          <p:cNvCxnSpPr/>
          <p:nvPr/>
        </p:nvCxnSpPr>
        <p:spPr>
          <a:xfrm>
            <a:off x="10927080" y="4473498"/>
            <a:ext cx="210312" cy="204531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可编辑连线"/>
          <p:cNvCxnSpPr/>
          <p:nvPr/>
        </p:nvCxnSpPr>
        <p:spPr>
          <a:xfrm>
            <a:off x="11137392" y="4678029"/>
            <a:ext cx="210312" cy="223155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可编辑连线"/>
          <p:cNvCxnSpPr/>
          <p:nvPr/>
        </p:nvCxnSpPr>
        <p:spPr>
          <a:xfrm>
            <a:off x="8823960" y="3511296"/>
            <a:ext cx="210312" cy="124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可编辑连线"/>
          <p:cNvCxnSpPr/>
          <p:nvPr/>
        </p:nvCxnSpPr>
        <p:spPr>
          <a:xfrm>
            <a:off x="9034272" y="3511420"/>
            <a:ext cx="210312" cy="24097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可编辑连线"/>
          <p:cNvCxnSpPr/>
          <p:nvPr/>
        </p:nvCxnSpPr>
        <p:spPr>
          <a:xfrm>
            <a:off x="9244584" y="3535517"/>
            <a:ext cx="210312" cy="4623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可编辑连线"/>
          <p:cNvCxnSpPr/>
          <p:nvPr/>
        </p:nvCxnSpPr>
        <p:spPr>
          <a:xfrm>
            <a:off x="9454896" y="3581749"/>
            <a:ext cx="210312" cy="67459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可编辑连线"/>
          <p:cNvCxnSpPr/>
          <p:nvPr/>
        </p:nvCxnSpPr>
        <p:spPr>
          <a:xfrm>
            <a:off x="9665208" y="3649208"/>
            <a:ext cx="210312" cy="88074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可编辑连线"/>
          <p:cNvCxnSpPr/>
          <p:nvPr/>
        </p:nvCxnSpPr>
        <p:spPr>
          <a:xfrm>
            <a:off x="9875520" y="3737282"/>
            <a:ext cx="210312" cy="10823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可编辑连线"/>
          <p:cNvCxnSpPr/>
          <p:nvPr/>
        </p:nvCxnSpPr>
        <p:spPr>
          <a:xfrm>
            <a:off x="10085832" y="3845512"/>
            <a:ext cx="210312" cy="128019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可编辑连线"/>
          <p:cNvCxnSpPr/>
          <p:nvPr/>
        </p:nvCxnSpPr>
        <p:spPr>
          <a:xfrm>
            <a:off x="10296144" y="3973531"/>
            <a:ext cx="210312" cy="147505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可编辑连线"/>
          <p:cNvCxnSpPr/>
          <p:nvPr/>
        </p:nvCxnSpPr>
        <p:spPr>
          <a:xfrm>
            <a:off x="10506456" y="4121036"/>
            <a:ext cx="210312" cy="166731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可编辑连线"/>
          <p:cNvCxnSpPr/>
          <p:nvPr/>
        </p:nvCxnSpPr>
        <p:spPr>
          <a:xfrm>
            <a:off x="10716768" y="4287767"/>
            <a:ext cx="210312" cy="185731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可编辑连线"/>
          <p:cNvCxnSpPr/>
          <p:nvPr/>
        </p:nvCxnSpPr>
        <p:spPr>
          <a:xfrm>
            <a:off x="10927080" y="4473498"/>
            <a:ext cx="210312" cy="204531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可编辑连线"/>
          <p:cNvCxnSpPr/>
          <p:nvPr/>
        </p:nvCxnSpPr>
        <p:spPr>
          <a:xfrm>
            <a:off x="11137392" y="4678029"/>
            <a:ext cx="210312" cy="223155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可编辑连线"/>
          <p:cNvCxnSpPr/>
          <p:nvPr/>
        </p:nvCxnSpPr>
        <p:spPr>
          <a:xfrm>
            <a:off x="8823960" y="3511296"/>
            <a:ext cx="210312" cy="124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可编辑连线"/>
          <p:cNvCxnSpPr/>
          <p:nvPr/>
        </p:nvCxnSpPr>
        <p:spPr>
          <a:xfrm>
            <a:off x="9034272" y="3511420"/>
            <a:ext cx="210312" cy="24097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可编辑连线"/>
          <p:cNvCxnSpPr/>
          <p:nvPr/>
        </p:nvCxnSpPr>
        <p:spPr>
          <a:xfrm>
            <a:off x="9244584" y="3535517"/>
            <a:ext cx="210312" cy="46232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可编辑连线"/>
          <p:cNvCxnSpPr/>
          <p:nvPr/>
        </p:nvCxnSpPr>
        <p:spPr>
          <a:xfrm>
            <a:off x="9454896" y="3581749"/>
            <a:ext cx="210312" cy="67459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可编辑连线"/>
          <p:cNvCxnSpPr/>
          <p:nvPr/>
        </p:nvCxnSpPr>
        <p:spPr>
          <a:xfrm>
            <a:off x="9665208" y="3649208"/>
            <a:ext cx="210312" cy="88074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可编辑连线"/>
          <p:cNvCxnSpPr/>
          <p:nvPr/>
        </p:nvCxnSpPr>
        <p:spPr>
          <a:xfrm>
            <a:off x="9875520" y="3737282"/>
            <a:ext cx="210312" cy="108230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可编辑连线"/>
          <p:cNvCxnSpPr/>
          <p:nvPr/>
        </p:nvCxnSpPr>
        <p:spPr>
          <a:xfrm>
            <a:off x="10085832" y="3845512"/>
            <a:ext cx="210312" cy="128019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可编辑连线"/>
          <p:cNvCxnSpPr/>
          <p:nvPr/>
        </p:nvCxnSpPr>
        <p:spPr>
          <a:xfrm>
            <a:off x="10296144" y="3973531"/>
            <a:ext cx="210312" cy="147505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可编辑连线"/>
          <p:cNvCxnSpPr/>
          <p:nvPr/>
        </p:nvCxnSpPr>
        <p:spPr>
          <a:xfrm>
            <a:off x="10506456" y="4121036"/>
            <a:ext cx="210312" cy="166731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可编辑连线"/>
          <p:cNvCxnSpPr/>
          <p:nvPr/>
        </p:nvCxnSpPr>
        <p:spPr>
          <a:xfrm>
            <a:off x="10716768" y="4287767"/>
            <a:ext cx="210312" cy="185731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可编辑连线"/>
          <p:cNvCxnSpPr/>
          <p:nvPr/>
        </p:nvCxnSpPr>
        <p:spPr>
          <a:xfrm>
            <a:off x="10927080" y="4473498"/>
            <a:ext cx="210312" cy="204531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可编辑连线"/>
          <p:cNvCxnSpPr/>
          <p:nvPr/>
        </p:nvCxnSpPr>
        <p:spPr>
          <a:xfrm>
            <a:off x="11137392" y="4678029"/>
            <a:ext cx="210312" cy="223155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可编辑连线"/>
          <p:cNvCxnSpPr/>
          <p:nvPr/>
        </p:nvCxnSpPr>
        <p:spPr>
          <a:xfrm>
            <a:off x="8823960" y="3182112"/>
            <a:ext cx="210312" cy="2755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可编辑连线"/>
          <p:cNvCxnSpPr/>
          <p:nvPr/>
        </p:nvCxnSpPr>
        <p:spPr>
          <a:xfrm>
            <a:off x="9034272" y="3209668"/>
            <a:ext cx="210312" cy="51529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可编辑连线"/>
          <p:cNvCxnSpPr/>
          <p:nvPr/>
        </p:nvCxnSpPr>
        <p:spPr>
          <a:xfrm>
            <a:off x="9244584" y="3261197"/>
            <a:ext cx="210312" cy="73664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可编辑连线"/>
          <p:cNvCxnSpPr/>
          <p:nvPr/>
        </p:nvCxnSpPr>
        <p:spPr>
          <a:xfrm>
            <a:off x="9454896" y="3334861"/>
            <a:ext cx="210312" cy="94891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可编辑连线"/>
          <p:cNvCxnSpPr/>
          <p:nvPr/>
        </p:nvCxnSpPr>
        <p:spPr>
          <a:xfrm>
            <a:off x="9665208" y="3429752"/>
            <a:ext cx="210312" cy="11550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可编辑连线"/>
          <p:cNvCxnSpPr/>
          <p:nvPr/>
        </p:nvCxnSpPr>
        <p:spPr>
          <a:xfrm>
            <a:off x="9875520" y="3545258"/>
            <a:ext cx="210312" cy="13566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可编辑连线"/>
          <p:cNvCxnSpPr/>
          <p:nvPr/>
        </p:nvCxnSpPr>
        <p:spPr>
          <a:xfrm>
            <a:off x="10085832" y="3680920"/>
            <a:ext cx="210312" cy="155451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可编辑连线"/>
          <p:cNvCxnSpPr/>
          <p:nvPr/>
        </p:nvCxnSpPr>
        <p:spPr>
          <a:xfrm>
            <a:off x="10296144" y="3836371"/>
            <a:ext cx="210312" cy="174937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可编辑连线"/>
          <p:cNvCxnSpPr/>
          <p:nvPr/>
        </p:nvCxnSpPr>
        <p:spPr>
          <a:xfrm>
            <a:off x="10506456" y="4011308"/>
            <a:ext cx="210312" cy="194163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可编辑连线"/>
          <p:cNvCxnSpPr/>
          <p:nvPr/>
        </p:nvCxnSpPr>
        <p:spPr>
          <a:xfrm>
            <a:off x="10716768" y="4205471"/>
            <a:ext cx="210312" cy="213163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可编辑连线"/>
          <p:cNvCxnSpPr/>
          <p:nvPr/>
        </p:nvCxnSpPr>
        <p:spPr>
          <a:xfrm>
            <a:off x="10927080" y="4418634"/>
            <a:ext cx="210312" cy="231963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可编辑连线"/>
          <p:cNvCxnSpPr/>
          <p:nvPr/>
        </p:nvCxnSpPr>
        <p:spPr>
          <a:xfrm>
            <a:off x="11137392" y="4650597"/>
            <a:ext cx="210312" cy="250587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可编辑连线"/>
          <p:cNvCxnSpPr/>
          <p:nvPr/>
        </p:nvCxnSpPr>
        <p:spPr>
          <a:xfrm>
            <a:off x="8823960" y="3182112"/>
            <a:ext cx="210312" cy="2755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可编辑连线"/>
          <p:cNvCxnSpPr/>
          <p:nvPr/>
        </p:nvCxnSpPr>
        <p:spPr>
          <a:xfrm>
            <a:off x="9034272" y="3209668"/>
            <a:ext cx="210312" cy="51529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可编辑连线"/>
          <p:cNvCxnSpPr/>
          <p:nvPr/>
        </p:nvCxnSpPr>
        <p:spPr>
          <a:xfrm>
            <a:off x="9244584" y="3261197"/>
            <a:ext cx="210312" cy="73664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可编辑连线"/>
          <p:cNvCxnSpPr/>
          <p:nvPr/>
        </p:nvCxnSpPr>
        <p:spPr>
          <a:xfrm>
            <a:off x="9454896" y="3334861"/>
            <a:ext cx="210312" cy="94891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可编辑连线"/>
          <p:cNvCxnSpPr/>
          <p:nvPr/>
        </p:nvCxnSpPr>
        <p:spPr>
          <a:xfrm>
            <a:off x="9665208" y="3429752"/>
            <a:ext cx="210312" cy="11550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可编辑连线"/>
          <p:cNvCxnSpPr/>
          <p:nvPr/>
        </p:nvCxnSpPr>
        <p:spPr>
          <a:xfrm>
            <a:off x="9875520" y="3545258"/>
            <a:ext cx="210312" cy="13566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可编辑连线"/>
          <p:cNvCxnSpPr/>
          <p:nvPr/>
        </p:nvCxnSpPr>
        <p:spPr>
          <a:xfrm>
            <a:off x="10085832" y="3680920"/>
            <a:ext cx="210312" cy="155451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可编辑连线"/>
          <p:cNvCxnSpPr/>
          <p:nvPr/>
        </p:nvCxnSpPr>
        <p:spPr>
          <a:xfrm>
            <a:off x="10296144" y="3836371"/>
            <a:ext cx="210312" cy="174937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可编辑连线"/>
          <p:cNvCxnSpPr/>
          <p:nvPr/>
        </p:nvCxnSpPr>
        <p:spPr>
          <a:xfrm>
            <a:off x="10506456" y="4011308"/>
            <a:ext cx="210312" cy="194163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可编辑连线"/>
          <p:cNvCxnSpPr/>
          <p:nvPr/>
        </p:nvCxnSpPr>
        <p:spPr>
          <a:xfrm>
            <a:off x="10716768" y="4205471"/>
            <a:ext cx="210312" cy="213163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可编辑连线"/>
          <p:cNvCxnSpPr/>
          <p:nvPr/>
        </p:nvCxnSpPr>
        <p:spPr>
          <a:xfrm>
            <a:off x="10927080" y="4418634"/>
            <a:ext cx="210312" cy="231963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可编辑连线"/>
          <p:cNvCxnSpPr/>
          <p:nvPr/>
        </p:nvCxnSpPr>
        <p:spPr>
          <a:xfrm>
            <a:off x="11137392" y="4650597"/>
            <a:ext cx="210312" cy="250587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可编辑连线"/>
          <p:cNvCxnSpPr/>
          <p:nvPr/>
        </p:nvCxnSpPr>
        <p:spPr>
          <a:xfrm>
            <a:off x="8823960" y="3182112"/>
            <a:ext cx="210312" cy="27556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可编辑连线"/>
          <p:cNvCxnSpPr/>
          <p:nvPr/>
        </p:nvCxnSpPr>
        <p:spPr>
          <a:xfrm>
            <a:off x="9034272" y="3209668"/>
            <a:ext cx="210312" cy="51529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可编辑连线"/>
          <p:cNvCxnSpPr/>
          <p:nvPr/>
        </p:nvCxnSpPr>
        <p:spPr>
          <a:xfrm>
            <a:off x="9244584" y="3261197"/>
            <a:ext cx="210312" cy="73664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可编辑连线"/>
          <p:cNvCxnSpPr/>
          <p:nvPr/>
        </p:nvCxnSpPr>
        <p:spPr>
          <a:xfrm>
            <a:off x="9454896" y="3334861"/>
            <a:ext cx="210312" cy="94891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可编辑连线"/>
          <p:cNvCxnSpPr/>
          <p:nvPr/>
        </p:nvCxnSpPr>
        <p:spPr>
          <a:xfrm>
            <a:off x="9665208" y="3429752"/>
            <a:ext cx="210312" cy="115506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可编辑连线"/>
          <p:cNvCxnSpPr/>
          <p:nvPr/>
        </p:nvCxnSpPr>
        <p:spPr>
          <a:xfrm>
            <a:off x="9875520" y="3545258"/>
            <a:ext cx="210312" cy="135662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可编辑连线"/>
          <p:cNvCxnSpPr/>
          <p:nvPr/>
        </p:nvCxnSpPr>
        <p:spPr>
          <a:xfrm>
            <a:off x="10085832" y="3680920"/>
            <a:ext cx="210312" cy="155451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可编辑连线"/>
          <p:cNvCxnSpPr/>
          <p:nvPr/>
        </p:nvCxnSpPr>
        <p:spPr>
          <a:xfrm>
            <a:off x="10296144" y="3836371"/>
            <a:ext cx="210312" cy="174937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可编辑连线"/>
          <p:cNvCxnSpPr/>
          <p:nvPr/>
        </p:nvCxnSpPr>
        <p:spPr>
          <a:xfrm>
            <a:off x="10506456" y="4011308"/>
            <a:ext cx="210312" cy="194163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可编辑连线"/>
          <p:cNvCxnSpPr/>
          <p:nvPr/>
        </p:nvCxnSpPr>
        <p:spPr>
          <a:xfrm>
            <a:off x="10716768" y="4205471"/>
            <a:ext cx="210312" cy="213163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可编辑连线"/>
          <p:cNvCxnSpPr/>
          <p:nvPr/>
        </p:nvCxnSpPr>
        <p:spPr>
          <a:xfrm>
            <a:off x="10927080" y="4418634"/>
            <a:ext cx="210312" cy="231963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可编辑连线"/>
          <p:cNvCxnSpPr/>
          <p:nvPr/>
        </p:nvCxnSpPr>
        <p:spPr>
          <a:xfrm>
            <a:off x="11137392" y="4650597"/>
            <a:ext cx="210312" cy="250587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可编辑圆环"/>
          <p:cNvSpPr/>
          <p:nvPr/>
        </p:nvSpPr>
        <p:spPr>
          <a:xfrm>
            <a:off x="10259568" y="4370832"/>
            <a:ext cx="109728" cy="10972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可编辑矩形"/>
          <p:cNvSpPr/>
          <p:nvPr/>
        </p:nvSpPr>
        <p:spPr>
          <a:xfrm>
            <a:off x="10634472" y="3776472"/>
            <a:ext cx="987552" cy="512064"/>
          </a:xfrm>
          <a:prstGeom prst="roundRect">
            <a:avLst/>
          </a:prstGeom>
          <a:solidFill>
            <a:srgbClr val="0B3557">
              <a:alpha val="88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文本_预计剩余寿命&#10;6.8 年"/>
          <p:cNvSpPr txBox="1"/>
          <p:nvPr/>
        </p:nvSpPr>
        <p:spPr>
          <a:xfrm>
            <a:off x="10671048" y="3822191"/>
            <a:ext cx="896112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C400"/>
                </a:solidFill>
                <a:latin typeface="Arial"/>
                <a:ea typeface="Noto Sans CJK SC"/>
              </a:rPr>
              <a:t>低于60分
自动预警</a:t>
            </a:r>
          </a:p>
        </p:txBody>
      </p:sp>
      <p:sp>
        <p:nvSpPr>
          <p:cNvPr id="227" name="可编辑圆环"/>
          <p:cNvSpPr/>
          <p:nvPr/>
        </p:nvSpPr>
        <p:spPr>
          <a:xfrm>
            <a:off x="3589020" y="56509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可编辑圆环"/>
          <p:cNvSpPr/>
          <p:nvPr/>
        </p:nvSpPr>
        <p:spPr>
          <a:xfrm>
            <a:off x="3726180" y="56372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可编辑圆环"/>
          <p:cNvSpPr/>
          <p:nvPr/>
        </p:nvSpPr>
        <p:spPr>
          <a:xfrm>
            <a:off x="3849624" y="5623559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可编辑连线"/>
          <p:cNvCxnSpPr/>
          <p:nvPr/>
        </p:nvCxnSpPr>
        <p:spPr>
          <a:xfrm flipV="1">
            <a:off x="4251960" y="51206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可编辑圆环"/>
          <p:cNvSpPr/>
          <p:nvPr/>
        </p:nvSpPr>
        <p:spPr>
          <a:xfrm>
            <a:off x="4219956" y="50932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Pentagon 231"/>
          <p:cNvSpPr/>
          <p:nvPr/>
        </p:nvSpPr>
        <p:spPr>
          <a:xfrm rot="10800000">
            <a:off x="4090659" y="5039258"/>
            <a:ext cx="322600" cy="337962"/>
          </a:xfrm>
          <a:prstGeom prst="homePlate">
            <a:avLst/>
          </a:prstGeom>
          <a:solidFill>
            <a:srgbClr val="22CCFA">
              <a:alpha val="8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可编辑连线"/>
          <p:cNvCxnSpPr/>
          <p:nvPr/>
        </p:nvCxnSpPr>
        <p:spPr>
          <a:xfrm>
            <a:off x="4198193" y="5212080"/>
            <a:ext cx="46086" cy="46085"/>
          </a:xfrm>
          <a:prstGeom prst="line">
            <a:avLst/>
          </a:prstGeom>
          <a:ln w="19050">
            <a:solidFill>
              <a:srgbClr val="FFFF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可编辑连线"/>
          <p:cNvCxnSpPr/>
          <p:nvPr/>
        </p:nvCxnSpPr>
        <p:spPr>
          <a:xfrm flipV="1">
            <a:off x="4244279" y="5165994"/>
            <a:ext cx="76809" cy="92171"/>
          </a:xfrm>
          <a:prstGeom prst="line">
            <a:avLst/>
          </a:prstGeom>
          <a:ln w="19050">
            <a:solidFill>
              <a:srgbClr val="FFFF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文本_健康等级"/>
          <p:cNvSpPr txBox="1"/>
          <p:nvPr/>
        </p:nvSpPr>
        <p:spPr>
          <a:xfrm>
            <a:off x="3566160" y="5577840"/>
            <a:ext cx="137160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健康评分</a:t>
            </a:r>
          </a:p>
        </p:txBody>
      </p:sp>
      <p:sp>
        <p:nvSpPr>
          <p:cNvPr id="236" name="可编辑圆环"/>
          <p:cNvSpPr/>
          <p:nvPr/>
        </p:nvSpPr>
        <p:spPr>
          <a:xfrm>
            <a:off x="5600700" y="56509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可编辑圆环"/>
          <p:cNvSpPr/>
          <p:nvPr/>
        </p:nvSpPr>
        <p:spPr>
          <a:xfrm>
            <a:off x="5737859" y="56372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可编辑圆环"/>
          <p:cNvSpPr/>
          <p:nvPr/>
        </p:nvSpPr>
        <p:spPr>
          <a:xfrm>
            <a:off x="5861303" y="5623559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可编辑连线"/>
          <p:cNvCxnSpPr/>
          <p:nvPr/>
        </p:nvCxnSpPr>
        <p:spPr>
          <a:xfrm flipV="1">
            <a:off x="6263640" y="51206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可编辑圆环"/>
          <p:cNvSpPr/>
          <p:nvPr/>
        </p:nvSpPr>
        <p:spPr>
          <a:xfrm>
            <a:off x="6231636" y="50932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Gear 6 240"/>
          <p:cNvSpPr/>
          <p:nvPr/>
        </p:nvSpPr>
        <p:spPr>
          <a:xfrm>
            <a:off x="6102339" y="5050779"/>
            <a:ext cx="322600" cy="322600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可编辑圆环"/>
          <p:cNvSpPr/>
          <p:nvPr/>
        </p:nvSpPr>
        <p:spPr>
          <a:xfrm>
            <a:off x="6225235" y="5173675"/>
            <a:ext cx="76809" cy="76809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文本_风险部位"/>
          <p:cNvSpPr txBox="1"/>
          <p:nvPr/>
        </p:nvSpPr>
        <p:spPr>
          <a:xfrm>
            <a:off x="5577840" y="5577840"/>
            <a:ext cx="137160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风险状态</a:t>
            </a:r>
          </a:p>
        </p:txBody>
      </p:sp>
      <p:sp>
        <p:nvSpPr>
          <p:cNvPr id="244" name="可编辑圆环"/>
          <p:cNvSpPr/>
          <p:nvPr/>
        </p:nvSpPr>
        <p:spPr>
          <a:xfrm>
            <a:off x="7703820" y="56509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可编辑圆环"/>
          <p:cNvSpPr/>
          <p:nvPr/>
        </p:nvSpPr>
        <p:spPr>
          <a:xfrm>
            <a:off x="7840980" y="56372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可编辑圆环"/>
          <p:cNvSpPr/>
          <p:nvPr/>
        </p:nvSpPr>
        <p:spPr>
          <a:xfrm>
            <a:off x="7964424" y="5623559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可编辑连线"/>
          <p:cNvCxnSpPr/>
          <p:nvPr/>
        </p:nvCxnSpPr>
        <p:spPr>
          <a:xfrm flipV="1">
            <a:off x="8366760" y="51206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可编辑圆环"/>
          <p:cNvSpPr/>
          <p:nvPr/>
        </p:nvSpPr>
        <p:spPr>
          <a:xfrm>
            <a:off x="8334756" y="50932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可编辑连线"/>
          <p:cNvCxnSpPr/>
          <p:nvPr/>
        </p:nvCxnSpPr>
        <p:spPr>
          <a:xfrm flipV="1">
            <a:off x="8259226" y="5104546"/>
            <a:ext cx="222748" cy="199705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可编辑圆环"/>
          <p:cNvSpPr/>
          <p:nvPr/>
        </p:nvSpPr>
        <p:spPr>
          <a:xfrm>
            <a:off x="8228502" y="5273527"/>
            <a:ext cx="69128" cy="69128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可编辑连线"/>
          <p:cNvCxnSpPr/>
          <p:nvPr/>
        </p:nvCxnSpPr>
        <p:spPr>
          <a:xfrm>
            <a:off x="8289950" y="5104546"/>
            <a:ext cx="184343" cy="192024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可编辑矩形"/>
          <p:cNvSpPr/>
          <p:nvPr/>
        </p:nvSpPr>
        <p:spPr>
          <a:xfrm>
            <a:off x="8443569" y="5269687"/>
            <a:ext cx="69128" cy="46085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文本_维修优先序"/>
          <p:cNvSpPr txBox="1"/>
          <p:nvPr/>
        </p:nvSpPr>
        <p:spPr>
          <a:xfrm>
            <a:off x="7680960" y="5577840"/>
            <a:ext cx="137160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Noto Sans CJK SC"/>
              </a:rPr>
              <a:t>维修优先序</a:t>
            </a:r>
          </a:p>
        </p:txBody>
      </p:sp>
      <p:sp>
        <p:nvSpPr>
          <p:cNvPr id="254" name="文本_评分只是中间量，真正输出"/>
          <p:cNvSpPr txBox="1"/>
          <p:nvPr/>
        </p:nvSpPr>
        <p:spPr>
          <a:xfrm>
            <a:off x="2743200" y="6172200"/>
            <a:ext cx="66294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C400"/>
                </a:solidFill>
                <a:latin typeface="Arial"/>
                <a:ea typeface="Noto Sans CJK SC"/>
              </a:rPr>
              <a:t>60分是安全预警线，低于阈值自动进入待修 / 高风险清单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1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模型② 千亩村发展导引：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模型② 千亩村发展导引：先算有效烤能，再找真实缺口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问“想建几栋”，而是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先用健康结果折算村级有效烤能，再判断哪里真缺、缺多少、建哪里</a:t>
            </a:r>
          </a:p>
        </p:txBody>
      </p:sp>
      <p:sp>
        <p:nvSpPr>
          <p:cNvPr id="10" name="文本_01"/>
          <p:cNvSpPr txBox="1"/>
          <p:nvPr/>
        </p:nvSpPr>
        <p:spPr>
          <a:xfrm>
            <a:off x="1069848" y="1627632"/>
            <a:ext cx="731520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11" name="可编辑圆环"/>
          <p:cNvSpPr/>
          <p:nvPr/>
        </p:nvSpPr>
        <p:spPr>
          <a:xfrm>
            <a:off x="1394460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可编辑圆环"/>
          <p:cNvSpPr/>
          <p:nvPr/>
        </p:nvSpPr>
        <p:spPr>
          <a:xfrm>
            <a:off x="1531620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可编辑圆环"/>
          <p:cNvSpPr/>
          <p:nvPr/>
        </p:nvSpPr>
        <p:spPr>
          <a:xfrm>
            <a:off x="1655064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057400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025395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ear 6 15"/>
          <p:cNvSpPr/>
          <p:nvPr/>
        </p:nvSpPr>
        <p:spPr>
          <a:xfrm>
            <a:off x="1869216" y="1622328"/>
            <a:ext cx="376367" cy="376367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可编辑圆环"/>
          <p:cNvSpPr/>
          <p:nvPr/>
        </p:nvSpPr>
        <p:spPr>
          <a:xfrm>
            <a:off x="2012594" y="1765706"/>
            <a:ext cx="89611" cy="89611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本_算有效烤能"/>
          <p:cNvSpPr txBox="1"/>
          <p:nvPr/>
        </p:nvSpPr>
        <p:spPr>
          <a:xfrm>
            <a:off x="1097280" y="2212848"/>
            <a:ext cx="192024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算有效烤能</a:t>
            </a:r>
          </a:p>
        </p:txBody>
      </p:sp>
      <p:sp>
        <p:nvSpPr>
          <p:cNvPr id="20" name="文本_可用烤房 / 健康折损 "/>
          <p:cNvSpPr txBox="1"/>
          <p:nvPr/>
        </p:nvSpPr>
        <p:spPr>
          <a:xfrm>
            <a:off x="640080" y="2615184"/>
            <a:ext cx="28346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单栋健康 / 健康折损 / 村级能力</a:t>
            </a:r>
          </a:p>
        </p:txBody>
      </p:sp>
      <p:sp>
        <p:nvSpPr>
          <p:cNvPr id="22" name="文本_02"/>
          <p:cNvSpPr txBox="1"/>
          <p:nvPr/>
        </p:nvSpPr>
        <p:spPr>
          <a:xfrm>
            <a:off x="5157216" y="1627632"/>
            <a:ext cx="731520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23" name="可编辑圆环"/>
          <p:cNvSpPr/>
          <p:nvPr/>
        </p:nvSpPr>
        <p:spPr>
          <a:xfrm>
            <a:off x="5481828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可编辑圆环"/>
          <p:cNvSpPr/>
          <p:nvPr/>
        </p:nvSpPr>
        <p:spPr>
          <a:xfrm>
            <a:off x="5618988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可编辑圆环"/>
          <p:cNvSpPr/>
          <p:nvPr/>
        </p:nvSpPr>
        <p:spPr>
          <a:xfrm>
            <a:off x="5742431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可编辑连线"/>
          <p:cNvCxnSpPr/>
          <p:nvPr/>
        </p:nvCxnSpPr>
        <p:spPr>
          <a:xfrm flipV="1">
            <a:off x="6144768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可编辑圆环"/>
          <p:cNvSpPr/>
          <p:nvPr/>
        </p:nvSpPr>
        <p:spPr>
          <a:xfrm>
            <a:off x="6112764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可编辑矩形"/>
          <p:cNvSpPr/>
          <p:nvPr/>
        </p:nvSpPr>
        <p:spPr>
          <a:xfrm>
            <a:off x="5974506" y="1788109"/>
            <a:ext cx="76169" cy="156819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可编辑矩形"/>
          <p:cNvSpPr/>
          <p:nvPr/>
        </p:nvSpPr>
        <p:spPr>
          <a:xfrm>
            <a:off x="6082040" y="1698498"/>
            <a:ext cx="76169" cy="24643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可编辑矩形"/>
          <p:cNvSpPr/>
          <p:nvPr/>
        </p:nvSpPr>
        <p:spPr>
          <a:xfrm>
            <a:off x="6189573" y="1577522"/>
            <a:ext cx="76169" cy="367405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可编辑连线"/>
          <p:cNvCxnSpPr/>
          <p:nvPr/>
        </p:nvCxnSpPr>
        <p:spPr>
          <a:xfrm>
            <a:off x="5943142" y="1953889"/>
            <a:ext cx="389809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_判真实缺口"/>
          <p:cNvSpPr txBox="1"/>
          <p:nvPr/>
        </p:nvSpPr>
        <p:spPr>
          <a:xfrm>
            <a:off x="5184648" y="2212848"/>
            <a:ext cx="192024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判真实缺口</a:t>
            </a:r>
          </a:p>
        </p:txBody>
      </p:sp>
      <p:sp>
        <p:nvSpPr>
          <p:cNvPr id="34" name="文本_烟叶需求 / 可用产能 "/>
          <p:cNvSpPr txBox="1"/>
          <p:nvPr/>
        </p:nvSpPr>
        <p:spPr>
          <a:xfrm>
            <a:off x="4727448" y="2615184"/>
            <a:ext cx="28346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种植规模 / 产业趋势 / 集体经济 / 管护能力 / 政策适配</a:t>
            </a:r>
          </a:p>
        </p:txBody>
      </p:sp>
      <p:sp>
        <p:nvSpPr>
          <p:cNvPr id="36" name="文本_03"/>
          <p:cNvSpPr txBox="1"/>
          <p:nvPr/>
        </p:nvSpPr>
        <p:spPr>
          <a:xfrm>
            <a:off x="8997696" y="1627632"/>
            <a:ext cx="731520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37" name="可编辑圆环"/>
          <p:cNvSpPr/>
          <p:nvPr/>
        </p:nvSpPr>
        <p:spPr>
          <a:xfrm>
            <a:off x="9322308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圆环"/>
          <p:cNvSpPr/>
          <p:nvPr/>
        </p:nvSpPr>
        <p:spPr>
          <a:xfrm>
            <a:off x="9459468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圆环"/>
          <p:cNvSpPr/>
          <p:nvPr/>
        </p:nvSpPr>
        <p:spPr>
          <a:xfrm>
            <a:off x="9582912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可编辑连线"/>
          <p:cNvCxnSpPr/>
          <p:nvPr/>
        </p:nvCxnSpPr>
        <p:spPr>
          <a:xfrm flipV="1">
            <a:off x="9985248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可编辑圆环"/>
          <p:cNvSpPr/>
          <p:nvPr/>
        </p:nvSpPr>
        <p:spPr>
          <a:xfrm>
            <a:off x="9953244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矩形"/>
          <p:cNvSpPr/>
          <p:nvPr/>
        </p:nvSpPr>
        <p:spPr>
          <a:xfrm>
            <a:off x="9823947" y="1788109"/>
            <a:ext cx="322600" cy="232989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9770181" y="1608886"/>
            <a:ext cx="430133" cy="215066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矩形"/>
          <p:cNvSpPr/>
          <p:nvPr/>
        </p:nvSpPr>
        <p:spPr>
          <a:xfrm>
            <a:off x="9944922" y="1864278"/>
            <a:ext cx="80650" cy="125455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文本_做建设推演"/>
          <p:cNvSpPr txBox="1"/>
          <p:nvPr/>
        </p:nvSpPr>
        <p:spPr>
          <a:xfrm>
            <a:off x="9025128" y="2212848"/>
            <a:ext cx="192024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做情景推演</a:t>
            </a:r>
          </a:p>
        </p:txBody>
      </p:sp>
      <p:sp>
        <p:nvSpPr>
          <p:cNvPr id="47" name="文本_维修优先 / 调剂优先 "/>
          <p:cNvSpPr txBox="1"/>
          <p:nvPr/>
        </p:nvSpPr>
        <p:spPr>
          <a:xfrm>
            <a:off x="8567928" y="2615184"/>
            <a:ext cx="28346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熵权法 + TOPSIS / 地图情景沙盘</a:t>
            </a:r>
          </a:p>
        </p:txBody>
      </p:sp>
      <p:sp>
        <p:nvSpPr>
          <p:cNvPr id="48" name="Chevron 47"/>
          <p:cNvSpPr/>
          <p:nvPr/>
        </p:nvSpPr>
        <p:spPr>
          <a:xfrm>
            <a:off x="3767328" y="2011680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3928262" y="2011680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vron 49"/>
          <p:cNvSpPr/>
          <p:nvPr/>
        </p:nvSpPr>
        <p:spPr>
          <a:xfrm>
            <a:off x="7790688" y="2011680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>
            <a:off x="7951622" y="2011680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可编辑连线"/>
          <p:cNvCxnSpPr/>
          <p:nvPr/>
        </p:nvCxnSpPr>
        <p:spPr>
          <a:xfrm flipV="1">
            <a:off x="868680" y="4069080"/>
            <a:ext cx="640080" cy="1097280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可编辑连线"/>
          <p:cNvCxnSpPr/>
          <p:nvPr/>
        </p:nvCxnSpPr>
        <p:spPr>
          <a:xfrm>
            <a:off x="1508760" y="4069080"/>
            <a:ext cx="685800" cy="320040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可编辑连线"/>
          <p:cNvCxnSpPr/>
          <p:nvPr/>
        </p:nvCxnSpPr>
        <p:spPr>
          <a:xfrm flipV="1">
            <a:off x="2194560" y="3840480"/>
            <a:ext cx="640080" cy="548640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可编辑连线"/>
          <p:cNvCxnSpPr/>
          <p:nvPr/>
        </p:nvCxnSpPr>
        <p:spPr>
          <a:xfrm>
            <a:off x="2834640" y="3840480"/>
            <a:ext cx="777240" cy="530352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可编辑连线"/>
          <p:cNvCxnSpPr/>
          <p:nvPr/>
        </p:nvCxnSpPr>
        <p:spPr>
          <a:xfrm>
            <a:off x="3611880" y="4370832"/>
            <a:ext cx="685800" cy="704088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可编辑连线"/>
          <p:cNvCxnSpPr/>
          <p:nvPr/>
        </p:nvCxnSpPr>
        <p:spPr>
          <a:xfrm flipH="1">
            <a:off x="3611880" y="5074920"/>
            <a:ext cx="685800" cy="502920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可编辑连线"/>
          <p:cNvCxnSpPr/>
          <p:nvPr/>
        </p:nvCxnSpPr>
        <p:spPr>
          <a:xfrm flipH="1" flipV="1">
            <a:off x="2514600" y="5440680"/>
            <a:ext cx="1097280" cy="137160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可编辑连线"/>
          <p:cNvCxnSpPr/>
          <p:nvPr/>
        </p:nvCxnSpPr>
        <p:spPr>
          <a:xfrm flipH="1">
            <a:off x="1600200" y="5440680"/>
            <a:ext cx="914400" cy="91440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可编辑连线"/>
          <p:cNvCxnSpPr/>
          <p:nvPr/>
        </p:nvCxnSpPr>
        <p:spPr>
          <a:xfrm flipH="1" flipV="1">
            <a:off x="868680" y="5166360"/>
            <a:ext cx="731520" cy="365760"/>
          </a:xfrm>
          <a:prstGeom prst="line">
            <a:avLst/>
          </a:prstGeom>
          <a:ln w="15240">
            <a:solidFill>
              <a:srgbClr val="22CCFA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ardrop 60"/>
          <p:cNvSpPr/>
          <p:nvPr/>
        </p:nvSpPr>
        <p:spPr>
          <a:xfrm rot="10800000">
            <a:off x="955547" y="3653027"/>
            <a:ext cx="192024" cy="192024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可编辑圆环"/>
          <p:cNvSpPr/>
          <p:nvPr/>
        </p:nvSpPr>
        <p:spPr>
          <a:xfrm>
            <a:off x="1030437" y="3727917"/>
            <a:ext cx="42245" cy="42245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可编辑矩形"/>
          <p:cNvSpPr/>
          <p:nvPr/>
        </p:nvSpPr>
        <p:spPr>
          <a:xfrm>
            <a:off x="640080" y="3182111"/>
            <a:ext cx="1051560" cy="420624"/>
          </a:xfrm>
          <a:prstGeom prst="roundRect">
            <a:avLst/>
          </a:prstGeom>
          <a:solidFill>
            <a:srgbClr val="092542">
              <a:alpha val="90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文本_现有烤房&#10;1,256 栋"/>
          <p:cNvSpPr txBox="1"/>
          <p:nvPr/>
        </p:nvSpPr>
        <p:spPr>
          <a:xfrm>
            <a:off x="685799" y="3218687"/>
            <a:ext cx="96012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  <a:ea typeface="Noto Sans CJK SC"/>
              </a:rPr>
              <a:t>单栋健康
数据输入</a:t>
            </a:r>
          </a:p>
        </p:txBody>
      </p:sp>
      <p:sp>
        <p:nvSpPr>
          <p:cNvPr id="65" name="Teardrop 64"/>
          <p:cNvSpPr/>
          <p:nvPr/>
        </p:nvSpPr>
        <p:spPr>
          <a:xfrm rot="10800000">
            <a:off x="2235708" y="4201668"/>
            <a:ext cx="192024" cy="192024"/>
          </a:xfrm>
          <a:prstGeom prst="teardrop">
            <a:avLst/>
          </a:prstGeom>
          <a:solidFill>
            <a:srgbClr val="A5EEFF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可编辑圆环"/>
          <p:cNvSpPr/>
          <p:nvPr/>
        </p:nvSpPr>
        <p:spPr>
          <a:xfrm>
            <a:off x="2310597" y="4276557"/>
            <a:ext cx="42245" cy="42245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可编辑矩形"/>
          <p:cNvSpPr/>
          <p:nvPr/>
        </p:nvSpPr>
        <p:spPr>
          <a:xfrm>
            <a:off x="1920239" y="3730752"/>
            <a:ext cx="1051560" cy="420624"/>
          </a:xfrm>
          <a:prstGeom prst="roundRect">
            <a:avLst/>
          </a:prstGeom>
          <a:solidFill>
            <a:srgbClr val="092542">
              <a:alpha val="90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文本_可用烤能&#10;682 栋"/>
          <p:cNvSpPr txBox="1"/>
          <p:nvPr/>
        </p:nvSpPr>
        <p:spPr>
          <a:xfrm>
            <a:off x="1965960" y="3767328"/>
            <a:ext cx="96012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  <a:ea typeface="Noto Sans CJK SC"/>
              </a:rPr>
              <a:t>村级
有效烤能</a:t>
            </a:r>
          </a:p>
        </p:txBody>
      </p:sp>
      <p:sp>
        <p:nvSpPr>
          <p:cNvPr id="69" name="Teardrop 68"/>
          <p:cNvSpPr/>
          <p:nvPr/>
        </p:nvSpPr>
        <p:spPr>
          <a:xfrm rot="10800000">
            <a:off x="3031236" y="4796027"/>
            <a:ext cx="192024" cy="192024"/>
          </a:xfrm>
          <a:prstGeom prst="teardrop">
            <a:avLst/>
          </a:prstGeom>
          <a:solidFill>
            <a:srgbClr val="FF6B61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可编辑圆环"/>
          <p:cNvSpPr/>
          <p:nvPr/>
        </p:nvSpPr>
        <p:spPr>
          <a:xfrm>
            <a:off x="3106125" y="4870917"/>
            <a:ext cx="42245" cy="42245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可编辑矩形"/>
          <p:cNvSpPr/>
          <p:nvPr/>
        </p:nvSpPr>
        <p:spPr>
          <a:xfrm>
            <a:off x="2715768" y="4325112"/>
            <a:ext cx="1051560" cy="420624"/>
          </a:xfrm>
          <a:prstGeom prst="roundRect">
            <a:avLst/>
          </a:prstGeom>
          <a:solidFill>
            <a:srgbClr val="092542">
              <a:alpha val="90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文本_健康折损&#10;213 栋"/>
          <p:cNvSpPr txBox="1"/>
          <p:nvPr/>
        </p:nvSpPr>
        <p:spPr>
          <a:xfrm>
            <a:off x="2761488" y="4361688"/>
            <a:ext cx="96012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  <a:ea typeface="Noto Sans CJK SC"/>
              </a:rPr>
              <a:t>健康折损
能力折算</a:t>
            </a:r>
          </a:p>
        </p:txBody>
      </p:sp>
      <p:sp>
        <p:nvSpPr>
          <p:cNvPr id="73" name="Teardrop 72"/>
          <p:cNvSpPr/>
          <p:nvPr/>
        </p:nvSpPr>
        <p:spPr>
          <a:xfrm rot="10800000">
            <a:off x="3360420" y="3579875"/>
            <a:ext cx="192024" cy="192024"/>
          </a:xfrm>
          <a:prstGeom prst="teardrop">
            <a:avLst/>
          </a:prstGeom>
          <a:solidFill>
            <a:srgbClr val="45F29D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可编辑圆环"/>
          <p:cNvSpPr/>
          <p:nvPr/>
        </p:nvSpPr>
        <p:spPr>
          <a:xfrm>
            <a:off x="3435309" y="3654765"/>
            <a:ext cx="42245" cy="42245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可编辑矩形"/>
          <p:cNvSpPr/>
          <p:nvPr/>
        </p:nvSpPr>
        <p:spPr>
          <a:xfrm>
            <a:off x="3044951" y="3108959"/>
            <a:ext cx="1051560" cy="420624"/>
          </a:xfrm>
          <a:prstGeom prst="roundRect">
            <a:avLst/>
          </a:prstGeom>
          <a:solidFill>
            <a:srgbClr val="092542">
              <a:alpha val="90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文本_调剂潜力&#10;168 栋"/>
          <p:cNvSpPr txBox="1"/>
          <p:nvPr/>
        </p:nvSpPr>
        <p:spPr>
          <a:xfrm>
            <a:off x="3090672" y="3145535"/>
            <a:ext cx="96012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  <a:ea typeface="Noto Sans CJK SC"/>
              </a:rPr>
              <a:t>调剂潜力
优先盘活</a:t>
            </a:r>
          </a:p>
        </p:txBody>
      </p:sp>
      <p:cxnSp>
        <p:nvCxnSpPr>
          <p:cNvPr id="77" name="可编辑连线"/>
          <p:cNvCxnSpPr/>
          <p:nvPr/>
        </p:nvCxnSpPr>
        <p:spPr>
          <a:xfrm>
            <a:off x="4709160" y="3401568"/>
            <a:ext cx="0" cy="1764792"/>
          </a:xfrm>
          <a:prstGeom prst="line">
            <a:avLst/>
          </a:prstGeom>
          <a:ln w="889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可编辑连线"/>
          <p:cNvCxnSpPr/>
          <p:nvPr/>
        </p:nvCxnSpPr>
        <p:spPr>
          <a:xfrm>
            <a:off x="4709160" y="5166360"/>
            <a:ext cx="3154680" cy="0"/>
          </a:xfrm>
          <a:prstGeom prst="line">
            <a:avLst/>
          </a:prstGeom>
          <a:ln w="889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本_2024"/>
          <p:cNvSpPr txBox="1"/>
          <p:nvPr/>
        </p:nvSpPr>
        <p:spPr>
          <a:xfrm>
            <a:off x="4846320" y="5175504"/>
            <a:ext cx="438912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种植</a:t>
            </a:r>
          </a:p>
        </p:txBody>
      </p:sp>
      <p:sp>
        <p:nvSpPr>
          <p:cNvPr id="80" name="可编辑矩形"/>
          <p:cNvSpPr/>
          <p:nvPr/>
        </p:nvSpPr>
        <p:spPr>
          <a:xfrm>
            <a:off x="5029200" y="4703673"/>
            <a:ext cx="164592" cy="371246"/>
          </a:xfrm>
          <a:prstGeom prst="rect">
            <a:avLst/>
          </a:prstGeom>
          <a:solidFill>
            <a:srgbClr val="45F29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可编辑矩形"/>
          <p:cNvSpPr/>
          <p:nvPr/>
        </p:nvSpPr>
        <p:spPr>
          <a:xfrm>
            <a:off x="5230368" y="4626864"/>
            <a:ext cx="164592" cy="448055"/>
          </a:xfrm>
          <a:prstGeom prst="rect">
            <a:avLst/>
          </a:prstGeom>
          <a:solidFill>
            <a:srgbClr val="1688D8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文本_2025"/>
          <p:cNvSpPr txBox="1"/>
          <p:nvPr/>
        </p:nvSpPr>
        <p:spPr>
          <a:xfrm>
            <a:off x="5413248" y="5175504"/>
            <a:ext cx="438912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趋势</a:t>
            </a:r>
          </a:p>
        </p:txBody>
      </p:sp>
      <p:sp>
        <p:nvSpPr>
          <p:cNvPr id="83" name="可编辑矩形"/>
          <p:cNvSpPr/>
          <p:nvPr/>
        </p:nvSpPr>
        <p:spPr>
          <a:xfrm>
            <a:off x="5596128" y="4537252"/>
            <a:ext cx="164592" cy="537667"/>
          </a:xfrm>
          <a:prstGeom prst="rect">
            <a:avLst/>
          </a:prstGeom>
          <a:solidFill>
            <a:srgbClr val="45F29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可编辑矩形"/>
          <p:cNvSpPr/>
          <p:nvPr/>
        </p:nvSpPr>
        <p:spPr>
          <a:xfrm>
            <a:off x="5797296" y="4409236"/>
            <a:ext cx="164592" cy="665683"/>
          </a:xfrm>
          <a:prstGeom prst="rect">
            <a:avLst/>
          </a:prstGeom>
          <a:solidFill>
            <a:srgbClr val="1688D8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文本_2026"/>
          <p:cNvSpPr txBox="1"/>
          <p:nvPr/>
        </p:nvSpPr>
        <p:spPr>
          <a:xfrm>
            <a:off x="5980176" y="5175504"/>
            <a:ext cx="438912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经济</a:t>
            </a:r>
          </a:p>
        </p:txBody>
      </p:sp>
      <p:sp>
        <p:nvSpPr>
          <p:cNvPr id="86" name="可编辑矩形"/>
          <p:cNvSpPr/>
          <p:nvPr/>
        </p:nvSpPr>
        <p:spPr>
          <a:xfrm>
            <a:off x="6163056" y="4332427"/>
            <a:ext cx="164592" cy="742492"/>
          </a:xfrm>
          <a:prstGeom prst="rect">
            <a:avLst/>
          </a:prstGeom>
          <a:solidFill>
            <a:srgbClr val="45F29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可编辑矩形"/>
          <p:cNvSpPr/>
          <p:nvPr/>
        </p:nvSpPr>
        <p:spPr>
          <a:xfrm>
            <a:off x="6364224" y="4178808"/>
            <a:ext cx="164592" cy="896111"/>
          </a:xfrm>
          <a:prstGeom prst="rect">
            <a:avLst/>
          </a:prstGeom>
          <a:solidFill>
            <a:srgbClr val="1688D8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文本_2027"/>
          <p:cNvSpPr txBox="1"/>
          <p:nvPr/>
        </p:nvSpPr>
        <p:spPr>
          <a:xfrm>
            <a:off x="6547103" y="5175504"/>
            <a:ext cx="438912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管护</a:t>
            </a:r>
          </a:p>
        </p:txBody>
      </p:sp>
      <p:sp>
        <p:nvSpPr>
          <p:cNvPr id="89" name="可编辑矩形"/>
          <p:cNvSpPr/>
          <p:nvPr/>
        </p:nvSpPr>
        <p:spPr>
          <a:xfrm>
            <a:off x="6729983" y="4306824"/>
            <a:ext cx="164592" cy="768096"/>
          </a:xfrm>
          <a:prstGeom prst="rect">
            <a:avLst/>
          </a:prstGeom>
          <a:solidFill>
            <a:srgbClr val="45F29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可编辑矩形"/>
          <p:cNvSpPr/>
          <p:nvPr/>
        </p:nvSpPr>
        <p:spPr>
          <a:xfrm>
            <a:off x="6931151" y="4063593"/>
            <a:ext cx="164592" cy="1011326"/>
          </a:xfrm>
          <a:prstGeom prst="rect">
            <a:avLst/>
          </a:prstGeom>
          <a:solidFill>
            <a:srgbClr val="1688D8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文本_2028"/>
          <p:cNvSpPr txBox="1"/>
          <p:nvPr/>
        </p:nvSpPr>
        <p:spPr>
          <a:xfrm>
            <a:off x="7114032" y="5175504"/>
            <a:ext cx="438912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政策</a:t>
            </a:r>
          </a:p>
        </p:txBody>
      </p:sp>
      <p:sp>
        <p:nvSpPr>
          <p:cNvPr id="92" name="可编辑矩形"/>
          <p:cNvSpPr/>
          <p:nvPr/>
        </p:nvSpPr>
        <p:spPr>
          <a:xfrm>
            <a:off x="7296912" y="4370831"/>
            <a:ext cx="164592" cy="704088"/>
          </a:xfrm>
          <a:prstGeom prst="rect">
            <a:avLst/>
          </a:prstGeom>
          <a:solidFill>
            <a:srgbClr val="45F29D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可编辑矩形"/>
          <p:cNvSpPr/>
          <p:nvPr/>
        </p:nvSpPr>
        <p:spPr>
          <a:xfrm>
            <a:off x="7498080" y="4025188"/>
            <a:ext cx="164592" cy="1049731"/>
          </a:xfrm>
          <a:prstGeom prst="rect">
            <a:avLst/>
          </a:prstGeom>
          <a:solidFill>
            <a:srgbClr val="1688D8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可编辑连线"/>
          <p:cNvCxnSpPr/>
          <p:nvPr/>
        </p:nvCxnSpPr>
        <p:spPr>
          <a:xfrm flipV="1">
            <a:off x="5111496" y="4200753"/>
            <a:ext cx="566928" cy="240945"/>
          </a:xfrm>
          <a:prstGeom prst="line">
            <a:avLst/>
          </a:prstGeom>
          <a:ln w="19050">
            <a:solidFill>
              <a:srgbClr val="FFFFFF">
                <a:alpha val="9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可编辑连线"/>
          <p:cNvCxnSpPr/>
          <p:nvPr/>
        </p:nvCxnSpPr>
        <p:spPr>
          <a:xfrm flipV="1">
            <a:off x="5678424" y="3945636"/>
            <a:ext cx="566928" cy="255117"/>
          </a:xfrm>
          <a:prstGeom prst="line">
            <a:avLst/>
          </a:prstGeom>
          <a:ln w="19050">
            <a:solidFill>
              <a:srgbClr val="FFFFFF">
                <a:alpha val="9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可编辑连线"/>
          <p:cNvCxnSpPr/>
          <p:nvPr/>
        </p:nvCxnSpPr>
        <p:spPr>
          <a:xfrm flipV="1">
            <a:off x="6245352" y="3818077"/>
            <a:ext cx="566928" cy="127559"/>
          </a:xfrm>
          <a:prstGeom prst="line">
            <a:avLst/>
          </a:prstGeom>
          <a:ln w="19050">
            <a:solidFill>
              <a:srgbClr val="FFFFFF">
                <a:alpha val="9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可编辑连线"/>
          <p:cNvCxnSpPr/>
          <p:nvPr/>
        </p:nvCxnSpPr>
        <p:spPr>
          <a:xfrm flipV="1">
            <a:off x="6812280" y="3775557"/>
            <a:ext cx="566928" cy="42520"/>
          </a:xfrm>
          <a:prstGeom prst="line">
            <a:avLst/>
          </a:prstGeom>
          <a:ln w="19050">
            <a:solidFill>
              <a:srgbClr val="FFFFFF">
                <a:alpha val="9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可编辑圆环"/>
          <p:cNvSpPr/>
          <p:nvPr/>
        </p:nvSpPr>
        <p:spPr>
          <a:xfrm>
            <a:off x="5084064" y="4414266"/>
            <a:ext cx="54864" cy="54864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可编辑圆环"/>
          <p:cNvSpPr/>
          <p:nvPr/>
        </p:nvSpPr>
        <p:spPr>
          <a:xfrm>
            <a:off x="5650992" y="4173321"/>
            <a:ext cx="54864" cy="54864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可编辑圆环"/>
          <p:cNvSpPr/>
          <p:nvPr/>
        </p:nvSpPr>
        <p:spPr>
          <a:xfrm>
            <a:off x="6217920" y="3918204"/>
            <a:ext cx="54864" cy="54864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可编辑圆环"/>
          <p:cNvSpPr/>
          <p:nvPr/>
        </p:nvSpPr>
        <p:spPr>
          <a:xfrm>
            <a:off x="6784848" y="3790645"/>
            <a:ext cx="54864" cy="54864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可编辑圆环"/>
          <p:cNvSpPr/>
          <p:nvPr/>
        </p:nvSpPr>
        <p:spPr>
          <a:xfrm>
            <a:off x="7351776" y="3748125"/>
            <a:ext cx="54864" cy="54864"/>
          </a:xfrm>
          <a:prstGeom prst="ellipse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文本_缺口"/>
          <p:cNvSpPr txBox="1"/>
          <p:nvPr/>
        </p:nvSpPr>
        <p:spPr>
          <a:xfrm>
            <a:off x="7269480" y="4169663"/>
            <a:ext cx="5943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6B61"/>
                </a:solidFill>
                <a:latin typeface="Arial"/>
                <a:ea typeface="Noto Sans CJK SC"/>
              </a:rPr>
              <a:t>缺口</a:t>
            </a:r>
          </a:p>
        </p:txBody>
      </p:sp>
      <p:sp>
        <p:nvSpPr>
          <p:cNvPr id="104" name="文本_建设推演路径"/>
          <p:cNvSpPr txBox="1"/>
          <p:nvPr/>
        </p:nvSpPr>
        <p:spPr>
          <a:xfrm>
            <a:off x="8915400" y="3337560"/>
            <a:ext cx="205740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Noto Sans CJK SC"/>
              </a:rPr>
              <a:t>建设推演路径</a:t>
            </a:r>
          </a:p>
        </p:txBody>
      </p:sp>
      <p:cxnSp>
        <p:nvCxnSpPr>
          <p:cNvPr id="105" name="可编辑连线"/>
          <p:cNvCxnSpPr/>
          <p:nvPr/>
        </p:nvCxnSpPr>
        <p:spPr>
          <a:xfrm>
            <a:off x="8915400" y="3639312"/>
            <a:ext cx="2148840" cy="0"/>
          </a:xfrm>
          <a:prstGeom prst="line">
            <a:avLst/>
          </a:prstGeom>
          <a:ln w="11430">
            <a:solidFill>
              <a:srgbClr val="22CCFA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可编辑圆环"/>
          <p:cNvSpPr/>
          <p:nvPr/>
        </p:nvSpPr>
        <p:spPr>
          <a:xfrm>
            <a:off x="8833104" y="3867911"/>
            <a:ext cx="530352" cy="530352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可编辑矩形"/>
          <p:cNvSpPr/>
          <p:nvPr/>
        </p:nvSpPr>
        <p:spPr>
          <a:xfrm>
            <a:off x="8980139" y="4117543"/>
            <a:ext cx="52852" cy="108813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可编辑矩形"/>
          <p:cNvSpPr/>
          <p:nvPr/>
        </p:nvSpPr>
        <p:spPr>
          <a:xfrm>
            <a:off x="9054754" y="4055363"/>
            <a:ext cx="52852" cy="170992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可编辑矩形"/>
          <p:cNvSpPr/>
          <p:nvPr/>
        </p:nvSpPr>
        <p:spPr>
          <a:xfrm>
            <a:off x="9129369" y="3971422"/>
            <a:ext cx="52852" cy="25493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可编辑连线"/>
          <p:cNvCxnSpPr/>
          <p:nvPr/>
        </p:nvCxnSpPr>
        <p:spPr>
          <a:xfrm>
            <a:off x="8958376" y="4232574"/>
            <a:ext cx="270480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文本_先调剂"/>
          <p:cNvSpPr txBox="1"/>
          <p:nvPr/>
        </p:nvSpPr>
        <p:spPr>
          <a:xfrm>
            <a:off x="8641080" y="4462272"/>
            <a:ext cx="91440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先调剂</a:t>
            </a:r>
          </a:p>
        </p:txBody>
      </p:sp>
      <p:sp>
        <p:nvSpPr>
          <p:cNvPr id="112" name="文本_跨村调剂&#10;统筹使用"/>
          <p:cNvSpPr txBox="1"/>
          <p:nvPr/>
        </p:nvSpPr>
        <p:spPr>
          <a:xfrm>
            <a:off x="8641080" y="5010912"/>
            <a:ext cx="91440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跨村调剂
统筹使用</a:t>
            </a:r>
          </a:p>
        </p:txBody>
      </p:sp>
      <p:sp>
        <p:nvSpPr>
          <p:cNvPr id="113" name="Chevron 112"/>
          <p:cNvSpPr/>
          <p:nvPr/>
        </p:nvSpPr>
        <p:spPr>
          <a:xfrm>
            <a:off x="9573767" y="4023360"/>
            <a:ext cx="201168" cy="16459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Chevron 113"/>
          <p:cNvSpPr/>
          <p:nvPr/>
        </p:nvSpPr>
        <p:spPr>
          <a:xfrm>
            <a:off x="9684410" y="4023360"/>
            <a:ext cx="201168" cy="16459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可编辑圆环"/>
          <p:cNvSpPr/>
          <p:nvPr/>
        </p:nvSpPr>
        <p:spPr>
          <a:xfrm>
            <a:off x="9912096" y="3867911"/>
            <a:ext cx="530352" cy="530352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可编辑连线"/>
          <p:cNvCxnSpPr/>
          <p:nvPr/>
        </p:nvCxnSpPr>
        <p:spPr>
          <a:xfrm flipV="1">
            <a:off x="10090221" y="4046037"/>
            <a:ext cx="180319" cy="161666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可编辑圆环"/>
          <p:cNvSpPr/>
          <p:nvPr/>
        </p:nvSpPr>
        <p:spPr>
          <a:xfrm>
            <a:off x="10065349" y="4182831"/>
            <a:ext cx="55961" cy="55961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可编辑连线"/>
          <p:cNvCxnSpPr/>
          <p:nvPr/>
        </p:nvCxnSpPr>
        <p:spPr>
          <a:xfrm>
            <a:off x="10115092" y="4046037"/>
            <a:ext cx="149230" cy="155448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可编辑矩形"/>
          <p:cNvSpPr/>
          <p:nvPr/>
        </p:nvSpPr>
        <p:spPr>
          <a:xfrm>
            <a:off x="10239451" y="4179722"/>
            <a:ext cx="55961" cy="37307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文本_再修复"/>
          <p:cNvSpPr txBox="1"/>
          <p:nvPr/>
        </p:nvSpPr>
        <p:spPr>
          <a:xfrm>
            <a:off x="9720072" y="4462272"/>
            <a:ext cx="91440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再修复</a:t>
            </a:r>
          </a:p>
        </p:txBody>
      </p:sp>
      <p:sp>
        <p:nvSpPr>
          <p:cNvPr id="121" name="文本_优先维修&#10;提升健康度"/>
          <p:cNvSpPr txBox="1"/>
          <p:nvPr/>
        </p:nvSpPr>
        <p:spPr>
          <a:xfrm>
            <a:off x="9720072" y="5010912"/>
            <a:ext cx="91440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优先维修
提升健康度</a:t>
            </a:r>
          </a:p>
        </p:txBody>
      </p:sp>
      <p:sp>
        <p:nvSpPr>
          <p:cNvPr id="122" name="Chevron 121"/>
          <p:cNvSpPr/>
          <p:nvPr/>
        </p:nvSpPr>
        <p:spPr>
          <a:xfrm>
            <a:off x="10652759" y="4023360"/>
            <a:ext cx="201168" cy="16459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Chevron 122"/>
          <p:cNvSpPr/>
          <p:nvPr/>
        </p:nvSpPr>
        <p:spPr>
          <a:xfrm>
            <a:off x="10763402" y="4023360"/>
            <a:ext cx="201168" cy="16459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可编辑圆环"/>
          <p:cNvSpPr/>
          <p:nvPr/>
        </p:nvSpPr>
        <p:spPr>
          <a:xfrm>
            <a:off x="10991088" y="3867911"/>
            <a:ext cx="530352" cy="530352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可编辑矩形"/>
          <p:cNvSpPr/>
          <p:nvPr/>
        </p:nvSpPr>
        <p:spPr>
          <a:xfrm>
            <a:off x="11144341" y="4117543"/>
            <a:ext cx="223845" cy="161665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Isosceles Triangle 125"/>
          <p:cNvSpPr/>
          <p:nvPr/>
        </p:nvSpPr>
        <p:spPr>
          <a:xfrm>
            <a:off x="11107033" y="3993184"/>
            <a:ext cx="298460" cy="149230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可编辑矩形"/>
          <p:cNvSpPr/>
          <p:nvPr/>
        </p:nvSpPr>
        <p:spPr>
          <a:xfrm>
            <a:off x="11228283" y="4170395"/>
            <a:ext cx="55961" cy="87050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文本_仍有结构性缺口&#10;才新建"/>
          <p:cNvSpPr txBox="1"/>
          <p:nvPr/>
        </p:nvSpPr>
        <p:spPr>
          <a:xfrm>
            <a:off x="10799063" y="4462272"/>
            <a:ext cx="91440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仍有结构性缺口
才新建</a:t>
            </a:r>
          </a:p>
        </p:txBody>
      </p:sp>
      <p:sp>
        <p:nvSpPr>
          <p:cNvPr id="129" name="文本_按需新增&#10;合理布局"/>
          <p:cNvSpPr txBox="1"/>
          <p:nvPr/>
        </p:nvSpPr>
        <p:spPr>
          <a:xfrm>
            <a:off x="10799063" y="5010912"/>
            <a:ext cx="91440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按需新增
合理布局</a:t>
            </a:r>
          </a:p>
        </p:txBody>
      </p:sp>
      <p:sp>
        <p:nvSpPr>
          <p:cNvPr id="130" name="文本_把“有多少栋”改成“有多"/>
          <p:cNvSpPr txBox="1"/>
          <p:nvPr/>
        </p:nvSpPr>
        <p:spPr>
          <a:xfrm>
            <a:off x="2423160" y="6172200"/>
            <a:ext cx="736092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C400"/>
                </a:solidFill>
                <a:latin typeface="Arial"/>
                <a:ea typeface="Noto Sans CJK SC"/>
              </a:rPr>
              <a:t>把“有多少栋”改成“有多少有效烤能”，再决定哪里建、建多少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8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双模决策：存量评估 + 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FFC400"/>
                </a:solidFill>
                <a:latin typeface="Noto Serif CJK SC"/>
                <a:ea typeface="Noto Serif CJK SC"/>
              </a:rPr>
              <a:t>双模决策：健康评估 + 发展导引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把“经验判断”变成“量化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模型1回答“谁最该修”，模型2回答“哪里真缺、要不要建”</a:t>
            </a:r>
          </a:p>
        </p:txBody>
      </p:sp>
      <p:sp>
        <p:nvSpPr>
          <p:cNvPr id="10" name="文本_模型① 健康评估"/>
          <p:cNvSpPr txBox="1"/>
          <p:nvPr/>
        </p:nvSpPr>
        <p:spPr>
          <a:xfrm>
            <a:off x="1280160" y="1627632"/>
            <a:ext cx="33375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模型① 健康评估</a:t>
            </a:r>
          </a:p>
        </p:txBody>
      </p:sp>
      <p:sp>
        <p:nvSpPr>
          <p:cNvPr id="12" name="文本_模型② 供需推演"/>
          <p:cNvSpPr txBox="1"/>
          <p:nvPr/>
        </p:nvSpPr>
        <p:spPr>
          <a:xfrm>
            <a:off x="7498079" y="1627632"/>
            <a:ext cx="33375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模型② 发展导引</a:t>
            </a:r>
          </a:p>
        </p:txBody>
      </p:sp>
      <p:sp>
        <p:nvSpPr>
          <p:cNvPr id="13" name="可编辑矩形"/>
          <p:cNvSpPr/>
          <p:nvPr/>
        </p:nvSpPr>
        <p:spPr>
          <a:xfrm>
            <a:off x="1901952" y="2560320"/>
            <a:ext cx="201168" cy="960120"/>
          </a:xfrm>
          <a:prstGeom prst="rect">
            <a:avLst/>
          </a:prstGeom>
          <a:solidFill>
            <a:srgbClr val="2C8DD0">
              <a:alpha val="70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可编辑矩形"/>
          <p:cNvSpPr/>
          <p:nvPr/>
        </p:nvSpPr>
        <p:spPr>
          <a:xfrm>
            <a:off x="2157984" y="2450591"/>
            <a:ext cx="201168" cy="1143000"/>
          </a:xfrm>
          <a:prstGeom prst="rect">
            <a:avLst/>
          </a:prstGeom>
          <a:solidFill>
            <a:srgbClr val="2C8DD0">
              <a:alpha val="70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可编辑矩形"/>
          <p:cNvSpPr/>
          <p:nvPr/>
        </p:nvSpPr>
        <p:spPr>
          <a:xfrm>
            <a:off x="2414016" y="2340863"/>
            <a:ext cx="201168" cy="1325880"/>
          </a:xfrm>
          <a:prstGeom prst="rect">
            <a:avLst/>
          </a:prstGeom>
          <a:solidFill>
            <a:srgbClr val="2C8DD0">
              <a:alpha val="70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矩形"/>
          <p:cNvSpPr/>
          <p:nvPr/>
        </p:nvSpPr>
        <p:spPr>
          <a:xfrm>
            <a:off x="2670048" y="2560320"/>
            <a:ext cx="201168" cy="960120"/>
          </a:xfrm>
          <a:prstGeom prst="rect">
            <a:avLst/>
          </a:prstGeom>
          <a:solidFill>
            <a:srgbClr val="2C8DD0">
              <a:alpha val="70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可编辑矩形"/>
          <p:cNvSpPr/>
          <p:nvPr/>
        </p:nvSpPr>
        <p:spPr>
          <a:xfrm>
            <a:off x="2926080" y="2450591"/>
            <a:ext cx="201168" cy="1143000"/>
          </a:xfrm>
          <a:prstGeom prst="rect">
            <a:avLst/>
          </a:prstGeom>
          <a:solidFill>
            <a:srgbClr val="2C8DD0">
              <a:alpha val="70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可编辑连线"/>
          <p:cNvCxnSpPr/>
          <p:nvPr/>
        </p:nvCxnSpPr>
        <p:spPr>
          <a:xfrm flipV="1">
            <a:off x="3182112" y="2697480"/>
            <a:ext cx="164592" cy="13716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>
            <a:off x="3346704" y="2697480"/>
            <a:ext cx="173736" cy="155448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可编辑连线"/>
          <p:cNvCxnSpPr/>
          <p:nvPr/>
        </p:nvCxnSpPr>
        <p:spPr>
          <a:xfrm flipV="1">
            <a:off x="3520440" y="2633472"/>
            <a:ext cx="173736" cy="21945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可编辑连线"/>
          <p:cNvCxnSpPr/>
          <p:nvPr/>
        </p:nvCxnSpPr>
        <p:spPr>
          <a:xfrm>
            <a:off x="3694176" y="2633472"/>
            <a:ext cx="164592" cy="155448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可编辑连线"/>
          <p:cNvCxnSpPr/>
          <p:nvPr/>
        </p:nvCxnSpPr>
        <p:spPr>
          <a:xfrm flipV="1">
            <a:off x="3182112" y="2697480"/>
            <a:ext cx="164592" cy="13716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可编辑连线"/>
          <p:cNvCxnSpPr/>
          <p:nvPr/>
        </p:nvCxnSpPr>
        <p:spPr>
          <a:xfrm>
            <a:off x="3346704" y="2697480"/>
            <a:ext cx="173736" cy="155448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可编辑连线"/>
          <p:cNvCxnSpPr/>
          <p:nvPr/>
        </p:nvCxnSpPr>
        <p:spPr>
          <a:xfrm flipV="1">
            <a:off x="3520440" y="2633472"/>
            <a:ext cx="173736" cy="21945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可编辑连线"/>
          <p:cNvCxnSpPr/>
          <p:nvPr/>
        </p:nvCxnSpPr>
        <p:spPr>
          <a:xfrm>
            <a:off x="3694176" y="2633472"/>
            <a:ext cx="164592" cy="155448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可编辑连线"/>
          <p:cNvCxnSpPr/>
          <p:nvPr/>
        </p:nvCxnSpPr>
        <p:spPr>
          <a:xfrm flipV="1">
            <a:off x="3182112" y="2697480"/>
            <a:ext cx="164592" cy="13716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可编辑连线"/>
          <p:cNvCxnSpPr/>
          <p:nvPr/>
        </p:nvCxnSpPr>
        <p:spPr>
          <a:xfrm>
            <a:off x="3346704" y="2697480"/>
            <a:ext cx="173736" cy="155448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可编辑连线"/>
          <p:cNvCxnSpPr/>
          <p:nvPr/>
        </p:nvCxnSpPr>
        <p:spPr>
          <a:xfrm flipV="1">
            <a:off x="3520440" y="2633472"/>
            <a:ext cx="173736" cy="219456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可编辑连线"/>
          <p:cNvCxnSpPr/>
          <p:nvPr/>
        </p:nvCxnSpPr>
        <p:spPr>
          <a:xfrm>
            <a:off x="3694176" y="2633472"/>
            <a:ext cx="164592" cy="155448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可编辑矩形"/>
          <p:cNvSpPr/>
          <p:nvPr/>
        </p:nvSpPr>
        <p:spPr>
          <a:xfrm>
            <a:off x="8183879" y="2935224"/>
            <a:ext cx="164592" cy="246888"/>
          </a:xfrm>
          <a:prstGeom prst="rect">
            <a:avLst/>
          </a:prstGeom>
          <a:solidFill>
            <a:srgbClr val="2E8FD1">
              <a:alpha val="72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可编辑矩形"/>
          <p:cNvSpPr/>
          <p:nvPr/>
        </p:nvSpPr>
        <p:spPr>
          <a:xfrm>
            <a:off x="8439911" y="2647188"/>
            <a:ext cx="164592" cy="534924"/>
          </a:xfrm>
          <a:prstGeom prst="rect">
            <a:avLst/>
          </a:prstGeom>
          <a:solidFill>
            <a:srgbClr val="2E8FD1">
              <a:alpha val="72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可编辑矩形"/>
          <p:cNvSpPr/>
          <p:nvPr/>
        </p:nvSpPr>
        <p:spPr>
          <a:xfrm>
            <a:off x="8695944" y="2400300"/>
            <a:ext cx="164592" cy="781812"/>
          </a:xfrm>
          <a:prstGeom prst="rect">
            <a:avLst/>
          </a:prstGeom>
          <a:solidFill>
            <a:srgbClr val="2E8FD1">
              <a:alpha val="72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矩形"/>
          <p:cNvSpPr/>
          <p:nvPr/>
        </p:nvSpPr>
        <p:spPr>
          <a:xfrm>
            <a:off x="8951976" y="2729484"/>
            <a:ext cx="164592" cy="452628"/>
          </a:xfrm>
          <a:prstGeom prst="rect">
            <a:avLst/>
          </a:prstGeom>
          <a:solidFill>
            <a:srgbClr val="2E8FD1">
              <a:alpha val="72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矩形"/>
          <p:cNvSpPr/>
          <p:nvPr/>
        </p:nvSpPr>
        <p:spPr>
          <a:xfrm>
            <a:off x="9208008" y="2852928"/>
            <a:ext cx="164592" cy="329184"/>
          </a:xfrm>
          <a:prstGeom prst="rect">
            <a:avLst/>
          </a:prstGeom>
          <a:solidFill>
            <a:srgbClr val="2E8FD1">
              <a:alpha val="72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矩形"/>
          <p:cNvSpPr/>
          <p:nvPr/>
        </p:nvSpPr>
        <p:spPr>
          <a:xfrm>
            <a:off x="9464040" y="2918764"/>
            <a:ext cx="164592" cy="263347"/>
          </a:xfrm>
          <a:prstGeom prst="rect">
            <a:avLst/>
          </a:prstGeom>
          <a:solidFill>
            <a:srgbClr val="2E8FD1">
              <a:alpha val="72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矩形"/>
          <p:cNvSpPr/>
          <p:nvPr/>
        </p:nvSpPr>
        <p:spPr>
          <a:xfrm>
            <a:off x="9720072" y="2770632"/>
            <a:ext cx="164592" cy="411480"/>
          </a:xfrm>
          <a:prstGeom prst="rect">
            <a:avLst/>
          </a:prstGeom>
          <a:solidFill>
            <a:srgbClr val="2E8FD1">
              <a:alpha val="72000"/>
            </a:srgbClr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可编辑连线"/>
          <p:cNvCxnSpPr/>
          <p:nvPr/>
        </p:nvCxnSpPr>
        <p:spPr>
          <a:xfrm flipV="1">
            <a:off x="8001000" y="2724912"/>
            <a:ext cx="457200" cy="13716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可编辑连线"/>
          <p:cNvCxnSpPr/>
          <p:nvPr/>
        </p:nvCxnSpPr>
        <p:spPr>
          <a:xfrm>
            <a:off x="8458200" y="2724912"/>
            <a:ext cx="502920" cy="3657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可编辑连线"/>
          <p:cNvCxnSpPr/>
          <p:nvPr/>
        </p:nvCxnSpPr>
        <p:spPr>
          <a:xfrm flipV="1">
            <a:off x="8961120" y="2578608"/>
            <a:ext cx="493776" cy="18288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可编辑连线"/>
          <p:cNvCxnSpPr/>
          <p:nvPr/>
        </p:nvCxnSpPr>
        <p:spPr>
          <a:xfrm flipV="1">
            <a:off x="9454896" y="2176272"/>
            <a:ext cx="585216" cy="402336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可编辑连线"/>
          <p:cNvCxnSpPr/>
          <p:nvPr/>
        </p:nvCxnSpPr>
        <p:spPr>
          <a:xfrm flipV="1">
            <a:off x="10040112" y="1920240"/>
            <a:ext cx="521208" cy="25603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可编辑连线"/>
          <p:cNvCxnSpPr/>
          <p:nvPr/>
        </p:nvCxnSpPr>
        <p:spPr>
          <a:xfrm flipV="1">
            <a:off x="8001000" y="2724912"/>
            <a:ext cx="457200" cy="13716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可编辑连线"/>
          <p:cNvCxnSpPr/>
          <p:nvPr/>
        </p:nvCxnSpPr>
        <p:spPr>
          <a:xfrm>
            <a:off x="8458200" y="2724912"/>
            <a:ext cx="502920" cy="3657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可编辑连线"/>
          <p:cNvCxnSpPr/>
          <p:nvPr/>
        </p:nvCxnSpPr>
        <p:spPr>
          <a:xfrm flipV="1">
            <a:off x="8961120" y="2578608"/>
            <a:ext cx="493776" cy="18288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可编辑连线"/>
          <p:cNvCxnSpPr/>
          <p:nvPr/>
        </p:nvCxnSpPr>
        <p:spPr>
          <a:xfrm flipV="1">
            <a:off x="9454896" y="2176272"/>
            <a:ext cx="585216" cy="402336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可编辑连线"/>
          <p:cNvCxnSpPr/>
          <p:nvPr/>
        </p:nvCxnSpPr>
        <p:spPr>
          <a:xfrm flipV="1">
            <a:off x="10040112" y="1920240"/>
            <a:ext cx="521208" cy="25603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可编辑连线"/>
          <p:cNvCxnSpPr/>
          <p:nvPr/>
        </p:nvCxnSpPr>
        <p:spPr>
          <a:xfrm flipV="1">
            <a:off x="8001000" y="2724912"/>
            <a:ext cx="457200" cy="137160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可编辑连线"/>
          <p:cNvCxnSpPr/>
          <p:nvPr/>
        </p:nvCxnSpPr>
        <p:spPr>
          <a:xfrm>
            <a:off x="8458200" y="2724912"/>
            <a:ext cx="502920" cy="36576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可编辑连线"/>
          <p:cNvCxnSpPr/>
          <p:nvPr/>
        </p:nvCxnSpPr>
        <p:spPr>
          <a:xfrm flipV="1">
            <a:off x="8961120" y="2578608"/>
            <a:ext cx="493776" cy="182880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可编辑连线"/>
          <p:cNvCxnSpPr/>
          <p:nvPr/>
        </p:nvCxnSpPr>
        <p:spPr>
          <a:xfrm flipV="1">
            <a:off x="9454896" y="2176272"/>
            <a:ext cx="585216" cy="402336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可编辑连线"/>
          <p:cNvCxnSpPr/>
          <p:nvPr/>
        </p:nvCxnSpPr>
        <p:spPr>
          <a:xfrm flipV="1">
            <a:off x="10040112" y="1920240"/>
            <a:ext cx="521208" cy="256032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可编辑圆环"/>
          <p:cNvSpPr/>
          <p:nvPr/>
        </p:nvSpPr>
        <p:spPr>
          <a:xfrm>
            <a:off x="1097280" y="3044952"/>
            <a:ext cx="457200" cy="457200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ear 6 52"/>
          <p:cNvSpPr/>
          <p:nvPr/>
        </p:nvSpPr>
        <p:spPr>
          <a:xfrm>
            <a:off x="1210665" y="3158337"/>
            <a:ext cx="230428" cy="230428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可编辑圆环"/>
          <p:cNvSpPr/>
          <p:nvPr/>
        </p:nvSpPr>
        <p:spPr>
          <a:xfrm>
            <a:off x="1298448" y="3246120"/>
            <a:ext cx="54864" cy="54864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文本_部件体检"/>
          <p:cNvSpPr txBox="1"/>
          <p:nvPr/>
        </p:nvSpPr>
        <p:spPr>
          <a:xfrm>
            <a:off x="685800" y="356616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部件体检</a:t>
            </a:r>
          </a:p>
        </p:txBody>
      </p:sp>
      <p:sp>
        <p:nvSpPr>
          <p:cNvPr id="56" name="文本_发现隐患&#10;量化评分"/>
          <p:cNvSpPr txBox="1"/>
          <p:nvPr/>
        </p:nvSpPr>
        <p:spPr>
          <a:xfrm>
            <a:off x="685800" y="3840480"/>
            <a:ext cx="1280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发现隐患
量化评分</a:t>
            </a:r>
          </a:p>
        </p:txBody>
      </p:sp>
      <p:sp>
        <p:nvSpPr>
          <p:cNvPr id="57" name="可编辑圆环"/>
          <p:cNvSpPr/>
          <p:nvPr/>
        </p:nvSpPr>
        <p:spPr>
          <a:xfrm>
            <a:off x="2532888" y="3044952"/>
            <a:ext cx="457200" cy="457200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可编辑矩形"/>
          <p:cNvSpPr/>
          <p:nvPr/>
        </p:nvSpPr>
        <p:spPr>
          <a:xfrm>
            <a:off x="2657246" y="3259836"/>
            <a:ext cx="46634" cy="96012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可编辑矩形"/>
          <p:cNvSpPr/>
          <p:nvPr/>
        </p:nvSpPr>
        <p:spPr>
          <a:xfrm>
            <a:off x="2723083" y="3204972"/>
            <a:ext cx="46634" cy="150876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可编辑矩形"/>
          <p:cNvSpPr/>
          <p:nvPr/>
        </p:nvSpPr>
        <p:spPr>
          <a:xfrm>
            <a:off x="2788920" y="3130905"/>
            <a:ext cx="46634" cy="224942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可编辑连线"/>
          <p:cNvCxnSpPr/>
          <p:nvPr/>
        </p:nvCxnSpPr>
        <p:spPr>
          <a:xfrm>
            <a:off x="2638044" y="3361334"/>
            <a:ext cx="238658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_寿命预测"/>
          <p:cNvSpPr txBox="1"/>
          <p:nvPr/>
        </p:nvSpPr>
        <p:spPr>
          <a:xfrm>
            <a:off x="2121408" y="356616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Noto Sans CJK SC"/>
              </a:rPr>
              <a:t>风险分层</a:t>
            </a:r>
          </a:p>
        </p:txBody>
      </p:sp>
      <p:sp>
        <p:nvSpPr>
          <p:cNvPr id="63" name="文本_剩余寿命&#10;风险预警"/>
          <p:cNvSpPr txBox="1"/>
          <p:nvPr/>
        </p:nvSpPr>
        <p:spPr>
          <a:xfrm>
            <a:off x="2121408" y="3840480"/>
            <a:ext cx="1280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C400"/>
                </a:solidFill>
                <a:latin typeface="Arial"/>
                <a:ea typeface="Noto Sans CJK SC"/>
              </a:rPr>
              <a:t>60分预警
待修高危</a:t>
            </a:r>
          </a:p>
        </p:txBody>
      </p:sp>
      <p:sp>
        <p:nvSpPr>
          <p:cNvPr id="64" name="可编辑圆环"/>
          <p:cNvSpPr/>
          <p:nvPr/>
        </p:nvSpPr>
        <p:spPr>
          <a:xfrm>
            <a:off x="3959352" y="3044952"/>
            <a:ext cx="457200" cy="457200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可编辑矩形"/>
          <p:cNvSpPr/>
          <p:nvPr/>
        </p:nvSpPr>
        <p:spPr>
          <a:xfrm>
            <a:off x="4100169" y="3163824"/>
            <a:ext cx="175564" cy="219456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可编辑连线"/>
          <p:cNvCxnSpPr/>
          <p:nvPr/>
        </p:nvCxnSpPr>
        <p:spPr>
          <a:xfrm>
            <a:off x="4133088" y="3224174"/>
            <a:ext cx="1042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可编辑连线"/>
          <p:cNvCxnSpPr/>
          <p:nvPr/>
        </p:nvCxnSpPr>
        <p:spPr>
          <a:xfrm>
            <a:off x="4133088" y="3270808"/>
            <a:ext cx="1042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可编辑连线"/>
          <p:cNvCxnSpPr/>
          <p:nvPr/>
        </p:nvCxnSpPr>
        <p:spPr>
          <a:xfrm>
            <a:off x="4133088" y="3317443"/>
            <a:ext cx="1042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_维修优先序"/>
          <p:cNvSpPr txBox="1"/>
          <p:nvPr/>
        </p:nvSpPr>
        <p:spPr>
          <a:xfrm>
            <a:off x="3547872" y="356616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维修优先序</a:t>
            </a:r>
          </a:p>
        </p:txBody>
      </p:sp>
      <p:sp>
        <p:nvSpPr>
          <p:cNvPr id="70" name="文本_轻重缓急&#10;科学排序"/>
          <p:cNvSpPr txBox="1"/>
          <p:nvPr/>
        </p:nvSpPr>
        <p:spPr>
          <a:xfrm>
            <a:off x="3547872" y="3840480"/>
            <a:ext cx="1280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轻重缓急
科学排序</a:t>
            </a:r>
          </a:p>
        </p:txBody>
      </p:sp>
      <p:sp>
        <p:nvSpPr>
          <p:cNvPr id="71" name="可编辑圆环"/>
          <p:cNvSpPr/>
          <p:nvPr/>
        </p:nvSpPr>
        <p:spPr>
          <a:xfrm>
            <a:off x="7744968" y="3044952"/>
            <a:ext cx="457200" cy="457200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ear 6 71"/>
          <p:cNvSpPr/>
          <p:nvPr/>
        </p:nvSpPr>
        <p:spPr>
          <a:xfrm>
            <a:off x="7858353" y="3158337"/>
            <a:ext cx="230428" cy="230428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可编辑圆环"/>
          <p:cNvSpPr/>
          <p:nvPr/>
        </p:nvSpPr>
        <p:spPr>
          <a:xfrm>
            <a:off x="7946136" y="3246120"/>
            <a:ext cx="54864" cy="54864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文本_有效烤能"/>
          <p:cNvSpPr txBox="1"/>
          <p:nvPr/>
        </p:nvSpPr>
        <p:spPr>
          <a:xfrm>
            <a:off x="7333488" y="356616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latin typeface="Arial"/>
                <a:ea typeface="Noto Sans CJK SC"/>
                <a:solidFill>
                  <a:srgbClr val="FFC400"/>
                </a:solidFill>
              </a:rPr>
              <a:t>有效烤能</a:t>
            </a:r>
          </a:p>
        </p:txBody>
      </p:sp>
      <p:sp>
        <p:nvSpPr>
          <p:cNvPr id="75" name="文本_可用产能&#10;动态测算"/>
          <p:cNvSpPr txBox="1"/>
          <p:nvPr/>
        </p:nvSpPr>
        <p:spPr>
          <a:xfrm>
            <a:off x="7333488" y="3840480"/>
            <a:ext cx="1280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可用产能
动态测算</a:t>
            </a:r>
          </a:p>
        </p:txBody>
      </p:sp>
      <p:sp>
        <p:nvSpPr>
          <p:cNvPr id="76" name="可编辑圆环"/>
          <p:cNvSpPr/>
          <p:nvPr/>
        </p:nvSpPr>
        <p:spPr>
          <a:xfrm>
            <a:off x="9171432" y="3044952"/>
            <a:ext cx="457200" cy="457200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可编辑矩形"/>
          <p:cNvSpPr/>
          <p:nvPr/>
        </p:nvSpPr>
        <p:spPr>
          <a:xfrm>
            <a:off x="9295790" y="3259836"/>
            <a:ext cx="46634" cy="96012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可编辑矩形"/>
          <p:cNvSpPr/>
          <p:nvPr/>
        </p:nvSpPr>
        <p:spPr>
          <a:xfrm>
            <a:off x="9361627" y="3204972"/>
            <a:ext cx="46634" cy="150876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矩形"/>
          <p:cNvSpPr/>
          <p:nvPr/>
        </p:nvSpPr>
        <p:spPr>
          <a:xfrm>
            <a:off x="9427463" y="3130905"/>
            <a:ext cx="46634" cy="224942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可编辑连线"/>
          <p:cNvCxnSpPr/>
          <p:nvPr/>
        </p:nvCxnSpPr>
        <p:spPr>
          <a:xfrm>
            <a:off x="9276588" y="3361334"/>
            <a:ext cx="238658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_真实缺口"/>
          <p:cNvSpPr txBox="1"/>
          <p:nvPr/>
        </p:nvSpPr>
        <p:spPr>
          <a:xfrm>
            <a:off x="8759952" y="356616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真实缺口</a:t>
            </a:r>
          </a:p>
        </p:txBody>
      </p:sp>
      <p:sp>
        <p:nvSpPr>
          <p:cNvPr id="82" name="文本_需求对比&#10;缺口识别"/>
          <p:cNvSpPr txBox="1"/>
          <p:nvPr/>
        </p:nvSpPr>
        <p:spPr>
          <a:xfrm>
            <a:off x="8759952" y="3840480"/>
            <a:ext cx="1280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需求对比
缺口识别</a:t>
            </a:r>
          </a:p>
        </p:txBody>
      </p:sp>
      <p:sp>
        <p:nvSpPr>
          <p:cNvPr id="83" name="可编辑圆环"/>
          <p:cNvSpPr/>
          <p:nvPr/>
        </p:nvSpPr>
        <p:spPr>
          <a:xfrm>
            <a:off x="10579608" y="3044952"/>
            <a:ext cx="457200" cy="457200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iamond 83"/>
          <p:cNvSpPr/>
          <p:nvPr/>
        </p:nvSpPr>
        <p:spPr>
          <a:xfrm>
            <a:off x="10703966" y="3213201"/>
            <a:ext cx="208483" cy="93268"/>
          </a:xfrm>
          <a:prstGeom prst="diamond">
            <a:avLst/>
          </a:prstGeom>
          <a:solidFill>
            <a:srgbClr val="A5EEFF">
              <a:alpha val="90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0703966" y="3251606"/>
            <a:ext cx="208483" cy="93268"/>
          </a:xfrm>
          <a:prstGeom prst="diamond">
            <a:avLst/>
          </a:prstGeom>
          <a:solidFill>
            <a:srgbClr val="22CCFA">
              <a:alpha val="75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0703966" y="3290011"/>
            <a:ext cx="208483" cy="93268"/>
          </a:xfrm>
          <a:prstGeom prst="diamond">
            <a:avLst/>
          </a:prstGeom>
          <a:solidFill>
            <a:srgbClr val="22CCFA">
              <a:alpha val="60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文本_建设情景模拟"/>
          <p:cNvSpPr txBox="1"/>
          <p:nvPr/>
        </p:nvSpPr>
        <p:spPr>
          <a:xfrm>
            <a:off x="10168128" y="356616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建设情景模拟</a:t>
            </a:r>
          </a:p>
        </p:txBody>
      </p:sp>
      <p:sp>
        <p:nvSpPr>
          <p:cNvPr id="88" name="文本_多情景推演&#10;投入产出评估"/>
          <p:cNvSpPr txBox="1"/>
          <p:nvPr/>
        </p:nvSpPr>
        <p:spPr>
          <a:xfrm>
            <a:off x="10168128" y="3840480"/>
            <a:ext cx="1280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多情景推演
投入产出评估</a:t>
            </a:r>
          </a:p>
        </p:txBody>
      </p:sp>
      <p:sp>
        <p:nvSpPr>
          <p:cNvPr id="89" name="可编辑圆环"/>
          <p:cNvSpPr/>
          <p:nvPr/>
        </p:nvSpPr>
        <p:spPr>
          <a:xfrm>
            <a:off x="4663440" y="3822191"/>
            <a:ext cx="2834640" cy="960120"/>
          </a:xfrm>
          <a:prstGeom prst="ellipse">
            <a:avLst/>
          </a:prstGeom>
          <a:solidFill>
            <a:srgbClr val="0A3558">
              <a:alpha val="68000"/>
            </a:srgbClr>
          </a:solidFill>
          <a:ln w="25400">
            <a:solidFill>
              <a:srgbClr val="22CCFA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文本_双模耦合输出"/>
          <p:cNvSpPr txBox="1"/>
          <p:nvPr/>
        </p:nvSpPr>
        <p:spPr>
          <a:xfrm>
            <a:off x="4956048" y="4050791"/>
            <a:ext cx="224028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双模耦合输出</a:t>
            </a:r>
          </a:p>
        </p:txBody>
      </p:sp>
      <p:cxnSp>
        <p:nvCxnSpPr>
          <p:cNvPr id="92" name="可编辑连线"/>
          <p:cNvCxnSpPr/>
          <p:nvPr/>
        </p:nvCxnSpPr>
        <p:spPr>
          <a:xfrm>
            <a:off x="2926080" y="3154680"/>
            <a:ext cx="2423160" cy="7589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可编辑连线"/>
          <p:cNvCxnSpPr/>
          <p:nvPr/>
        </p:nvCxnSpPr>
        <p:spPr>
          <a:xfrm>
            <a:off x="2926080" y="3154680"/>
            <a:ext cx="2423160" cy="7589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可编辑连线"/>
          <p:cNvCxnSpPr/>
          <p:nvPr/>
        </p:nvCxnSpPr>
        <p:spPr>
          <a:xfrm>
            <a:off x="2926080" y="3154680"/>
            <a:ext cx="2423160" cy="7589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可编辑连线"/>
          <p:cNvCxnSpPr/>
          <p:nvPr/>
        </p:nvCxnSpPr>
        <p:spPr>
          <a:xfrm>
            <a:off x="3749039" y="3154680"/>
            <a:ext cx="1600201" cy="7589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可编辑连线"/>
          <p:cNvCxnSpPr/>
          <p:nvPr/>
        </p:nvCxnSpPr>
        <p:spPr>
          <a:xfrm>
            <a:off x="3749039" y="3154680"/>
            <a:ext cx="1600201" cy="7589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可编辑连线"/>
          <p:cNvCxnSpPr/>
          <p:nvPr/>
        </p:nvCxnSpPr>
        <p:spPr>
          <a:xfrm>
            <a:off x="3749039" y="3154680"/>
            <a:ext cx="1600201" cy="7589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可编辑连线"/>
          <p:cNvCxnSpPr/>
          <p:nvPr/>
        </p:nvCxnSpPr>
        <p:spPr>
          <a:xfrm>
            <a:off x="4572000" y="3154680"/>
            <a:ext cx="777240" cy="7589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可编辑连线"/>
          <p:cNvCxnSpPr/>
          <p:nvPr/>
        </p:nvCxnSpPr>
        <p:spPr>
          <a:xfrm>
            <a:off x="4572000" y="3154680"/>
            <a:ext cx="777240" cy="7589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可编辑连线"/>
          <p:cNvCxnSpPr/>
          <p:nvPr/>
        </p:nvCxnSpPr>
        <p:spPr>
          <a:xfrm>
            <a:off x="4572000" y="3154680"/>
            <a:ext cx="777240" cy="7589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可编辑连线"/>
          <p:cNvCxnSpPr/>
          <p:nvPr/>
        </p:nvCxnSpPr>
        <p:spPr>
          <a:xfrm flipH="1">
            <a:off x="6903720" y="3154680"/>
            <a:ext cx="1325880" cy="7589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可编辑连线"/>
          <p:cNvCxnSpPr/>
          <p:nvPr/>
        </p:nvCxnSpPr>
        <p:spPr>
          <a:xfrm flipH="1">
            <a:off x="6903720" y="3154680"/>
            <a:ext cx="1325880" cy="7589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可编辑连线"/>
          <p:cNvCxnSpPr/>
          <p:nvPr/>
        </p:nvCxnSpPr>
        <p:spPr>
          <a:xfrm flipH="1">
            <a:off x="6903720" y="3154680"/>
            <a:ext cx="1325880" cy="7589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可编辑连线"/>
          <p:cNvCxnSpPr/>
          <p:nvPr/>
        </p:nvCxnSpPr>
        <p:spPr>
          <a:xfrm flipH="1">
            <a:off x="6903720" y="3154680"/>
            <a:ext cx="2240280" cy="7589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可编辑连线"/>
          <p:cNvCxnSpPr/>
          <p:nvPr/>
        </p:nvCxnSpPr>
        <p:spPr>
          <a:xfrm flipH="1">
            <a:off x="6903720" y="3154680"/>
            <a:ext cx="2240280" cy="7589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可编辑连线"/>
          <p:cNvCxnSpPr/>
          <p:nvPr/>
        </p:nvCxnSpPr>
        <p:spPr>
          <a:xfrm flipH="1">
            <a:off x="6903720" y="3154680"/>
            <a:ext cx="2240280" cy="7589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可编辑连线"/>
          <p:cNvCxnSpPr/>
          <p:nvPr/>
        </p:nvCxnSpPr>
        <p:spPr>
          <a:xfrm flipH="1">
            <a:off x="6903720" y="3154680"/>
            <a:ext cx="3154680" cy="7589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可编辑连线"/>
          <p:cNvCxnSpPr/>
          <p:nvPr/>
        </p:nvCxnSpPr>
        <p:spPr>
          <a:xfrm flipH="1">
            <a:off x="6903720" y="3154680"/>
            <a:ext cx="3154680" cy="7589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可编辑连线"/>
          <p:cNvCxnSpPr/>
          <p:nvPr/>
        </p:nvCxnSpPr>
        <p:spPr>
          <a:xfrm flipH="1">
            <a:off x="6903720" y="3154680"/>
            <a:ext cx="3154680" cy="7589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可编辑圆环"/>
          <p:cNvSpPr/>
          <p:nvPr/>
        </p:nvSpPr>
        <p:spPr>
          <a:xfrm>
            <a:off x="3746754" y="5504688"/>
            <a:ext cx="1193292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可编辑圆环"/>
          <p:cNvSpPr/>
          <p:nvPr/>
        </p:nvSpPr>
        <p:spPr>
          <a:xfrm>
            <a:off x="3870198" y="5490972"/>
            <a:ext cx="946403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可编辑圆环"/>
          <p:cNvSpPr/>
          <p:nvPr/>
        </p:nvSpPr>
        <p:spPr>
          <a:xfrm>
            <a:off x="3981297" y="5477256"/>
            <a:ext cx="724204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可编辑连线"/>
          <p:cNvCxnSpPr/>
          <p:nvPr/>
        </p:nvCxnSpPr>
        <p:spPr>
          <a:xfrm flipV="1">
            <a:off x="4343400" y="497433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可编辑圆环"/>
          <p:cNvSpPr/>
          <p:nvPr/>
        </p:nvSpPr>
        <p:spPr>
          <a:xfrm>
            <a:off x="4311396" y="494690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可编辑矩形"/>
          <p:cNvSpPr/>
          <p:nvPr/>
        </p:nvSpPr>
        <p:spPr>
          <a:xfrm>
            <a:off x="4218310" y="5011826"/>
            <a:ext cx="250179" cy="180685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Isosceles Triangle 115"/>
          <p:cNvSpPr/>
          <p:nvPr/>
        </p:nvSpPr>
        <p:spPr>
          <a:xfrm>
            <a:off x="4176613" y="4872837"/>
            <a:ext cx="333573" cy="166786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可编辑矩形"/>
          <p:cNvSpPr/>
          <p:nvPr/>
        </p:nvSpPr>
        <p:spPr>
          <a:xfrm>
            <a:off x="4312127" y="5070896"/>
            <a:ext cx="62544" cy="97292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文本_该修哪栋"/>
          <p:cNvSpPr txBox="1"/>
          <p:nvPr/>
        </p:nvSpPr>
        <p:spPr>
          <a:xfrm>
            <a:off x="3749039" y="5486400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latin typeface="Arial"/>
                <a:ea typeface="Noto Sans CJK SC"/>
                <a:solidFill>
                  <a:srgbClr val="FFC400"/>
                </a:solidFill>
              </a:rPr>
              <a:t>该修哪栋</a:t>
            </a:r>
          </a:p>
        </p:txBody>
      </p:sp>
      <p:sp>
        <p:nvSpPr>
          <p:cNvPr id="119" name="可编辑圆环"/>
          <p:cNvSpPr/>
          <p:nvPr/>
        </p:nvSpPr>
        <p:spPr>
          <a:xfrm>
            <a:off x="5456682" y="5504688"/>
            <a:ext cx="1193292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可编辑圆环"/>
          <p:cNvSpPr/>
          <p:nvPr/>
        </p:nvSpPr>
        <p:spPr>
          <a:xfrm>
            <a:off x="5580126" y="5490972"/>
            <a:ext cx="946403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可编辑圆环"/>
          <p:cNvSpPr/>
          <p:nvPr/>
        </p:nvSpPr>
        <p:spPr>
          <a:xfrm>
            <a:off x="5691225" y="5477256"/>
            <a:ext cx="724204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可编辑连线"/>
          <p:cNvCxnSpPr/>
          <p:nvPr/>
        </p:nvCxnSpPr>
        <p:spPr>
          <a:xfrm flipV="1">
            <a:off x="6053328" y="497433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可编辑圆环"/>
          <p:cNvSpPr/>
          <p:nvPr/>
        </p:nvSpPr>
        <p:spPr>
          <a:xfrm>
            <a:off x="6021324" y="494690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ardrop 123"/>
          <p:cNvSpPr/>
          <p:nvPr/>
        </p:nvSpPr>
        <p:spPr>
          <a:xfrm rot="10800000">
            <a:off x="5907024" y="4882896"/>
            <a:ext cx="292608" cy="292608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可编辑圆环"/>
          <p:cNvSpPr/>
          <p:nvPr/>
        </p:nvSpPr>
        <p:spPr>
          <a:xfrm>
            <a:off x="6021141" y="4997013"/>
            <a:ext cx="64373" cy="64373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文本_该补哪里"/>
          <p:cNvSpPr txBox="1"/>
          <p:nvPr/>
        </p:nvSpPr>
        <p:spPr>
          <a:xfrm>
            <a:off x="5458968" y="5486400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latin typeface="Arial"/>
                <a:ea typeface="Noto Sans CJK SC"/>
                <a:solidFill>
                  <a:srgbClr val="FFC400"/>
                </a:solidFill>
              </a:rPr>
              <a:t>该补哪里</a:t>
            </a:r>
          </a:p>
        </p:txBody>
      </p:sp>
      <p:sp>
        <p:nvSpPr>
          <p:cNvPr id="127" name="可编辑圆环"/>
          <p:cNvSpPr/>
          <p:nvPr/>
        </p:nvSpPr>
        <p:spPr>
          <a:xfrm>
            <a:off x="7130033" y="5504688"/>
            <a:ext cx="1193292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可编辑圆环"/>
          <p:cNvSpPr/>
          <p:nvPr/>
        </p:nvSpPr>
        <p:spPr>
          <a:xfrm>
            <a:off x="7253477" y="5490972"/>
            <a:ext cx="946403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可编辑圆环"/>
          <p:cNvSpPr/>
          <p:nvPr/>
        </p:nvSpPr>
        <p:spPr>
          <a:xfrm>
            <a:off x="7364577" y="5477256"/>
            <a:ext cx="724204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可编辑连线"/>
          <p:cNvCxnSpPr/>
          <p:nvPr/>
        </p:nvCxnSpPr>
        <p:spPr>
          <a:xfrm flipV="1">
            <a:off x="7726679" y="497433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可编辑圆环"/>
          <p:cNvSpPr/>
          <p:nvPr/>
        </p:nvSpPr>
        <p:spPr>
          <a:xfrm>
            <a:off x="7694675" y="494690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可编辑矩形"/>
          <p:cNvSpPr/>
          <p:nvPr/>
        </p:nvSpPr>
        <p:spPr>
          <a:xfrm>
            <a:off x="7601590" y="5012740"/>
            <a:ext cx="55961" cy="11521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可编辑矩形"/>
          <p:cNvSpPr/>
          <p:nvPr/>
        </p:nvSpPr>
        <p:spPr>
          <a:xfrm>
            <a:off x="7680594" y="4946903"/>
            <a:ext cx="55961" cy="18105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可编辑矩形"/>
          <p:cNvSpPr/>
          <p:nvPr/>
        </p:nvSpPr>
        <p:spPr>
          <a:xfrm>
            <a:off x="7759598" y="4858024"/>
            <a:ext cx="55961" cy="26993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可编辑连线"/>
          <p:cNvCxnSpPr/>
          <p:nvPr/>
        </p:nvCxnSpPr>
        <p:spPr>
          <a:xfrm>
            <a:off x="7578547" y="5134538"/>
            <a:ext cx="286390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_该建多少"/>
          <p:cNvSpPr txBox="1"/>
          <p:nvPr/>
        </p:nvSpPr>
        <p:spPr>
          <a:xfrm>
            <a:off x="7132319" y="5486400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latin typeface="Arial"/>
                <a:ea typeface="Noto Sans CJK SC"/>
                <a:solidFill>
                  <a:srgbClr val="FFC400"/>
                </a:solidFill>
              </a:rPr>
              <a:t>该建多少</a:t>
            </a:r>
          </a:p>
        </p:txBody>
      </p:sp>
      <p:sp>
        <p:nvSpPr>
          <p:cNvPr id="137" name="文本_让维修有依据、投入有方向"/>
          <p:cNvSpPr txBox="1"/>
          <p:nvPr/>
        </p:nvSpPr>
        <p:spPr>
          <a:xfrm>
            <a:off x="3657600" y="6181344"/>
            <a:ext cx="489204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400"/>
                </a:solidFill>
                <a:latin typeface="Arial"/>
                <a:ea typeface="Noto Sans CJK SC"/>
              </a:rPr>
              <a:t>让维修有依据、投入有方向、新建有测算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4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三智落地：把系统能力变成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C400"/>
                </a:solidFill>
                <a:latin typeface="Noto Serif CJK SC"/>
                <a:ea typeface="Noto Serif CJK SC"/>
              </a:rPr>
              <a:t>三智落地：模型算完，更要真正跑起来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做一个平台，而是让智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管理部门、烟农 / 技术员、合作社 / 管护队各有自己的业务入口</a:t>
            </a:r>
          </a:p>
        </p:txBody>
      </p:sp>
      <p:sp>
        <p:nvSpPr>
          <p:cNvPr id="10" name="文本_01"/>
          <p:cNvSpPr txBox="1"/>
          <p:nvPr/>
        </p:nvSpPr>
        <p:spPr>
          <a:xfrm>
            <a:off x="758952" y="1828800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11" name="可编辑圆环"/>
          <p:cNvSpPr/>
          <p:nvPr/>
        </p:nvSpPr>
        <p:spPr>
          <a:xfrm>
            <a:off x="1485900" y="29718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可编辑圆环"/>
          <p:cNvSpPr/>
          <p:nvPr/>
        </p:nvSpPr>
        <p:spPr>
          <a:xfrm>
            <a:off x="1623060" y="29580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可编辑圆环"/>
          <p:cNvSpPr/>
          <p:nvPr/>
        </p:nvSpPr>
        <p:spPr>
          <a:xfrm>
            <a:off x="1746504" y="29443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148840" y="24414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116836" y="24140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矩形"/>
          <p:cNvSpPr/>
          <p:nvPr/>
        </p:nvSpPr>
        <p:spPr>
          <a:xfrm>
            <a:off x="1865741" y="2493568"/>
            <a:ext cx="566196" cy="408919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71375" y="2179015"/>
            <a:ext cx="754928" cy="377464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可编辑矩形"/>
          <p:cNvSpPr/>
          <p:nvPr/>
        </p:nvSpPr>
        <p:spPr>
          <a:xfrm>
            <a:off x="2078065" y="2627254"/>
            <a:ext cx="141549" cy="220187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文本_智用"/>
          <p:cNvSpPr txBox="1"/>
          <p:nvPr/>
        </p:nvSpPr>
        <p:spPr>
          <a:xfrm>
            <a:off x="1371600" y="3429000"/>
            <a:ext cx="155448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智投</a:t>
            </a:r>
          </a:p>
        </p:txBody>
      </p:sp>
      <p:sp>
        <p:nvSpPr>
          <p:cNvPr id="21" name="可编辑圆环"/>
          <p:cNvSpPr/>
          <p:nvPr/>
        </p:nvSpPr>
        <p:spPr>
          <a:xfrm>
            <a:off x="1362456" y="39227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418234" y="4028846"/>
            <a:ext cx="181051" cy="80467"/>
          </a:xfrm>
          <a:prstGeom prst="arc">
            <a:avLst/>
          </a:prstGeom>
          <a:noFill/>
          <a:ln w="1778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可编辑圆环"/>
          <p:cNvSpPr/>
          <p:nvPr/>
        </p:nvSpPr>
        <p:spPr>
          <a:xfrm>
            <a:off x="1492666" y="4052986"/>
            <a:ext cx="32186" cy="32186"/>
          </a:xfrm>
          <a:prstGeom prst="ellipse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文本_空闲可见"/>
          <p:cNvSpPr txBox="1"/>
          <p:nvPr/>
        </p:nvSpPr>
        <p:spPr>
          <a:xfrm>
            <a:off x="1764792" y="39410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年度清单</a:t>
            </a:r>
          </a:p>
        </p:txBody>
      </p:sp>
      <p:sp>
        <p:nvSpPr>
          <p:cNvPr id="25" name="可编辑圆环"/>
          <p:cNvSpPr/>
          <p:nvPr/>
        </p:nvSpPr>
        <p:spPr>
          <a:xfrm>
            <a:off x="1362456" y="43799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1399032" y="4453128"/>
            <a:ext cx="219456" cy="146304"/>
          </a:xfrm>
          <a:prstGeom prst="rightArrow">
            <a:avLst/>
          </a:prstGeom>
          <a:solidFill>
            <a:srgbClr val="A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文本_一键调度"/>
          <p:cNvSpPr txBox="1"/>
          <p:nvPr/>
        </p:nvSpPr>
        <p:spPr>
          <a:xfrm>
            <a:off x="1764792" y="43982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点位推演</a:t>
            </a:r>
          </a:p>
        </p:txBody>
      </p:sp>
      <p:sp>
        <p:nvSpPr>
          <p:cNvPr id="28" name="可编辑圆环"/>
          <p:cNvSpPr/>
          <p:nvPr/>
        </p:nvSpPr>
        <p:spPr>
          <a:xfrm>
            <a:off x="1362456" y="48371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可编辑矩形"/>
          <p:cNvSpPr/>
          <p:nvPr/>
        </p:nvSpPr>
        <p:spPr>
          <a:xfrm>
            <a:off x="1439265" y="4974336"/>
            <a:ext cx="31089" cy="64007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可编辑矩形"/>
          <p:cNvSpPr/>
          <p:nvPr/>
        </p:nvSpPr>
        <p:spPr>
          <a:xfrm>
            <a:off x="1483156" y="4937759"/>
            <a:ext cx="31089" cy="10058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可编辑矩形"/>
          <p:cNvSpPr/>
          <p:nvPr/>
        </p:nvSpPr>
        <p:spPr>
          <a:xfrm>
            <a:off x="1527048" y="4888382"/>
            <a:ext cx="31089" cy="14996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可编辑连线"/>
          <p:cNvCxnSpPr/>
          <p:nvPr/>
        </p:nvCxnSpPr>
        <p:spPr>
          <a:xfrm>
            <a:off x="1426464" y="5042001"/>
            <a:ext cx="159105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_状态可视"/>
          <p:cNvSpPr txBox="1"/>
          <p:nvPr/>
        </p:nvSpPr>
        <p:spPr>
          <a:xfrm>
            <a:off x="1764792" y="48554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复盘评估</a:t>
            </a:r>
          </a:p>
        </p:txBody>
      </p:sp>
      <p:sp>
        <p:nvSpPr>
          <p:cNvPr id="35" name="文本_02"/>
          <p:cNvSpPr txBox="1"/>
          <p:nvPr/>
        </p:nvSpPr>
        <p:spPr>
          <a:xfrm>
            <a:off x="4690872" y="1828800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36" name="可编辑圆环"/>
          <p:cNvSpPr/>
          <p:nvPr/>
        </p:nvSpPr>
        <p:spPr>
          <a:xfrm>
            <a:off x="5417820" y="29718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圆环"/>
          <p:cNvSpPr/>
          <p:nvPr/>
        </p:nvSpPr>
        <p:spPr>
          <a:xfrm>
            <a:off x="5554980" y="29580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圆环"/>
          <p:cNvSpPr/>
          <p:nvPr/>
        </p:nvSpPr>
        <p:spPr>
          <a:xfrm>
            <a:off x="5678424" y="29443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可编辑连线"/>
          <p:cNvCxnSpPr/>
          <p:nvPr/>
        </p:nvCxnSpPr>
        <p:spPr>
          <a:xfrm flipV="1">
            <a:off x="6080760" y="24414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可编辑圆环"/>
          <p:cNvSpPr/>
          <p:nvPr/>
        </p:nvSpPr>
        <p:spPr>
          <a:xfrm>
            <a:off x="6048756" y="24140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矩形"/>
          <p:cNvSpPr/>
          <p:nvPr/>
        </p:nvSpPr>
        <p:spPr>
          <a:xfrm>
            <a:off x="5781934" y="2493568"/>
            <a:ext cx="133685" cy="27523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矩形"/>
          <p:cNvSpPr/>
          <p:nvPr/>
        </p:nvSpPr>
        <p:spPr>
          <a:xfrm>
            <a:off x="5970666" y="2336292"/>
            <a:ext cx="133685" cy="43251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可编辑矩形"/>
          <p:cNvSpPr/>
          <p:nvPr/>
        </p:nvSpPr>
        <p:spPr>
          <a:xfrm>
            <a:off x="6159398" y="2123968"/>
            <a:ext cx="133685" cy="64483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可编辑连线"/>
          <p:cNvCxnSpPr/>
          <p:nvPr/>
        </p:nvCxnSpPr>
        <p:spPr>
          <a:xfrm>
            <a:off x="5726887" y="2784530"/>
            <a:ext cx="684154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_智投"/>
          <p:cNvSpPr txBox="1"/>
          <p:nvPr/>
        </p:nvSpPr>
        <p:spPr>
          <a:xfrm>
            <a:off x="5303520" y="3429000"/>
            <a:ext cx="155448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智用</a:t>
            </a:r>
          </a:p>
        </p:txBody>
      </p:sp>
      <p:sp>
        <p:nvSpPr>
          <p:cNvPr id="47" name="可编辑圆环"/>
          <p:cNvSpPr/>
          <p:nvPr/>
        </p:nvSpPr>
        <p:spPr>
          <a:xfrm>
            <a:off x="5294376" y="39227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可编辑圆环"/>
          <p:cNvSpPr/>
          <p:nvPr/>
        </p:nvSpPr>
        <p:spPr>
          <a:xfrm>
            <a:off x="5374843" y="4003243"/>
            <a:ext cx="100584" cy="100584"/>
          </a:xfrm>
          <a:prstGeom prst="ellipse">
            <a:avLst/>
          </a:prstGeom>
          <a:noFill/>
          <a:ln w="1905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可编辑连线"/>
          <p:cNvCxnSpPr/>
          <p:nvPr/>
        </p:nvCxnSpPr>
        <p:spPr>
          <a:xfrm>
            <a:off x="5449824" y="4078224"/>
            <a:ext cx="56692" cy="56692"/>
          </a:xfrm>
          <a:prstGeom prst="line">
            <a:avLst/>
          </a:prstGeom>
          <a:ln w="228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_需求识别"/>
          <p:cNvSpPr txBox="1"/>
          <p:nvPr/>
        </p:nvSpPr>
        <p:spPr>
          <a:xfrm>
            <a:off x="5696712" y="39410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找房调剂</a:t>
            </a:r>
          </a:p>
        </p:txBody>
      </p:sp>
      <p:sp>
        <p:nvSpPr>
          <p:cNvPr id="51" name="可编辑圆环"/>
          <p:cNvSpPr/>
          <p:nvPr/>
        </p:nvSpPr>
        <p:spPr>
          <a:xfrm>
            <a:off x="5294376" y="43799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可编辑圆环"/>
          <p:cNvSpPr/>
          <p:nvPr/>
        </p:nvSpPr>
        <p:spPr>
          <a:xfrm>
            <a:off x="5358384" y="4443984"/>
            <a:ext cx="164592" cy="164592"/>
          </a:xfrm>
          <a:prstGeom prst="ellipse">
            <a:avLst/>
          </a:prstGeom>
          <a:solidFill>
            <a:srgbClr val="0B3556">
              <a:alpha val="90000"/>
            </a:srgbClr>
          </a:solidFill>
          <a:ln w="127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可编辑连线"/>
          <p:cNvCxnSpPr/>
          <p:nvPr/>
        </p:nvCxnSpPr>
        <p:spPr>
          <a:xfrm flipV="1">
            <a:off x="5440680" y="4486046"/>
            <a:ext cx="0" cy="40234"/>
          </a:xfrm>
          <a:prstGeom prst="line">
            <a:avLst/>
          </a:prstGeom>
          <a:ln w="1524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可编辑连线"/>
          <p:cNvCxnSpPr/>
          <p:nvPr/>
        </p:nvCxnSpPr>
        <p:spPr>
          <a:xfrm>
            <a:off x="5440680" y="4526280"/>
            <a:ext cx="32918" cy="21945"/>
          </a:xfrm>
          <a:prstGeom prst="line">
            <a:avLst/>
          </a:prstGeom>
          <a:ln w="1524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_缺口测算"/>
          <p:cNvSpPr txBox="1"/>
          <p:nvPr/>
        </p:nvSpPr>
        <p:spPr>
          <a:xfrm>
            <a:off x="5696712" y="43982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一键报修</a:t>
            </a:r>
          </a:p>
        </p:txBody>
      </p:sp>
      <p:sp>
        <p:nvSpPr>
          <p:cNvPr id="56" name="可编辑圆环"/>
          <p:cNvSpPr/>
          <p:nvPr/>
        </p:nvSpPr>
        <p:spPr>
          <a:xfrm>
            <a:off x="5294376" y="48371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可编辑矩形"/>
          <p:cNvSpPr/>
          <p:nvPr/>
        </p:nvSpPr>
        <p:spPr>
          <a:xfrm>
            <a:off x="5371185" y="4974336"/>
            <a:ext cx="31089" cy="64007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可编辑矩形"/>
          <p:cNvSpPr/>
          <p:nvPr/>
        </p:nvSpPr>
        <p:spPr>
          <a:xfrm>
            <a:off x="5415076" y="4937759"/>
            <a:ext cx="31089" cy="10058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可编辑矩形"/>
          <p:cNvSpPr/>
          <p:nvPr/>
        </p:nvSpPr>
        <p:spPr>
          <a:xfrm>
            <a:off x="5458968" y="4888382"/>
            <a:ext cx="31089" cy="14996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可编辑连线"/>
          <p:cNvCxnSpPr/>
          <p:nvPr/>
        </p:nvCxnSpPr>
        <p:spPr>
          <a:xfrm>
            <a:off x="5358384" y="5042001"/>
            <a:ext cx="159105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_投入更准"/>
          <p:cNvSpPr txBox="1"/>
          <p:nvPr/>
        </p:nvSpPr>
        <p:spPr>
          <a:xfrm>
            <a:off x="5696712" y="48554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进度反馈</a:t>
            </a:r>
          </a:p>
        </p:txBody>
      </p:sp>
      <p:sp>
        <p:nvSpPr>
          <p:cNvPr id="63" name="文本_03"/>
          <p:cNvSpPr txBox="1"/>
          <p:nvPr/>
        </p:nvSpPr>
        <p:spPr>
          <a:xfrm>
            <a:off x="8622792" y="1828800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64" name="可编辑圆环"/>
          <p:cNvSpPr/>
          <p:nvPr/>
        </p:nvSpPr>
        <p:spPr>
          <a:xfrm>
            <a:off x="9349740" y="29718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可编辑圆环"/>
          <p:cNvSpPr/>
          <p:nvPr/>
        </p:nvSpPr>
        <p:spPr>
          <a:xfrm>
            <a:off x="9486900" y="29580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可编辑圆环"/>
          <p:cNvSpPr/>
          <p:nvPr/>
        </p:nvSpPr>
        <p:spPr>
          <a:xfrm>
            <a:off x="9610344" y="29443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可编辑连线"/>
          <p:cNvCxnSpPr/>
          <p:nvPr/>
        </p:nvCxnSpPr>
        <p:spPr>
          <a:xfrm flipV="1">
            <a:off x="10012680" y="24414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可编辑圆环"/>
          <p:cNvSpPr/>
          <p:nvPr/>
        </p:nvSpPr>
        <p:spPr>
          <a:xfrm>
            <a:off x="9980676" y="24140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ear 6 68"/>
          <p:cNvSpPr/>
          <p:nvPr/>
        </p:nvSpPr>
        <p:spPr>
          <a:xfrm>
            <a:off x="9682398" y="2202606"/>
            <a:ext cx="660562" cy="660562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可编辑圆环"/>
          <p:cNvSpPr/>
          <p:nvPr/>
        </p:nvSpPr>
        <p:spPr>
          <a:xfrm>
            <a:off x="9934041" y="2454249"/>
            <a:ext cx="157276" cy="157276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文本_智管"/>
          <p:cNvSpPr txBox="1"/>
          <p:nvPr/>
        </p:nvSpPr>
        <p:spPr>
          <a:xfrm>
            <a:off x="9235440" y="3429000"/>
            <a:ext cx="155448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智管</a:t>
            </a:r>
          </a:p>
        </p:txBody>
      </p:sp>
      <p:sp>
        <p:nvSpPr>
          <p:cNvPr id="73" name="可编辑圆环"/>
          <p:cNvSpPr/>
          <p:nvPr/>
        </p:nvSpPr>
        <p:spPr>
          <a:xfrm>
            <a:off x="9226296" y="39227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可编辑矩形"/>
          <p:cNvSpPr/>
          <p:nvPr/>
        </p:nvSpPr>
        <p:spPr>
          <a:xfrm>
            <a:off x="9303105" y="4059935"/>
            <a:ext cx="31089" cy="64007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可编辑矩形"/>
          <p:cNvSpPr/>
          <p:nvPr/>
        </p:nvSpPr>
        <p:spPr>
          <a:xfrm>
            <a:off x="9346996" y="4023359"/>
            <a:ext cx="31089" cy="10058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可编辑矩形"/>
          <p:cNvSpPr/>
          <p:nvPr/>
        </p:nvSpPr>
        <p:spPr>
          <a:xfrm>
            <a:off x="9390888" y="3973982"/>
            <a:ext cx="31089" cy="14996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可编辑连线"/>
          <p:cNvCxnSpPr/>
          <p:nvPr/>
        </p:nvCxnSpPr>
        <p:spPr>
          <a:xfrm>
            <a:off x="9290304" y="4127601"/>
            <a:ext cx="159105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文本_运行监测"/>
          <p:cNvSpPr txBox="1"/>
          <p:nvPr/>
        </p:nvSpPr>
        <p:spPr>
          <a:xfrm>
            <a:off x="9628632" y="39410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派单处置</a:t>
            </a:r>
          </a:p>
        </p:txBody>
      </p:sp>
      <p:sp>
        <p:nvSpPr>
          <p:cNvPr id="79" name="可编辑圆环"/>
          <p:cNvSpPr/>
          <p:nvPr/>
        </p:nvSpPr>
        <p:spPr>
          <a:xfrm>
            <a:off x="9226296" y="43799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可编辑连线"/>
          <p:cNvCxnSpPr/>
          <p:nvPr/>
        </p:nvCxnSpPr>
        <p:spPr>
          <a:xfrm flipV="1">
            <a:off x="9326514" y="4480194"/>
            <a:ext cx="95463" cy="85588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可编辑圆环"/>
          <p:cNvSpPr/>
          <p:nvPr/>
        </p:nvSpPr>
        <p:spPr>
          <a:xfrm>
            <a:off x="9313346" y="4552614"/>
            <a:ext cx="29626" cy="29626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可编辑连线"/>
          <p:cNvCxnSpPr/>
          <p:nvPr/>
        </p:nvCxnSpPr>
        <p:spPr>
          <a:xfrm>
            <a:off x="9339681" y="4480194"/>
            <a:ext cx="79004" cy="82296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可编辑矩形"/>
          <p:cNvSpPr/>
          <p:nvPr/>
        </p:nvSpPr>
        <p:spPr>
          <a:xfrm>
            <a:off x="9405518" y="4550968"/>
            <a:ext cx="29626" cy="19751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文本_维修留痕"/>
          <p:cNvSpPr txBox="1"/>
          <p:nvPr/>
        </p:nvSpPr>
        <p:spPr>
          <a:xfrm>
            <a:off x="9628632" y="43982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巡检养护</a:t>
            </a:r>
          </a:p>
        </p:txBody>
      </p:sp>
      <p:sp>
        <p:nvSpPr>
          <p:cNvPr id="85" name="可编辑圆环"/>
          <p:cNvSpPr/>
          <p:nvPr/>
        </p:nvSpPr>
        <p:spPr>
          <a:xfrm>
            <a:off x="9226296" y="4837176"/>
            <a:ext cx="292608" cy="292608"/>
          </a:xfrm>
          <a:prstGeom prst="ellipse">
            <a:avLst/>
          </a:prstGeom>
          <a:solidFill>
            <a:srgbClr val="0A3D61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rc 85"/>
          <p:cNvSpPr/>
          <p:nvPr/>
        </p:nvSpPr>
        <p:spPr>
          <a:xfrm>
            <a:off x="9306763" y="4932273"/>
            <a:ext cx="131673" cy="91440"/>
          </a:xfrm>
          <a:prstGeom prst="arc">
            <a:avLst/>
          </a:prstGeom>
          <a:solidFill>
            <a:srgbClr val="A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可编辑圆环"/>
          <p:cNvSpPr/>
          <p:nvPr/>
        </p:nvSpPr>
        <p:spPr>
          <a:xfrm>
            <a:off x="9361627" y="5016398"/>
            <a:ext cx="21945" cy="21945"/>
          </a:xfrm>
          <a:prstGeom prst="ellipse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文本_预警闭环"/>
          <p:cNvSpPr txBox="1"/>
          <p:nvPr/>
        </p:nvSpPr>
        <p:spPr>
          <a:xfrm>
            <a:off x="9628632" y="4855464"/>
            <a:ext cx="128016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Noto Sans CJK SC"/>
              </a:rPr>
              <a:t>评价回写</a:t>
            </a:r>
          </a:p>
        </p:txBody>
      </p:sp>
      <p:sp>
        <p:nvSpPr>
          <p:cNvPr id="89" name="Chevron 88"/>
          <p:cNvSpPr/>
          <p:nvPr/>
        </p:nvSpPr>
        <p:spPr>
          <a:xfrm>
            <a:off x="4160520" y="3886200"/>
            <a:ext cx="310896" cy="25603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hevron 89"/>
          <p:cNvSpPr/>
          <p:nvPr/>
        </p:nvSpPr>
        <p:spPr>
          <a:xfrm>
            <a:off x="4331512" y="3886200"/>
            <a:ext cx="310896" cy="25603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evron 90"/>
          <p:cNvSpPr/>
          <p:nvPr/>
        </p:nvSpPr>
        <p:spPr>
          <a:xfrm>
            <a:off x="8065008" y="3886200"/>
            <a:ext cx="310896" cy="25603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hevron 91"/>
          <p:cNvSpPr/>
          <p:nvPr/>
        </p:nvSpPr>
        <p:spPr>
          <a:xfrm>
            <a:off x="8236000" y="3886200"/>
            <a:ext cx="310896" cy="256032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文本_让资源调得动、投入算得清"/>
          <p:cNvSpPr txBox="1"/>
          <p:nvPr/>
        </p:nvSpPr>
        <p:spPr>
          <a:xfrm>
            <a:off x="3611880" y="6053328"/>
            <a:ext cx="498348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C400"/>
                </a:solidFill>
                <a:latin typeface="Arial"/>
                <a:ea typeface="Noto Sans CJK SC"/>
              </a:rPr>
              <a:t>智投把模型变清单，智用把服务送到烟农手里，智管把结果沉淀回数据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6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用：调度与抢修，真正落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智用：找房、报修，不再靠一圈电话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“打电话找房、找人、找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周边烤房可查、维修过程可见、评价结果回写</a:t>
            </a:r>
          </a:p>
        </p:txBody>
      </p:sp>
      <p:sp>
        <p:nvSpPr>
          <p:cNvPr id="10" name="文本_01"/>
          <p:cNvSpPr txBox="1"/>
          <p:nvPr/>
        </p:nvSpPr>
        <p:spPr>
          <a:xfrm>
            <a:off x="731520" y="1691640"/>
            <a:ext cx="713232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11" name="可编辑圆环"/>
          <p:cNvSpPr/>
          <p:nvPr/>
        </p:nvSpPr>
        <p:spPr>
          <a:xfrm>
            <a:off x="1394460" y="22860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可编辑圆环"/>
          <p:cNvSpPr/>
          <p:nvPr/>
        </p:nvSpPr>
        <p:spPr>
          <a:xfrm>
            <a:off x="1531620" y="22722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可编辑圆环"/>
          <p:cNvSpPr/>
          <p:nvPr/>
        </p:nvSpPr>
        <p:spPr>
          <a:xfrm>
            <a:off x="1655064" y="22585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057400" y="17556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025395" y="17282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矩形"/>
          <p:cNvSpPr/>
          <p:nvPr/>
        </p:nvSpPr>
        <p:spPr>
          <a:xfrm>
            <a:off x="1899391" y="1825142"/>
            <a:ext cx="316016" cy="228234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846722" y="1649577"/>
            <a:ext cx="421355" cy="210677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可编辑矩形"/>
          <p:cNvSpPr/>
          <p:nvPr/>
        </p:nvSpPr>
        <p:spPr>
          <a:xfrm>
            <a:off x="2017897" y="1899757"/>
            <a:ext cx="79004" cy="122895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文本_找空闲房"/>
          <p:cNvSpPr txBox="1"/>
          <p:nvPr/>
        </p:nvSpPr>
        <p:spPr>
          <a:xfrm>
            <a:off x="1097280" y="2359152"/>
            <a:ext cx="1965960" cy="3931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找空闲房</a:t>
            </a:r>
          </a:p>
        </p:txBody>
      </p:sp>
      <p:sp>
        <p:nvSpPr>
          <p:cNvPr id="21" name="文本_状态可见 / 就近可选"/>
          <p:cNvSpPr txBox="1"/>
          <p:nvPr/>
        </p:nvSpPr>
        <p:spPr>
          <a:xfrm>
            <a:off x="960120" y="2724912"/>
            <a:ext cx="22402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状态可见 / 就近可选</a:t>
            </a:r>
          </a:p>
        </p:txBody>
      </p:sp>
      <p:sp>
        <p:nvSpPr>
          <p:cNvPr id="23" name="文本_02"/>
          <p:cNvSpPr txBox="1"/>
          <p:nvPr/>
        </p:nvSpPr>
        <p:spPr>
          <a:xfrm>
            <a:off x="3337560" y="1691640"/>
            <a:ext cx="713232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24" name="可编辑圆环"/>
          <p:cNvSpPr/>
          <p:nvPr/>
        </p:nvSpPr>
        <p:spPr>
          <a:xfrm>
            <a:off x="4000500" y="22860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可编辑圆环"/>
          <p:cNvSpPr/>
          <p:nvPr/>
        </p:nvSpPr>
        <p:spPr>
          <a:xfrm>
            <a:off x="4137660" y="22722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可编辑圆环"/>
          <p:cNvSpPr/>
          <p:nvPr/>
        </p:nvSpPr>
        <p:spPr>
          <a:xfrm>
            <a:off x="4261104" y="22585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可编辑连线"/>
          <p:cNvCxnSpPr/>
          <p:nvPr/>
        </p:nvCxnSpPr>
        <p:spPr>
          <a:xfrm flipV="1">
            <a:off x="4663440" y="17556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可编辑圆环"/>
          <p:cNvSpPr/>
          <p:nvPr/>
        </p:nvSpPr>
        <p:spPr>
          <a:xfrm>
            <a:off x="4631436" y="17282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可编辑矩形"/>
          <p:cNvSpPr/>
          <p:nvPr/>
        </p:nvSpPr>
        <p:spPr>
          <a:xfrm>
            <a:off x="4522988" y="1671523"/>
            <a:ext cx="280903" cy="351129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可编辑连线"/>
          <p:cNvCxnSpPr/>
          <p:nvPr/>
        </p:nvCxnSpPr>
        <p:spPr>
          <a:xfrm>
            <a:off x="4575657" y="1768083"/>
            <a:ext cx="166787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可编辑连线"/>
          <p:cNvCxnSpPr/>
          <p:nvPr/>
        </p:nvCxnSpPr>
        <p:spPr>
          <a:xfrm>
            <a:off x="4575657" y="1842698"/>
            <a:ext cx="166787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可编辑连线"/>
          <p:cNvCxnSpPr/>
          <p:nvPr/>
        </p:nvCxnSpPr>
        <p:spPr>
          <a:xfrm>
            <a:off x="4575657" y="1917313"/>
            <a:ext cx="166787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_发起调度"/>
          <p:cNvSpPr txBox="1"/>
          <p:nvPr/>
        </p:nvSpPr>
        <p:spPr>
          <a:xfrm>
            <a:off x="3703320" y="2359152"/>
            <a:ext cx="1965960" cy="3931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预约调剂</a:t>
            </a:r>
          </a:p>
        </p:txBody>
      </p:sp>
      <p:sp>
        <p:nvSpPr>
          <p:cNvPr id="35" name="文本_线上申请 / 一键提交"/>
          <p:cNvSpPr txBox="1"/>
          <p:nvPr/>
        </p:nvSpPr>
        <p:spPr>
          <a:xfrm>
            <a:off x="3566160" y="2724912"/>
            <a:ext cx="22402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线上申请 / 一键提交</a:t>
            </a:r>
          </a:p>
        </p:txBody>
      </p:sp>
      <p:sp>
        <p:nvSpPr>
          <p:cNvPr id="37" name="文本_03"/>
          <p:cNvSpPr txBox="1"/>
          <p:nvPr/>
        </p:nvSpPr>
        <p:spPr>
          <a:xfrm>
            <a:off x="6217920" y="1691640"/>
            <a:ext cx="713232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38" name="可编辑圆环"/>
          <p:cNvSpPr/>
          <p:nvPr/>
        </p:nvSpPr>
        <p:spPr>
          <a:xfrm>
            <a:off x="6880860" y="22860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可编辑圆环"/>
          <p:cNvSpPr/>
          <p:nvPr/>
        </p:nvSpPr>
        <p:spPr>
          <a:xfrm>
            <a:off x="7018020" y="22722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可编辑圆环"/>
          <p:cNvSpPr/>
          <p:nvPr/>
        </p:nvSpPr>
        <p:spPr>
          <a:xfrm>
            <a:off x="7141464" y="22585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可编辑连线"/>
          <p:cNvCxnSpPr/>
          <p:nvPr/>
        </p:nvCxnSpPr>
        <p:spPr>
          <a:xfrm flipV="1">
            <a:off x="7543800" y="17556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可编辑圆环"/>
          <p:cNvSpPr/>
          <p:nvPr/>
        </p:nvSpPr>
        <p:spPr>
          <a:xfrm>
            <a:off x="7511796" y="17282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可编辑连线"/>
          <p:cNvCxnSpPr/>
          <p:nvPr/>
        </p:nvCxnSpPr>
        <p:spPr>
          <a:xfrm flipV="1">
            <a:off x="7420904" y="1724192"/>
            <a:ext cx="254569" cy="228234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可编辑圆环"/>
          <p:cNvSpPr/>
          <p:nvPr/>
        </p:nvSpPr>
        <p:spPr>
          <a:xfrm>
            <a:off x="7385791" y="1917313"/>
            <a:ext cx="79004" cy="79004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可编辑连线"/>
          <p:cNvCxnSpPr/>
          <p:nvPr/>
        </p:nvCxnSpPr>
        <p:spPr>
          <a:xfrm>
            <a:off x="7456017" y="1724192"/>
            <a:ext cx="210678" cy="219456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可编辑矩形"/>
          <p:cNvSpPr/>
          <p:nvPr/>
        </p:nvSpPr>
        <p:spPr>
          <a:xfrm>
            <a:off x="7631582" y="1912924"/>
            <a:ext cx="79004" cy="52669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文本_故障报修"/>
          <p:cNvSpPr txBox="1"/>
          <p:nvPr/>
        </p:nvSpPr>
        <p:spPr>
          <a:xfrm>
            <a:off x="6583680" y="2359152"/>
            <a:ext cx="1965960" cy="3931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一键报修</a:t>
            </a:r>
          </a:p>
        </p:txBody>
      </p:sp>
      <p:sp>
        <p:nvSpPr>
          <p:cNvPr id="49" name="文本_定位问题 / 自动派单"/>
          <p:cNvSpPr txBox="1"/>
          <p:nvPr/>
        </p:nvSpPr>
        <p:spPr>
          <a:xfrm>
            <a:off x="6446520" y="2724912"/>
            <a:ext cx="22402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定位问题 / 自动派单</a:t>
            </a:r>
          </a:p>
        </p:txBody>
      </p:sp>
      <p:sp>
        <p:nvSpPr>
          <p:cNvPr id="51" name="文本_04"/>
          <p:cNvSpPr txBox="1"/>
          <p:nvPr/>
        </p:nvSpPr>
        <p:spPr>
          <a:xfrm>
            <a:off x="9281160" y="1691640"/>
            <a:ext cx="713232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04</a:t>
            </a:r>
          </a:p>
        </p:txBody>
      </p:sp>
      <p:sp>
        <p:nvSpPr>
          <p:cNvPr id="52" name="可编辑圆环"/>
          <p:cNvSpPr/>
          <p:nvPr/>
        </p:nvSpPr>
        <p:spPr>
          <a:xfrm>
            <a:off x="9944100" y="22860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可编辑圆环"/>
          <p:cNvSpPr/>
          <p:nvPr/>
        </p:nvSpPr>
        <p:spPr>
          <a:xfrm>
            <a:off x="10081260" y="22722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可编辑圆环"/>
          <p:cNvSpPr/>
          <p:nvPr/>
        </p:nvSpPr>
        <p:spPr>
          <a:xfrm>
            <a:off x="10204704" y="22585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可编辑连线"/>
          <p:cNvCxnSpPr/>
          <p:nvPr/>
        </p:nvCxnSpPr>
        <p:spPr>
          <a:xfrm flipV="1">
            <a:off x="10607040" y="17556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可编辑圆环"/>
          <p:cNvSpPr/>
          <p:nvPr/>
        </p:nvSpPr>
        <p:spPr>
          <a:xfrm>
            <a:off x="10575036" y="17282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可编辑矩形"/>
          <p:cNvSpPr/>
          <p:nvPr/>
        </p:nvSpPr>
        <p:spPr>
          <a:xfrm>
            <a:off x="10466588" y="1671523"/>
            <a:ext cx="280903" cy="351129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可编辑连线"/>
          <p:cNvCxnSpPr/>
          <p:nvPr/>
        </p:nvCxnSpPr>
        <p:spPr>
          <a:xfrm>
            <a:off x="10519257" y="1768083"/>
            <a:ext cx="166787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可编辑连线"/>
          <p:cNvCxnSpPr/>
          <p:nvPr/>
        </p:nvCxnSpPr>
        <p:spPr>
          <a:xfrm>
            <a:off x="10519257" y="1842698"/>
            <a:ext cx="166787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可编辑连线"/>
          <p:cNvCxnSpPr/>
          <p:nvPr/>
        </p:nvCxnSpPr>
        <p:spPr>
          <a:xfrm>
            <a:off x="10519257" y="1917313"/>
            <a:ext cx="166787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_评价回写"/>
          <p:cNvSpPr txBox="1"/>
          <p:nvPr/>
        </p:nvSpPr>
        <p:spPr>
          <a:xfrm>
            <a:off x="9646920" y="2359152"/>
            <a:ext cx="1965960" cy="3931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评价回写</a:t>
            </a:r>
          </a:p>
        </p:txBody>
      </p:sp>
      <p:sp>
        <p:nvSpPr>
          <p:cNvPr id="63" name="文本_过程留痕 / 服务闭环"/>
          <p:cNvSpPr txBox="1"/>
          <p:nvPr/>
        </p:nvSpPr>
        <p:spPr>
          <a:xfrm>
            <a:off x="9509760" y="2724912"/>
            <a:ext cx="22402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过程留痕 / 服务闭环</a:t>
            </a:r>
          </a:p>
        </p:txBody>
      </p:sp>
      <p:sp>
        <p:nvSpPr>
          <p:cNvPr id="64" name="Chevron 63"/>
          <p:cNvSpPr/>
          <p:nvPr/>
        </p:nvSpPr>
        <p:spPr>
          <a:xfrm>
            <a:off x="2971800" y="2066543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evron 64"/>
          <p:cNvSpPr/>
          <p:nvPr/>
        </p:nvSpPr>
        <p:spPr>
          <a:xfrm>
            <a:off x="3132734" y="2066543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evron 65"/>
          <p:cNvSpPr/>
          <p:nvPr/>
        </p:nvSpPr>
        <p:spPr>
          <a:xfrm>
            <a:off x="5806440" y="2066543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evron 66"/>
          <p:cNvSpPr/>
          <p:nvPr/>
        </p:nvSpPr>
        <p:spPr>
          <a:xfrm>
            <a:off x="5967374" y="2066543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evron 67"/>
          <p:cNvSpPr/>
          <p:nvPr/>
        </p:nvSpPr>
        <p:spPr>
          <a:xfrm>
            <a:off x="8595360" y="2066543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hevron 68"/>
          <p:cNvSpPr/>
          <p:nvPr/>
        </p:nvSpPr>
        <p:spPr>
          <a:xfrm>
            <a:off x="8756294" y="2066543"/>
            <a:ext cx="292608" cy="219456"/>
          </a:xfrm>
          <a:prstGeom prst="chevron">
            <a:avLst/>
          </a:prstGeom>
          <a:solidFill>
            <a:srgbClr val="22CC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ardrop 69"/>
          <p:cNvSpPr/>
          <p:nvPr/>
        </p:nvSpPr>
        <p:spPr>
          <a:xfrm rot="10800000">
            <a:off x="832104" y="3895344"/>
            <a:ext cx="164592" cy="164592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可编辑圆环"/>
          <p:cNvSpPr/>
          <p:nvPr/>
        </p:nvSpPr>
        <p:spPr>
          <a:xfrm>
            <a:off x="896294" y="3959534"/>
            <a:ext cx="36210" cy="36210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ardrop 71"/>
          <p:cNvSpPr/>
          <p:nvPr/>
        </p:nvSpPr>
        <p:spPr>
          <a:xfrm rot="10800000">
            <a:off x="1655063" y="3712464"/>
            <a:ext cx="164592" cy="164592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可编辑圆环"/>
          <p:cNvSpPr/>
          <p:nvPr/>
        </p:nvSpPr>
        <p:spPr>
          <a:xfrm>
            <a:off x="1719254" y="3776654"/>
            <a:ext cx="36210" cy="36210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ardrop 73"/>
          <p:cNvSpPr/>
          <p:nvPr/>
        </p:nvSpPr>
        <p:spPr>
          <a:xfrm rot="10800000">
            <a:off x="2295144" y="4352544"/>
            <a:ext cx="164592" cy="164592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可编辑圆环"/>
          <p:cNvSpPr/>
          <p:nvPr/>
        </p:nvSpPr>
        <p:spPr>
          <a:xfrm>
            <a:off x="2359334" y="4416734"/>
            <a:ext cx="36210" cy="36210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ardrop 75"/>
          <p:cNvSpPr/>
          <p:nvPr/>
        </p:nvSpPr>
        <p:spPr>
          <a:xfrm rot="10800000">
            <a:off x="2935224" y="4078224"/>
            <a:ext cx="164592" cy="164592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可编辑圆环"/>
          <p:cNvSpPr/>
          <p:nvPr/>
        </p:nvSpPr>
        <p:spPr>
          <a:xfrm>
            <a:off x="2999414" y="4142414"/>
            <a:ext cx="36210" cy="36210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ardrop 77"/>
          <p:cNvSpPr/>
          <p:nvPr/>
        </p:nvSpPr>
        <p:spPr>
          <a:xfrm rot="10800000">
            <a:off x="1152144" y="4489704"/>
            <a:ext cx="164592" cy="164592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圆环"/>
          <p:cNvSpPr/>
          <p:nvPr/>
        </p:nvSpPr>
        <p:spPr>
          <a:xfrm>
            <a:off x="1216334" y="4553894"/>
            <a:ext cx="36210" cy="36210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可编辑连线"/>
          <p:cNvCxnSpPr/>
          <p:nvPr/>
        </p:nvCxnSpPr>
        <p:spPr>
          <a:xfrm flipV="1">
            <a:off x="594360" y="4434840"/>
            <a:ext cx="548640" cy="36576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可编辑连线"/>
          <p:cNvCxnSpPr/>
          <p:nvPr/>
        </p:nvCxnSpPr>
        <p:spPr>
          <a:xfrm>
            <a:off x="1143000" y="4434840"/>
            <a:ext cx="640080" cy="18288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可编辑连线"/>
          <p:cNvCxnSpPr/>
          <p:nvPr/>
        </p:nvCxnSpPr>
        <p:spPr>
          <a:xfrm flipV="1">
            <a:off x="1783080" y="4224528"/>
            <a:ext cx="548640" cy="39319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可编辑连线"/>
          <p:cNvCxnSpPr/>
          <p:nvPr/>
        </p:nvCxnSpPr>
        <p:spPr>
          <a:xfrm>
            <a:off x="2331720" y="4224528"/>
            <a:ext cx="594360" cy="43891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可编辑连线"/>
          <p:cNvCxnSpPr/>
          <p:nvPr/>
        </p:nvCxnSpPr>
        <p:spPr>
          <a:xfrm flipV="1">
            <a:off x="2926080" y="4389120"/>
            <a:ext cx="548640" cy="27432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可编辑连线"/>
          <p:cNvCxnSpPr/>
          <p:nvPr/>
        </p:nvCxnSpPr>
        <p:spPr>
          <a:xfrm flipV="1">
            <a:off x="594360" y="4434840"/>
            <a:ext cx="548640" cy="36576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可编辑连线"/>
          <p:cNvCxnSpPr/>
          <p:nvPr/>
        </p:nvCxnSpPr>
        <p:spPr>
          <a:xfrm>
            <a:off x="1143000" y="4434840"/>
            <a:ext cx="640080" cy="18288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可编辑连线"/>
          <p:cNvCxnSpPr/>
          <p:nvPr/>
        </p:nvCxnSpPr>
        <p:spPr>
          <a:xfrm flipV="1">
            <a:off x="1783080" y="4224528"/>
            <a:ext cx="548640" cy="39319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可编辑连线"/>
          <p:cNvCxnSpPr/>
          <p:nvPr/>
        </p:nvCxnSpPr>
        <p:spPr>
          <a:xfrm>
            <a:off x="2331720" y="4224528"/>
            <a:ext cx="594360" cy="43891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可编辑连线"/>
          <p:cNvCxnSpPr/>
          <p:nvPr/>
        </p:nvCxnSpPr>
        <p:spPr>
          <a:xfrm flipV="1">
            <a:off x="2926080" y="4389120"/>
            <a:ext cx="548640" cy="27432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可编辑连线"/>
          <p:cNvCxnSpPr/>
          <p:nvPr/>
        </p:nvCxnSpPr>
        <p:spPr>
          <a:xfrm flipV="1">
            <a:off x="594360" y="4434840"/>
            <a:ext cx="548640" cy="36576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可编辑连线"/>
          <p:cNvCxnSpPr/>
          <p:nvPr/>
        </p:nvCxnSpPr>
        <p:spPr>
          <a:xfrm>
            <a:off x="1143000" y="4434840"/>
            <a:ext cx="640080" cy="18288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可编辑连线"/>
          <p:cNvCxnSpPr/>
          <p:nvPr/>
        </p:nvCxnSpPr>
        <p:spPr>
          <a:xfrm flipV="1">
            <a:off x="1783080" y="4224528"/>
            <a:ext cx="548640" cy="39319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可编辑连线"/>
          <p:cNvCxnSpPr/>
          <p:nvPr/>
        </p:nvCxnSpPr>
        <p:spPr>
          <a:xfrm>
            <a:off x="2331720" y="4224528"/>
            <a:ext cx="594360" cy="43891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可编辑连线"/>
          <p:cNvCxnSpPr/>
          <p:nvPr/>
        </p:nvCxnSpPr>
        <p:spPr>
          <a:xfrm flipV="1">
            <a:off x="2926080" y="4389120"/>
            <a:ext cx="548640" cy="27432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可编辑矩形"/>
          <p:cNvSpPr/>
          <p:nvPr/>
        </p:nvSpPr>
        <p:spPr>
          <a:xfrm>
            <a:off x="3840480" y="3246120"/>
            <a:ext cx="1828800" cy="2084831"/>
          </a:xfrm>
          <a:prstGeom prst="roundRect">
            <a:avLst/>
          </a:prstGeom>
          <a:solidFill>
            <a:srgbClr val="08233F">
              <a:alpha val="88000"/>
            </a:srgbClr>
          </a:solidFill>
          <a:ln w="1397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文本_调度申请"/>
          <p:cNvSpPr txBox="1"/>
          <p:nvPr/>
        </p:nvSpPr>
        <p:spPr>
          <a:xfrm>
            <a:off x="3977639" y="3364992"/>
            <a:ext cx="114300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5EEFF"/>
                </a:solidFill>
                <a:latin typeface="Arial"/>
                <a:ea typeface="Noto Sans CJK SC"/>
              </a:rPr>
              <a:t>调度申请</a:t>
            </a:r>
          </a:p>
        </p:txBody>
      </p:sp>
      <p:cxnSp>
        <p:nvCxnSpPr>
          <p:cNvPr id="97" name="可编辑连线"/>
          <p:cNvCxnSpPr/>
          <p:nvPr/>
        </p:nvCxnSpPr>
        <p:spPr>
          <a:xfrm>
            <a:off x="3977639" y="3675887"/>
            <a:ext cx="1527049" cy="0"/>
          </a:xfrm>
          <a:prstGeom prst="line">
            <a:avLst/>
          </a:prstGeom>
          <a:ln w="7620">
            <a:solidFill>
              <a:srgbClr val="42718F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可编辑矩形"/>
          <p:cNvSpPr/>
          <p:nvPr/>
        </p:nvSpPr>
        <p:spPr>
          <a:xfrm>
            <a:off x="4005072" y="3767328"/>
            <a:ext cx="1481328" cy="329184"/>
          </a:xfrm>
          <a:prstGeom prst="roundRect">
            <a:avLst/>
          </a:prstGeom>
          <a:solidFill>
            <a:srgbClr val="0B3556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文本_选择烟房"/>
          <p:cNvSpPr txBox="1"/>
          <p:nvPr/>
        </p:nvSpPr>
        <p:spPr>
          <a:xfrm>
            <a:off x="4114800" y="3803904"/>
            <a:ext cx="96012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  <a:ea typeface="Noto Sans CJK SC"/>
              </a:rPr>
              <a:t>选择烟房</a:t>
            </a:r>
          </a:p>
        </p:txBody>
      </p:sp>
      <p:sp>
        <p:nvSpPr>
          <p:cNvPr id="100" name="文本_›"/>
          <p:cNvSpPr txBox="1"/>
          <p:nvPr/>
        </p:nvSpPr>
        <p:spPr>
          <a:xfrm>
            <a:off x="5257800" y="3803904"/>
            <a:ext cx="128016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5EEFF"/>
                </a:solidFill>
                <a:latin typeface="Arial"/>
                <a:ea typeface="Noto Sans CJK SC"/>
              </a:rPr>
              <a:t>›</a:t>
            </a:r>
          </a:p>
        </p:txBody>
      </p:sp>
      <p:sp>
        <p:nvSpPr>
          <p:cNvPr id="101" name="可编辑矩形"/>
          <p:cNvSpPr/>
          <p:nvPr/>
        </p:nvSpPr>
        <p:spPr>
          <a:xfrm>
            <a:off x="4005072" y="4178808"/>
            <a:ext cx="1481328" cy="329184"/>
          </a:xfrm>
          <a:prstGeom prst="roundRect">
            <a:avLst/>
          </a:prstGeom>
          <a:solidFill>
            <a:srgbClr val="0B3556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文本_选择人员"/>
          <p:cNvSpPr txBox="1"/>
          <p:nvPr/>
        </p:nvSpPr>
        <p:spPr>
          <a:xfrm>
            <a:off x="4114800" y="4215384"/>
            <a:ext cx="96012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  <a:ea typeface="Noto Sans CJK SC"/>
              </a:rPr>
              <a:t>选择人员</a:t>
            </a:r>
          </a:p>
        </p:txBody>
      </p:sp>
      <p:sp>
        <p:nvSpPr>
          <p:cNvPr id="103" name="文本_›"/>
          <p:cNvSpPr txBox="1"/>
          <p:nvPr/>
        </p:nvSpPr>
        <p:spPr>
          <a:xfrm>
            <a:off x="5257800" y="4215384"/>
            <a:ext cx="128016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5EEFF"/>
                </a:solidFill>
                <a:latin typeface="Arial"/>
                <a:ea typeface="Noto Sans CJK SC"/>
              </a:rPr>
              <a:t>›</a:t>
            </a:r>
          </a:p>
        </p:txBody>
      </p:sp>
      <p:sp>
        <p:nvSpPr>
          <p:cNvPr id="104" name="可编辑矩形"/>
          <p:cNvSpPr/>
          <p:nvPr/>
        </p:nvSpPr>
        <p:spPr>
          <a:xfrm>
            <a:off x="4005072" y="4590288"/>
            <a:ext cx="1481328" cy="329184"/>
          </a:xfrm>
          <a:prstGeom prst="roundRect">
            <a:avLst/>
          </a:prstGeom>
          <a:solidFill>
            <a:srgbClr val="0B3556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文本_选择配件"/>
          <p:cNvSpPr txBox="1"/>
          <p:nvPr/>
        </p:nvSpPr>
        <p:spPr>
          <a:xfrm>
            <a:off x="4114800" y="4626864"/>
            <a:ext cx="96012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  <a:ea typeface="Noto Sans CJK SC"/>
              </a:rPr>
              <a:t>选择配件</a:t>
            </a:r>
          </a:p>
        </p:txBody>
      </p:sp>
      <p:sp>
        <p:nvSpPr>
          <p:cNvPr id="106" name="文本_›"/>
          <p:cNvSpPr txBox="1"/>
          <p:nvPr/>
        </p:nvSpPr>
        <p:spPr>
          <a:xfrm>
            <a:off x="5257800" y="4626864"/>
            <a:ext cx="128016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5EEFF"/>
                </a:solidFill>
                <a:latin typeface="Arial"/>
                <a:ea typeface="Noto Sans CJK SC"/>
              </a:rPr>
              <a:t>›</a:t>
            </a:r>
          </a:p>
        </p:txBody>
      </p:sp>
      <p:sp>
        <p:nvSpPr>
          <p:cNvPr id="107" name="可编辑矩形"/>
          <p:cNvSpPr/>
          <p:nvPr/>
        </p:nvSpPr>
        <p:spPr>
          <a:xfrm>
            <a:off x="4005072" y="5047488"/>
            <a:ext cx="1481328" cy="329184"/>
          </a:xfrm>
          <a:prstGeom prst="roundRect">
            <a:avLst/>
          </a:prstGeom>
          <a:solidFill>
            <a:srgbClr val="22CCF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文本_一键提交"/>
          <p:cNvSpPr txBox="1"/>
          <p:nvPr/>
        </p:nvSpPr>
        <p:spPr>
          <a:xfrm>
            <a:off x="4005072" y="5056632"/>
            <a:ext cx="1481328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  <a:ea typeface="Noto Sans CJK SC"/>
              </a:rPr>
              <a:t>一键提交</a:t>
            </a:r>
          </a:p>
        </p:txBody>
      </p:sp>
      <p:sp>
        <p:nvSpPr>
          <p:cNvPr id="109" name="可编辑矩形"/>
          <p:cNvSpPr/>
          <p:nvPr/>
        </p:nvSpPr>
        <p:spPr>
          <a:xfrm>
            <a:off x="7373721" y="4110228"/>
            <a:ext cx="724204" cy="523036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Isosceles Triangle 109"/>
          <p:cNvSpPr/>
          <p:nvPr/>
        </p:nvSpPr>
        <p:spPr>
          <a:xfrm>
            <a:off x="7253020" y="3707891"/>
            <a:ext cx="965606" cy="482803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可编辑矩形"/>
          <p:cNvSpPr/>
          <p:nvPr/>
        </p:nvSpPr>
        <p:spPr>
          <a:xfrm>
            <a:off x="7645298" y="4281220"/>
            <a:ext cx="181051" cy="281635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可编辑圆环"/>
          <p:cNvSpPr/>
          <p:nvPr/>
        </p:nvSpPr>
        <p:spPr>
          <a:xfrm>
            <a:off x="7749540" y="3973068"/>
            <a:ext cx="685800" cy="685800"/>
          </a:xfrm>
          <a:prstGeom prst="ellipse">
            <a:avLst/>
          </a:prstGeom>
          <a:solidFill>
            <a:srgbClr val="0A4265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文本_!"/>
          <p:cNvSpPr txBox="1"/>
          <p:nvPr/>
        </p:nvSpPr>
        <p:spPr>
          <a:xfrm>
            <a:off x="7872983" y="4041648"/>
            <a:ext cx="438912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Noto Sans CJK SC"/>
              </a:rPr>
              <a:t>!</a:t>
            </a:r>
          </a:p>
        </p:txBody>
      </p:sp>
      <p:cxnSp>
        <p:nvCxnSpPr>
          <p:cNvPr id="114" name="可编辑连线"/>
          <p:cNvCxnSpPr/>
          <p:nvPr/>
        </p:nvCxnSpPr>
        <p:spPr>
          <a:xfrm flipV="1">
            <a:off x="7174382" y="4632350"/>
            <a:ext cx="159106" cy="142646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可编辑圆环"/>
          <p:cNvSpPr/>
          <p:nvPr/>
        </p:nvSpPr>
        <p:spPr>
          <a:xfrm>
            <a:off x="7152436" y="4753051"/>
            <a:ext cx="49377" cy="49377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可编辑连线"/>
          <p:cNvCxnSpPr/>
          <p:nvPr/>
        </p:nvCxnSpPr>
        <p:spPr>
          <a:xfrm>
            <a:off x="7196328" y="4632350"/>
            <a:ext cx="131673" cy="137160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可编辑矩形"/>
          <p:cNvSpPr/>
          <p:nvPr/>
        </p:nvSpPr>
        <p:spPr>
          <a:xfrm>
            <a:off x="7306055" y="4750308"/>
            <a:ext cx="49377" cy="32918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可编辑矩形"/>
          <p:cNvSpPr/>
          <p:nvPr/>
        </p:nvSpPr>
        <p:spPr>
          <a:xfrm>
            <a:off x="10360152" y="3273552"/>
            <a:ext cx="1517904" cy="1993392"/>
          </a:xfrm>
          <a:prstGeom prst="roundRect">
            <a:avLst/>
          </a:prstGeom>
          <a:solidFill>
            <a:srgbClr val="08233F">
              <a:alpha val="88000"/>
            </a:srgbClr>
          </a:solidFill>
          <a:ln w="1397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文本_服务评价"/>
          <p:cNvSpPr txBox="1"/>
          <p:nvPr/>
        </p:nvSpPr>
        <p:spPr>
          <a:xfrm>
            <a:off x="10497312" y="3429000"/>
            <a:ext cx="969264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服务评价</a:t>
            </a:r>
          </a:p>
        </p:txBody>
      </p:sp>
      <p:sp>
        <p:nvSpPr>
          <p:cNvPr id="120" name="文本_★★★★★"/>
          <p:cNvSpPr txBox="1"/>
          <p:nvPr/>
        </p:nvSpPr>
        <p:spPr>
          <a:xfrm>
            <a:off x="10469880" y="3794760"/>
            <a:ext cx="1024128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2CCFA"/>
                </a:solidFill>
                <a:latin typeface="Arial"/>
                <a:ea typeface="Noto Sans CJK SC"/>
              </a:rPr>
              <a:t>★★★★★</a:t>
            </a:r>
          </a:p>
        </p:txBody>
      </p:sp>
      <p:sp>
        <p:nvSpPr>
          <p:cNvPr id="121" name="文本_✓"/>
          <p:cNvSpPr txBox="1"/>
          <p:nvPr/>
        </p:nvSpPr>
        <p:spPr>
          <a:xfrm>
            <a:off x="10515600" y="4187952"/>
            <a:ext cx="164592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CCFA"/>
                </a:solidFill>
                <a:latin typeface="Arial"/>
                <a:ea typeface="Noto Sans CJK SC"/>
              </a:rPr>
              <a:t>✓</a:t>
            </a:r>
          </a:p>
        </p:txBody>
      </p:sp>
      <p:sp>
        <p:nvSpPr>
          <p:cNvPr id="122" name="文本_服务及时"/>
          <p:cNvSpPr txBox="1"/>
          <p:nvPr/>
        </p:nvSpPr>
        <p:spPr>
          <a:xfrm>
            <a:off x="10716768" y="4178808"/>
            <a:ext cx="73152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服务及时</a:t>
            </a:r>
          </a:p>
        </p:txBody>
      </p:sp>
      <p:sp>
        <p:nvSpPr>
          <p:cNvPr id="123" name="文本_✓"/>
          <p:cNvSpPr txBox="1"/>
          <p:nvPr/>
        </p:nvSpPr>
        <p:spPr>
          <a:xfrm>
            <a:off x="10515600" y="4462272"/>
            <a:ext cx="164592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CCFA"/>
                </a:solidFill>
                <a:latin typeface="Arial"/>
                <a:ea typeface="Noto Sans CJK SC"/>
              </a:rPr>
              <a:t>✓</a:t>
            </a:r>
          </a:p>
        </p:txBody>
      </p:sp>
      <p:sp>
        <p:nvSpPr>
          <p:cNvPr id="124" name="文本_维修专业"/>
          <p:cNvSpPr txBox="1"/>
          <p:nvPr/>
        </p:nvSpPr>
        <p:spPr>
          <a:xfrm>
            <a:off x="10716768" y="4453128"/>
            <a:ext cx="73152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维修专业</a:t>
            </a:r>
          </a:p>
        </p:txBody>
      </p:sp>
      <p:sp>
        <p:nvSpPr>
          <p:cNvPr id="125" name="文本_✓"/>
          <p:cNvSpPr txBox="1"/>
          <p:nvPr/>
        </p:nvSpPr>
        <p:spPr>
          <a:xfrm>
            <a:off x="10515600" y="4736592"/>
            <a:ext cx="164592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CCFA"/>
                </a:solidFill>
                <a:latin typeface="Arial"/>
                <a:ea typeface="Noto Sans CJK SC"/>
              </a:rPr>
              <a:t>✓</a:t>
            </a:r>
          </a:p>
        </p:txBody>
      </p:sp>
      <p:sp>
        <p:nvSpPr>
          <p:cNvPr id="126" name="文本_问题解决"/>
          <p:cNvSpPr txBox="1"/>
          <p:nvPr/>
        </p:nvSpPr>
        <p:spPr>
          <a:xfrm>
            <a:off x="10716768" y="4727448"/>
            <a:ext cx="73152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问题解决</a:t>
            </a:r>
          </a:p>
        </p:txBody>
      </p:sp>
      <p:sp>
        <p:nvSpPr>
          <p:cNvPr id="127" name="文本_✓"/>
          <p:cNvSpPr txBox="1"/>
          <p:nvPr/>
        </p:nvSpPr>
        <p:spPr>
          <a:xfrm>
            <a:off x="10515600" y="5010912"/>
            <a:ext cx="164592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2CCFA"/>
                </a:solidFill>
                <a:latin typeface="Arial"/>
                <a:ea typeface="Noto Sans CJK SC"/>
              </a:rPr>
              <a:t>✓</a:t>
            </a:r>
          </a:p>
        </p:txBody>
      </p:sp>
      <p:sp>
        <p:nvSpPr>
          <p:cNvPr id="128" name="文本_非常满意"/>
          <p:cNvSpPr txBox="1"/>
          <p:nvPr/>
        </p:nvSpPr>
        <p:spPr>
          <a:xfrm>
            <a:off x="10716768" y="5001768"/>
            <a:ext cx="73152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非常满意</a:t>
            </a:r>
          </a:p>
        </p:txBody>
      </p:sp>
      <p:sp>
        <p:nvSpPr>
          <p:cNvPr id="129" name="可编辑圆环"/>
          <p:cNvSpPr/>
          <p:nvPr/>
        </p:nvSpPr>
        <p:spPr>
          <a:xfrm>
            <a:off x="3438144" y="5340096"/>
            <a:ext cx="438912" cy="438912"/>
          </a:xfrm>
          <a:prstGeom prst="ellipse">
            <a:avLst/>
          </a:prstGeom>
          <a:solidFill>
            <a:srgbClr val="0A4165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ight Arrow 129"/>
          <p:cNvSpPr/>
          <p:nvPr/>
        </p:nvSpPr>
        <p:spPr>
          <a:xfrm>
            <a:off x="3520440" y="5468112"/>
            <a:ext cx="274320" cy="164592"/>
          </a:xfrm>
          <a:prstGeom prst="rightArrow">
            <a:avLst/>
          </a:prstGeom>
          <a:solidFill>
            <a:srgbClr val="A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文本_少跑腿"/>
          <p:cNvSpPr txBox="1"/>
          <p:nvPr/>
        </p:nvSpPr>
        <p:spPr>
          <a:xfrm>
            <a:off x="4005072" y="5413248"/>
            <a:ext cx="9601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latin typeface="Arial"/>
                <a:ea typeface="Noto Sans CJK SC"/>
                <a:solidFill>
                  <a:srgbClr val="FFC400"/>
                </a:solidFill>
              </a:rPr>
              <a:t>2处故障</a:t>
            </a:r>
          </a:p>
        </p:txBody>
      </p:sp>
      <p:sp>
        <p:nvSpPr>
          <p:cNvPr id="132" name="可编辑圆环"/>
          <p:cNvSpPr/>
          <p:nvPr/>
        </p:nvSpPr>
        <p:spPr>
          <a:xfrm>
            <a:off x="5724144" y="5340096"/>
            <a:ext cx="438912" cy="438912"/>
          </a:xfrm>
          <a:prstGeom prst="ellipse">
            <a:avLst/>
          </a:prstGeom>
          <a:solidFill>
            <a:srgbClr val="0A4165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可编辑圆环"/>
          <p:cNvSpPr/>
          <p:nvPr/>
        </p:nvSpPr>
        <p:spPr>
          <a:xfrm>
            <a:off x="5832500" y="5448452"/>
            <a:ext cx="222199" cy="222199"/>
          </a:xfrm>
          <a:prstGeom prst="ellipse">
            <a:avLst/>
          </a:prstGeom>
          <a:solidFill>
            <a:srgbClr val="0B3556">
              <a:alpha val="90000"/>
            </a:srgbClr>
          </a:solidFill>
          <a:ln w="127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可编辑连线"/>
          <p:cNvCxnSpPr/>
          <p:nvPr/>
        </p:nvCxnSpPr>
        <p:spPr>
          <a:xfrm flipV="1">
            <a:off x="5943600" y="5505236"/>
            <a:ext cx="0" cy="54316"/>
          </a:xfrm>
          <a:prstGeom prst="line">
            <a:avLst/>
          </a:prstGeom>
          <a:ln w="1524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可编辑连线"/>
          <p:cNvCxnSpPr/>
          <p:nvPr/>
        </p:nvCxnSpPr>
        <p:spPr>
          <a:xfrm>
            <a:off x="5943600" y="5559552"/>
            <a:ext cx="44439" cy="29626"/>
          </a:xfrm>
          <a:prstGeom prst="line">
            <a:avLst/>
          </a:prstGeom>
          <a:ln w="1524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_少等待"/>
          <p:cNvSpPr txBox="1"/>
          <p:nvPr/>
        </p:nvSpPr>
        <p:spPr>
          <a:xfrm>
            <a:off x="6291072" y="5413248"/>
            <a:ext cx="9601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latin typeface="Arial"/>
                <a:ea typeface="Noto Sans CJK SC"/>
                <a:solidFill>
                  <a:srgbClr val="FFC400"/>
                </a:solidFill>
              </a:rPr>
              <a:t>3小时复产</a:t>
            </a:r>
          </a:p>
        </p:txBody>
      </p:sp>
      <p:sp>
        <p:nvSpPr>
          <p:cNvPr id="137" name="可编辑圆环"/>
          <p:cNvSpPr/>
          <p:nvPr/>
        </p:nvSpPr>
        <p:spPr>
          <a:xfrm>
            <a:off x="8010144" y="5340096"/>
            <a:ext cx="438912" cy="438912"/>
          </a:xfrm>
          <a:prstGeom prst="ellipse">
            <a:avLst/>
          </a:prstGeom>
          <a:solidFill>
            <a:srgbClr val="0A4165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可编辑圆环"/>
          <p:cNvSpPr/>
          <p:nvPr/>
        </p:nvSpPr>
        <p:spPr>
          <a:xfrm>
            <a:off x="8155350" y="5503993"/>
            <a:ext cx="35844" cy="3584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可编辑矩形"/>
          <p:cNvSpPr/>
          <p:nvPr/>
        </p:nvSpPr>
        <p:spPr>
          <a:xfrm>
            <a:off x="8144597" y="5548798"/>
            <a:ext cx="57351" cy="53766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可编辑圆环"/>
          <p:cNvSpPr/>
          <p:nvPr/>
        </p:nvSpPr>
        <p:spPr>
          <a:xfrm>
            <a:off x="8268004" y="5503993"/>
            <a:ext cx="35844" cy="3584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可编辑矩形"/>
          <p:cNvSpPr/>
          <p:nvPr/>
        </p:nvSpPr>
        <p:spPr>
          <a:xfrm>
            <a:off x="8257251" y="5548798"/>
            <a:ext cx="57351" cy="53766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可编辑圆环"/>
          <p:cNvSpPr/>
          <p:nvPr/>
        </p:nvSpPr>
        <p:spPr>
          <a:xfrm>
            <a:off x="8203996" y="5480182"/>
            <a:ext cx="51206" cy="51206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可编辑矩形"/>
          <p:cNvSpPr/>
          <p:nvPr/>
        </p:nvSpPr>
        <p:spPr>
          <a:xfrm>
            <a:off x="8188634" y="5544190"/>
            <a:ext cx="81930" cy="76809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文本_少协调"/>
          <p:cNvSpPr txBox="1"/>
          <p:nvPr/>
        </p:nvSpPr>
        <p:spPr>
          <a:xfrm>
            <a:off x="8577072" y="5413248"/>
            <a:ext cx="9601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latin typeface="Arial"/>
                <a:ea typeface="Noto Sans CJK SC"/>
                <a:solidFill>
                  <a:srgbClr val="FFC400"/>
                </a:solidFill>
              </a:rPr>
              <a:t>双向评价</a:t>
            </a:r>
          </a:p>
        </p:txBody>
      </p:sp>
      <p:sp>
        <p:nvSpPr>
          <p:cNvPr id="145" name="文本_智用的价值，不是多一个入"/>
          <p:cNvSpPr txBox="1"/>
          <p:nvPr/>
        </p:nvSpPr>
        <p:spPr>
          <a:xfrm>
            <a:off x="2514600" y="6172200"/>
            <a:ext cx="717804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400"/>
                </a:solidFill>
                <a:latin typeface="Arial"/>
                <a:ea typeface="Noto Sans CJK SC"/>
              </a:rPr>
              <a:t>磨坪站雷击停运：快速定位2处故障，3小时内完成抢修复产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投：把钱投到最该投的地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智投：投入有据可依，布局贴合需求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存量先体检，增量再推演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双模研判直接形成年度升级清单和新建点位建议</a:t>
            </a:r>
          </a:p>
        </p:txBody>
      </p:sp>
      <p:sp>
        <p:nvSpPr>
          <p:cNvPr id="10" name="文本_01"/>
          <p:cNvSpPr txBox="1"/>
          <p:nvPr/>
        </p:nvSpPr>
        <p:spPr>
          <a:xfrm>
            <a:off x="539495" y="1755648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11" name="可编辑圆环"/>
          <p:cNvSpPr/>
          <p:nvPr/>
        </p:nvSpPr>
        <p:spPr>
          <a:xfrm>
            <a:off x="1636775" y="1737360"/>
            <a:ext cx="438912" cy="438912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_02"/>
          <p:cNvSpPr txBox="1"/>
          <p:nvPr/>
        </p:nvSpPr>
        <p:spPr>
          <a:xfrm>
            <a:off x="3648456" y="1755648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14" name="可编辑圆环"/>
          <p:cNvSpPr/>
          <p:nvPr/>
        </p:nvSpPr>
        <p:spPr>
          <a:xfrm>
            <a:off x="4745736" y="1737360"/>
            <a:ext cx="438912" cy="438912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文本_03"/>
          <p:cNvSpPr txBox="1"/>
          <p:nvPr/>
        </p:nvSpPr>
        <p:spPr>
          <a:xfrm>
            <a:off x="6528816" y="1755648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17" name="可编辑圆环"/>
          <p:cNvSpPr/>
          <p:nvPr/>
        </p:nvSpPr>
        <p:spPr>
          <a:xfrm>
            <a:off x="7626096" y="1737360"/>
            <a:ext cx="438912" cy="438912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本_04"/>
          <p:cNvSpPr txBox="1"/>
          <p:nvPr/>
        </p:nvSpPr>
        <p:spPr>
          <a:xfrm>
            <a:off x="9317736" y="1755648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04</a:t>
            </a:r>
          </a:p>
        </p:txBody>
      </p:sp>
      <p:sp>
        <p:nvSpPr>
          <p:cNvPr id="20" name="可编辑圆环"/>
          <p:cNvSpPr/>
          <p:nvPr/>
        </p:nvSpPr>
        <p:spPr>
          <a:xfrm>
            <a:off x="10415016" y="1737360"/>
            <a:ext cx="438912" cy="438912"/>
          </a:xfrm>
          <a:prstGeom prst="ellipse">
            <a:avLst/>
          </a:prstGeom>
          <a:solidFill>
            <a:srgbClr val="0A3D61">
              <a:alpha val="92000"/>
            </a:srgbClr>
          </a:solidFill>
          <a:ln w="127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可编辑矩形"/>
          <p:cNvSpPr/>
          <p:nvPr/>
        </p:nvSpPr>
        <p:spPr>
          <a:xfrm>
            <a:off x="1758939" y="1944014"/>
            <a:ext cx="43525" cy="8961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可编辑矩形"/>
          <p:cNvSpPr/>
          <p:nvPr/>
        </p:nvSpPr>
        <p:spPr>
          <a:xfrm>
            <a:off x="1820387" y="1892808"/>
            <a:ext cx="43525" cy="140817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可编辑矩形"/>
          <p:cNvSpPr/>
          <p:nvPr/>
        </p:nvSpPr>
        <p:spPr>
          <a:xfrm>
            <a:off x="1881835" y="1823679"/>
            <a:ext cx="43525" cy="209946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可编辑连线"/>
          <p:cNvCxnSpPr/>
          <p:nvPr/>
        </p:nvCxnSpPr>
        <p:spPr>
          <a:xfrm>
            <a:off x="1741017" y="2038746"/>
            <a:ext cx="222748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可编辑矩形"/>
          <p:cNvSpPr/>
          <p:nvPr/>
        </p:nvSpPr>
        <p:spPr>
          <a:xfrm>
            <a:off x="4867899" y="1944014"/>
            <a:ext cx="43525" cy="8961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可编辑矩形"/>
          <p:cNvSpPr/>
          <p:nvPr/>
        </p:nvSpPr>
        <p:spPr>
          <a:xfrm>
            <a:off x="4929347" y="1892808"/>
            <a:ext cx="43525" cy="140817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可编辑矩形"/>
          <p:cNvSpPr/>
          <p:nvPr/>
        </p:nvSpPr>
        <p:spPr>
          <a:xfrm>
            <a:off x="4990795" y="1823679"/>
            <a:ext cx="43525" cy="209946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可编辑连线"/>
          <p:cNvCxnSpPr/>
          <p:nvPr/>
        </p:nvCxnSpPr>
        <p:spPr>
          <a:xfrm>
            <a:off x="4849977" y="2038746"/>
            <a:ext cx="222748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ardrop 28"/>
          <p:cNvSpPr/>
          <p:nvPr/>
        </p:nvSpPr>
        <p:spPr>
          <a:xfrm rot="10800000">
            <a:off x="7717536" y="1828800"/>
            <a:ext cx="256032" cy="256032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可编辑圆环"/>
          <p:cNvSpPr/>
          <p:nvPr/>
        </p:nvSpPr>
        <p:spPr>
          <a:xfrm>
            <a:off x="7817388" y="1928652"/>
            <a:ext cx="56327" cy="56327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可编辑矩形"/>
          <p:cNvSpPr/>
          <p:nvPr/>
        </p:nvSpPr>
        <p:spPr>
          <a:xfrm>
            <a:off x="10537179" y="1944014"/>
            <a:ext cx="43525" cy="89611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可编辑矩形"/>
          <p:cNvSpPr/>
          <p:nvPr/>
        </p:nvSpPr>
        <p:spPr>
          <a:xfrm>
            <a:off x="10598627" y="1892808"/>
            <a:ext cx="43525" cy="140817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矩形"/>
          <p:cNvSpPr/>
          <p:nvPr/>
        </p:nvSpPr>
        <p:spPr>
          <a:xfrm>
            <a:off x="10660075" y="1823679"/>
            <a:ext cx="43525" cy="209946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可编辑连线"/>
          <p:cNvCxnSpPr/>
          <p:nvPr/>
        </p:nvCxnSpPr>
        <p:spPr>
          <a:xfrm>
            <a:off x="10519257" y="2038746"/>
            <a:ext cx="222748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_存量体检"/>
          <p:cNvSpPr txBox="1"/>
          <p:nvPr/>
        </p:nvSpPr>
        <p:spPr>
          <a:xfrm>
            <a:off x="1280160" y="1773936"/>
            <a:ext cx="155448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存量体检</a:t>
            </a:r>
          </a:p>
        </p:txBody>
      </p:sp>
      <p:sp>
        <p:nvSpPr>
          <p:cNvPr id="37" name="文本_健康等级 / 寿命 / "/>
          <p:cNvSpPr txBox="1"/>
          <p:nvPr/>
        </p:nvSpPr>
        <p:spPr>
          <a:xfrm>
            <a:off x="914399" y="2331720"/>
            <a:ext cx="22402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健康等级 / 寿命 / 风险</a:t>
            </a:r>
          </a:p>
        </p:txBody>
      </p:sp>
      <p:sp>
        <p:nvSpPr>
          <p:cNvPr id="39" name="文本_缺口识别"/>
          <p:cNvSpPr txBox="1"/>
          <p:nvPr/>
        </p:nvSpPr>
        <p:spPr>
          <a:xfrm>
            <a:off x="4389120" y="1773936"/>
            <a:ext cx="155448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缺口识别</a:t>
            </a:r>
          </a:p>
        </p:txBody>
      </p:sp>
      <p:sp>
        <p:nvSpPr>
          <p:cNvPr id="40" name="文本_有效烤能 / 需求对比 "/>
          <p:cNvSpPr txBox="1"/>
          <p:nvPr/>
        </p:nvSpPr>
        <p:spPr>
          <a:xfrm>
            <a:off x="4023359" y="2331720"/>
            <a:ext cx="22402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有效烤能 / 需求对比 / 真实缺口</a:t>
            </a:r>
          </a:p>
        </p:txBody>
      </p:sp>
      <p:sp>
        <p:nvSpPr>
          <p:cNvPr id="42" name="文本_选址推演"/>
          <p:cNvSpPr txBox="1"/>
          <p:nvPr/>
        </p:nvSpPr>
        <p:spPr>
          <a:xfrm>
            <a:off x="7269480" y="1773936"/>
            <a:ext cx="155448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选址推演</a:t>
            </a:r>
          </a:p>
        </p:txBody>
      </p:sp>
      <p:sp>
        <p:nvSpPr>
          <p:cNvPr id="43" name="文本_村组位置 / 服务半径 "/>
          <p:cNvSpPr txBox="1"/>
          <p:nvPr/>
        </p:nvSpPr>
        <p:spPr>
          <a:xfrm>
            <a:off x="6903720" y="2331720"/>
            <a:ext cx="22402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村组位置 / 服务半径 / 建设情景</a:t>
            </a:r>
          </a:p>
        </p:txBody>
      </p:sp>
      <p:sp>
        <p:nvSpPr>
          <p:cNvPr id="45" name="文本_效果复盘"/>
          <p:cNvSpPr txBox="1"/>
          <p:nvPr/>
        </p:nvSpPr>
        <p:spPr>
          <a:xfrm>
            <a:off x="10058400" y="1773936"/>
            <a:ext cx="155448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效果复盘</a:t>
            </a:r>
          </a:p>
        </p:txBody>
      </p:sp>
      <p:sp>
        <p:nvSpPr>
          <p:cNvPr id="46" name="文本_投入产出 / 使用率 /"/>
          <p:cNvSpPr txBox="1"/>
          <p:nvPr/>
        </p:nvSpPr>
        <p:spPr>
          <a:xfrm>
            <a:off x="9692640" y="2331720"/>
            <a:ext cx="22402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投入产出 / 使用率 / 后评估</a:t>
            </a:r>
          </a:p>
        </p:txBody>
      </p:sp>
      <p:sp>
        <p:nvSpPr>
          <p:cNvPr id="47" name="可编辑矩形"/>
          <p:cNvSpPr/>
          <p:nvPr/>
        </p:nvSpPr>
        <p:spPr>
          <a:xfrm>
            <a:off x="320040" y="2907792"/>
            <a:ext cx="1508760" cy="1170432"/>
          </a:xfrm>
          <a:prstGeom prst="roundRect">
            <a:avLst/>
          </a:prstGeom>
          <a:solidFill>
            <a:srgbClr val="081F38">
              <a:alpha val="75000"/>
            </a:srgbClr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文本_健康等级"/>
          <p:cNvSpPr txBox="1"/>
          <p:nvPr/>
        </p:nvSpPr>
        <p:spPr>
          <a:xfrm>
            <a:off x="411480" y="2999232"/>
            <a:ext cx="59436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  <a:ea typeface="Noto Sans CJK SC"/>
              </a:rPr>
              <a:t>健康等级</a:t>
            </a:r>
          </a:p>
        </p:txBody>
      </p:sp>
      <p:sp>
        <p:nvSpPr>
          <p:cNvPr id="49" name="文本_优秀"/>
          <p:cNvSpPr txBox="1"/>
          <p:nvPr/>
        </p:nvSpPr>
        <p:spPr>
          <a:xfrm>
            <a:off x="438912" y="3246120"/>
            <a:ext cx="329184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升级计划</a:t>
            </a:r>
          </a:p>
        </p:txBody>
      </p:sp>
      <p:sp>
        <p:nvSpPr>
          <p:cNvPr id="50" name="可编辑矩形"/>
          <p:cNvSpPr/>
          <p:nvPr/>
        </p:nvSpPr>
        <p:spPr>
          <a:xfrm>
            <a:off x="768096" y="3282696"/>
            <a:ext cx="749808" cy="73152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可编辑矩形"/>
          <p:cNvSpPr/>
          <p:nvPr/>
        </p:nvSpPr>
        <p:spPr>
          <a:xfrm>
            <a:off x="768096" y="3282696"/>
            <a:ext cx="533196" cy="73152"/>
          </a:xfrm>
          <a:prstGeom prst="roundRect">
            <a:avLst/>
          </a:prstGeom>
          <a:solidFill>
            <a:srgbClr val="22CCF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文本_32%"/>
          <p:cNvSpPr txBox="1"/>
          <p:nvPr/>
        </p:nvSpPr>
        <p:spPr>
          <a:xfrm>
            <a:off x="1536192" y="3227832"/>
            <a:ext cx="256032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FFC400"/>
                </a:solidFill>
                <a:latin typeface="Arial"/>
                <a:ea typeface="Noto Sans CJK SC"/>
              </a:rPr>
              <a:t>150栋</a:t>
            </a:r>
          </a:p>
        </p:txBody>
      </p:sp>
      <p:sp>
        <p:nvSpPr>
          <p:cNvPr id="53" name="文本_良好"/>
          <p:cNvSpPr txBox="1"/>
          <p:nvPr/>
        </p:nvSpPr>
        <p:spPr>
          <a:xfrm>
            <a:off x="438912" y="3447288"/>
            <a:ext cx="329184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核心设备</a:t>
            </a:r>
          </a:p>
        </p:txBody>
      </p:sp>
      <p:sp>
        <p:nvSpPr>
          <p:cNvPr id="54" name="可编辑矩形"/>
          <p:cNvSpPr/>
          <p:nvPr/>
        </p:nvSpPr>
        <p:spPr>
          <a:xfrm>
            <a:off x="768096" y="3483864"/>
            <a:ext cx="749808" cy="73152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可编辑矩形"/>
          <p:cNvSpPr/>
          <p:nvPr/>
        </p:nvSpPr>
        <p:spPr>
          <a:xfrm>
            <a:off x="768096" y="3483864"/>
            <a:ext cx="749808" cy="73152"/>
          </a:xfrm>
          <a:prstGeom prst="roundRect">
            <a:avLst/>
          </a:prstGeom>
          <a:solidFill>
            <a:srgbClr val="45F29D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文本_45%"/>
          <p:cNvSpPr txBox="1"/>
          <p:nvPr/>
        </p:nvSpPr>
        <p:spPr>
          <a:xfrm>
            <a:off x="1536192" y="3429000"/>
            <a:ext cx="256032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2026年</a:t>
            </a:r>
          </a:p>
        </p:txBody>
      </p:sp>
      <p:sp>
        <p:nvSpPr>
          <p:cNvPr id="57" name="文本_一般"/>
          <p:cNvSpPr txBox="1"/>
          <p:nvPr/>
        </p:nvSpPr>
        <p:spPr>
          <a:xfrm>
            <a:off x="438912" y="3648456"/>
            <a:ext cx="329184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肖家坪</a:t>
            </a:r>
          </a:p>
        </p:txBody>
      </p:sp>
      <p:sp>
        <p:nvSpPr>
          <p:cNvPr id="58" name="可编辑矩形"/>
          <p:cNvSpPr/>
          <p:nvPr/>
        </p:nvSpPr>
        <p:spPr>
          <a:xfrm>
            <a:off x="768096" y="3685032"/>
            <a:ext cx="749808" cy="73152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可编辑矩形"/>
          <p:cNvSpPr/>
          <p:nvPr/>
        </p:nvSpPr>
        <p:spPr>
          <a:xfrm>
            <a:off x="768096" y="3685032"/>
            <a:ext cx="299923" cy="73152"/>
          </a:xfrm>
          <a:prstGeom prst="roundRect">
            <a:avLst/>
          </a:prstGeom>
          <a:solidFill>
            <a:srgbClr val="F6C85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文本_18%"/>
          <p:cNvSpPr txBox="1"/>
          <p:nvPr/>
        </p:nvSpPr>
        <p:spPr>
          <a:xfrm>
            <a:off x="1536192" y="3630168"/>
            <a:ext cx="256032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1">
                <a:solidFill>
                  <a:srgbClr val="FFC400"/>
                </a:solidFill>
                <a:latin typeface="Arial"/>
                <a:ea typeface="Noto Sans CJK SC"/>
              </a:rPr>
              <a:t>7栋</a:t>
            </a:r>
          </a:p>
        </p:txBody>
      </p:sp>
      <p:sp>
        <p:nvSpPr>
          <p:cNvPr id="61" name="文本_较差"/>
          <p:cNvSpPr txBox="1"/>
          <p:nvPr/>
        </p:nvSpPr>
        <p:spPr>
          <a:xfrm>
            <a:off x="438912" y="3849624"/>
            <a:ext cx="329184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科学新建</a:t>
            </a:r>
          </a:p>
        </p:txBody>
      </p:sp>
      <p:sp>
        <p:nvSpPr>
          <p:cNvPr id="62" name="可编辑矩形"/>
          <p:cNvSpPr/>
          <p:nvPr/>
        </p:nvSpPr>
        <p:spPr>
          <a:xfrm>
            <a:off x="768096" y="3886200"/>
            <a:ext cx="749808" cy="73152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可编辑矩形"/>
          <p:cNvSpPr/>
          <p:nvPr/>
        </p:nvSpPr>
        <p:spPr>
          <a:xfrm>
            <a:off x="768096" y="3886200"/>
            <a:ext cx="83312" cy="73152"/>
          </a:xfrm>
          <a:prstGeom prst="roundRect">
            <a:avLst/>
          </a:prstGeom>
          <a:solidFill>
            <a:srgbClr val="FF6B61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文本_5%"/>
          <p:cNvSpPr txBox="1"/>
          <p:nvPr/>
        </p:nvSpPr>
        <p:spPr>
          <a:xfrm>
            <a:off x="1536192" y="3831335"/>
            <a:ext cx="256032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Arial"/>
                <a:ea typeface="Noto Sans CJK SC"/>
              </a:rPr>
              <a:t>千亩村</a:t>
            </a:r>
          </a:p>
        </p:txBody>
      </p:sp>
      <p:sp>
        <p:nvSpPr>
          <p:cNvPr id="65" name="可编辑矩形"/>
          <p:cNvSpPr/>
          <p:nvPr/>
        </p:nvSpPr>
        <p:spPr>
          <a:xfrm>
            <a:off x="1508760" y="3794760"/>
            <a:ext cx="182880" cy="777240"/>
          </a:xfrm>
          <a:prstGeom prst="rect">
            <a:avLst/>
          </a:prstGeom>
          <a:solidFill>
            <a:srgbClr val="2F8ED0">
              <a:alpha val="75000"/>
            </a:srgbClr>
          </a:solidFill>
          <a:ln w="508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可编辑矩形"/>
          <p:cNvSpPr/>
          <p:nvPr/>
        </p:nvSpPr>
        <p:spPr>
          <a:xfrm>
            <a:off x="1783080" y="3657600"/>
            <a:ext cx="182880" cy="1005840"/>
          </a:xfrm>
          <a:prstGeom prst="rect">
            <a:avLst/>
          </a:prstGeom>
          <a:solidFill>
            <a:srgbClr val="2F8ED0">
              <a:alpha val="75000"/>
            </a:srgbClr>
          </a:solidFill>
          <a:ln w="508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可编辑矩形"/>
          <p:cNvSpPr/>
          <p:nvPr/>
        </p:nvSpPr>
        <p:spPr>
          <a:xfrm>
            <a:off x="2057400" y="3794760"/>
            <a:ext cx="182880" cy="777240"/>
          </a:xfrm>
          <a:prstGeom prst="rect">
            <a:avLst/>
          </a:prstGeom>
          <a:solidFill>
            <a:srgbClr val="2F8ED0">
              <a:alpha val="75000"/>
            </a:srgbClr>
          </a:solidFill>
          <a:ln w="508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可编辑矩形"/>
          <p:cNvSpPr/>
          <p:nvPr/>
        </p:nvSpPr>
        <p:spPr>
          <a:xfrm>
            <a:off x="2331720" y="3657600"/>
            <a:ext cx="182880" cy="1005840"/>
          </a:xfrm>
          <a:prstGeom prst="rect">
            <a:avLst/>
          </a:prstGeom>
          <a:solidFill>
            <a:srgbClr val="2F8ED0">
              <a:alpha val="75000"/>
            </a:srgbClr>
          </a:solidFill>
          <a:ln w="508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文本_寿命预测"/>
          <p:cNvSpPr txBox="1"/>
          <p:nvPr/>
        </p:nvSpPr>
        <p:spPr>
          <a:xfrm>
            <a:off x="2395728" y="3182112"/>
            <a:ext cx="73152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  <a:ea typeface="Noto Sans CJK SC"/>
              </a:rPr>
              <a:t>升级清单</a:t>
            </a:r>
          </a:p>
        </p:txBody>
      </p:sp>
      <p:sp>
        <p:nvSpPr>
          <p:cNvPr id="70" name="可编辑圆环"/>
          <p:cNvSpPr/>
          <p:nvPr/>
        </p:nvSpPr>
        <p:spPr>
          <a:xfrm>
            <a:off x="2295144" y="3465576"/>
            <a:ext cx="347472" cy="347472"/>
          </a:xfrm>
          <a:prstGeom prst="ellipse">
            <a:avLst/>
          </a:prstGeom>
          <a:solidFill>
            <a:srgbClr val="0A3D61">
              <a:alpha val="92000"/>
            </a:srgbClr>
          </a:solidFill>
          <a:ln w="1016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文本_♡"/>
          <p:cNvSpPr txBox="1"/>
          <p:nvPr/>
        </p:nvSpPr>
        <p:spPr>
          <a:xfrm>
            <a:off x="2331720" y="3483864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5EEFF"/>
                </a:solidFill>
                <a:latin typeface="Arial"/>
                <a:ea typeface="Noto Sans CJK SC"/>
              </a:rPr>
              <a:t>♡</a:t>
            </a:r>
          </a:p>
        </p:txBody>
      </p:sp>
      <p:sp>
        <p:nvSpPr>
          <p:cNvPr id="72" name="文本_风险评估"/>
          <p:cNvSpPr txBox="1"/>
          <p:nvPr/>
        </p:nvSpPr>
        <p:spPr>
          <a:xfrm>
            <a:off x="2395728" y="4096512"/>
            <a:ext cx="73152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  <a:ea typeface="Noto Sans CJK SC"/>
              </a:rPr>
              <a:t>新建点位</a:t>
            </a:r>
          </a:p>
        </p:txBody>
      </p:sp>
      <p:sp>
        <p:nvSpPr>
          <p:cNvPr id="73" name="可编辑圆环"/>
          <p:cNvSpPr/>
          <p:nvPr/>
        </p:nvSpPr>
        <p:spPr>
          <a:xfrm>
            <a:off x="2295144" y="4379976"/>
            <a:ext cx="347472" cy="347472"/>
          </a:xfrm>
          <a:prstGeom prst="ellipse">
            <a:avLst/>
          </a:prstGeom>
          <a:solidFill>
            <a:srgbClr val="0A3D61">
              <a:alpha val="92000"/>
            </a:srgbClr>
          </a:solidFill>
          <a:ln w="1016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文本_△"/>
          <p:cNvSpPr txBox="1"/>
          <p:nvPr/>
        </p:nvSpPr>
        <p:spPr>
          <a:xfrm>
            <a:off x="2331720" y="4398264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5EEFF"/>
                </a:solidFill>
                <a:latin typeface="Arial"/>
                <a:ea typeface="Noto Sans CJK SC"/>
              </a:rPr>
              <a:t>△</a:t>
            </a:r>
          </a:p>
        </p:txBody>
      </p:sp>
      <p:sp>
        <p:nvSpPr>
          <p:cNvPr id="75" name="可编辑矩形"/>
          <p:cNvSpPr/>
          <p:nvPr/>
        </p:nvSpPr>
        <p:spPr>
          <a:xfrm>
            <a:off x="3401568" y="4338828"/>
            <a:ext cx="164592" cy="397764"/>
          </a:xfrm>
          <a:prstGeom prst="rect">
            <a:avLst/>
          </a:prstGeom>
          <a:solidFill>
            <a:srgbClr val="1688D8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可编辑矩形"/>
          <p:cNvSpPr/>
          <p:nvPr/>
        </p:nvSpPr>
        <p:spPr>
          <a:xfrm>
            <a:off x="3575304" y="4405122"/>
            <a:ext cx="164592" cy="331470"/>
          </a:xfrm>
          <a:prstGeom prst="rect">
            <a:avLst/>
          </a:prstGeom>
          <a:solidFill>
            <a:srgbClr val="22CCF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可编辑矩形"/>
          <p:cNvSpPr/>
          <p:nvPr/>
        </p:nvSpPr>
        <p:spPr>
          <a:xfrm>
            <a:off x="3840480" y="4126687"/>
            <a:ext cx="164592" cy="609904"/>
          </a:xfrm>
          <a:prstGeom prst="rect">
            <a:avLst/>
          </a:prstGeom>
          <a:solidFill>
            <a:srgbClr val="1688D8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可编辑矩形"/>
          <p:cNvSpPr/>
          <p:nvPr/>
        </p:nvSpPr>
        <p:spPr>
          <a:xfrm>
            <a:off x="4014216" y="4272533"/>
            <a:ext cx="164592" cy="464057"/>
          </a:xfrm>
          <a:prstGeom prst="rect">
            <a:avLst/>
          </a:prstGeom>
          <a:solidFill>
            <a:srgbClr val="22CCF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可编辑矩形"/>
          <p:cNvSpPr/>
          <p:nvPr/>
        </p:nvSpPr>
        <p:spPr>
          <a:xfrm>
            <a:off x="4279392" y="3874770"/>
            <a:ext cx="164592" cy="861822"/>
          </a:xfrm>
          <a:prstGeom prst="rect">
            <a:avLst/>
          </a:prstGeom>
          <a:solidFill>
            <a:srgbClr val="1688D8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可编辑矩形"/>
          <p:cNvSpPr/>
          <p:nvPr/>
        </p:nvSpPr>
        <p:spPr>
          <a:xfrm>
            <a:off x="4453128" y="4166463"/>
            <a:ext cx="164592" cy="570128"/>
          </a:xfrm>
          <a:prstGeom prst="rect">
            <a:avLst/>
          </a:prstGeom>
          <a:solidFill>
            <a:srgbClr val="22CCF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可编辑矩形"/>
          <p:cNvSpPr/>
          <p:nvPr/>
        </p:nvSpPr>
        <p:spPr>
          <a:xfrm>
            <a:off x="4718304" y="3742181"/>
            <a:ext cx="164592" cy="994409"/>
          </a:xfrm>
          <a:prstGeom prst="rect">
            <a:avLst/>
          </a:prstGeom>
          <a:solidFill>
            <a:srgbClr val="1688D8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可编辑矩形"/>
          <p:cNvSpPr/>
          <p:nvPr/>
        </p:nvSpPr>
        <p:spPr>
          <a:xfrm>
            <a:off x="4892040" y="4047134"/>
            <a:ext cx="164592" cy="689457"/>
          </a:xfrm>
          <a:prstGeom prst="rect">
            <a:avLst/>
          </a:prstGeom>
          <a:solidFill>
            <a:srgbClr val="22CCF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可编辑矩形"/>
          <p:cNvSpPr/>
          <p:nvPr/>
        </p:nvSpPr>
        <p:spPr>
          <a:xfrm>
            <a:off x="5157216" y="3569817"/>
            <a:ext cx="164592" cy="1166774"/>
          </a:xfrm>
          <a:prstGeom prst="rect">
            <a:avLst/>
          </a:prstGeom>
          <a:solidFill>
            <a:srgbClr val="1688D8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可编辑矩形"/>
          <p:cNvSpPr/>
          <p:nvPr/>
        </p:nvSpPr>
        <p:spPr>
          <a:xfrm>
            <a:off x="5330952" y="3967581"/>
            <a:ext cx="164592" cy="769010"/>
          </a:xfrm>
          <a:prstGeom prst="rect">
            <a:avLst/>
          </a:prstGeom>
          <a:solidFill>
            <a:srgbClr val="22CCF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可编辑连线"/>
          <p:cNvCxnSpPr/>
          <p:nvPr/>
        </p:nvCxnSpPr>
        <p:spPr>
          <a:xfrm flipV="1">
            <a:off x="3447288" y="3840480"/>
            <a:ext cx="411480" cy="25603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可编辑连线"/>
          <p:cNvCxnSpPr/>
          <p:nvPr/>
        </p:nvCxnSpPr>
        <p:spPr>
          <a:xfrm>
            <a:off x="3858768" y="3840480"/>
            <a:ext cx="438912" cy="16459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可编辑连线"/>
          <p:cNvCxnSpPr/>
          <p:nvPr/>
        </p:nvCxnSpPr>
        <p:spPr>
          <a:xfrm flipV="1">
            <a:off x="4297680" y="3749039"/>
            <a:ext cx="438912" cy="256033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可编辑连线"/>
          <p:cNvCxnSpPr/>
          <p:nvPr/>
        </p:nvCxnSpPr>
        <p:spPr>
          <a:xfrm flipV="1">
            <a:off x="4736592" y="3456432"/>
            <a:ext cx="493776" cy="292607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可编辑连线"/>
          <p:cNvCxnSpPr/>
          <p:nvPr/>
        </p:nvCxnSpPr>
        <p:spPr>
          <a:xfrm flipV="1">
            <a:off x="3447288" y="3840480"/>
            <a:ext cx="411480" cy="25603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可编辑连线"/>
          <p:cNvCxnSpPr/>
          <p:nvPr/>
        </p:nvCxnSpPr>
        <p:spPr>
          <a:xfrm>
            <a:off x="3858768" y="3840480"/>
            <a:ext cx="438912" cy="16459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可编辑连线"/>
          <p:cNvCxnSpPr/>
          <p:nvPr/>
        </p:nvCxnSpPr>
        <p:spPr>
          <a:xfrm flipV="1">
            <a:off x="4297680" y="3749039"/>
            <a:ext cx="438912" cy="256033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可编辑连线"/>
          <p:cNvCxnSpPr/>
          <p:nvPr/>
        </p:nvCxnSpPr>
        <p:spPr>
          <a:xfrm flipV="1">
            <a:off x="4736592" y="3456432"/>
            <a:ext cx="493776" cy="292607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可编辑连线"/>
          <p:cNvCxnSpPr/>
          <p:nvPr/>
        </p:nvCxnSpPr>
        <p:spPr>
          <a:xfrm flipV="1">
            <a:off x="3447288" y="3840480"/>
            <a:ext cx="411480" cy="256032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可编辑连线"/>
          <p:cNvCxnSpPr/>
          <p:nvPr/>
        </p:nvCxnSpPr>
        <p:spPr>
          <a:xfrm>
            <a:off x="3858768" y="3840480"/>
            <a:ext cx="438912" cy="164592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可编辑连线"/>
          <p:cNvCxnSpPr/>
          <p:nvPr/>
        </p:nvCxnSpPr>
        <p:spPr>
          <a:xfrm flipV="1">
            <a:off x="4297680" y="3749039"/>
            <a:ext cx="438912" cy="256033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可编辑连线"/>
          <p:cNvCxnSpPr/>
          <p:nvPr/>
        </p:nvCxnSpPr>
        <p:spPr>
          <a:xfrm flipV="1">
            <a:off x="4736592" y="3456432"/>
            <a:ext cx="493776" cy="292607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可编辑圆环"/>
          <p:cNvSpPr/>
          <p:nvPr/>
        </p:nvSpPr>
        <p:spPr>
          <a:xfrm>
            <a:off x="5596128" y="3429000"/>
            <a:ext cx="658368" cy="658368"/>
          </a:xfrm>
          <a:prstGeom prst="ellipse">
            <a:avLst/>
          </a:prstGeom>
          <a:solidFill>
            <a:srgbClr val="0B3557">
              <a:alpha val="95000"/>
            </a:srgbClr>
          </a:solidFill>
          <a:ln w="88900">
            <a:solidFill>
              <a:srgbClr val="FF6B61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可编辑圆环"/>
          <p:cNvSpPr/>
          <p:nvPr/>
        </p:nvSpPr>
        <p:spPr>
          <a:xfrm>
            <a:off x="5760720" y="3593592"/>
            <a:ext cx="329184" cy="329184"/>
          </a:xfrm>
          <a:prstGeom prst="ellipse">
            <a:avLst/>
          </a:prstGeom>
          <a:solidFill>
            <a:srgbClr val="06182D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文本_28%"/>
          <p:cNvSpPr txBox="1"/>
          <p:nvPr/>
        </p:nvSpPr>
        <p:spPr>
          <a:xfrm>
            <a:off x="5687568" y="3630168"/>
            <a:ext cx="457200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C400"/>
                </a:solidFill>
                <a:latin typeface="Arial"/>
                <a:ea typeface="Noto Sans CJK SC"/>
              </a:rPr>
              <a:t>7栋</a:t>
            </a:r>
          </a:p>
        </p:txBody>
      </p:sp>
      <p:cxnSp>
        <p:nvCxnSpPr>
          <p:cNvPr id="100" name="可编辑连线"/>
          <p:cNvCxnSpPr/>
          <p:nvPr/>
        </p:nvCxnSpPr>
        <p:spPr>
          <a:xfrm flipV="1">
            <a:off x="6629400" y="3840480"/>
            <a:ext cx="457200" cy="777240"/>
          </a:xfrm>
          <a:prstGeom prst="line">
            <a:avLst/>
          </a:prstGeom>
          <a:ln w="13970">
            <a:solidFill>
              <a:srgbClr val="22CCF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可编辑连线"/>
          <p:cNvCxnSpPr/>
          <p:nvPr/>
        </p:nvCxnSpPr>
        <p:spPr>
          <a:xfrm>
            <a:off x="7086600" y="3840480"/>
            <a:ext cx="685800" cy="228600"/>
          </a:xfrm>
          <a:prstGeom prst="line">
            <a:avLst/>
          </a:prstGeom>
          <a:ln w="13970">
            <a:solidFill>
              <a:srgbClr val="22CCF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可编辑连线"/>
          <p:cNvCxnSpPr/>
          <p:nvPr/>
        </p:nvCxnSpPr>
        <p:spPr>
          <a:xfrm flipV="1">
            <a:off x="7772400" y="3712463"/>
            <a:ext cx="621792" cy="356617"/>
          </a:xfrm>
          <a:prstGeom prst="line">
            <a:avLst/>
          </a:prstGeom>
          <a:ln w="13970">
            <a:solidFill>
              <a:srgbClr val="22CCF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可编辑连线"/>
          <p:cNvCxnSpPr/>
          <p:nvPr/>
        </p:nvCxnSpPr>
        <p:spPr>
          <a:xfrm>
            <a:off x="8394192" y="3712463"/>
            <a:ext cx="475488" cy="813817"/>
          </a:xfrm>
          <a:prstGeom prst="line">
            <a:avLst/>
          </a:prstGeom>
          <a:ln w="13970">
            <a:solidFill>
              <a:srgbClr val="22CCF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可编辑连线"/>
          <p:cNvCxnSpPr/>
          <p:nvPr/>
        </p:nvCxnSpPr>
        <p:spPr>
          <a:xfrm flipH="1">
            <a:off x="8366760" y="4526280"/>
            <a:ext cx="502920" cy="576072"/>
          </a:xfrm>
          <a:prstGeom prst="line">
            <a:avLst/>
          </a:prstGeom>
          <a:ln w="13970">
            <a:solidFill>
              <a:srgbClr val="22CCF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可编辑连线"/>
          <p:cNvCxnSpPr/>
          <p:nvPr/>
        </p:nvCxnSpPr>
        <p:spPr>
          <a:xfrm flipH="1" flipV="1">
            <a:off x="7635240" y="4983480"/>
            <a:ext cx="731520" cy="118872"/>
          </a:xfrm>
          <a:prstGeom prst="line">
            <a:avLst/>
          </a:prstGeom>
          <a:ln w="13970">
            <a:solidFill>
              <a:srgbClr val="22CCF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可编辑连线"/>
          <p:cNvCxnSpPr/>
          <p:nvPr/>
        </p:nvCxnSpPr>
        <p:spPr>
          <a:xfrm flipH="1">
            <a:off x="7004304" y="4983480"/>
            <a:ext cx="630936" cy="155448"/>
          </a:xfrm>
          <a:prstGeom prst="line">
            <a:avLst/>
          </a:prstGeom>
          <a:ln w="13970">
            <a:solidFill>
              <a:srgbClr val="22CCF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可编辑连线"/>
          <p:cNvCxnSpPr/>
          <p:nvPr/>
        </p:nvCxnSpPr>
        <p:spPr>
          <a:xfrm flipH="1" flipV="1">
            <a:off x="6629400" y="4617720"/>
            <a:ext cx="374904" cy="521208"/>
          </a:xfrm>
          <a:prstGeom prst="line">
            <a:avLst/>
          </a:prstGeom>
          <a:ln w="13970">
            <a:solidFill>
              <a:srgbClr val="22CCF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ardrop 107"/>
          <p:cNvSpPr/>
          <p:nvPr/>
        </p:nvSpPr>
        <p:spPr>
          <a:xfrm rot="10800000">
            <a:off x="7269480" y="4142232"/>
            <a:ext cx="182880" cy="182880"/>
          </a:xfrm>
          <a:prstGeom prst="teardrop">
            <a:avLst/>
          </a:prstGeom>
          <a:solidFill>
            <a:srgbClr val="45F29D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可编辑圆环"/>
          <p:cNvSpPr/>
          <p:nvPr/>
        </p:nvSpPr>
        <p:spPr>
          <a:xfrm>
            <a:off x="7340803" y="4213555"/>
            <a:ext cx="40233" cy="40233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ardrop 109"/>
          <p:cNvSpPr/>
          <p:nvPr/>
        </p:nvSpPr>
        <p:spPr>
          <a:xfrm rot="10800000">
            <a:off x="8028432" y="3840480"/>
            <a:ext cx="182880" cy="182880"/>
          </a:xfrm>
          <a:prstGeom prst="teardrop">
            <a:avLst/>
          </a:prstGeom>
          <a:solidFill>
            <a:srgbClr val="22CCFA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可编辑圆环"/>
          <p:cNvSpPr/>
          <p:nvPr/>
        </p:nvSpPr>
        <p:spPr>
          <a:xfrm>
            <a:off x="8099755" y="3911803"/>
            <a:ext cx="40233" cy="40233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ardrop 111"/>
          <p:cNvSpPr/>
          <p:nvPr/>
        </p:nvSpPr>
        <p:spPr>
          <a:xfrm rot="10800000">
            <a:off x="8366760" y="4645152"/>
            <a:ext cx="182880" cy="182880"/>
          </a:xfrm>
          <a:prstGeom prst="teardrop">
            <a:avLst/>
          </a:prstGeom>
          <a:solidFill>
            <a:srgbClr val="F6C85F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可编辑圆环"/>
          <p:cNvSpPr/>
          <p:nvPr/>
        </p:nvSpPr>
        <p:spPr>
          <a:xfrm>
            <a:off x="8438083" y="4716475"/>
            <a:ext cx="40233" cy="40233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ardrop 113"/>
          <p:cNvSpPr/>
          <p:nvPr/>
        </p:nvSpPr>
        <p:spPr>
          <a:xfrm rot="10800000">
            <a:off x="6931152" y="4434840"/>
            <a:ext cx="182880" cy="182880"/>
          </a:xfrm>
          <a:prstGeom prst="teardrop">
            <a:avLst/>
          </a:prstGeom>
          <a:solidFill>
            <a:srgbClr val="FF6B61"/>
          </a:solidFill>
          <a:ln w="635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可编辑圆环"/>
          <p:cNvSpPr/>
          <p:nvPr/>
        </p:nvSpPr>
        <p:spPr>
          <a:xfrm>
            <a:off x="7002475" y="4506163"/>
            <a:ext cx="40233" cy="40233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FFFF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可编辑矩形"/>
          <p:cNvSpPr/>
          <p:nvPr/>
        </p:nvSpPr>
        <p:spPr>
          <a:xfrm>
            <a:off x="9784080" y="2907792"/>
            <a:ext cx="2057400" cy="1389888"/>
          </a:xfrm>
          <a:prstGeom prst="roundRect">
            <a:avLst/>
          </a:prstGeom>
          <a:solidFill>
            <a:srgbClr val="081F38">
              <a:alpha val="75000"/>
            </a:srgbClr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文本_投入产出比"/>
          <p:cNvSpPr txBox="1"/>
          <p:nvPr/>
        </p:nvSpPr>
        <p:spPr>
          <a:xfrm>
            <a:off x="9930384" y="3090672"/>
            <a:ext cx="82296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年度清单</a:t>
            </a:r>
          </a:p>
        </p:txBody>
      </p:sp>
      <p:sp>
        <p:nvSpPr>
          <p:cNvPr id="118" name="可编辑矩形"/>
          <p:cNvSpPr/>
          <p:nvPr/>
        </p:nvSpPr>
        <p:spPr>
          <a:xfrm>
            <a:off x="10808208" y="3136391"/>
            <a:ext cx="676656" cy="91440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可编辑矩形"/>
          <p:cNvSpPr/>
          <p:nvPr/>
        </p:nvSpPr>
        <p:spPr>
          <a:xfrm>
            <a:off x="10808208" y="3136391"/>
            <a:ext cx="512064" cy="91440"/>
          </a:xfrm>
          <a:prstGeom prst="roundRect">
            <a:avLst/>
          </a:prstGeom>
          <a:solidFill>
            <a:srgbClr val="22CCF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文本_1:2.8"/>
          <p:cNvSpPr txBox="1"/>
          <p:nvPr/>
        </p:nvSpPr>
        <p:spPr>
          <a:xfrm>
            <a:off x="11475720" y="3090672"/>
            <a:ext cx="310896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FFC400"/>
                </a:solidFill>
                <a:latin typeface="Arial"/>
                <a:ea typeface="Noto Sans CJK SC"/>
              </a:rPr>
              <a:t>150栋</a:t>
            </a:r>
          </a:p>
        </p:txBody>
      </p:sp>
      <p:sp>
        <p:nvSpPr>
          <p:cNvPr id="121" name="文本_设施使用率"/>
          <p:cNvSpPr txBox="1"/>
          <p:nvPr/>
        </p:nvSpPr>
        <p:spPr>
          <a:xfrm>
            <a:off x="9930384" y="3438144"/>
            <a:ext cx="82296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肖家坪</a:t>
            </a:r>
          </a:p>
        </p:txBody>
      </p:sp>
      <p:sp>
        <p:nvSpPr>
          <p:cNvPr id="122" name="可编辑矩形"/>
          <p:cNvSpPr/>
          <p:nvPr/>
        </p:nvSpPr>
        <p:spPr>
          <a:xfrm>
            <a:off x="10808208" y="3483863"/>
            <a:ext cx="676656" cy="91440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可编辑矩形"/>
          <p:cNvSpPr/>
          <p:nvPr/>
        </p:nvSpPr>
        <p:spPr>
          <a:xfrm>
            <a:off x="10808208" y="3483863"/>
            <a:ext cx="566928" cy="91440"/>
          </a:xfrm>
          <a:prstGeom prst="roundRect">
            <a:avLst/>
          </a:prstGeom>
          <a:solidFill>
            <a:srgbClr val="22CCF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文本_88%"/>
          <p:cNvSpPr txBox="1"/>
          <p:nvPr/>
        </p:nvSpPr>
        <p:spPr>
          <a:xfrm>
            <a:off x="11475720" y="3438144"/>
            <a:ext cx="310896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FFC400"/>
                </a:solidFill>
                <a:latin typeface="Arial"/>
                <a:ea typeface="Noto Sans CJK SC"/>
              </a:rPr>
              <a:t>7栋</a:t>
            </a:r>
          </a:p>
        </p:txBody>
      </p:sp>
      <p:sp>
        <p:nvSpPr>
          <p:cNvPr id="125" name="文本_群众满意度"/>
          <p:cNvSpPr txBox="1"/>
          <p:nvPr/>
        </p:nvSpPr>
        <p:spPr>
          <a:xfrm>
            <a:off x="9930384" y="3785615"/>
            <a:ext cx="82296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复盘评估</a:t>
            </a:r>
          </a:p>
        </p:txBody>
      </p:sp>
      <p:sp>
        <p:nvSpPr>
          <p:cNvPr id="126" name="可编辑矩形"/>
          <p:cNvSpPr/>
          <p:nvPr/>
        </p:nvSpPr>
        <p:spPr>
          <a:xfrm>
            <a:off x="10808208" y="3831335"/>
            <a:ext cx="676656" cy="91440"/>
          </a:xfrm>
          <a:prstGeom prst="roundRect">
            <a:avLst/>
          </a:prstGeom>
          <a:solidFill>
            <a:srgbClr val="0C355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可编辑矩形"/>
          <p:cNvSpPr/>
          <p:nvPr/>
        </p:nvSpPr>
        <p:spPr>
          <a:xfrm>
            <a:off x="10808208" y="3831335"/>
            <a:ext cx="621792" cy="91440"/>
          </a:xfrm>
          <a:prstGeom prst="roundRect">
            <a:avLst/>
          </a:prstGeom>
          <a:solidFill>
            <a:srgbClr val="22CCF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文本_92%"/>
          <p:cNvSpPr txBox="1"/>
          <p:nvPr/>
        </p:nvSpPr>
        <p:spPr>
          <a:xfrm>
            <a:off x="11475720" y="3785615"/>
            <a:ext cx="310896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rial"/>
                <a:ea typeface="Noto Sans CJK SC"/>
              </a:rPr>
              <a:t>持续优化</a:t>
            </a:r>
          </a:p>
        </p:txBody>
      </p:sp>
      <p:sp>
        <p:nvSpPr>
          <p:cNvPr id="129" name="可编辑矩形"/>
          <p:cNvSpPr/>
          <p:nvPr/>
        </p:nvSpPr>
        <p:spPr>
          <a:xfrm>
            <a:off x="10012680" y="4617720"/>
            <a:ext cx="118872" cy="192024"/>
          </a:xfrm>
          <a:prstGeom prst="rect">
            <a:avLst/>
          </a:prstGeom>
          <a:solidFill>
            <a:srgbClr val="22CC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可编辑矩形"/>
          <p:cNvSpPr/>
          <p:nvPr/>
        </p:nvSpPr>
        <p:spPr>
          <a:xfrm>
            <a:off x="10195559" y="4528108"/>
            <a:ext cx="118872" cy="281635"/>
          </a:xfrm>
          <a:prstGeom prst="rect">
            <a:avLst/>
          </a:prstGeom>
          <a:solidFill>
            <a:srgbClr val="22CC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可编辑矩形"/>
          <p:cNvSpPr/>
          <p:nvPr/>
        </p:nvSpPr>
        <p:spPr>
          <a:xfrm>
            <a:off x="10378440" y="4579315"/>
            <a:ext cx="118872" cy="230428"/>
          </a:xfrm>
          <a:prstGeom prst="rect">
            <a:avLst/>
          </a:prstGeom>
          <a:solidFill>
            <a:srgbClr val="22CC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可编辑矩形"/>
          <p:cNvSpPr/>
          <p:nvPr/>
        </p:nvSpPr>
        <p:spPr>
          <a:xfrm>
            <a:off x="10561319" y="4425696"/>
            <a:ext cx="118872" cy="384048"/>
          </a:xfrm>
          <a:prstGeom prst="rect">
            <a:avLst/>
          </a:prstGeom>
          <a:solidFill>
            <a:srgbClr val="22CC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可编辑矩形"/>
          <p:cNvSpPr/>
          <p:nvPr/>
        </p:nvSpPr>
        <p:spPr>
          <a:xfrm>
            <a:off x="10744200" y="4329683"/>
            <a:ext cx="118872" cy="480059"/>
          </a:xfrm>
          <a:prstGeom prst="rect">
            <a:avLst/>
          </a:prstGeom>
          <a:solidFill>
            <a:srgbClr val="22CC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可编辑矩形"/>
          <p:cNvSpPr/>
          <p:nvPr/>
        </p:nvSpPr>
        <p:spPr>
          <a:xfrm>
            <a:off x="10927080" y="4566513"/>
            <a:ext cx="118872" cy="243230"/>
          </a:xfrm>
          <a:prstGeom prst="rect">
            <a:avLst/>
          </a:prstGeom>
          <a:solidFill>
            <a:srgbClr val="22CC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可编辑矩形"/>
          <p:cNvSpPr/>
          <p:nvPr/>
        </p:nvSpPr>
        <p:spPr>
          <a:xfrm>
            <a:off x="11109959" y="4540910"/>
            <a:ext cx="118872" cy="268833"/>
          </a:xfrm>
          <a:prstGeom prst="rect">
            <a:avLst/>
          </a:prstGeom>
          <a:solidFill>
            <a:srgbClr val="22CC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可编辑矩形"/>
          <p:cNvSpPr/>
          <p:nvPr/>
        </p:nvSpPr>
        <p:spPr>
          <a:xfrm>
            <a:off x="11292840" y="4393692"/>
            <a:ext cx="118872" cy="416051"/>
          </a:xfrm>
          <a:prstGeom prst="rect">
            <a:avLst/>
          </a:prstGeom>
          <a:solidFill>
            <a:srgbClr val="22CC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可编辑连线"/>
          <p:cNvCxnSpPr/>
          <p:nvPr/>
        </p:nvCxnSpPr>
        <p:spPr>
          <a:xfrm flipV="1">
            <a:off x="10012680" y="4526280"/>
            <a:ext cx="548640" cy="18288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可编辑连线"/>
          <p:cNvCxnSpPr/>
          <p:nvPr/>
        </p:nvCxnSpPr>
        <p:spPr>
          <a:xfrm flipV="1">
            <a:off x="10561320" y="4343400"/>
            <a:ext cx="502920" cy="18288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可编辑连线"/>
          <p:cNvCxnSpPr/>
          <p:nvPr/>
        </p:nvCxnSpPr>
        <p:spPr>
          <a:xfrm flipV="1">
            <a:off x="11064240" y="3858768"/>
            <a:ext cx="502920" cy="48463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可编辑连线"/>
          <p:cNvCxnSpPr/>
          <p:nvPr/>
        </p:nvCxnSpPr>
        <p:spPr>
          <a:xfrm flipV="1">
            <a:off x="10012680" y="4526280"/>
            <a:ext cx="548640" cy="18288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可编辑连线"/>
          <p:cNvCxnSpPr/>
          <p:nvPr/>
        </p:nvCxnSpPr>
        <p:spPr>
          <a:xfrm flipV="1">
            <a:off x="10561320" y="4343400"/>
            <a:ext cx="502920" cy="18288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可编辑连线"/>
          <p:cNvCxnSpPr/>
          <p:nvPr/>
        </p:nvCxnSpPr>
        <p:spPr>
          <a:xfrm flipV="1">
            <a:off x="11064240" y="3858768"/>
            <a:ext cx="502920" cy="48463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可编辑连线"/>
          <p:cNvCxnSpPr/>
          <p:nvPr/>
        </p:nvCxnSpPr>
        <p:spPr>
          <a:xfrm flipV="1">
            <a:off x="10012680" y="4526280"/>
            <a:ext cx="548640" cy="182880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可编辑连线"/>
          <p:cNvCxnSpPr/>
          <p:nvPr/>
        </p:nvCxnSpPr>
        <p:spPr>
          <a:xfrm flipV="1">
            <a:off x="10561320" y="4343400"/>
            <a:ext cx="502920" cy="182880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可编辑连线"/>
          <p:cNvCxnSpPr/>
          <p:nvPr/>
        </p:nvCxnSpPr>
        <p:spPr>
          <a:xfrm flipV="1">
            <a:off x="11064240" y="3858768"/>
            <a:ext cx="502920" cy="484632"/>
          </a:xfrm>
          <a:prstGeom prst="line">
            <a:avLst/>
          </a:prstGeom>
          <a:ln w="1778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可编辑圆环"/>
          <p:cNvSpPr/>
          <p:nvPr/>
        </p:nvSpPr>
        <p:spPr>
          <a:xfrm>
            <a:off x="4206240" y="5230368"/>
            <a:ext cx="3794760" cy="530352"/>
          </a:xfrm>
          <a:prstGeom prst="ellipse">
            <a:avLst/>
          </a:prstGeom>
          <a:solidFill>
            <a:srgbClr val="0A3557">
              <a:alpha val="65000"/>
            </a:srgbClr>
          </a:solidFill>
          <a:ln w="16510">
            <a:solidFill>
              <a:srgbClr val="22CCFA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文本_先调剂、再维修、最后才新"/>
          <p:cNvSpPr txBox="1"/>
          <p:nvPr/>
        </p:nvSpPr>
        <p:spPr>
          <a:xfrm>
            <a:off x="4407408" y="5330952"/>
            <a:ext cx="338328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先盘活存量 → 再精准修复 → 仍有缺口才新增</a:t>
            </a:r>
          </a:p>
        </p:txBody>
      </p:sp>
      <p:sp>
        <p:nvSpPr>
          <p:cNvPr id="149" name="文本_从“凭经验争项目”，变成"/>
          <p:cNvSpPr txBox="1"/>
          <p:nvPr/>
        </p:nvSpPr>
        <p:spPr>
          <a:xfrm>
            <a:off x="3886200" y="6199632"/>
            <a:ext cx="44805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C400"/>
                </a:solidFill>
                <a:latin typeface="Arial"/>
                <a:ea typeface="Noto Sans CJK SC"/>
              </a:rPr>
              <a:t>从“凭感觉”变成“凭数据”，让资金投到最该投的地方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管：让每一座烤房都有可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智管：让每一座烤房都有可追溯的生命周期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建档、巡检、维修到基金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从建档、巡检、维修到评价回写，全部沉淀为长期资产数据</a:t>
            </a:r>
          </a:p>
        </p:txBody>
      </p:sp>
      <p:sp>
        <p:nvSpPr>
          <p:cNvPr id="9" name="可编辑矩形"/>
          <p:cNvSpPr/>
          <p:nvPr/>
        </p:nvSpPr>
        <p:spPr>
          <a:xfrm>
            <a:off x="5585886" y="3391509"/>
            <a:ext cx="934882" cy="675192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5430072" y="2872130"/>
            <a:ext cx="1246510" cy="623255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可编辑矩形"/>
          <p:cNvSpPr/>
          <p:nvPr/>
        </p:nvSpPr>
        <p:spPr>
          <a:xfrm>
            <a:off x="5936467" y="3612245"/>
            <a:ext cx="233720" cy="363565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可编辑矩形"/>
          <p:cNvSpPr/>
          <p:nvPr/>
        </p:nvSpPr>
        <p:spPr>
          <a:xfrm>
            <a:off x="5029200" y="2670048"/>
            <a:ext cx="2066543" cy="1627632"/>
          </a:xfrm>
          <a:prstGeom prst="roundRect">
            <a:avLst/>
          </a:prstGeom>
          <a:solidFill>
            <a:srgbClr val="0A3455">
              <a:alpha val="20000"/>
            </a:srgbClr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文本_档案不断档，责任不断链"/>
          <p:cNvSpPr txBox="1"/>
          <p:nvPr/>
        </p:nvSpPr>
        <p:spPr>
          <a:xfrm>
            <a:off x="4462272" y="4187952"/>
            <a:ext cx="315468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档案不断档，责任不断链</a:t>
            </a:r>
          </a:p>
        </p:txBody>
      </p:sp>
      <p:sp>
        <p:nvSpPr>
          <p:cNvPr id="16" name="文本_01"/>
          <p:cNvSpPr txBox="1"/>
          <p:nvPr/>
        </p:nvSpPr>
        <p:spPr>
          <a:xfrm>
            <a:off x="3044952" y="1508760"/>
            <a:ext cx="658368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17" name="可编辑圆环"/>
          <p:cNvSpPr/>
          <p:nvPr/>
        </p:nvSpPr>
        <p:spPr>
          <a:xfrm>
            <a:off x="3845052" y="208483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可编辑圆环"/>
          <p:cNvSpPr/>
          <p:nvPr/>
        </p:nvSpPr>
        <p:spPr>
          <a:xfrm>
            <a:off x="3982211" y="207111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可编辑圆环"/>
          <p:cNvSpPr/>
          <p:nvPr/>
        </p:nvSpPr>
        <p:spPr>
          <a:xfrm>
            <a:off x="4105655" y="205740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可编辑连线"/>
          <p:cNvCxnSpPr/>
          <p:nvPr/>
        </p:nvCxnSpPr>
        <p:spPr>
          <a:xfrm flipV="1">
            <a:off x="4507992" y="155448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可编辑圆环"/>
          <p:cNvSpPr/>
          <p:nvPr/>
        </p:nvSpPr>
        <p:spPr>
          <a:xfrm>
            <a:off x="4475988" y="1527048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可编辑矩形"/>
          <p:cNvSpPr/>
          <p:nvPr/>
        </p:nvSpPr>
        <p:spPr>
          <a:xfrm>
            <a:off x="4408505" y="1521561"/>
            <a:ext cx="198973" cy="248716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可编辑连线"/>
          <p:cNvCxnSpPr/>
          <p:nvPr/>
        </p:nvCxnSpPr>
        <p:spPr>
          <a:xfrm>
            <a:off x="4445812" y="1589958"/>
            <a:ext cx="1181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可编辑连线"/>
          <p:cNvCxnSpPr/>
          <p:nvPr/>
        </p:nvCxnSpPr>
        <p:spPr>
          <a:xfrm>
            <a:off x="4445812" y="1642811"/>
            <a:ext cx="1181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可编辑连线"/>
          <p:cNvCxnSpPr/>
          <p:nvPr/>
        </p:nvCxnSpPr>
        <p:spPr>
          <a:xfrm>
            <a:off x="4445812" y="1695663"/>
            <a:ext cx="1181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_建档"/>
          <p:cNvSpPr txBox="1"/>
          <p:nvPr/>
        </p:nvSpPr>
        <p:spPr>
          <a:xfrm>
            <a:off x="3749039" y="1536192"/>
            <a:ext cx="96012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建档</a:t>
            </a:r>
          </a:p>
        </p:txBody>
      </p:sp>
      <p:sp>
        <p:nvSpPr>
          <p:cNvPr id="28" name="文本_一房一档 / 责任到人"/>
          <p:cNvSpPr txBox="1"/>
          <p:nvPr/>
        </p:nvSpPr>
        <p:spPr>
          <a:xfrm>
            <a:off x="3749039" y="1956815"/>
            <a:ext cx="17830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一房一档 / 责任到人</a:t>
            </a:r>
          </a:p>
        </p:txBody>
      </p:sp>
      <p:sp>
        <p:nvSpPr>
          <p:cNvPr id="30" name="文本_02"/>
          <p:cNvSpPr txBox="1"/>
          <p:nvPr/>
        </p:nvSpPr>
        <p:spPr>
          <a:xfrm>
            <a:off x="7754112" y="1508760"/>
            <a:ext cx="658368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31" name="可编辑圆环"/>
          <p:cNvSpPr/>
          <p:nvPr/>
        </p:nvSpPr>
        <p:spPr>
          <a:xfrm>
            <a:off x="8554212" y="208483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可编辑圆环"/>
          <p:cNvSpPr/>
          <p:nvPr/>
        </p:nvSpPr>
        <p:spPr>
          <a:xfrm>
            <a:off x="8691372" y="207111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圆环"/>
          <p:cNvSpPr/>
          <p:nvPr/>
        </p:nvSpPr>
        <p:spPr>
          <a:xfrm>
            <a:off x="8814816" y="205740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可编辑连线"/>
          <p:cNvCxnSpPr/>
          <p:nvPr/>
        </p:nvCxnSpPr>
        <p:spPr>
          <a:xfrm flipV="1">
            <a:off x="9217152" y="155448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可编辑圆环"/>
          <p:cNvSpPr/>
          <p:nvPr/>
        </p:nvSpPr>
        <p:spPr>
          <a:xfrm>
            <a:off x="9185148" y="1527048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可编辑矩形"/>
          <p:cNvSpPr/>
          <p:nvPr/>
        </p:nvSpPr>
        <p:spPr>
          <a:xfrm>
            <a:off x="9117665" y="1521561"/>
            <a:ext cx="198973" cy="248716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可编辑连线"/>
          <p:cNvCxnSpPr/>
          <p:nvPr/>
        </p:nvCxnSpPr>
        <p:spPr>
          <a:xfrm>
            <a:off x="9154972" y="1589958"/>
            <a:ext cx="1181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可编辑连线"/>
          <p:cNvCxnSpPr/>
          <p:nvPr/>
        </p:nvCxnSpPr>
        <p:spPr>
          <a:xfrm>
            <a:off x="9154972" y="1642811"/>
            <a:ext cx="1181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可编辑连线"/>
          <p:cNvCxnSpPr/>
          <p:nvPr/>
        </p:nvCxnSpPr>
        <p:spPr>
          <a:xfrm>
            <a:off x="9154972" y="1695663"/>
            <a:ext cx="118141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_巡检"/>
          <p:cNvSpPr txBox="1"/>
          <p:nvPr/>
        </p:nvSpPr>
        <p:spPr>
          <a:xfrm>
            <a:off x="8458200" y="1536192"/>
            <a:ext cx="96012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巡检</a:t>
            </a:r>
          </a:p>
        </p:txBody>
      </p:sp>
      <p:sp>
        <p:nvSpPr>
          <p:cNvPr id="42" name="文本_状态更新 / 风险发现"/>
          <p:cNvSpPr txBox="1"/>
          <p:nvPr/>
        </p:nvSpPr>
        <p:spPr>
          <a:xfrm>
            <a:off x="8458200" y="1956815"/>
            <a:ext cx="17830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状态更新 / 风险发现</a:t>
            </a:r>
          </a:p>
        </p:txBody>
      </p:sp>
      <p:sp>
        <p:nvSpPr>
          <p:cNvPr id="44" name="文本_03"/>
          <p:cNvSpPr txBox="1"/>
          <p:nvPr/>
        </p:nvSpPr>
        <p:spPr>
          <a:xfrm>
            <a:off x="7845552" y="3904487"/>
            <a:ext cx="658368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45" name="可编辑圆环"/>
          <p:cNvSpPr/>
          <p:nvPr/>
        </p:nvSpPr>
        <p:spPr>
          <a:xfrm>
            <a:off x="8645652" y="4480559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可编辑圆环"/>
          <p:cNvSpPr/>
          <p:nvPr/>
        </p:nvSpPr>
        <p:spPr>
          <a:xfrm>
            <a:off x="8782812" y="446684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可编辑圆环"/>
          <p:cNvSpPr/>
          <p:nvPr/>
        </p:nvSpPr>
        <p:spPr>
          <a:xfrm>
            <a:off x="8906256" y="4453127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可编辑连线"/>
          <p:cNvCxnSpPr/>
          <p:nvPr/>
        </p:nvCxnSpPr>
        <p:spPr>
          <a:xfrm flipV="1">
            <a:off x="9308592" y="3950207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可编辑圆环"/>
          <p:cNvSpPr/>
          <p:nvPr/>
        </p:nvSpPr>
        <p:spPr>
          <a:xfrm>
            <a:off x="9276588" y="3922775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可编辑连线"/>
          <p:cNvCxnSpPr/>
          <p:nvPr/>
        </p:nvCxnSpPr>
        <p:spPr>
          <a:xfrm flipV="1">
            <a:off x="9221541" y="3954597"/>
            <a:ext cx="180319" cy="161666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可编辑圆环"/>
          <p:cNvSpPr/>
          <p:nvPr/>
        </p:nvSpPr>
        <p:spPr>
          <a:xfrm>
            <a:off x="9196669" y="4091391"/>
            <a:ext cx="55961" cy="55961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可编辑连线"/>
          <p:cNvCxnSpPr/>
          <p:nvPr/>
        </p:nvCxnSpPr>
        <p:spPr>
          <a:xfrm>
            <a:off x="9246412" y="3954597"/>
            <a:ext cx="149230" cy="155448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可编辑矩形"/>
          <p:cNvSpPr/>
          <p:nvPr/>
        </p:nvSpPr>
        <p:spPr>
          <a:xfrm>
            <a:off x="9370771" y="4088282"/>
            <a:ext cx="55961" cy="37307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文本_维修"/>
          <p:cNvSpPr txBox="1"/>
          <p:nvPr/>
        </p:nvSpPr>
        <p:spPr>
          <a:xfrm>
            <a:off x="8549640" y="3931920"/>
            <a:ext cx="96012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维修</a:t>
            </a:r>
          </a:p>
        </p:txBody>
      </p:sp>
      <p:sp>
        <p:nvSpPr>
          <p:cNvPr id="56" name="文本_工单闭环 / 备件留痕"/>
          <p:cNvSpPr txBox="1"/>
          <p:nvPr/>
        </p:nvSpPr>
        <p:spPr>
          <a:xfrm>
            <a:off x="8549640" y="4352544"/>
            <a:ext cx="17830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Noto Sans CJK SC"/>
              </a:rPr>
              <a:t>工单闭环 / 备件留痕</a:t>
            </a:r>
          </a:p>
        </p:txBody>
      </p:sp>
      <p:sp>
        <p:nvSpPr>
          <p:cNvPr id="58" name="文本_04"/>
          <p:cNvSpPr txBox="1"/>
          <p:nvPr/>
        </p:nvSpPr>
        <p:spPr>
          <a:xfrm>
            <a:off x="2862072" y="3904487"/>
            <a:ext cx="658368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04</a:t>
            </a:r>
          </a:p>
        </p:txBody>
      </p:sp>
      <p:sp>
        <p:nvSpPr>
          <p:cNvPr id="59" name="可编辑圆环"/>
          <p:cNvSpPr/>
          <p:nvPr/>
        </p:nvSpPr>
        <p:spPr>
          <a:xfrm>
            <a:off x="3662172" y="4480559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可编辑圆环"/>
          <p:cNvSpPr/>
          <p:nvPr/>
        </p:nvSpPr>
        <p:spPr>
          <a:xfrm>
            <a:off x="3799331" y="446684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可编辑圆环"/>
          <p:cNvSpPr/>
          <p:nvPr/>
        </p:nvSpPr>
        <p:spPr>
          <a:xfrm>
            <a:off x="3922775" y="4453127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可编辑连线"/>
          <p:cNvCxnSpPr/>
          <p:nvPr/>
        </p:nvCxnSpPr>
        <p:spPr>
          <a:xfrm flipV="1">
            <a:off x="4325112" y="3950207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可编辑圆环"/>
          <p:cNvSpPr/>
          <p:nvPr/>
        </p:nvSpPr>
        <p:spPr>
          <a:xfrm>
            <a:off x="4293107" y="3922775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可编辑圆环"/>
          <p:cNvSpPr/>
          <p:nvPr/>
        </p:nvSpPr>
        <p:spPr>
          <a:xfrm>
            <a:off x="4194535" y="4134916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可编辑圆环"/>
          <p:cNvSpPr/>
          <p:nvPr/>
        </p:nvSpPr>
        <p:spPr>
          <a:xfrm>
            <a:off x="4194535" y="4103827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可编辑圆环"/>
          <p:cNvSpPr/>
          <p:nvPr/>
        </p:nvSpPr>
        <p:spPr>
          <a:xfrm>
            <a:off x="4250496" y="4134916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可编辑圆环"/>
          <p:cNvSpPr/>
          <p:nvPr/>
        </p:nvSpPr>
        <p:spPr>
          <a:xfrm>
            <a:off x="4250496" y="4103827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可编辑圆环"/>
          <p:cNvSpPr/>
          <p:nvPr/>
        </p:nvSpPr>
        <p:spPr>
          <a:xfrm>
            <a:off x="4250496" y="4072737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可编辑圆环"/>
          <p:cNvSpPr/>
          <p:nvPr/>
        </p:nvSpPr>
        <p:spPr>
          <a:xfrm>
            <a:off x="4306458" y="4134916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可编辑圆环"/>
          <p:cNvSpPr/>
          <p:nvPr/>
        </p:nvSpPr>
        <p:spPr>
          <a:xfrm>
            <a:off x="4306458" y="4103827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可编辑圆环"/>
          <p:cNvSpPr/>
          <p:nvPr/>
        </p:nvSpPr>
        <p:spPr>
          <a:xfrm>
            <a:off x="4306458" y="4072737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可编辑圆环"/>
          <p:cNvSpPr/>
          <p:nvPr/>
        </p:nvSpPr>
        <p:spPr>
          <a:xfrm>
            <a:off x="4306458" y="4041648"/>
            <a:ext cx="93268" cy="3108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可编辑圆环"/>
          <p:cNvSpPr/>
          <p:nvPr/>
        </p:nvSpPr>
        <p:spPr>
          <a:xfrm>
            <a:off x="4387291" y="4047865"/>
            <a:ext cx="102595" cy="102595"/>
          </a:xfrm>
          <a:prstGeom prst="ellipse">
            <a:avLst/>
          </a:prstGeom>
          <a:solidFill>
            <a:srgbClr val="0C4B70">
              <a:alpha val="95000"/>
            </a:srgbClr>
          </a:solidFill>
          <a:ln w="889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文本_¥"/>
          <p:cNvSpPr txBox="1"/>
          <p:nvPr/>
        </p:nvSpPr>
        <p:spPr>
          <a:xfrm>
            <a:off x="4387291" y="4047865"/>
            <a:ext cx="102595" cy="1025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¥</a:t>
            </a:r>
          </a:p>
        </p:txBody>
      </p:sp>
      <p:sp>
        <p:nvSpPr>
          <p:cNvPr id="76" name="文本_保障"/>
          <p:cNvSpPr txBox="1"/>
          <p:nvPr/>
        </p:nvSpPr>
        <p:spPr>
          <a:xfrm>
            <a:off x="3566160" y="3931920"/>
            <a:ext cx="96012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保障</a:t>
            </a:r>
          </a:p>
        </p:txBody>
      </p:sp>
      <p:sp>
        <p:nvSpPr>
          <p:cNvPr id="77" name="文本_基金统筹 / 轻重缓急"/>
          <p:cNvSpPr txBox="1"/>
          <p:nvPr/>
        </p:nvSpPr>
        <p:spPr>
          <a:xfrm>
            <a:off x="3566160" y="4352544"/>
            <a:ext cx="17830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验收评价 / 数据回写</a:t>
            </a:r>
          </a:p>
        </p:txBody>
      </p:sp>
      <p:cxnSp>
        <p:nvCxnSpPr>
          <p:cNvPr id="78" name="可编辑连线"/>
          <p:cNvCxnSpPr/>
          <p:nvPr/>
        </p:nvCxnSpPr>
        <p:spPr>
          <a:xfrm flipV="1">
            <a:off x="4434840" y="1920240"/>
            <a:ext cx="1508760" cy="50292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可编辑连线"/>
          <p:cNvCxnSpPr/>
          <p:nvPr/>
        </p:nvCxnSpPr>
        <p:spPr>
          <a:xfrm>
            <a:off x="5943600" y="1920240"/>
            <a:ext cx="1444752" cy="48463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可编辑连线"/>
          <p:cNvCxnSpPr/>
          <p:nvPr/>
        </p:nvCxnSpPr>
        <p:spPr>
          <a:xfrm flipV="1">
            <a:off x="4434840" y="1920240"/>
            <a:ext cx="1508760" cy="50292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可编辑连线"/>
          <p:cNvCxnSpPr/>
          <p:nvPr/>
        </p:nvCxnSpPr>
        <p:spPr>
          <a:xfrm>
            <a:off x="5943600" y="1920240"/>
            <a:ext cx="1444752" cy="48463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可编辑连线"/>
          <p:cNvCxnSpPr/>
          <p:nvPr/>
        </p:nvCxnSpPr>
        <p:spPr>
          <a:xfrm flipV="1">
            <a:off x="4434840" y="1920240"/>
            <a:ext cx="1508760" cy="50292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可编辑连线"/>
          <p:cNvCxnSpPr/>
          <p:nvPr/>
        </p:nvCxnSpPr>
        <p:spPr>
          <a:xfrm>
            <a:off x="5943600" y="1920240"/>
            <a:ext cx="1444752" cy="48463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可编辑连线"/>
          <p:cNvCxnSpPr/>
          <p:nvPr/>
        </p:nvCxnSpPr>
        <p:spPr>
          <a:xfrm>
            <a:off x="7909560" y="2788920"/>
            <a:ext cx="457200" cy="86868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可编辑连线"/>
          <p:cNvCxnSpPr/>
          <p:nvPr/>
        </p:nvCxnSpPr>
        <p:spPr>
          <a:xfrm flipH="1">
            <a:off x="7936992" y="3657600"/>
            <a:ext cx="429768" cy="62179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可编辑连线"/>
          <p:cNvCxnSpPr/>
          <p:nvPr/>
        </p:nvCxnSpPr>
        <p:spPr>
          <a:xfrm>
            <a:off x="7909560" y="2788920"/>
            <a:ext cx="457200" cy="86868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可编辑连线"/>
          <p:cNvCxnSpPr/>
          <p:nvPr/>
        </p:nvCxnSpPr>
        <p:spPr>
          <a:xfrm flipH="1">
            <a:off x="7936992" y="3657600"/>
            <a:ext cx="429768" cy="62179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可编辑连线"/>
          <p:cNvCxnSpPr/>
          <p:nvPr/>
        </p:nvCxnSpPr>
        <p:spPr>
          <a:xfrm>
            <a:off x="7909560" y="2788920"/>
            <a:ext cx="457200" cy="86868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可编辑连线"/>
          <p:cNvCxnSpPr/>
          <p:nvPr/>
        </p:nvCxnSpPr>
        <p:spPr>
          <a:xfrm flipH="1">
            <a:off x="7936992" y="3657600"/>
            <a:ext cx="429768" cy="62179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可编辑连线"/>
          <p:cNvCxnSpPr/>
          <p:nvPr/>
        </p:nvCxnSpPr>
        <p:spPr>
          <a:xfrm flipH="1">
            <a:off x="5961888" y="4956048"/>
            <a:ext cx="1426464" cy="48463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可编辑连线"/>
          <p:cNvCxnSpPr/>
          <p:nvPr/>
        </p:nvCxnSpPr>
        <p:spPr>
          <a:xfrm flipH="1" flipV="1">
            <a:off x="4462272" y="4983480"/>
            <a:ext cx="1499616" cy="45720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可编辑连线"/>
          <p:cNvCxnSpPr/>
          <p:nvPr/>
        </p:nvCxnSpPr>
        <p:spPr>
          <a:xfrm flipH="1">
            <a:off x="5961888" y="4956048"/>
            <a:ext cx="1426464" cy="48463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可编辑连线"/>
          <p:cNvCxnSpPr/>
          <p:nvPr/>
        </p:nvCxnSpPr>
        <p:spPr>
          <a:xfrm flipH="1" flipV="1">
            <a:off x="4462272" y="4983480"/>
            <a:ext cx="1499616" cy="45720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可编辑连线"/>
          <p:cNvCxnSpPr/>
          <p:nvPr/>
        </p:nvCxnSpPr>
        <p:spPr>
          <a:xfrm flipH="1">
            <a:off x="5961888" y="4956048"/>
            <a:ext cx="1426464" cy="48463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可编辑连线"/>
          <p:cNvCxnSpPr/>
          <p:nvPr/>
        </p:nvCxnSpPr>
        <p:spPr>
          <a:xfrm flipH="1" flipV="1">
            <a:off x="4462272" y="4983480"/>
            <a:ext cx="1499616" cy="45720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可编辑连线"/>
          <p:cNvCxnSpPr/>
          <p:nvPr/>
        </p:nvCxnSpPr>
        <p:spPr>
          <a:xfrm flipH="1" flipV="1">
            <a:off x="3794760" y="3639312"/>
            <a:ext cx="320040" cy="64008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可编辑连线"/>
          <p:cNvCxnSpPr/>
          <p:nvPr/>
        </p:nvCxnSpPr>
        <p:spPr>
          <a:xfrm flipV="1">
            <a:off x="3794760" y="2788920"/>
            <a:ext cx="320040" cy="85039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可编辑连线"/>
          <p:cNvCxnSpPr/>
          <p:nvPr/>
        </p:nvCxnSpPr>
        <p:spPr>
          <a:xfrm flipH="1" flipV="1">
            <a:off x="3794760" y="3639312"/>
            <a:ext cx="320040" cy="64008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可编辑连线"/>
          <p:cNvCxnSpPr/>
          <p:nvPr/>
        </p:nvCxnSpPr>
        <p:spPr>
          <a:xfrm flipV="1">
            <a:off x="3794760" y="2788920"/>
            <a:ext cx="320040" cy="85039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可编辑连线"/>
          <p:cNvCxnSpPr/>
          <p:nvPr/>
        </p:nvCxnSpPr>
        <p:spPr>
          <a:xfrm flipH="1" flipV="1">
            <a:off x="3794760" y="3639312"/>
            <a:ext cx="320040" cy="64008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可编辑连线"/>
          <p:cNvCxnSpPr/>
          <p:nvPr/>
        </p:nvCxnSpPr>
        <p:spPr>
          <a:xfrm flipV="1">
            <a:off x="3794760" y="2788920"/>
            <a:ext cx="320040" cy="85039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可编辑矩形"/>
          <p:cNvSpPr/>
          <p:nvPr/>
        </p:nvSpPr>
        <p:spPr>
          <a:xfrm>
            <a:off x="1609344" y="1828800"/>
            <a:ext cx="1783080" cy="1207008"/>
          </a:xfrm>
          <a:prstGeom prst="roundRect">
            <a:avLst/>
          </a:prstGeom>
          <a:solidFill>
            <a:srgbClr val="081F38">
              <a:alpha val="62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文本_●"/>
          <p:cNvSpPr txBox="1"/>
          <p:nvPr/>
        </p:nvSpPr>
        <p:spPr>
          <a:xfrm>
            <a:off x="1792224" y="1993392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04" name="文本_基础信息"/>
          <p:cNvSpPr txBox="1"/>
          <p:nvPr/>
        </p:nvSpPr>
        <p:spPr>
          <a:xfrm>
            <a:off x="2048256" y="1975104"/>
            <a:ext cx="109728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基础信息</a:t>
            </a:r>
          </a:p>
        </p:txBody>
      </p:sp>
      <p:sp>
        <p:nvSpPr>
          <p:cNvPr id="105" name="文本_●"/>
          <p:cNvSpPr txBox="1"/>
          <p:nvPr/>
        </p:nvSpPr>
        <p:spPr>
          <a:xfrm>
            <a:off x="1792224" y="2231136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06" name="文本_设备清单"/>
          <p:cNvSpPr txBox="1"/>
          <p:nvPr/>
        </p:nvSpPr>
        <p:spPr>
          <a:xfrm>
            <a:off x="2048256" y="2212848"/>
            <a:ext cx="109728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设备清单</a:t>
            </a:r>
          </a:p>
        </p:txBody>
      </p:sp>
      <p:sp>
        <p:nvSpPr>
          <p:cNvPr id="107" name="文本_●"/>
          <p:cNvSpPr txBox="1"/>
          <p:nvPr/>
        </p:nvSpPr>
        <p:spPr>
          <a:xfrm>
            <a:off x="1792224" y="2468880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08" name="文本_责任人员"/>
          <p:cNvSpPr txBox="1"/>
          <p:nvPr/>
        </p:nvSpPr>
        <p:spPr>
          <a:xfrm>
            <a:off x="2048256" y="2450592"/>
            <a:ext cx="109728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责任人员</a:t>
            </a:r>
          </a:p>
        </p:txBody>
      </p:sp>
      <p:sp>
        <p:nvSpPr>
          <p:cNvPr id="109" name="文本_●"/>
          <p:cNvSpPr txBox="1"/>
          <p:nvPr/>
        </p:nvSpPr>
        <p:spPr>
          <a:xfrm>
            <a:off x="1792224" y="2706624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10" name="文本_建档时间"/>
          <p:cNvSpPr txBox="1"/>
          <p:nvPr/>
        </p:nvSpPr>
        <p:spPr>
          <a:xfrm>
            <a:off x="2048256" y="2688336"/>
            <a:ext cx="109728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建档时间</a:t>
            </a:r>
          </a:p>
        </p:txBody>
      </p:sp>
      <p:sp>
        <p:nvSpPr>
          <p:cNvPr id="111" name="可编辑矩形"/>
          <p:cNvSpPr/>
          <p:nvPr/>
        </p:nvSpPr>
        <p:spPr>
          <a:xfrm>
            <a:off x="10195560" y="1874519"/>
            <a:ext cx="1554480" cy="1316736"/>
          </a:xfrm>
          <a:prstGeom prst="roundRect">
            <a:avLst/>
          </a:prstGeom>
          <a:solidFill>
            <a:srgbClr val="081F38">
              <a:alpha val="62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文本_巡检记录"/>
          <p:cNvSpPr txBox="1"/>
          <p:nvPr/>
        </p:nvSpPr>
        <p:spPr>
          <a:xfrm>
            <a:off x="10332720" y="2011680"/>
            <a:ext cx="82296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  <a:ea typeface="Noto Sans CJK SC"/>
              </a:rPr>
              <a:t>巡检记录</a:t>
            </a:r>
          </a:p>
        </p:txBody>
      </p:sp>
      <p:sp>
        <p:nvSpPr>
          <p:cNvPr id="113" name="文本_健康评分"/>
          <p:cNvSpPr txBox="1"/>
          <p:nvPr/>
        </p:nvSpPr>
        <p:spPr>
          <a:xfrm>
            <a:off x="10332720" y="2286000"/>
            <a:ext cx="822960" cy="2011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健康评分</a:t>
            </a:r>
          </a:p>
        </p:txBody>
      </p:sp>
      <p:sp>
        <p:nvSpPr>
          <p:cNvPr id="114" name="可编辑圆环"/>
          <p:cNvSpPr/>
          <p:nvPr/>
        </p:nvSpPr>
        <p:spPr>
          <a:xfrm>
            <a:off x="11064240" y="2075688"/>
            <a:ext cx="457200" cy="457200"/>
          </a:xfrm>
          <a:prstGeom prst="ellipse">
            <a:avLst/>
          </a:prstGeom>
          <a:solidFill>
            <a:srgbClr val="0A3B5E">
              <a:alpha val="80000"/>
            </a:srgbClr>
          </a:solidFill>
          <a:ln w="5080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文本_92"/>
          <p:cNvSpPr txBox="1"/>
          <p:nvPr/>
        </p:nvSpPr>
        <p:spPr>
          <a:xfrm>
            <a:off x="11064240" y="2139696"/>
            <a:ext cx="45720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Noto Sans CJK SC"/>
              </a:rPr>
              <a:t>92</a:t>
            </a:r>
          </a:p>
        </p:txBody>
      </p:sp>
      <p:sp>
        <p:nvSpPr>
          <p:cNvPr id="116" name="文本_隐患告警"/>
          <p:cNvSpPr txBox="1"/>
          <p:nvPr/>
        </p:nvSpPr>
        <p:spPr>
          <a:xfrm>
            <a:off x="10332720" y="2578608"/>
            <a:ext cx="82296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隐患告警</a:t>
            </a:r>
          </a:p>
        </p:txBody>
      </p:sp>
      <p:sp>
        <p:nvSpPr>
          <p:cNvPr id="117" name="文本_状态趋势"/>
          <p:cNvSpPr txBox="1"/>
          <p:nvPr/>
        </p:nvSpPr>
        <p:spPr>
          <a:xfrm>
            <a:off x="10332720" y="2816352"/>
            <a:ext cx="82296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状态趋势</a:t>
            </a:r>
          </a:p>
        </p:txBody>
      </p:sp>
      <p:sp>
        <p:nvSpPr>
          <p:cNvPr id="118" name="可编辑矩形"/>
          <p:cNvSpPr/>
          <p:nvPr/>
        </p:nvSpPr>
        <p:spPr>
          <a:xfrm>
            <a:off x="10195560" y="4297680"/>
            <a:ext cx="1554480" cy="1371600"/>
          </a:xfrm>
          <a:prstGeom prst="roundRect">
            <a:avLst/>
          </a:prstGeom>
          <a:solidFill>
            <a:srgbClr val="081F38">
              <a:alpha val="62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文本_●"/>
          <p:cNvSpPr txBox="1"/>
          <p:nvPr/>
        </p:nvSpPr>
        <p:spPr>
          <a:xfrm>
            <a:off x="10332720" y="4462272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20" name="文本_维修工单"/>
          <p:cNvSpPr txBox="1"/>
          <p:nvPr/>
        </p:nvSpPr>
        <p:spPr>
          <a:xfrm>
            <a:off x="10588752" y="4453128"/>
            <a:ext cx="91440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维修工单</a:t>
            </a:r>
          </a:p>
        </p:txBody>
      </p:sp>
      <p:sp>
        <p:nvSpPr>
          <p:cNvPr id="121" name="文本_●"/>
          <p:cNvSpPr txBox="1"/>
          <p:nvPr/>
        </p:nvSpPr>
        <p:spPr>
          <a:xfrm>
            <a:off x="10332720" y="4709160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22" name="文本_维修历史"/>
          <p:cNvSpPr txBox="1"/>
          <p:nvPr/>
        </p:nvSpPr>
        <p:spPr>
          <a:xfrm>
            <a:off x="10588752" y="4700016"/>
            <a:ext cx="91440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维修历史</a:t>
            </a:r>
          </a:p>
        </p:txBody>
      </p:sp>
      <p:sp>
        <p:nvSpPr>
          <p:cNvPr id="123" name="文本_●"/>
          <p:cNvSpPr txBox="1"/>
          <p:nvPr/>
        </p:nvSpPr>
        <p:spPr>
          <a:xfrm>
            <a:off x="10332720" y="4956048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24" name="文本_备件更换"/>
          <p:cNvSpPr txBox="1"/>
          <p:nvPr/>
        </p:nvSpPr>
        <p:spPr>
          <a:xfrm>
            <a:off x="10588752" y="4946904"/>
            <a:ext cx="91440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备件更换</a:t>
            </a:r>
          </a:p>
        </p:txBody>
      </p:sp>
      <p:sp>
        <p:nvSpPr>
          <p:cNvPr id="125" name="文本_●"/>
          <p:cNvSpPr txBox="1"/>
          <p:nvPr/>
        </p:nvSpPr>
        <p:spPr>
          <a:xfrm>
            <a:off x="10332720" y="5202936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26" name="文本_维修成本"/>
          <p:cNvSpPr txBox="1"/>
          <p:nvPr/>
        </p:nvSpPr>
        <p:spPr>
          <a:xfrm>
            <a:off x="10588752" y="5193792"/>
            <a:ext cx="91440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  <a:ea typeface="Noto Sans CJK SC"/>
              </a:rPr>
              <a:t>维修成本</a:t>
            </a:r>
          </a:p>
        </p:txBody>
      </p:sp>
      <p:sp>
        <p:nvSpPr>
          <p:cNvPr id="127" name="可编辑矩形"/>
          <p:cNvSpPr/>
          <p:nvPr/>
        </p:nvSpPr>
        <p:spPr>
          <a:xfrm>
            <a:off x="1097280" y="4251960"/>
            <a:ext cx="1719072" cy="1298448"/>
          </a:xfrm>
          <a:prstGeom prst="roundRect">
            <a:avLst/>
          </a:prstGeom>
          <a:solidFill>
            <a:srgbClr val="081F38">
              <a:alpha val="62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文本_●"/>
          <p:cNvSpPr txBox="1"/>
          <p:nvPr/>
        </p:nvSpPr>
        <p:spPr>
          <a:xfrm>
            <a:off x="1261872" y="4416552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29" name="文本_基金投入"/>
          <p:cNvSpPr txBox="1"/>
          <p:nvPr/>
        </p:nvSpPr>
        <p:spPr>
          <a:xfrm>
            <a:off x="1536192" y="4407408"/>
            <a:ext cx="91440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服务评价</a:t>
            </a:r>
          </a:p>
        </p:txBody>
      </p:sp>
      <p:sp>
        <p:nvSpPr>
          <p:cNvPr id="130" name="文本_●"/>
          <p:cNvSpPr txBox="1"/>
          <p:nvPr/>
        </p:nvSpPr>
        <p:spPr>
          <a:xfrm>
            <a:off x="1261872" y="4654296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31" name="文本_使用记录"/>
          <p:cNvSpPr txBox="1"/>
          <p:nvPr/>
        </p:nvSpPr>
        <p:spPr>
          <a:xfrm>
            <a:off x="1536192" y="4645152"/>
            <a:ext cx="91440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工单进度</a:t>
            </a:r>
          </a:p>
        </p:txBody>
      </p:sp>
      <p:sp>
        <p:nvSpPr>
          <p:cNvPr id="132" name="文本_●"/>
          <p:cNvSpPr txBox="1"/>
          <p:nvPr/>
        </p:nvSpPr>
        <p:spPr>
          <a:xfrm>
            <a:off x="1261872" y="4892040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33" name="文本_优先级排序"/>
          <p:cNvSpPr txBox="1"/>
          <p:nvPr/>
        </p:nvSpPr>
        <p:spPr>
          <a:xfrm>
            <a:off x="1536192" y="4882896"/>
            <a:ext cx="91440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维修结果</a:t>
            </a:r>
          </a:p>
        </p:txBody>
      </p:sp>
      <p:sp>
        <p:nvSpPr>
          <p:cNvPr id="134" name="文本_●"/>
          <p:cNvSpPr txBox="1"/>
          <p:nvPr/>
        </p:nvSpPr>
        <p:spPr>
          <a:xfrm>
            <a:off x="1261872" y="5129784"/>
            <a:ext cx="18288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CCFA"/>
                </a:solidFill>
                <a:latin typeface="Arial"/>
                <a:ea typeface="Noto Sans CJK SC"/>
              </a:rPr>
              <a:t>●</a:t>
            </a:r>
          </a:p>
        </p:txBody>
      </p:sp>
      <p:sp>
        <p:nvSpPr>
          <p:cNvPr id="135" name="文本_资金效益"/>
          <p:cNvSpPr txBox="1"/>
          <p:nvPr/>
        </p:nvSpPr>
        <p:spPr>
          <a:xfrm>
            <a:off x="1536192" y="5120640"/>
            <a:ext cx="91440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  <a:ea typeface="Noto Sans CJK SC"/>
              </a:rPr>
              <a:t>数据回写</a:t>
            </a:r>
          </a:p>
        </p:txBody>
      </p:sp>
      <p:sp>
        <p:nvSpPr>
          <p:cNvPr id="136" name="文本_智管不是管一次，而是让数"/>
          <p:cNvSpPr txBox="1"/>
          <p:nvPr/>
        </p:nvSpPr>
        <p:spPr>
          <a:xfrm>
            <a:off x="2148840" y="6181344"/>
            <a:ext cx="790956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A5EEFF"/>
                </a:solidFill>
                <a:latin typeface="Arial"/>
                <a:ea typeface="Noto Sans CJK SC"/>
              </a:rPr>
              <a:t>智管不是管一次，而是让数据、责任和资金跟着烤房走完整个生命周期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3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四队长效：让机制跑在平台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C400"/>
                </a:solidFill>
                <a:latin typeface="Noto Serif CJK SC"/>
                <a:ea typeface="Noto Serif CJK SC"/>
              </a:rPr>
              <a:t>四队长效：让平台从“上线”变成长期运营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把一次上线，做成长期可持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Noto Sans CJK SC"/>
              </a:rPr>
              <a:t>技术、抢修、养护、综合四支队伍 + 运维基金</a:t>
            </a:r>
          </a:p>
        </p:txBody>
      </p:sp>
      <p:cxnSp>
        <p:nvCxnSpPr>
          <p:cNvPr id="9" name="可编辑连线"/>
          <p:cNvCxnSpPr/>
          <p:nvPr/>
        </p:nvCxnSpPr>
        <p:spPr>
          <a:xfrm flipV="1">
            <a:off x="2194560" y="4572000"/>
            <a:ext cx="3090672" cy="54864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可编辑连线"/>
          <p:cNvCxnSpPr/>
          <p:nvPr/>
        </p:nvCxnSpPr>
        <p:spPr>
          <a:xfrm flipV="1">
            <a:off x="5285232" y="4005072"/>
            <a:ext cx="2834640" cy="566928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可编辑连线"/>
          <p:cNvCxnSpPr/>
          <p:nvPr/>
        </p:nvCxnSpPr>
        <p:spPr>
          <a:xfrm flipV="1">
            <a:off x="8119872" y="3246120"/>
            <a:ext cx="2578608" cy="758952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可编辑连线"/>
          <p:cNvCxnSpPr/>
          <p:nvPr/>
        </p:nvCxnSpPr>
        <p:spPr>
          <a:xfrm flipV="1">
            <a:off x="2194560" y="4572000"/>
            <a:ext cx="3090672" cy="54864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可编辑连线"/>
          <p:cNvCxnSpPr/>
          <p:nvPr/>
        </p:nvCxnSpPr>
        <p:spPr>
          <a:xfrm flipV="1">
            <a:off x="5285232" y="4005072"/>
            <a:ext cx="2834640" cy="566928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可编辑连线"/>
          <p:cNvCxnSpPr/>
          <p:nvPr/>
        </p:nvCxnSpPr>
        <p:spPr>
          <a:xfrm flipV="1">
            <a:off x="8119872" y="3246120"/>
            <a:ext cx="2578608" cy="758952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可编辑连线"/>
          <p:cNvCxnSpPr/>
          <p:nvPr/>
        </p:nvCxnSpPr>
        <p:spPr>
          <a:xfrm flipV="1">
            <a:off x="2194560" y="4572000"/>
            <a:ext cx="3090672" cy="54864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可编辑连线"/>
          <p:cNvCxnSpPr/>
          <p:nvPr/>
        </p:nvCxnSpPr>
        <p:spPr>
          <a:xfrm flipV="1">
            <a:off x="5285232" y="4005072"/>
            <a:ext cx="2834640" cy="566928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可编辑连线"/>
          <p:cNvCxnSpPr/>
          <p:nvPr/>
        </p:nvCxnSpPr>
        <p:spPr>
          <a:xfrm flipV="1">
            <a:off x="8119872" y="3246120"/>
            <a:ext cx="2578608" cy="758952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_01"/>
          <p:cNvSpPr txBox="1"/>
          <p:nvPr/>
        </p:nvSpPr>
        <p:spPr>
          <a:xfrm>
            <a:off x="1325880" y="3767327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20" name="可编辑圆环"/>
          <p:cNvSpPr/>
          <p:nvPr/>
        </p:nvSpPr>
        <p:spPr>
          <a:xfrm>
            <a:off x="1531619" y="534924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可编辑圆环"/>
          <p:cNvSpPr/>
          <p:nvPr/>
        </p:nvSpPr>
        <p:spPr>
          <a:xfrm>
            <a:off x="1668780" y="533552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可编辑圆环"/>
          <p:cNvSpPr/>
          <p:nvPr/>
        </p:nvSpPr>
        <p:spPr>
          <a:xfrm>
            <a:off x="1792224" y="5321807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可编辑连线"/>
          <p:cNvCxnSpPr/>
          <p:nvPr/>
        </p:nvCxnSpPr>
        <p:spPr>
          <a:xfrm flipV="1">
            <a:off x="2194560" y="481888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可编辑圆环"/>
          <p:cNvSpPr/>
          <p:nvPr/>
        </p:nvSpPr>
        <p:spPr>
          <a:xfrm>
            <a:off x="2162556" y="4791455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可编辑圆环"/>
          <p:cNvSpPr/>
          <p:nvPr/>
        </p:nvSpPr>
        <p:spPr>
          <a:xfrm>
            <a:off x="2040757" y="4795241"/>
            <a:ext cx="74249" cy="7424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可编辑矩形"/>
          <p:cNvSpPr/>
          <p:nvPr/>
        </p:nvSpPr>
        <p:spPr>
          <a:xfrm>
            <a:off x="2018483" y="4888053"/>
            <a:ext cx="118798" cy="111373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可编辑圆环"/>
          <p:cNvSpPr/>
          <p:nvPr/>
        </p:nvSpPr>
        <p:spPr>
          <a:xfrm>
            <a:off x="2274112" y="4795241"/>
            <a:ext cx="74249" cy="7424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可编辑矩形"/>
          <p:cNvSpPr/>
          <p:nvPr/>
        </p:nvSpPr>
        <p:spPr>
          <a:xfrm>
            <a:off x="2251838" y="4888053"/>
            <a:ext cx="118798" cy="111373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可编辑圆环"/>
          <p:cNvSpPr/>
          <p:nvPr/>
        </p:nvSpPr>
        <p:spPr>
          <a:xfrm>
            <a:off x="2141524" y="4745918"/>
            <a:ext cx="106070" cy="106070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可编辑矩形"/>
          <p:cNvSpPr/>
          <p:nvPr/>
        </p:nvSpPr>
        <p:spPr>
          <a:xfrm>
            <a:off x="2109703" y="4878506"/>
            <a:ext cx="169712" cy="159105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文本_专班推进"/>
          <p:cNvSpPr txBox="1"/>
          <p:nvPr/>
        </p:nvSpPr>
        <p:spPr>
          <a:xfrm>
            <a:off x="1325880" y="4224527"/>
            <a:ext cx="178308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技术队</a:t>
            </a:r>
          </a:p>
        </p:txBody>
      </p:sp>
      <p:sp>
        <p:nvSpPr>
          <p:cNvPr id="33" name="文本_任务统筹 / 进度督办 "/>
          <p:cNvSpPr txBox="1"/>
          <p:nvPr/>
        </p:nvSpPr>
        <p:spPr>
          <a:xfrm>
            <a:off x="1097280" y="4663440"/>
            <a:ext cx="21945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技术指导 / 状态研判 / 业务支撑</a:t>
            </a:r>
          </a:p>
        </p:txBody>
      </p:sp>
      <p:sp>
        <p:nvSpPr>
          <p:cNvPr id="35" name="文本_02"/>
          <p:cNvSpPr txBox="1"/>
          <p:nvPr/>
        </p:nvSpPr>
        <p:spPr>
          <a:xfrm>
            <a:off x="4416552" y="3218688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36" name="可编辑圆环"/>
          <p:cNvSpPr/>
          <p:nvPr/>
        </p:nvSpPr>
        <p:spPr>
          <a:xfrm>
            <a:off x="4622292" y="48006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圆环"/>
          <p:cNvSpPr/>
          <p:nvPr/>
        </p:nvSpPr>
        <p:spPr>
          <a:xfrm>
            <a:off x="4759452" y="47868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圆环"/>
          <p:cNvSpPr/>
          <p:nvPr/>
        </p:nvSpPr>
        <p:spPr>
          <a:xfrm>
            <a:off x="4882896" y="47731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可编辑连线"/>
          <p:cNvCxnSpPr/>
          <p:nvPr/>
        </p:nvCxnSpPr>
        <p:spPr>
          <a:xfrm flipV="1">
            <a:off x="5285232" y="42702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可编辑圆环"/>
          <p:cNvSpPr/>
          <p:nvPr/>
        </p:nvSpPr>
        <p:spPr>
          <a:xfrm>
            <a:off x="5253228" y="424281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可编辑连线"/>
          <p:cNvCxnSpPr/>
          <p:nvPr/>
        </p:nvCxnSpPr>
        <p:spPr>
          <a:xfrm flipV="1">
            <a:off x="5136733" y="4213189"/>
            <a:ext cx="307604" cy="275783"/>
          </a:xfrm>
          <a:prstGeom prst="line">
            <a:avLst/>
          </a:prstGeom>
          <a:ln w="889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可编辑圆环"/>
          <p:cNvSpPr/>
          <p:nvPr/>
        </p:nvSpPr>
        <p:spPr>
          <a:xfrm>
            <a:off x="5094305" y="4446544"/>
            <a:ext cx="95463" cy="95463"/>
          </a:xfrm>
          <a:prstGeom prst="ellipse">
            <a:avLst/>
          </a:prstGeom>
          <a:solidFill>
            <a:srgbClr val="06182D">
              <a:alpha val="100000"/>
            </a:srgbClr>
          </a:solidFill>
          <a:ln w="2540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可编辑连线"/>
          <p:cNvCxnSpPr/>
          <p:nvPr/>
        </p:nvCxnSpPr>
        <p:spPr>
          <a:xfrm>
            <a:off x="5179161" y="4213189"/>
            <a:ext cx="254569" cy="265176"/>
          </a:xfrm>
          <a:prstGeom prst="line">
            <a:avLst/>
          </a:prstGeom>
          <a:ln w="5080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可编辑矩形"/>
          <p:cNvSpPr/>
          <p:nvPr/>
        </p:nvSpPr>
        <p:spPr>
          <a:xfrm>
            <a:off x="5391302" y="4441240"/>
            <a:ext cx="95463" cy="63642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文本_维修服务"/>
          <p:cNvSpPr txBox="1"/>
          <p:nvPr/>
        </p:nvSpPr>
        <p:spPr>
          <a:xfrm>
            <a:off x="4416552" y="3675887"/>
            <a:ext cx="178308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抢修队</a:t>
            </a:r>
          </a:p>
        </p:txBody>
      </p:sp>
      <p:sp>
        <p:nvSpPr>
          <p:cNvPr id="47" name="文本_工单闭环 / 备件调度 "/>
          <p:cNvSpPr txBox="1"/>
          <p:nvPr/>
        </p:nvSpPr>
        <p:spPr>
          <a:xfrm>
            <a:off x="4187952" y="4114800"/>
            <a:ext cx="21945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故障处置 / 配件调度 / 应急抢修</a:t>
            </a:r>
          </a:p>
        </p:txBody>
      </p:sp>
      <p:sp>
        <p:nvSpPr>
          <p:cNvPr id="49" name="文本_03"/>
          <p:cNvSpPr txBox="1"/>
          <p:nvPr/>
        </p:nvSpPr>
        <p:spPr>
          <a:xfrm>
            <a:off x="7251192" y="2651760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50" name="可编辑圆环"/>
          <p:cNvSpPr/>
          <p:nvPr/>
        </p:nvSpPr>
        <p:spPr>
          <a:xfrm>
            <a:off x="7456932" y="423367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可编辑圆环"/>
          <p:cNvSpPr/>
          <p:nvPr/>
        </p:nvSpPr>
        <p:spPr>
          <a:xfrm>
            <a:off x="7594092" y="421995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可编辑圆环"/>
          <p:cNvSpPr/>
          <p:nvPr/>
        </p:nvSpPr>
        <p:spPr>
          <a:xfrm>
            <a:off x="7717536" y="420624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可编辑连线"/>
          <p:cNvCxnSpPr/>
          <p:nvPr/>
        </p:nvCxnSpPr>
        <p:spPr>
          <a:xfrm flipV="1">
            <a:off x="8119872" y="370332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可编辑圆环"/>
          <p:cNvSpPr/>
          <p:nvPr/>
        </p:nvSpPr>
        <p:spPr>
          <a:xfrm>
            <a:off x="8087868" y="367588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entagon 54"/>
          <p:cNvSpPr/>
          <p:nvPr/>
        </p:nvSpPr>
        <p:spPr>
          <a:xfrm rot="10800000">
            <a:off x="7897124" y="3556101"/>
            <a:ext cx="445495" cy="466709"/>
          </a:xfrm>
          <a:prstGeom prst="homePlate">
            <a:avLst/>
          </a:prstGeom>
          <a:solidFill>
            <a:srgbClr val="22CCFA">
              <a:alpha val="8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可编辑连线"/>
          <p:cNvCxnSpPr/>
          <p:nvPr/>
        </p:nvCxnSpPr>
        <p:spPr>
          <a:xfrm>
            <a:off x="8045622" y="3794760"/>
            <a:ext cx="63642" cy="63642"/>
          </a:xfrm>
          <a:prstGeom prst="line">
            <a:avLst/>
          </a:prstGeom>
          <a:ln w="19050">
            <a:solidFill>
              <a:srgbClr val="FFFF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可编辑连线"/>
          <p:cNvCxnSpPr/>
          <p:nvPr/>
        </p:nvCxnSpPr>
        <p:spPr>
          <a:xfrm flipV="1">
            <a:off x="8109264" y="3731117"/>
            <a:ext cx="106071" cy="127285"/>
          </a:xfrm>
          <a:prstGeom prst="line">
            <a:avLst/>
          </a:prstGeom>
          <a:ln w="19050">
            <a:solidFill>
              <a:srgbClr val="FFFF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_运营管护"/>
          <p:cNvSpPr txBox="1"/>
          <p:nvPr/>
        </p:nvSpPr>
        <p:spPr>
          <a:xfrm>
            <a:off x="7251192" y="3108960"/>
            <a:ext cx="178308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养护队</a:t>
            </a:r>
          </a:p>
        </p:txBody>
      </p:sp>
      <p:sp>
        <p:nvSpPr>
          <p:cNvPr id="60" name="文本_日常巡检 / 数据更新 "/>
          <p:cNvSpPr txBox="1"/>
          <p:nvPr/>
        </p:nvSpPr>
        <p:spPr>
          <a:xfrm>
            <a:off x="7022592" y="3547872"/>
            <a:ext cx="21945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日常巡检 / 预防养护 / 数据更新</a:t>
            </a:r>
          </a:p>
        </p:txBody>
      </p:sp>
      <p:sp>
        <p:nvSpPr>
          <p:cNvPr id="62" name="文本_04"/>
          <p:cNvSpPr txBox="1"/>
          <p:nvPr/>
        </p:nvSpPr>
        <p:spPr>
          <a:xfrm>
            <a:off x="9829800" y="1892807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04</a:t>
            </a:r>
          </a:p>
        </p:txBody>
      </p:sp>
      <p:sp>
        <p:nvSpPr>
          <p:cNvPr id="63" name="可编辑圆环"/>
          <p:cNvSpPr/>
          <p:nvPr/>
        </p:nvSpPr>
        <p:spPr>
          <a:xfrm>
            <a:off x="10035540" y="347472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可编辑圆环"/>
          <p:cNvSpPr/>
          <p:nvPr/>
        </p:nvSpPr>
        <p:spPr>
          <a:xfrm>
            <a:off x="10172700" y="346100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可编辑圆环"/>
          <p:cNvSpPr/>
          <p:nvPr/>
        </p:nvSpPr>
        <p:spPr>
          <a:xfrm>
            <a:off x="10296144" y="344728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可编辑连线"/>
          <p:cNvCxnSpPr/>
          <p:nvPr/>
        </p:nvCxnSpPr>
        <p:spPr>
          <a:xfrm flipV="1">
            <a:off x="10698480" y="294436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可编辑圆环"/>
          <p:cNvSpPr/>
          <p:nvPr/>
        </p:nvSpPr>
        <p:spPr>
          <a:xfrm>
            <a:off x="10666476" y="291693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可编辑圆环"/>
          <p:cNvSpPr/>
          <p:nvPr/>
        </p:nvSpPr>
        <p:spPr>
          <a:xfrm>
            <a:off x="10475732" y="3194913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可编辑圆环"/>
          <p:cNvSpPr/>
          <p:nvPr/>
        </p:nvSpPr>
        <p:spPr>
          <a:xfrm>
            <a:off x="10475732" y="3141878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可编辑圆环"/>
          <p:cNvSpPr/>
          <p:nvPr/>
        </p:nvSpPr>
        <p:spPr>
          <a:xfrm>
            <a:off x="10571195" y="3194913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可编辑圆环"/>
          <p:cNvSpPr/>
          <p:nvPr/>
        </p:nvSpPr>
        <p:spPr>
          <a:xfrm>
            <a:off x="10571195" y="3141878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可编辑圆环"/>
          <p:cNvSpPr/>
          <p:nvPr/>
        </p:nvSpPr>
        <p:spPr>
          <a:xfrm>
            <a:off x="10571195" y="3088843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可编辑圆环"/>
          <p:cNvSpPr/>
          <p:nvPr/>
        </p:nvSpPr>
        <p:spPr>
          <a:xfrm>
            <a:off x="10666658" y="3194913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可编辑圆环"/>
          <p:cNvSpPr/>
          <p:nvPr/>
        </p:nvSpPr>
        <p:spPr>
          <a:xfrm>
            <a:off x="10666658" y="3141878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可编辑圆环"/>
          <p:cNvSpPr/>
          <p:nvPr/>
        </p:nvSpPr>
        <p:spPr>
          <a:xfrm>
            <a:off x="10666658" y="3088843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可编辑圆环"/>
          <p:cNvSpPr/>
          <p:nvPr/>
        </p:nvSpPr>
        <p:spPr>
          <a:xfrm>
            <a:off x="10666658" y="3035808"/>
            <a:ext cx="159105" cy="53035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可编辑圆环"/>
          <p:cNvSpPr/>
          <p:nvPr/>
        </p:nvSpPr>
        <p:spPr>
          <a:xfrm>
            <a:off x="10804550" y="3046415"/>
            <a:ext cx="175016" cy="175016"/>
          </a:xfrm>
          <a:prstGeom prst="ellipse">
            <a:avLst/>
          </a:prstGeom>
          <a:solidFill>
            <a:srgbClr val="0C4B70">
              <a:alpha val="95000"/>
            </a:srgbClr>
          </a:solidFill>
          <a:ln w="889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文本_¥"/>
          <p:cNvSpPr txBox="1"/>
          <p:nvPr/>
        </p:nvSpPr>
        <p:spPr>
          <a:xfrm>
            <a:off x="10804550" y="3046415"/>
            <a:ext cx="175016" cy="175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¥</a:t>
            </a:r>
          </a:p>
        </p:txBody>
      </p:sp>
      <p:sp>
        <p:nvSpPr>
          <p:cNvPr id="80" name="文本_基金保障"/>
          <p:cNvSpPr txBox="1"/>
          <p:nvPr/>
        </p:nvSpPr>
        <p:spPr>
          <a:xfrm>
            <a:off x="9829800" y="2350008"/>
            <a:ext cx="178308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综合队</a:t>
            </a:r>
          </a:p>
        </p:txBody>
      </p:sp>
      <p:sp>
        <p:nvSpPr>
          <p:cNvPr id="81" name="文本_资金统筹 / 轻重缓急 "/>
          <p:cNvSpPr txBox="1"/>
          <p:nvPr/>
        </p:nvSpPr>
        <p:spPr>
          <a:xfrm>
            <a:off x="9601200" y="2788920"/>
            <a:ext cx="21945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Noto Sans CJK SC"/>
              </a:rPr>
              <a:t>统筹协调 / 验收评价 / 基金管理</a:t>
            </a:r>
          </a:p>
        </p:txBody>
      </p:sp>
      <p:sp>
        <p:nvSpPr>
          <p:cNvPr id="82" name="文本_机制不散、服务不断、数据"/>
          <p:cNvSpPr txBox="1"/>
          <p:nvPr/>
        </p:nvSpPr>
        <p:spPr>
          <a:xfrm>
            <a:off x="2926080" y="6144768"/>
            <a:ext cx="635508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C400"/>
                </a:solidFill>
                <a:latin typeface="Arial"/>
                <a:ea typeface="Noto Sans CJK SC"/>
              </a:rPr>
              <a:t>66人专业管护团队 ｜ 近190万运维基金滚动累计 ｜ 有人管、有钱管、有标准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应用成效：从经验管房，走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一个烤季，结果说话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资源可见、维修提速、决策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C400"/>
                </a:solidFill>
                <a:latin typeface="Arial"/>
                <a:ea typeface="Noto Sans CJK SC"/>
              </a:rPr>
              <a:t>340+待修 ｜ 150升级纳入计划 ｜ 1363栋统筹管护 ｜ 81%覆盖 ｜ 近190万运维基金</a:t>
            </a:r>
          </a:p>
        </p:txBody>
      </p:sp>
      <p:sp>
        <p:nvSpPr>
          <p:cNvPr id="9" name="可编辑圆环"/>
          <p:cNvSpPr/>
          <p:nvPr/>
        </p:nvSpPr>
        <p:spPr>
          <a:xfrm>
            <a:off x="571500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可编辑圆环"/>
          <p:cNvSpPr/>
          <p:nvPr/>
        </p:nvSpPr>
        <p:spPr>
          <a:xfrm>
            <a:off x="708660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可编辑圆环"/>
          <p:cNvSpPr/>
          <p:nvPr/>
        </p:nvSpPr>
        <p:spPr>
          <a:xfrm>
            <a:off x="832104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可编辑连线"/>
          <p:cNvCxnSpPr/>
          <p:nvPr/>
        </p:nvCxnSpPr>
        <p:spPr>
          <a:xfrm flipV="1">
            <a:off x="1234440" y="287121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可编辑圆环"/>
          <p:cNvSpPr/>
          <p:nvPr/>
        </p:nvSpPr>
        <p:spPr>
          <a:xfrm>
            <a:off x="1202436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可编辑矩形"/>
          <p:cNvSpPr/>
          <p:nvPr/>
        </p:nvSpPr>
        <p:spPr>
          <a:xfrm>
            <a:off x="984260" y="2927908"/>
            <a:ext cx="500359" cy="361370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900866" y="2649931"/>
            <a:ext cx="667146" cy="333573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矩形"/>
          <p:cNvSpPr/>
          <p:nvPr/>
        </p:nvSpPr>
        <p:spPr>
          <a:xfrm>
            <a:off x="1171895" y="3046049"/>
            <a:ext cx="125089" cy="194584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可编辑KPI_2442座"/>
          <p:cNvSpPr txBox="1"/>
          <p:nvPr/>
        </p:nvSpPr>
        <p:spPr>
          <a:xfrm>
            <a:off x="1801368" y="2414015"/>
            <a:ext cx="2148840" cy="749808"/>
          </a:xfrm>
          <a:prstGeom prst="rect">
            <a:avLst/>
          </a:prstGeom>
          <a:noFill/>
        </p:spPr>
        <p:txBody>
          <a:bodyPr wrap="none" anchor="ctr" lIns="9144" rIns="9144" tIns="0" bIns="0">
            <a:spAutoFit/>
          </a:bodyPr>
          <a:lstStyle/>
          <a:p>
            <a:pPr algn="l"/>
            <a:r>
              <a:rPr sz="4600" b="1" i="1">
                <a:solidFill>
                  <a:srgbClr val="FFC400"/>
                </a:solidFill>
                <a:latin typeface="Arial"/>
                <a:ea typeface="Noto Sans CJK SC"/>
              </a:rPr>
              <a:t>2442</a:t>
            </a:r>
            <a:r>
              <a:rPr sz="1800" b="1">
                <a:solidFill>
                  <a:srgbClr val="FFFFFF"/>
                </a:solidFill>
                <a:latin typeface="Arial"/>
                <a:ea typeface="Noto Sans CJK SC"/>
              </a:rPr>
              <a:t>座</a:t>
            </a:r>
          </a:p>
        </p:txBody>
      </p:sp>
      <p:sp>
        <p:nvSpPr>
          <p:cNvPr id="18" name="文本_烤房入库建档"/>
          <p:cNvSpPr txBox="1"/>
          <p:nvPr/>
        </p:nvSpPr>
        <p:spPr>
          <a:xfrm>
            <a:off x="1856232" y="3310128"/>
            <a:ext cx="208483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建档 + 健康评估</a:t>
            </a:r>
          </a:p>
        </p:txBody>
      </p:sp>
      <p:sp>
        <p:nvSpPr>
          <p:cNvPr id="19" name="Up Arrow 18"/>
          <p:cNvSpPr/>
          <p:nvPr/>
        </p:nvSpPr>
        <p:spPr>
          <a:xfrm rot="1680000">
            <a:off x="3538728" y="2596896"/>
            <a:ext cx="210312" cy="384048"/>
          </a:xfrm>
          <a:prstGeom prst="upArrow">
            <a:avLst/>
          </a:prstGeom>
          <a:solidFill>
            <a:srgbClr val="22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可编辑圆环"/>
          <p:cNvSpPr/>
          <p:nvPr/>
        </p:nvSpPr>
        <p:spPr>
          <a:xfrm>
            <a:off x="4475988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可编辑圆环"/>
          <p:cNvSpPr/>
          <p:nvPr/>
        </p:nvSpPr>
        <p:spPr>
          <a:xfrm>
            <a:off x="4613148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可编辑圆环"/>
          <p:cNvSpPr/>
          <p:nvPr/>
        </p:nvSpPr>
        <p:spPr>
          <a:xfrm>
            <a:off x="4736592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可编辑连线"/>
          <p:cNvCxnSpPr/>
          <p:nvPr/>
        </p:nvCxnSpPr>
        <p:spPr>
          <a:xfrm flipV="1">
            <a:off x="5138928" y="287121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可编辑圆环"/>
          <p:cNvSpPr/>
          <p:nvPr/>
        </p:nvSpPr>
        <p:spPr>
          <a:xfrm>
            <a:off x="5106924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可编辑矩形"/>
          <p:cNvSpPr/>
          <p:nvPr/>
        </p:nvSpPr>
        <p:spPr>
          <a:xfrm>
            <a:off x="4930444" y="2712476"/>
            <a:ext cx="416966" cy="500359"/>
          </a:xfrm>
          <a:prstGeom prst="round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可编辑矩形"/>
          <p:cNvSpPr/>
          <p:nvPr/>
        </p:nvSpPr>
        <p:spPr>
          <a:xfrm>
            <a:off x="5055534" y="2642981"/>
            <a:ext cx="166786" cy="83393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可编辑连线"/>
          <p:cNvCxnSpPr/>
          <p:nvPr/>
        </p:nvCxnSpPr>
        <p:spPr>
          <a:xfrm>
            <a:off x="5013838" y="2851464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可编辑连线"/>
          <p:cNvCxnSpPr/>
          <p:nvPr/>
        </p:nvCxnSpPr>
        <p:spPr>
          <a:xfrm>
            <a:off x="5013838" y="2962656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可编辑连线"/>
          <p:cNvCxnSpPr/>
          <p:nvPr/>
        </p:nvCxnSpPr>
        <p:spPr>
          <a:xfrm>
            <a:off x="5013838" y="3073847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可编辑KPI_1363次"/>
          <p:cNvSpPr txBox="1"/>
          <p:nvPr/>
        </p:nvSpPr>
        <p:spPr>
          <a:xfrm>
            <a:off x="5705856" y="2414015"/>
            <a:ext cx="2148840" cy="749808"/>
          </a:xfrm>
          <a:prstGeom prst="rect">
            <a:avLst/>
          </a:prstGeom>
          <a:noFill/>
        </p:spPr>
        <p:txBody>
          <a:bodyPr wrap="square" anchor="ctr" lIns="9144" rIns="9144" tIns="0" bIns="0">
            <a:spAutoFit/>
          </a:bodyPr>
          <a:lstStyle/>
          <a:p>
            <a:pPr algn="l"/>
            <a:r>
              <a:rPr sz="4600" b="1">
                <a:solidFill>
                  <a:srgbClr val="FFC400"/>
                </a:solidFill>
                <a:latin typeface="Arial"/>
                <a:ea typeface="Noto Sans CJK SC"/>
              </a:rPr>
              <a:t>48次</a:t>
            </a:r>
          </a:p>
        </p:txBody>
      </p:sp>
      <p:sp>
        <p:nvSpPr>
          <p:cNvPr id="31" name="文本_调度与服务闭环记录"/>
          <p:cNvSpPr txBox="1"/>
          <p:nvPr/>
        </p:nvSpPr>
        <p:spPr>
          <a:xfrm>
            <a:off x="5760720" y="3310128"/>
            <a:ext cx="208483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烤房调剂</a:t>
            </a:r>
          </a:p>
        </p:txBody>
      </p:sp>
      <p:sp>
        <p:nvSpPr>
          <p:cNvPr id="32" name="Up Arrow 31"/>
          <p:cNvSpPr/>
          <p:nvPr/>
        </p:nvSpPr>
        <p:spPr>
          <a:xfrm rot="1680000">
            <a:off x="7424928" y="2596896"/>
            <a:ext cx="210312" cy="384048"/>
          </a:xfrm>
          <a:prstGeom prst="upArrow">
            <a:avLst/>
          </a:prstGeom>
          <a:solidFill>
            <a:srgbClr val="22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可编辑圆环"/>
          <p:cNvSpPr/>
          <p:nvPr/>
        </p:nvSpPr>
        <p:spPr>
          <a:xfrm>
            <a:off x="8316468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圆环"/>
          <p:cNvSpPr/>
          <p:nvPr/>
        </p:nvSpPr>
        <p:spPr>
          <a:xfrm>
            <a:off x="8453628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圆环"/>
          <p:cNvSpPr/>
          <p:nvPr/>
        </p:nvSpPr>
        <p:spPr>
          <a:xfrm>
            <a:off x="8577072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可编辑连线"/>
          <p:cNvCxnSpPr/>
          <p:nvPr/>
        </p:nvCxnSpPr>
        <p:spPr>
          <a:xfrm flipV="1">
            <a:off x="8979408" y="287121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可编辑圆环"/>
          <p:cNvSpPr/>
          <p:nvPr/>
        </p:nvSpPr>
        <p:spPr>
          <a:xfrm>
            <a:off x="8947404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矩形"/>
          <p:cNvSpPr/>
          <p:nvPr/>
        </p:nvSpPr>
        <p:spPr>
          <a:xfrm>
            <a:off x="8757025" y="2684678"/>
            <a:ext cx="444764" cy="555955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可编辑连线"/>
          <p:cNvCxnSpPr/>
          <p:nvPr/>
        </p:nvCxnSpPr>
        <p:spPr>
          <a:xfrm>
            <a:off x="8840419" y="283756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可编辑连线"/>
          <p:cNvCxnSpPr/>
          <p:nvPr/>
        </p:nvCxnSpPr>
        <p:spPr>
          <a:xfrm>
            <a:off x="8840419" y="295570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可编辑连线"/>
          <p:cNvCxnSpPr/>
          <p:nvPr/>
        </p:nvCxnSpPr>
        <p:spPr>
          <a:xfrm>
            <a:off x="8840419" y="3073847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可编辑KPI_96.8%"/>
          <p:cNvSpPr txBox="1"/>
          <p:nvPr/>
        </p:nvSpPr>
        <p:spPr>
          <a:xfrm>
            <a:off x="9546336" y="2414015"/>
            <a:ext cx="2148840" cy="749808"/>
          </a:xfrm>
          <a:prstGeom prst="rect">
            <a:avLst/>
          </a:prstGeom>
          <a:noFill/>
        </p:spPr>
        <p:txBody>
          <a:bodyPr wrap="square" anchor="ctr" lIns="9144" rIns="9144" tIns="0" bIns="0">
            <a:spAutoFit/>
          </a:bodyPr>
          <a:lstStyle/>
          <a:p>
            <a:pPr algn="l"/>
            <a:r>
              <a:rPr sz="4600" b="1">
                <a:solidFill>
                  <a:srgbClr val="FFC400"/>
                </a:solidFill>
                <a:latin typeface="Arial"/>
                <a:ea typeface="Noto Sans CJK SC"/>
              </a:rPr>
              <a:t>18次</a:t>
            </a:r>
          </a:p>
        </p:txBody>
      </p:sp>
      <p:sp>
        <p:nvSpPr>
          <p:cNvPr id="43" name="文本_家底信息完整率"/>
          <p:cNvSpPr txBox="1"/>
          <p:nvPr/>
        </p:nvSpPr>
        <p:spPr>
          <a:xfrm>
            <a:off x="9601200" y="3310128"/>
            <a:ext cx="208483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突发抢修全部 &lt;3h</a:t>
            </a:r>
          </a:p>
        </p:txBody>
      </p:sp>
      <p:sp>
        <p:nvSpPr>
          <p:cNvPr id="44" name="Up Arrow 43"/>
          <p:cNvSpPr/>
          <p:nvPr/>
        </p:nvSpPr>
        <p:spPr>
          <a:xfrm rot="1680000">
            <a:off x="11009376" y="2596896"/>
            <a:ext cx="210312" cy="384048"/>
          </a:xfrm>
          <a:prstGeom prst="upArrow">
            <a:avLst/>
          </a:prstGeom>
          <a:solidFill>
            <a:srgbClr val="22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可编辑圆环"/>
          <p:cNvSpPr/>
          <p:nvPr/>
        </p:nvSpPr>
        <p:spPr>
          <a:xfrm>
            <a:off x="2583179" y="50474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可编辑圆环"/>
          <p:cNvSpPr/>
          <p:nvPr/>
        </p:nvSpPr>
        <p:spPr>
          <a:xfrm>
            <a:off x="2720339" y="50337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可编辑圆环"/>
          <p:cNvSpPr/>
          <p:nvPr/>
        </p:nvSpPr>
        <p:spPr>
          <a:xfrm>
            <a:off x="2843784" y="5020055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可编辑连线"/>
          <p:cNvCxnSpPr/>
          <p:nvPr/>
        </p:nvCxnSpPr>
        <p:spPr>
          <a:xfrm flipV="1">
            <a:off x="3246120" y="451713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可编辑圆环"/>
          <p:cNvSpPr/>
          <p:nvPr/>
        </p:nvSpPr>
        <p:spPr>
          <a:xfrm>
            <a:off x="3214115" y="4489703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可编辑圆环"/>
          <p:cNvSpPr/>
          <p:nvPr/>
        </p:nvSpPr>
        <p:spPr>
          <a:xfrm>
            <a:off x="295424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可编辑圆环"/>
          <p:cNvSpPr/>
          <p:nvPr/>
        </p:nvSpPr>
        <p:spPr>
          <a:xfrm>
            <a:off x="295424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可编辑圆环"/>
          <p:cNvSpPr/>
          <p:nvPr/>
        </p:nvSpPr>
        <p:spPr>
          <a:xfrm>
            <a:off x="307933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可编辑圆环"/>
          <p:cNvSpPr/>
          <p:nvPr/>
        </p:nvSpPr>
        <p:spPr>
          <a:xfrm>
            <a:off x="307933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可编辑圆环"/>
          <p:cNvSpPr/>
          <p:nvPr/>
        </p:nvSpPr>
        <p:spPr>
          <a:xfrm>
            <a:off x="3079333" y="4678070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可编辑圆环"/>
          <p:cNvSpPr/>
          <p:nvPr/>
        </p:nvSpPr>
        <p:spPr>
          <a:xfrm>
            <a:off x="320442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可编辑圆环"/>
          <p:cNvSpPr/>
          <p:nvPr/>
        </p:nvSpPr>
        <p:spPr>
          <a:xfrm>
            <a:off x="320442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可编辑圆环"/>
          <p:cNvSpPr/>
          <p:nvPr/>
        </p:nvSpPr>
        <p:spPr>
          <a:xfrm>
            <a:off x="3204423" y="4678070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可编辑圆环"/>
          <p:cNvSpPr/>
          <p:nvPr/>
        </p:nvSpPr>
        <p:spPr>
          <a:xfrm>
            <a:off x="3204423" y="4608576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可编辑圆环"/>
          <p:cNvSpPr/>
          <p:nvPr/>
        </p:nvSpPr>
        <p:spPr>
          <a:xfrm>
            <a:off x="3385108" y="4622474"/>
            <a:ext cx="229331" cy="229331"/>
          </a:xfrm>
          <a:prstGeom prst="ellipse">
            <a:avLst/>
          </a:prstGeom>
          <a:solidFill>
            <a:srgbClr val="0C4B70">
              <a:alpha val="95000"/>
            </a:srgbClr>
          </a:solidFill>
          <a:ln w="889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文本_¥"/>
          <p:cNvSpPr txBox="1"/>
          <p:nvPr/>
        </p:nvSpPr>
        <p:spPr>
          <a:xfrm>
            <a:off x="3385108" y="4622474"/>
            <a:ext cx="229331" cy="229331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SC"/>
              </a:rPr>
              <a:t>¥</a:t>
            </a:r>
          </a:p>
        </p:txBody>
      </p:sp>
      <p:sp>
        <p:nvSpPr>
          <p:cNvPr id="61" name="可编辑KPI_≈190万"/>
          <p:cNvSpPr txBox="1"/>
          <p:nvPr/>
        </p:nvSpPr>
        <p:spPr>
          <a:xfrm>
            <a:off x="3813048" y="4059935"/>
            <a:ext cx="2148840" cy="749808"/>
          </a:xfrm>
          <a:prstGeom prst="rect">
            <a:avLst/>
          </a:prstGeom>
          <a:noFill/>
        </p:spPr>
        <p:txBody>
          <a:bodyPr wrap="square" anchor="ctr" lIns="9144" rIns="9144" tIns="0" bIns="0">
            <a:spAutoFit/>
          </a:bodyPr>
          <a:lstStyle/>
          <a:p>
            <a:pPr algn="l"/>
            <a:r>
              <a:rPr sz="4600" b="1">
                <a:solidFill>
                  <a:srgbClr val="FFC400"/>
                </a:solidFill>
                <a:latin typeface="Arial"/>
                <a:ea typeface="Noto Sans CJK SC"/>
              </a:rPr>
              <a:t>0.5小时</a:t>
            </a:r>
          </a:p>
        </p:txBody>
      </p:sp>
      <p:sp>
        <p:nvSpPr>
          <p:cNvPr id="62" name="文本_投入测算参考价值"/>
          <p:cNvSpPr txBox="1"/>
          <p:nvPr/>
        </p:nvSpPr>
        <p:spPr>
          <a:xfrm>
            <a:off x="3867911" y="4956048"/>
            <a:ext cx="208483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工单平均响应</a:t>
            </a:r>
          </a:p>
        </p:txBody>
      </p:sp>
      <p:sp>
        <p:nvSpPr>
          <p:cNvPr id="63" name="Up Arrow 62"/>
          <p:cNvSpPr/>
          <p:nvPr/>
        </p:nvSpPr>
        <p:spPr>
          <a:xfrm rot="1680000">
            <a:off x="5513831" y="4242816"/>
            <a:ext cx="210312" cy="384048"/>
          </a:xfrm>
          <a:prstGeom prst="upArrow">
            <a:avLst/>
          </a:prstGeom>
          <a:solidFill>
            <a:srgbClr val="22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可编辑圆环"/>
          <p:cNvSpPr/>
          <p:nvPr/>
        </p:nvSpPr>
        <p:spPr>
          <a:xfrm>
            <a:off x="6606540" y="50474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可编辑圆环"/>
          <p:cNvSpPr/>
          <p:nvPr/>
        </p:nvSpPr>
        <p:spPr>
          <a:xfrm>
            <a:off x="6743700" y="50337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可编辑圆环"/>
          <p:cNvSpPr/>
          <p:nvPr/>
        </p:nvSpPr>
        <p:spPr>
          <a:xfrm>
            <a:off x="6867144" y="5020055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可编辑连线"/>
          <p:cNvCxnSpPr/>
          <p:nvPr/>
        </p:nvCxnSpPr>
        <p:spPr>
          <a:xfrm flipV="1">
            <a:off x="7269480" y="451713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可编辑圆环"/>
          <p:cNvSpPr/>
          <p:nvPr/>
        </p:nvSpPr>
        <p:spPr>
          <a:xfrm>
            <a:off x="7237476" y="4489703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可编辑矩形"/>
          <p:cNvSpPr/>
          <p:nvPr/>
        </p:nvSpPr>
        <p:spPr>
          <a:xfrm>
            <a:off x="7047097" y="4330598"/>
            <a:ext cx="444764" cy="555955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可编辑连线"/>
          <p:cNvCxnSpPr/>
          <p:nvPr/>
        </p:nvCxnSpPr>
        <p:spPr>
          <a:xfrm>
            <a:off x="7130491" y="448348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可编辑连线"/>
          <p:cNvCxnSpPr/>
          <p:nvPr/>
        </p:nvCxnSpPr>
        <p:spPr>
          <a:xfrm>
            <a:off x="7130491" y="460162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可编辑连线"/>
          <p:cNvCxnSpPr/>
          <p:nvPr/>
        </p:nvCxnSpPr>
        <p:spPr>
          <a:xfrm>
            <a:off x="7130491" y="4719767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可编辑KPI_48个"/>
          <p:cNvSpPr txBox="1"/>
          <p:nvPr/>
        </p:nvSpPr>
        <p:spPr>
          <a:xfrm>
            <a:off x="7836408" y="4059935"/>
            <a:ext cx="2148840" cy="749808"/>
          </a:xfrm>
          <a:prstGeom prst="rect">
            <a:avLst/>
          </a:prstGeom>
          <a:noFill/>
        </p:spPr>
        <p:txBody>
          <a:bodyPr wrap="square" anchor="ctr" lIns="9144" rIns="9144" tIns="0" bIns="0">
            <a:spAutoFit/>
          </a:bodyPr>
          <a:lstStyle/>
          <a:p>
            <a:pPr algn="l"/>
            <a:r>
              <a:rPr sz="4600" b="1">
                <a:solidFill>
                  <a:srgbClr val="FFC400"/>
                </a:solidFill>
                <a:latin typeface="Arial"/>
                <a:ea typeface="Noto Sans CJK SC"/>
              </a:rPr>
              <a:t>95.8%</a:t>
            </a:r>
          </a:p>
        </p:txBody>
      </p:sp>
      <p:sp>
        <p:nvSpPr>
          <p:cNvPr id="74" name="文本_重点烟区应用覆盖"/>
          <p:cNvSpPr txBox="1"/>
          <p:nvPr/>
        </p:nvSpPr>
        <p:spPr>
          <a:xfrm>
            <a:off x="7891272" y="4956048"/>
            <a:ext cx="2084831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Noto Sans CJK SC"/>
              </a:rPr>
              <a:t>群众综合满意度</a:t>
            </a:r>
          </a:p>
        </p:txBody>
      </p:sp>
      <p:sp>
        <p:nvSpPr>
          <p:cNvPr id="75" name="Up Arrow 74"/>
          <p:cNvSpPr/>
          <p:nvPr/>
        </p:nvSpPr>
        <p:spPr>
          <a:xfrm rot="1680000">
            <a:off x="8842248" y="4242816"/>
            <a:ext cx="210312" cy="384048"/>
          </a:xfrm>
          <a:prstGeom prst="upArrow">
            <a:avLst/>
          </a:prstGeom>
          <a:solidFill>
            <a:srgbClr val="22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文本_看得见、调得动、修得快、"/>
          <p:cNvSpPr txBox="1"/>
          <p:nvPr/>
        </p:nvSpPr>
        <p:spPr>
          <a:xfrm>
            <a:off x="2880360" y="6199632"/>
            <a:ext cx="644652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C400"/>
                </a:solidFill>
                <a:latin typeface="Arial"/>
                <a:ea typeface="Noto Sans CJK SC"/>
              </a:rPr>
              <a:t>340+待修 ｜ 150升级纳入计划 ｜ 1363栋统筹管护 ｜ 81%覆盖 ｜ 近190万运维基金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总结：一套“智烤管家”，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latin typeface="Noto Serif CJK SC"/>
                <a:ea typeface="Noto Serif CJK SC"/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D2FAFF"/>
                    </a:gs>
                    <a:gs pos="100000">
                      <a:srgbClr val="1DD8F7"/>
                    </a:gs>
                  </a:gsLst>
                  <a:lin ang="5400000" scaled="1"/>
                </a:gradFill>
              </a:rPr>
              <a:t>总结：一套“智烤管家”，把三难变成一个闭环</a:t>
            </a: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一库清底  —  双模决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C400"/>
                </a:solidFill>
                <a:latin typeface="Arial"/>
                <a:ea typeface="Noto Sans CJK SC"/>
              </a:rPr>
              <a:t>一库见底  —  双模决策  —  三智落地  —  四队长效</a:t>
            </a:r>
          </a:p>
        </p:txBody>
      </p:sp>
      <p:cxnSp>
        <p:nvCxnSpPr>
          <p:cNvPr id="9" name="可编辑连线"/>
          <p:cNvCxnSpPr/>
          <p:nvPr/>
        </p:nvCxnSpPr>
        <p:spPr>
          <a:xfrm flipV="1">
            <a:off x="2103120" y="4096512"/>
            <a:ext cx="2542032" cy="27432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可编辑连线"/>
          <p:cNvCxnSpPr/>
          <p:nvPr/>
        </p:nvCxnSpPr>
        <p:spPr>
          <a:xfrm flipV="1">
            <a:off x="4645152" y="3547872"/>
            <a:ext cx="2807208" cy="548640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可编辑连线"/>
          <p:cNvCxnSpPr/>
          <p:nvPr/>
        </p:nvCxnSpPr>
        <p:spPr>
          <a:xfrm flipV="1">
            <a:off x="7452360" y="3035808"/>
            <a:ext cx="2651760" cy="512064"/>
          </a:xfrm>
          <a:prstGeom prst="line">
            <a:avLst/>
          </a:prstGeom>
          <a:ln w="101600">
            <a:solidFill>
              <a:srgbClr val="1688D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可编辑连线"/>
          <p:cNvCxnSpPr/>
          <p:nvPr/>
        </p:nvCxnSpPr>
        <p:spPr>
          <a:xfrm flipV="1">
            <a:off x="2103120" y="4096512"/>
            <a:ext cx="2542032" cy="27432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可编辑连线"/>
          <p:cNvCxnSpPr/>
          <p:nvPr/>
        </p:nvCxnSpPr>
        <p:spPr>
          <a:xfrm flipV="1">
            <a:off x="4645152" y="3547872"/>
            <a:ext cx="2807208" cy="548640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可编辑连线"/>
          <p:cNvCxnSpPr/>
          <p:nvPr/>
        </p:nvCxnSpPr>
        <p:spPr>
          <a:xfrm flipV="1">
            <a:off x="7452360" y="3035808"/>
            <a:ext cx="2651760" cy="512064"/>
          </a:xfrm>
          <a:prstGeom prst="line">
            <a:avLst/>
          </a:prstGeom>
          <a:ln w="57150">
            <a:solidFill>
              <a:srgbClr val="1688D8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可编辑连线"/>
          <p:cNvCxnSpPr/>
          <p:nvPr/>
        </p:nvCxnSpPr>
        <p:spPr>
          <a:xfrm flipV="1">
            <a:off x="2103120" y="4096512"/>
            <a:ext cx="2542032" cy="27432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可编辑连线"/>
          <p:cNvCxnSpPr/>
          <p:nvPr/>
        </p:nvCxnSpPr>
        <p:spPr>
          <a:xfrm flipV="1">
            <a:off x="4645152" y="3547872"/>
            <a:ext cx="2807208" cy="548640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可编辑连线"/>
          <p:cNvCxnSpPr/>
          <p:nvPr/>
        </p:nvCxnSpPr>
        <p:spPr>
          <a:xfrm flipV="1">
            <a:off x="7452360" y="3035808"/>
            <a:ext cx="2651760" cy="512064"/>
          </a:xfrm>
          <a:prstGeom prst="line">
            <a:avLst/>
          </a:prstGeom>
          <a:ln w="17780">
            <a:solidFill>
              <a:srgbClr val="22CCFA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_01"/>
          <p:cNvSpPr txBox="1"/>
          <p:nvPr/>
        </p:nvSpPr>
        <p:spPr>
          <a:xfrm>
            <a:off x="1691639" y="3108960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01</a:t>
            </a:r>
          </a:p>
        </p:txBody>
      </p:sp>
      <p:sp>
        <p:nvSpPr>
          <p:cNvPr id="21" name="文本_一库清底"/>
          <p:cNvSpPr txBox="1"/>
          <p:nvPr/>
        </p:nvSpPr>
        <p:spPr>
          <a:xfrm>
            <a:off x="1444751" y="3529584"/>
            <a:ext cx="14813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C400"/>
                </a:solidFill>
                <a:latin typeface="Arial"/>
                <a:ea typeface="Noto Sans CJK SC"/>
              </a:rPr>
              <a:t>一库见底</a:t>
            </a:r>
          </a:p>
        </p:txBody>
      </p:sp>
      <p:sp>
        <p:nvSpPr>
          <p:cNvPr id="22" name="可编辑圆环"/>
          <p:cNvSpPr/>
          <p:nvPr/>
        </p:nvSpPr>
        <p:spPr>
          <a:xfrm>
            <a:off x="1440179" y="448056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可编辑圆环"/>
          <p:cNvSpPr/>
          <p:nvPr/>
        </p:nvSpPr>
        <p:spPr>
          <a:xfrm>
            <a:off x="1577339" y="446684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可编辑圆环"/>
          <p:cNvSpPr/>
          <p:nvPr/>
        </p:nvSpPr>
        <p:spPr>
          <a:xfrm>
            <a:off x="1700784" y="445312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可编辑连线"/>
          <p:cNvCxnSpPr/>
          <p:nvPr/>
        </p:nvCxnSpPr>
        <p:spPr>
          <a:xfrm flipV="1">
            <a:off x="2103120" y="395020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可编辑圆环"/>
          <p:cNvSpPr/>
          <p:nvPr/>
        </p:nvSpPr>
        <p:spPr>
          <a:xfrm>
            <a:off x="2071115" y="392277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可编辑矩形"/>
          <p:cNvSpPr/>
          <p:nvPr/>
        </p:nvSpPr>
        <p:spPr>
          <a:xfrm>
            <a:off x="1933407" y="3829507"/>
            <a:ext cx="339425" cy="424281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可编辑连线"/>
          <p:cNvCxnSpPr/>
          <p:nvPr/>
        </p:nvCxnSpPr>
        <p:spPr>
          <a:xfrm>
            <a:off x="1997049" y="3946184"/>
            <a:ext cx="201534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可编辑连线"/>
          <p:cNvCxnSpPr/>
          <p:nvPr/>
        </p:nvCxnSpPr>
        <p:spPr>
          <a:xfrm>
            <a:off x="1997049" y="4036344"/>
            <a:ext cx="201534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可编辑连线"/>
          <p:cNvCxnSpPr/>
          <p:nvPr/>
        </p:nvCxnSpPr>
        <p:spPr>
          <a:xfrm>
            <a:off x="1997049" y="4126504"/>
            <a:ext cx="201534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_一房一档&#10;家底清楚"/>
          <p:cNvSpPr txBox="1"/>
          <p:nvPr/>
        </p:nvSpPr>
        <p:spPr>
          <a:xfrm>
            <a:off x="1325879" y="4873752"/>
            <a:ext cx="15544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Noto Sans CJK SC"/>
              </a:rPr>
              <a:t>一房一档
底数清楚</a:t>
            </a:r>
          </a:p>
        </p:txBody>
      </p:sp>
      <p:sp>
        <p:nvSpPr>
          <p:cNvPr id="33" name="文本_02"/>
          <p:cNvSpPr txBox="1"/>
          <p:nvPr/>
        </p:nvSpPr>
        <p:spPr>
          <a:xfrm>
            <a:off x="4233672" y="2834640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02</a:t>
            </a:r>
          </a:p>
        </p:txBody>
      </p:sp>
      <p:sp>
        <p:nvSpPr>
          <p:cNvPr id="35" name="文本_双模决策"/>
          <p:cNvSpPr txBox="1"/>
          <p:nvPr/>
        </p:nvSpPr>
        <p:spPr>
          <a:xfrm>
            <a:off x="3986784" y="3255264"/>
            <a:ext cx="14813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C400"/>
                </a:solidFill>
                <a:latin typeface="Arial"/>
                <a:ea typeface="Noto Sans CJK SC"/>
              </a:rPr>
              <a:t>双模决策</a:t>
            </a:r>
          </a:p>
        </p:txBody>
      </p:sp>
      <p:sp>
        <p:nvSpPr>
          <p:cNvPr id="36" name="可编辑圆环"/>
          <p:cNvSpPr/>
          <p:nvPr/>
        </p:nvSpPr>
        <p:spPr>
          <a:xfrm>
            <a:off x="3982212" y="420624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圆环"/>
          <p:cNvSpPr/>
          <p:nvPr/>
        </p:nvSpPr>
        <p:spPr>
          <a:xfrm>
            <a:off x="4119372" y="419252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圆环"/>
          <p:cNvSpPr/>
          <p:nvPr/>
        </p:nvSpPr>
        <p:spPr>
          <a:xfrm>
            <a:off x="4242816" y="417880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可编辑连线"/>
          <p:cNvCxnSpPr/>
          <p:nvPr/>
        </p:nvCxnSpPr>
        <p:spPr>
          <a:xfrm flipV="1">
            <a:off x="4645152" y="367588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可编辑圆环"/>
          <p:cNvSpPr/>
          <p:nvPr/>
        </p:nvSpPr>
        <p:spPr>
          <a:xfrm>
            <a:off x="4613148" y="3648456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可编辑圆环"/>
          <p:cNvSpPr/>
          <p:nvPr/>
        </p:nvSpPr>
        <p:spPr>
          <a:xfrm>
            <a:off x="4486046" y="3661257"/>
            <a:ext cx="201533" cy="201533"/>
          </a:xfrm>
          <a:prstGeom prst="ellipse">
            <a:avLst/>
          </a:prstGeom>
          <a:solidFill>
            <a:srgbClr val="A5EEFF">
              <a:alpha val="90000"/>
            </a:srgbClr>
          </a:solidFill>
          <a:ln w="762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可编辑矩形"/>
          <p:cNvSpPr/>
          <p:nvPr/>
        </p:nvSpPr>
        <p:spPr>
          <a:xfrm>
            <a:off x="4496653" y="3793845"/>
            <a:ext cx="116677" cy="169712"/>
          </a:xfrm>
          <a:prstGeom prst="roundRect">
            <a:avLst/>
          </a:prstGeom>
          <a:solidFill>
            <a:srgbClr val="A5EEFF">
              <a:alpha val="90000"/>
            </a:srgbClr>
          </a:solidFill>
          <a:ln w="762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ear 6 42"/>
          <p:cNvSpPr/>
          <p:nvPr/>
        </p:nvSpPr>
        <p:spPr>
          <a:xfrm>
            <a:off x="4660426" y="3668850"/>
            <a:ext cx="160378" cy="160378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可编辑圆环"/>
          <p:cNvSpPr/>
          <p:nvPr/>
        </p:nvSpPr>
        <p:spPr>
          <a:xfrm>
            <a:off x="4721522" y="3729947"/>
            <a:ext cx="38185" cy="38185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文本_评估 + 推演&#10;量化决策"/>
          <p:cNvSpPr txBox="1"/>
          <p:nvPr/>
        </p:nvSpPr>
        <p:spPr>
          <a:xfrm>
            <a:off x="3867912" y="4599432"/>
            <a:ext cx="15544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Noto Sans CJK SC"/>
              </a:rPr>
              <a:t>健康 + 导引
量化决策</a:t>
            </a:r>
          </a:p>
        </p:txBody>
      </p:sp>
      <p:sp>
        <p:nvSpPr>
          <p:cNvPr id="47" name="文本_03"/>
          <p:cNvSpPr txBox="1"/>
          <p:nvPr/>
        </p:nvSpPr>
        <p:spPr>
          <a:xfrm>
            <a:off x="7040880" y="2286000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03</a:t>
            </a:r>
          </a:p>
        </p:txBody>
      </p:sp>
      <p:sp>
        <p:nvSpPr>
          <p:cNvPr id="49" name="文本_三智落地"/>
          <p:cNvSpPr txBox="1"/>
          <p:nvPr/>
        </p:nvSpPr>
        <p:spPr>
          <a:xfrm>
            <a:off x="6793992" y="2706624"/>
            <a:ext cx="14813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C400"/>
                </a:solidFill>
                <a:latin typeface="Arial"/>
                <a:ea typeface="Noto Sans CJK SC"/>
              </a:rPr>
              <a:t>三智落地</a:t>
            </a:r>
          </a:p>
        </p:txBody>
      </p:sp>
      <p:sp>
        <p:nvSpPr>
          <p:cNvPr id="50" name="可编辑圆环"/>
          <p:cNvSpPr/>
          <p:nvPr/>
        </p:nvSpPr>
        <p:spPr>
          <a:xfrm>
            <a:off x="6789420" y="3657600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可编辑圆环"/>
          <p:cNvSpPr/>
          <p:nvPr/>
        </p:nvSpPr>
        <p:spPr>
          <a:xfrm>
            <a:off x="6926580" y="3643884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可编辑圆环"/>
          <p:cNvSpPr/>
          <p:nvPr/>
        </p:nvSpPr>
        <p:spPr>
          <a:xfrm>
            <a:off x="7050024" y="3630168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可编辑连线"/>
          <p:cNvCxnSpPr/>
          <p:nvPr/>
        </p:nvCxnSpPr>
        <p:spPr>
          <a:xfrm flipV="1">
            <a:off x="7452360" y="3127248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可编辑圆环"/>
          <p:cNvSpPr/>
          <p:nvPr/>
        </p:nvSpPr>
        <p:spPr>
          <a:xfrm>
            <a:off x="7420356" y="3099815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iamond 54"/>
          <p:cNvSpPr/>
          <p:nvPr/>
        </p:nvSpPr>
        <p:spPr>
          <a:xfrm>
            <a:off x="7250826" y="3102010"/>
            <a:ext cx="403067" cy="180319"/>
          </a:xfrm>
          <a:prstGeom prst="diamond">
            <a:avLst/>
          </a:prstGeom>
          <a:solidFill>
            <a:srgbClr val="A5EEFF">
              <a:alpha val="90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iamond 55"/>
          <p:cNvSpPr/>
          <p:nvPr/>
        </p:nvSpPr>
        <p:spPr>
          <a:xfrm>
            <a:off x="7250826" y="3176259"/>
            <a:ext cx="403067" cy="180319"/>
          </a:xfrm>
          <a:prstGeom prst="diamond">
            <a:avLst/>
          </a:prstGeom>
          <a:solidFill>
            <a:srgbClr val="22CCFA">
              <a:alpha val="75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iamond 56"/>
          <p:cNvSpPr/>
          <p:nvPr/>
        </p:nvSpPr>
        <p:spPr>
          <a:xfrm>
            <a:off x="7250826" y="3250509"/>
            <a:ext cx="403067" cy="180319"/>
          </a:xfrm>
          <a:prstGeom prst="diamond">
            <a:avLst/>
          </a:prstGeom>
          <a:solidFill>
            <a:srgbClr val="22CCFA">
              <a:alpha val="60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文本_智用 / 智投 / 智管"/>
          <p:cNvSpPr txBox="1"/>
          <p:nvPr/>
        </p:nvSpPr>
        <p:spPr>
          <a:xfrm>
            <a:off x="6675120" y="4050791"/>
            <a:ext cx="15544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Noto Sans CJK SC"/>
              </a:rPr>
              <a:t>智投 / 智用 / 智管</a:t>
            </a:r>
          </a:p>
        </p:txBody>
      </p:sp>
      <p:sp>
        <p:nvSpPr>
          <p:cNvPr id="60" name="文本_04"/>
          <p:cNvSpPr txBox="1"/>
          <p:nvPr/>
        </p:nvSpPr>
        <p:spPr>
          <a:xfrm>
            <a:off x="9692640" y="1773936"/>
            <a:ext cx="749808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04</a:t>
            </a:r>
          </a:p>
        </p:txBody>
      </p:sp>
      <p:sp>
        <p:nvSpPr>
          <p:cNvPr id="62" name="文本_四队长效"/>
          <p:cNvSpPr txBox="1"/>
          <p:nvPr/>
        </p:nvSpPr>
        <p:spPr>
          <a:xfrm>
            <a:off x="9445752" y="2194560"/>
            <a:ext cx="1481328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C400"/>
                </a:solidFill>
                <a:latin typeface="Arial"/>
                <a:ea typeface="Noto Sans CJK SC"/>
              </a:rPr>
              <a:t>四队长效</a:t>
            </a:r>
          </a:p>
        </p:txBody>
      </p:sp>
      <p:sp>
        <p:nvSpPr>
          <p:cNvPr id="63" name="可编辑圆环"/>
          <p:cNvSpPr/>
          <p:nvPr/>
        </p:nvSpPr>
        <p:spPr>
          <a:xfrm>
            <a:off x="9441180" y="3145536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可编辑圆环"/>
          <p:cNvSpPr/>
          <p:nvPr/>
        </p:nvSpPr>
        <p:spPr>
          <a:xfrm>
            <a:off x="9578340" y="3131820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可编辑圆环"/>
          <p:cNvSpPr/>
          <p:nvPr/>
        </p:nvSpPr>
        <p:spPr>
          <a:xfrm>
            <a:off x="9701784" y="3118104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可编辑连线"/>
          <p:cNvCxnSpPr/>
          <p:nvPr/>
        </p:nvCxnSpPr>
        <p:spPr>
          <a:xfrm flipV="1">
            <a:off x="10104120" y="2615184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可编辑圆环"/>
          <p:cNvSpPr/>
          <p:nvPr/>
        </p:nvSpPr>
        <p:spPr>
          <a:xfrm>
            <a:off x="10072116" y="2587751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可编辑圆环"/>
          <p:cNvSpPr/>
          <p:nvPr/>
        </p:nvSpPr>
        <p:spPr>
          <a:xfrm>
            <a:off x="9950317" y="2591537"/>
            <a:ext cx="74249" cy="7424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可编辑矩形"/>
          <p:cNvSpPr/>
          <p:nvPr/>
        </p:nvSpPr>
        <p:spPr>
          <a:xfrm>
            <a:off x="9928043" y="2684349"/>
            <a:ext cx="118798" cy="111373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可编辑圆环"/>
          <p:cNvSpPr/>
          <p:nvPr/>
        </p:nvSpPr>
        <p:spPr>
          <a:xfrm>
            <a:off x="10183672" y="2591537"/>
            <a:ext cx="74249" cy="74249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可编辑矩形"/>
          <p:cNvSpPr/>
          <p:nvPr/>
        </p:nvSpPr>
        <p:spPr>
          <a:xfrm>
            <a:off x="10161398" y="2684349"/>
            <a:ext cx="118798" cy="111373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可编辑圆环"/>
          <p:cNvSpPr/>
          <p:nvPr/>
        </p:nvSpPr>
        <p:spPr>
          <a:xfrm>
            <a:off x="10051084" y="2542214"/>
            <a:ext cx="106070" cy="106070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可编辑矩形"/>
          <p:cNvSpPr/>
          <p:nvPr/>
        </p:nvSpPr>
        <p:spPr>
          <a:xfrm>
            <a:off x="10019263" y="2674802"/>
            <a:ext cx="169712" cy="159105"/>
          </a:xfrm>
          <a:prstGeom prst="round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文本_专班 / 服务 / 管护"/>
          <p:cNvSpPr txBox="1"/>
          <p:nvPr/>
        </p:nvSpPr>
        <p:spPr>
          <a:xfrm>
            <a:off x="9326880" y="3538728"/>
            <a:ext cx="15544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Noto Sans CJK SC"/>
              </a:rPr>
              <a:t>技术 / 抢修 / 养护 / 综合</a:t>
            </a:r>
          </a:p>
        </p:txBody>
      </p:sp>
      <p:sp>
        <p:nvSpPr>
          <p:cNvPr id="76" name="文本_让每一座烤房，"/>
          <p:cNvSpPr txBox="1"/>
          <p:nvPr/>
        </p:nvSpPr>
        <p:spPr>
          <a:xfrm>
            <a:off x="4480560" y="5102352"/>
            <a:ext cx="3246120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让每一座烤房，</a:t>
            </a:r>
          </a:p>
        </p:txBody>
      </p:sp>
      <p:sp>
        <p:nvSpPr>
          <p:cNvPr id="78" name="文本_都有一份可计算、可调度、"/>
          <p:cNvSpPr txBox="1"/>
          <p:nvPr/>
        </p:nvSpPr>
        <p:spPr>
          <a:xfrm>
            <a:off x="1536192" y="5559552"/>
            <a:ext cx="9189720" cy="49377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0" i="0">
                <a:latin typeface="Arial"/>
                <a:ea typeface="Noto Sans CJK SC"/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</a:rPr>
              <a:t>都有一份可计算、可调度、可运维、可决策的健康档案</a:t>
            </a:r>
          </a:p>
        </p:txBody>
      </p:sp>
      <p:sp>
        <p:nvSpPr>
          <p:cNvPr id="79" name="文本_—    湖北烟草创客大"/>
          <p:cNvSpPr txBox="1"/>
          <p:nvPr/>
        </p:nvSpPr>
        <p:spPr>
          <a:xfrm>
            <a:off x="3703320" y="6291072"/>
            <a:ext cx="4800600" cy="2560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FC400"/>
                </a:solidFill>
                <a:latin typeface="Arial"/>
                <a:ea typeface="Noto Sans CJK SC"/>
              </a:rPr>
              <a:t>兴山、五峰等核心烟区 → 育苗棚等其他基础设施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