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69" r:id="rId17"/>
    <p:sldId id="270" r:id="rId18"/>
    <p:sldId id="272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EDFD"/>
    <a:srgbClr val="93EEFD"/>
    <a:srgbClr val="2654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背景图_仅背景不可编辑" descr="bg_full_sma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可编辑背景暗化层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" name="可编辑圆环"/>
          <p:cNvSpPr/>
          <p:nvPr/>
        </p:nvSpPr>
        <p:spPr>
          <a:xfrm>
            <a:off x="2148840" y="201168"/>
            <a:ext cx="7891272" cy="4800600"/>
          </a:xfrm>
          <a:prstGeom prst="ellipse">
            <a:avLst/>
          </a:prstGeom>
          <a:noFill/>
          <a:ln w="13970">
            <a:solidFill>
              <a:srgbClr val="1688D8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文本_让每一座烤房，都有一份可"/>
          <p:cNvSpPr txBox="1"/>
          <p:nvPr/>
        </p:nvSpPr>
        <p:spPr>
          <a:xfrm>
            <a:off x="3246120" y="4286758"/>
            <a:ext cx="571500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宋体" charset="0"/>
                <a:ea typeface="宋体" charset="0"/>
                <a:cs typeface="宋体" charset="0"/>
              </a:rPr>
              <a:t>让每一座烤房，都有一份“健康档案”</a:t>
            </a:r>
            <a:endParaRPr sz="1800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26" name="文本_一库清底   |   双"/>
          <p:cNvSpPr txBox="1"/>
          <p:nvPr/>
        </p:nvSpPr>
        <p:spPr>
          <a:xfrm>
            <a:off x="1736725" y="3260725"/>
            <a:ext cx="8416290" cy="63309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FCD3A"/>
                </a:solidFill>
                <a:latin typeface="黑体" charset="0"/>
                <a:ea typeface="黑体" charset="0"/>
                <a:cs typeface="宋体" charset="0"/>
              </a:rPr>
              <a:t>1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库见底  </a:t>
            </a:r>
            <a:r>
              <a:rPr lang="en-US"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-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sz="4000" b="1" i="0">
                <a:solidFill>
                  <a:srgbClr val="FFCD3A"/>
                </a:solidFill>
                <a:latin typeface="黑体" charset="0"/>
                <a:ea typeface="黑体" charset="0"/>
                <a:cs typeface="宋体" charset="0"/>
              </a:rPr>
              <a:t>2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模决策  </a:t>
            </a:r>
            <a:r>
              <a:rPr lang="en-US"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-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sz="4000" b="1" i="0">
                <a:solidFill>
                  <a:srgbClr val="FFCD3A"/>
                </a:solidFill>
                <a:latin typeface="黑体" charset="0"/>
                <a:ea typeface="黑体" charset="0"/>
                <a:cs typeface="宋体" charset="0"/>
              </a:rPr>
              <a:t>3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智落地  </a:t>
            </a:r>
            <a:r>
              <a:rPr lang="en-US"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-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  </a:t>
            </a:r>
            <a:r>
              <a:rPr sz="4000" b="1" i="0">
                <a:solidFill>
                  <a:srgbClr val="FFCD3A"/>
                </a:solidFill>
                <a:latin typeface="黑体" charset="0"/>
                <a:ea typeface="黑体" charset="0"/>
                <a:cs typeface="宋体" charset="0"/>
              </a:rPr>
              <a:t>4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队长效</a:t>
            </a:r>
            <a:endParaRPr sz="2800" i="0">
              <a:solidFill>
                <a:srgbClr val="FFFFFF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27" name="文本_基于健康评估的烤房用投管"/>
          <p:cNvSpPr txBox="1"/>
          <p:nvPr/>
        </p:nvSpPr>
        <p:spPr>
          <a:xfrm>
            <a:off x="3510280" y="2709228"/>
            <a:ext cx="552450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2000" i="0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——</a:t>
            </a:r>
            <a:r>
              <a:rPr sz="2000" i="0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基于健康评估的烤房用投管一体化解决方案</a:t>
            </a:r>
            <a:endParaRPr sz="2000" i="0">
              <a:solidFill>
                <a:schemeClr val="bg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8" name="文本_湖北烟草创客大赛   ·"/>
          <p:cNvSpPr txBox="1"/>
          <p:nvPr/>
        </p:nvSpPr>
        <p:spPr>
          <a:xfrm>
            <a:off x="2248535" y="6144578"/>
            <a:ext cx="7289165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i="0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宜昌市烟草公司      智同道合创客小组 </a:t>
            </a:r>
            <a:r>
              <a:rPr sz="2000" i="0">
                <a:solidFill>
                  <a:srgbClr val="C7DCE8"/>
                </a:solidFill>
                <a:latin typeface="黑体" charset="0"/>
                <a:ea typeface="黑体" charset="0"/>
                <a:cs typeface="黑体" charset="0"/>
              </a:rPr>
              <a:t>     </a:t>
            </a:r>
            <a:endParaRPr sz="2000" i="0">
              <a:solidFill>
                <a:srgbClr val="C7DCE8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1" name="4-Point Star 30"/>
          <p:cNvSpPr/>
          <p:nvPr/>
        </p:nvSpPr>
        <p:spPr>
          <a:xfrm>
            <a:off x="3657600" y="234086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2" name="4-Point Star 31"/>
          <p:cNvSpPr/>
          <p:nvPr/>
        </p:nvSpPr>
        <p:spPr>
          <a:xfrm>
            <a:off x="4160520" y="2267712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3" name="4-Point Star 32"/>
          <p:cNvSpPr/>
          <p:nvPr/>
        </p:nvSpPr>
        <p:spPr>
          <a:xfrm>
            <a:off x="4681728" y="2377440"/>
            <a:ext cx="109728" cy="10972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4" name="4-Point Star 33"/>
          <p:cNvSpPr/>
          <p:nvPr/>
        </p:nvSpPr>
        <p:spPr>
          <a:xfrm>
            <a:off x="5230368" y="2286000"/>
            <a:ext cx="54864" cy="5486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5" name="4-Point Star 34"/>
          <p:cNvSpPr/>
          <p:nvPr/>
        </p:nvSpPr>
        <p:spPr>
          <a:xfrm>
            <a:off x="5669280" y="2414016"/>
            <a:ext cx="36576" cy="3657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6" name="4-Point Star 35"/>
          <p:cNvSpPr/>
          <p:nvPr/>
        </p:nvSpPr>
        <p:spPr>
          <a:xfrm>
            <a:off x="6108192" y="2304288"/>
            <a:ext cx="118872" cy="11887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7" name="4-Point Star 36"/>
          <p:cNvSpPr/>
          <p:nvPr/>
        </p:nvSpPr>
        <p:spPr>
          <a:xfrm>
            <a:off x="6611112" y="237744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4-Point Star 37"/>
          <p:cNvSpPr/>
          <p:nvPr/>
        </p:nvSpPr>
        <p:spPr>
          <a:xfrm>
            <a:off x="7059168" y="2258568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9" name="4-Point Star 38"/>
          <p:cNvSpPr/>
          <p:nvPr/>
        </p:nvSpPr>
        <p:spPr>
          <a:xfrm>
            <a:off x="7589520" y="2368296"/>
            <a:ext cx="100584" cy="10058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0" name="4-Point Star 39"/>
          <p:cNvSpPr/>
          <p:nvPr/>
        </p:nvSpPr>
        <p:spPr>
          <a:xfrm>
            <a:off x="8065008" y="228600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1" name="4-Point Star 40"/>
          <p:cNvSpPr/>
          <p:nvPr/>
        </p:nvSpPr>
        <p:spPr>
          <a:xfrm>
            <a:off x="8485632" y="2395728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3886200" y="239572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407408" y="2331720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010912" y="2450592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5879592" y="2258568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400800" y="246888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903720" y="2331720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388352" y="2459736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891272" y="234086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3364992" y="2240280"/>
            <a:ext cx="640080" cy="25603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8183879" y="2240280"/>
            <a:ext cx="640080" cy="25603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" name="封面主标题_智烤管家_连续渐变可编辑"/>
          <p:cNvSpPr txBox="1"/>
          <p:nvPr/>
        </p:nvSpPr>
        <p:spPr>
          <a:xfrm>
            <a:off x="3980688" y="1128395"/>
            <a:ext cx="4086860" cy="1230630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ctr"/>
            <a:r>
              <a:rPr sz="8000" b="1"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C8FAFF"/>
                    </a:gs>
                    <a:gs pos="100000">
                      <a:srgbClr val="20D9FF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智烤管家</a:t>
            </a:r>
            <a:endParaRPr sz="8000" b="1">
              <a:gradFill rotWithShape="1">
                <a:gsLst>
                  <a:gs pos="0">
                    <a:srgbClr val="FFFFFF"/>
                  </a:gs>
                  <a:gs pos="42000">
                    <a:srgbClr val="FFFFFF"/>
                  </a:gs>
                  <a:gs pos="72000">
                    <a:srgbClr val="C8FAFF"/>
                  </a:gs>
                  <a:gs pos="100000">
                    <a:srgbClr val="20D9FF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033836" y="400113"/>
            <a:ext cx="2130425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烟农 </a:t>
            </a: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 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大愁</a:t>
            </a:r>
            <a:endParaRPr lang="zh-CN"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4-Point Star 89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4-Point Star 91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556760" y="1100900"/>
            <a:ext cx="3048000" cy="2305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1500" b="0">
                <a:solidFill>
                  <a:srgbClr val="B8DDF5"/>
                </a:solidFill>
                <a:latin typeface="宋体" charset="0"/>
                <a:ea typeface="宋体" charset="0"/>
              </a:rPr>
              <a:t>源于烟区一线的真实调研与实践思考</a:t>
            </a:r>
            <a:endParaRPr lang="zh-CN" altLang="en-US" sz="1500" b="0">
              <a:solidFill>
                <a:srgbClr val="B8DDF5"/>
              </a:solidFill>
              <a:latin typeface="宋体" charset="0"/>
              <a:ea typeface="宋体" charset="0"/>
            </a:endParaRPr>
          </a:p>
        </p:txBody>
      </p:sp>
      <p:sp>
        <p:nvSpPr>
          <p:cNvPr id="95" name="4-Point Star 94"/>
          <p:cNvSpPr/>
          <p:nvPr/>
        </p:nvSpPr>
        <p:spPr>
          <a:xfrm>
            <a:off x="2391156" y="1568196"/>
            <a:ext cx="100584" cy="100584"/>
          </a:xfrm>
          <a:prstGeom prst="star4">
            <a:avLst/>
          </a:prstGeom>
          <a:solidFill>
            <a:srgbClr val="FFC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1732788" y="2007107"/>
            <a:ext cx="1417320" cy="19202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1902866" y="2030150"/>
            <a:ext cx="1077163" cy="145938"/>
          </a:xfrm>
          <a:prstGeom prst="ellipse">
            <a:avLst/>
          </a:prstGeom>
          <a:noFill/>
          <a:ln w="952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2058771" y="2051273"/>
            <a:ext cx="765352" cy="103692"/>
          </a:xfrm>
          <a:prstGeom prst="ellipse">
            <a:avLst/>
          </a:prstGeom>
          <a:noFill/>
          <a:ln w="698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191385" y="1725994"/>
            <a:ext cx="509270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chemeClr val="bg1"/>
                </a:solidFill>
                <a:latin typeface="黑体" charset="0"/>
                <a:ea typeface="黑体" charset="0"/>
              </a:rPr>
              <a:t>01</a:t>
            </a:r>
            <a:endParaRPr sz="3000" b="1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438275" y="2494407"/>
            <a:ext cx="2061210" cy="4152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想用，调不到</a:t>
            </a:r>
            <a:endParaRPr lang="zh-CN" altLang="en-US"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135379" y="3250311"/>
            <a:ext cx="26670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chemeClr val="bg1"/>
                </a:solidFill>
                <a:latin typeface="宋体" charset="0"/>
                <a:ea typeface="宋体" charset="0"/>
                <a:cs typeface="黑体" charset="0"/>
              </a:rPr>
              <a:t>空房在哪、距离多远、何时能用，</a:t>
            </a:r>
            <a:endParaRPr lang="zh-CN" altLang="en-US" sz="1400" b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  <a:p>
            <a:pPr algn="ctr"/>
            <a:r>
              <a:rPr lang="zh-CN" altLang="en-US" sz="1400" b="0">
                <a:solidFill>
                  <a:schemeClr val="bg1"/>
                </a:solidFill>
                <a:latin typeface="宋体" charset="0"/>
                <a:ea typeface="宋体" charset="0"/>
                <a:cs typeface="黑体" charset="0"/>
              </a:rPr>
              <a:t>烟农心里没数</a:t>
            </a:r>
            <a:endParaRPr lang="zh-CN" altLang="en-US" sz="1400" b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</p:txBody>
      </p:sp>
      <p:sp>
        <p:nvSpPr>
          <p:cNvPr id="107" name="4-Point Star 106"/>
          <p:cNvSpPr/>
          <p:nvPr/>
        </p:nvSpPr>
        <p:spPr>
          <a:xfrm>
            <a:off x="5710428" y="1568196"/>
            <a:ext cx="100584" cy="100584"/>
          </a:xfrm>
          <a:prstGeom prst="star4">
            <a:avLst/>
          </a:prstGeom>
          <a:solidFill>
            <a:srgbClr val="FFC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5052059" y="2007107"/>
            <a:ext cx="1417320" cy="19202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5222138" y="2030150"/>
            <a:ext cx="1077163" cy="145938"/>
          </a:xfrm>
          <a:prstGeom prst="ellipse">
            <a:avLst/>
          </a:prstGeom>
          <a:noFill/>
          <a:ln w="952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5378043" y="2051273"/>
            <a:ext cx="765352" cy="103692"/>
          </a:xfrm>
          <a:prstGeom prst="ellipse">
            <a:avLst/>
          </a:prstGeom>
          <a:noFill/>
          <a:ln w="698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5510657" y="1725994"/>
            <a:ext cx="509270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sz="3000" b="1">
                <a:solidFill>
                  <a:schemeClr val="bg1"/>
                </a:solidFill>
                <a:latin typeface="黑体" charset="0"/>
                <a:ea typeface="黑体" charset="0"/>
                <a:sym typeface="+mn-ea"/>
              </a:rPr>
              <a:t>02</a:t>
            </a:r>
            <a:endParaRPr sz="3000" b="1">
              <a:solidFill>
                <a:schemeClr val="bg1"/>
              </a:solidFill>
              <a:latin typeface="黑体" charset="0"/>
              <a:ea typeface="黑体" charset="0"/>
              <a:sym typeface="+mn-ea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757547" y="2494407"/>
            <a:ext cx="2061210" cy="4152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想修，等不及</a:t>
            </a:r>
            <a:endParaRPr lang="zh-CN" altLang="en-US"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454652" y="3250311"/>
            <a:ext cx="26670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1400" b="0" i="0">
                <a:solidFill>
                  <a:schemeClr val="bg1"/>
                </a:solidFill>
                <a:latin typeface="宋体" charset="0"/>
                <a:ea typeface="宋体" charset="0"/>
              </a:rPr>
              <a:t>找谁报修、谁来抢修、多久恢复，</a:t>
            </a:r>
            <a:endParaRPr lang="zh-CN" altLang="en-US" sz="1400" b="0" i="0">
              <a:solidFill>
                <a:schemeClr val="bg1"/>
              </a:solidFill>
              <a:latin typeface="宋体" charset="0"/>
              <a:ea typeface="宋体" charset="0"/>
            </a:endParaRPr>
          </a:p>
          <a:p>
            <a:pPr algn="ctr"/>
            <a:r>
              <a:rPr lang="zh-CN" altLang="en-US" sz="1400" b="0" i="0">
                <a:solidFill>
                  <a:schemeClr val="bg1"/>
                </a:solidFill>
                <a:latin typeface="宋体" charset="0"/>
                <a:ea typeface="宋体" charset="0"/>
              </a:rPr>
              <a:t>烟农心里着急</a:t>
            </a:r>
            <a:endParaRPr lang="zh-CN" altLang="en-US" sz="1400" b="0" i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</p:txBody>
      </p:sp>
      <p:sp>
        <p:nvSpPr>
          <p:cNvPr id="119" name="4-Point Star 118"/>
          <p:cNvSpPr/>
          <p:nvPr/>
        </p:nvSpPr>
        <p:spPr>
          <a:xfrm>
            <a:off x="9038844" y="1568196"/>
            <a:ext cx="100584" cy="100584"/>
          </a:xfrm>
          <a:prstGeom prst="star4">
            <a:avLst/>
          </a:prstGeom>
          <a:solidFill>
            <a:srgbClr val="FFC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8380476" y="2007107"/>
            <a:ext cx="1417320" cy="19202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8550554" y="2030150"/>
            <a:ext cx="1077163" cy="145938"/>
          </a:xfrm>
          <a:prstGeom prst="ellipse">
            <a:avLst/>
          </a:prstGeom>
          <a:noFill/>
          <a:ln w="952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8706459" y="2051273"/>
            <a:ext cx="765352" cy="103692"/>
          </a:xfrm>
          <a:prstGeom prst="ellipse">
            <a:avLst/>
          </a:prstGeom>
          <a:noFill/>
          <a:ln w="698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8839073" y="1725994"/>
            <a:ext cx="509270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sz="3000" b="1">
                <a:solidFill>
                  <a:schemeClr val="bg1"/>
                </a:solidFill>
                <a:latin typeface="黑体" charset="0"/>
                <a:ea typeface="黑体" charset="0"/>
                <a:sym typeface="+mn-ea"/>
              </a:rPr>
              <a:t>03</a:t>
            </a:r>
            <a:endParaRPr sz="3000" b="1">
              <a:solidFill>
                <a:schemeClr val="bg1"/>
              </a:solidFill>
              <a:latin typeface="黑体" charset="0"/>
              <a:ea typeface="黑体" charset="0"/>
              <a:sym typeface="+mn-ea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8085963" y="2494407"/>
            <a:ext cx="2061210" cy="4152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想问，问不明</a:t>
            </a:r>
            <a:endParaRPr lang="zh-CN" altLang="en-US"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71968" y="3250311"/>
            <a:ext cx="24892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chemeClr val="bg1"/>
                </a:solidFill>
                <a:latin typeface="宋体" charset="0"/>
                <a:ea typeface="宋体" charset="0"/>
                <a:cs typeface="黑体" charset="0"/>
              </a:rPr>
              <a:t>状态如何、谁在管、进度到哪，</a:t>
            </a:r>
            <a:endParaRPr lang="zh-CN" altLang="en-US" sz="1400" b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  <a:p>
            <a:pPr algn="ctr"/>
            <a:r>
              <a:rPr lang="zh-CN" altLang="en-US" sz="1400" b="0">
                <a:solidFill>
                  <a:schemeClr val="bg1"/>
                </a:solidFill>
                <a:latin typeface="宋体" charset="0"/>
                <a:ea typeface="宋体" charset="0"/>
                <a:cs typeface="黑体" charset="0"/>
              </a:rPr>
              <a:t>烟农心里没底</a:t>
            </a:r>
            <a:endParaRPr lang="zh-CN" altLang="en-US" sz="1400" b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842260" y="5802440"/>
            <a:ext cx="6522720" cy="2457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烟农感受到的是“</a:t>
            </a:r>
            <a:r>
              <a:rPr lang="zh-CN"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用</a:t>
            </a:r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、修、问</a:t>
            </a:r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”，管理端真正要补的是“用、投、管</a:t>
            </a:r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”。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3494314" y="21488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4" name="4-Point Star 133"/>
          <p:cNvSpPr/>
          <p:nvPr/>
        </p:nvSpPr>
        <p:spPr>
          <a:xfrm>
            <a:off x="3641924" y="211226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3862686" y="21488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4046873" y="214884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7" name="4-Point Star 136"/>
          <p:cNvSpPr/>
          <p:nvPr/>
        </p:nvSpPr>
        <p:spPr>
          <a:xfrm>
            <a:off x="4194483" y="211226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4415245" y="214884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6822730" y="21488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4-Point Star 139"/>
          <p:cNvSpPr/>
          <p:nvPr/>
        </p:nvSpPr>
        <p:spPr>
          <a:xfrm>
            <a:off x="6970340" y="211226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7191102" y="21488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375289" y="214884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3" name="4-Point Star 142"/>
          <p:cNvSpPr/>
          <p:nvPr/>
        </p:nvSpPr>
        <p:spPr>
          <a:xfrm>
            <a:off x="7522899" y="211226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743661" y="214884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698113" y="400113"/>
            <a:ext cx="4801870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三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愁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背后，是 </a:t>
            </a: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 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大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管理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问题</a:t>
            </a:r>
            <a:endParaRPr lang="zh-CN"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4-Point Star 73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4-Point Star 75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318510" y="1100900"/>
            <a:ext cx="5524500" cy="2305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</a:rPr>
              <a:t>从烟农感受</a:t>
            </a:r>
            <a:r>
              <a:rPr lang="zh-CN" sz="1500" b="0">
                <a:solidFill>
                  <a:srgbClr val="B8DDF5"/>
                </a:solidFill>
                <a:latin typeface="黑体" charset="0"/>
                <a:ea typeface="黑体" charset="0"/>
              </a:rPr>
              <a:t>出发</a:t>
            </a:r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</a:rPr>
              <a:t>，</a:t>
            </a:r>
            <a:r>
              <a:rPr lang="zh-CN" sz="1500" b="0">
                <a:solidFill>
                  <a:srgbClr val="B8DDF5"/>
                </a:solidFill>
                <a:latin typeface="黑体" charset="0"/>
                <a:ea typeface="黑体" charset="0"/>
              </a:rPr>
              <a:t>烤房管理</a:t>
            </a:r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</a:rPr>
              <a:t>缺的是资源调度、投入决策和管护运维</a:t>
            </a:r>
            <a:endParaRPr sz="15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31520" y="1664208"/>
            <a:ext cx="7772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chemeClr val="bg1"/>
                </a:solidFill>
                <a:latin typeface="黑体" charset="0"/>
                <a:ea typeface="黑体" charset="0"/>
              </a:rPr>
              <a:t>01</a:t>
            </a:r>
            <a:endParaRPr sz="3100" b="1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79" name="4-Point Star 78"/>
          <p:cNvSpPr/>
          <p:nvPr/>
        </p:nvSpPr>
        <p:spPr>
          <a:xfrm>
            <a:off x="1078992" y="2221992"/>
            <a:ext cx="91440" cy="91440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943660" y="3970324"/>
            <a:ext cx="362102" cy="362102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997153" y="4023817"/>
            <a:ext cx="255117" cy="255117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1042415" y="4069080"/>
            <a:ext cx="164592" cy="164592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1101669" y="4128333"/>
            <a:ext cx="46085" cy="46085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554480" y="1677797"/>
            <a:ext cx="1680210" cy="6769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资源调度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缺少数字支撑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554480" y="2596896"/>
            <a:ext cx="233172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8DDF5"/>
                </a:solidFill>
                <a:latin typeface="黑体" charset="0"/>
                <a:ea typeface="黑体" charset="0"/>
              </a:rPr>
              <a:t>底数不清｜状态不明｜调剂靠电话</a:t>
            </a:r>
            <a:endParaRPr sz="12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554480" y="3822191"/>
            <a:ext cx="18288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8ABEE1"/>
                </a:solidFill>
                <a:latin typeface="黑体" charset="0"/>
                <a:ea typeface="黑体" charset="0"/>
              </a:rPr>
              <a:t>解决方案</a:t>
            </a:r>
            <a:endParaRPr sz="1000" b="0">
              <a:solidFill>
                <a:srgbClr val="8ABEE1"/>
              </a:solidFill>
              <a:latin typeface="黑体" charset="0"/>
              <a:ea typeface="黑体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165985" y="4141534"/>
            <a:ext cx="788670" cy="4768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3100" b="1">
                <a:solidFill>
                  <a:srgbClr val="FFCF37"/>
                </a:solidFill>
                <a:latin typeface="黑体" charset="0"/>
                <a:ea typeface="黑体" charset="0"/>
              </a:rPr>
              <a:t>智用</a:t>
            </a:r>
            <a:endParaRPr sz="31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06240" y="1664208"/>
            <a:ext cx="7772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chemeClr val="bg1"/>
                </a:solidFill>
                <a:latin typeface="黑体" charset="0"/>
                <a:ea typeface="黑体" charset="0"/>
              </a:rPr>
              <a:t>02</a:t>
            </a:r>
            <a:endParaRPr sz="3100" b="1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91" name="4-Point Star 90"/>
          <p:cNvSpPr/>
          <p:nvPr/>
        </p:nvSpPr>
        <p:spPr>
          <a:xfrm>
            <a:off x="4553712" y="2221992"/>
            <a:ext cx="91440" cy="91440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4418380" y="3970324"/>
            <a:ext cx="362102" cy="362102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4471873" y="4023817"/>
            <a:ext cx="255117" cy="255117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4517136" y="4069080"/>
            <a:ext cx="164592" cy="164592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4576389" y="4128333"/>
            <a:ext cx="46085" cy="46085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029200" y="1677797"/>
            <a:ext cx="1680210" cy="6769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基础设施投入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缺少量化依据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029200" y="2596896"/>
            <a:ext cx="233172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8DDF5"/>
                </a:solidFill>
                <a:latin typeface="黑体" charset="0"/>
                <a:ea typeface="黑体" charset="0"/>
              </a:rPr>
              <a:t>修谁｜建哪｜投多少，缺少模型比较</a:t>
            </a:r>
            <a:endParaRPr sz="12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029200" y="3822191"/>
            <a:ext cx="18288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8ABEE1"/>
                </a:solidFill>
                <a:latin typeface="黑体" charset="0"/>
                <a:ea typeface="黑体" charset="0"/>
              </a:rPr>
              <a:t>解决方案</a:t>
            </a:r>
            <a:endParaRPr sz="1000" b="0">
              <a:solidFill>
                <a:srgbClr val="8ABEE1"/>
              </a:solidFill>
              <a:latin typeface="黑体" charset="0"/>
              <a:ea typeface="黑体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640705" y="4141533"/>
            <a:ext cx="788670" cy="4768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sz="3100" b="1">
                <a:solidFill>
                  <a:srgbClr val="FFCF37"/>
                </a:solidFill>
                <a:latin typeface="黑体" charset="0"/>
                <a:ea typeface="黑体" charset="0"/>
                <a:sym typeface="+mn-ea"/>
              </a:rPr>
              <a:t>智投</a:t>
            </a:r>
            <a:endParaRPr sz="3100" b="1">
              <a:solidFill>
                <a:srgbClr val="FFCF37"/>
              </a:solidFill>
              <a:latin typeface="黑体" charset="0"/>
              <a:ea typeface="黑体" charset="0"/>
              <a:sym typeface="+mn-ea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7680960" y="1664208"/>
            <a:ext cx="7772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chemeClr val="bg1"/>
                </a:solidFill>
                <a:latin typeface="黑体" charset="0"/>
                <a:ea typeface="黑体" charset="0"/>
              </a:rPr>
              <a:t>03</a:t>
            </a:r>
            <a:endParaRPr sz="3100" b="1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3" name="4-Point Star 102"/>
          <p:cNvSpPr/>
          <p:nvPr/>
        </p:nvSpPr>
        <p:spPr>
          <a:xfrm>
            <a:off x="8028431" y="2221992"/>
            <a:ext cx="91440" cy="91440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7893100" y="3970324"/>
            <a:ext cx="362102" cy="362102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7946593" y="4023817"/>
            <a:ext cx="255117" cy="255117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7991856" y="4069080"/>
            <a:ext cx="164592" cy="164592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8051109" y="4128333"/>
            <a:ext cx="46085" cy="46085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503919" y="1677797"/>
            <a:ext cx="3080385" cy="6769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管护运维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缺少闭环约束与智能工具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503919" y="2596896"/>
            <a:ext cx="233172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8DDF5"/>
                </a:solidFill>
                <a:latin typeface="黑体" charset="0"/>
                <a:ea typeface="黑体" charset="0"/>
              </a:rPr>
              <a:t>责任不清｜流程不闭环｜队伍资金难统筹</a:t>
            </a:r>
            <a:endParaRPr sz="12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503919" y="3822191"/>
            <a:ext cx="18288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8ABEE1"/>
                </a:solidFill>
                <a:latin typeface="黑体" charset="0"/>
                <a:ea typeface="黑体" charset="0"/>
              </a:rPr>
              <a:t>解决方案</a:t>
            </a:r>
            <a:endParaRPr sz="1000" b="0">
              <a:solidFill>
                <a:srgbClr val="8ABEE1"/>
              </a:solidFill>
              <a:latin typeface="黑体" charset="0"/>
              <a:ea typeface="黑体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115424" y="4141533"/>
            <a:ext cx="788670" cy="4768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sz="3100" b="1">
                <a:solidFill>
                  <a:srgbClr val="FFCF37"/>
                </a:solidFill>
                <a:latin typeface="黑体" charset="0"/>
                <a:ea typeface="黑体" charset="0"/>
                <a:sym typeface="+mn-ea"/>
              </a:rPr>
              <a:t>智管</a:t>
            </a:r>
            <a:endParaRPr sz="3100" b="1">
              <a:solidFill>
                <a:srgbClr val="FFCF37"/>
              </a:solidFill>
              <a:latin typeface="黑体" charset="0"/>
              <a:ea typeface="黑体" charset="0"/>
              <a:sym typeface="+mn-ea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508760" y="5614416"/>
            <a:ext cx="9144000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  <a:cs typeface="黑体" charset="0"/>
              </a:rPr>
              <a:t>三类问题不是三个孤岛，而是一件事：缺少一套“</a:t>
            </a:r>
            <a:r>
              <a:rPr sz="18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用投管一体化</a:t>
            </a:r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  <a:cs typeface="黑体" charset="0"/>
              </a:rPr>
              <a:t>”的数字能力。</a:t>
            </a:r>
            <a:endParaRPr sz="1500" b="0">
              <a:solidFill>
                <a:srgbClr val="B8DD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6" name="4-Point Star 115"/>
          <p:cNvSpPr/>
          <p:nvPr/>
        </p:nvSpPr>
        <p:spPr>
          <a:xfrm>
            <a:off x="1929384" y="3310128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7" name="4-Point Star 116"/>
          <p:cNvSpPr/>
          <p:nvPr/>
        </p:nvSpPr>
        <p:spPr>
          <a:xfrm>
            <a:off x="1965960" y="345643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8" name="4-Point Star 117"/>
          <p:cNvSpPr/>
          <p:nvPr/>
        </p:nvSpPr>
        <p:spPr>
          <a:xfrm>
            <a:off x="2002536" y="3602736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9" name="4-Point Star 118"/>
          <p:cNvSpPr/>
          <p:nvPr/>
        </p:nvSpPr>
        <p:spPr>
          <a:xfrm>
            <a:off x="5404104" y="3310128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0" name="4-Point Star 119"/>
          <p:cNvSpPr/>
          <p:nvPr/>
        </p:nvSpPr>
        <p:spPr>
          <a:xfrm>
            <a:off x="5440680" y="345643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1" name="4-Point Star 120"/>
          <p:cNvSpPr/>
          <p:nvPr/>
        </p:nvSpPr>
        <p:spPr>
          <a:xfrm>
            <a:off x="5477256" y="3602736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2" name="4-Point Star 121"/>
          <p:cNvSpPr/>
          <p:nvPr/>
        </p:nvSpPr>
        <p:spPr>
          <a:xfrm>
            <a:off x="8878824" y="3310128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3" name="4-Point Star 122"/>
          <p:cNvSpPr/>
          <p:nvPr/>
        </p:nvSpPr>
        <p:spPr>
          <a:xfrm>
            <a:off x="8915400" y="345643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4" name="4-Point Star 123"/>
          <p:cNvSpPr/>
          <p:nvPr/>
        </p:nvSpPr>
        <p:spPr>
          <a:xfrm>
            <a:off x="8951976" y="3602736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25" name="Connector 124"/>
          <p:cNvCxnSpPr/>
          <p:nvPr/>
        </p:nvCxnSpPr>
        <p:spPr>
          <a:xfrm>
            <a:off x="1536192" y="4681728"/>
            <a:ext cx="111648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652674" y="4681728"/>
            <a:ext cx="338328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3041751" y="4658868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3126333" y="466526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9" name="4-Point Star 128"/>
          <p:cNvSpPr/>
          <p:nvPr/>
        </p:nvSpPr>
        <p:spPr>
          <a:xfrm>
            <a:off x="3202457" y="4631436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30" name="Connector 129"/>
          <p:cNvCxnSpPr/>
          <p:nvPr/>
        </p:nvCxnSpPr>
        <p:spPr>
          <a:xfrm>
            <a:off x="5010912" y="4681728"/>
            <a:ext cx="111648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127394" y="4681728"/>
            <a:ext cx="338328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6516471" y="4658868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601053" y="466526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4" name="4-Point Star 133"/>
          <p:cNvSpPr/>
          <p:nvPr/>
        </p:nvSpPr>
        <p:spPr>
          <a:xfrm>
            <a:off x="6677177" y="4631436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35" name="Connector 134"/>
          <p:cNvCxnSpPr/>
          <p:nvPr/>
        </p:nvCxnSpPr>
        <p:spPr>
          <a:xfrm>
            <a:off x="8485632" y="4681728"/>
            <a:ext cx="111648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602114" y="4681728"/>
            <a:ext cx="338328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9991191" y="4658868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10075773" y="466526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9" name="4-Point Star 138"/>
          <p:cNvSpPr/>
          <p:nvPr/>
        </p:nvSpPr>
        <p:spPr>
          <a:xfrm>
            <a:off x="10151897" y="4631436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426208" y="308038"/>
            <a:ext cx="7345680" cy="64579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一套</a:t>
            </a:r>
            <a:r>
              <a:rPr sz="30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“</a:t>
            </a:r>
            <a:r>
              <a:rPr sz="42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1234</a:t>
            </a:r>
            <a:r>
              <a:rPr sz="30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”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，把三类问题串成一个闭环</a:t>
            </a:r>
            <a:endParaRPr sz="3000" b="1">
              <a:solidFill>
                <a:srgbClr val="F5FB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4-Point Star 82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4-Point Star 84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pic>
        <p:nvPicPr>
          <p:cNvPr id="87" name="Picture 86" descr="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0789920" cy="3383280"/>
          </a:xfrm>
          <a:prstGeom prst="rect">
            <a:avLst/>
          </a:prstGeom>
        </p:spPr>
      </p:pic>
      <p:sp>
        <p:nvSpPr>
          <p:cNvPr id="88" name="Oval 87"/>
          <p:cNvSpPr/>
          <p:nvPr/>
        </p:nvSpPr>
        <p:spPr>
          <a:xfrm>
            <a:off x="1155801" y="4182465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1233068" y="4259732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1298448" y="4325112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1384035" y="4410699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99681" y="3431858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1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399032" y="3541078"/>
            <a:ext cx="1144905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库见底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399032" y="4089463"/>
            <a:ext cx="16002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一房一档｜底数清楚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3716121" y="3834993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793388" y="3912260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3858768" y="3977640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3944355" y="4063227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560000" y="3084385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2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959352" y="3209163"/>
            <a:ext cx="10668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  <a:sym typeface="+mn-ea"/>
              </a:rPr>
              <a:t>模决策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959352" y="3741992"/>
            <a:ext cx="16002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健康评估｜发展导引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6459321" y="3313785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536588" y="3391052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601968" y="3456432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687555" y="3542019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303201" y="2563178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3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702552" y="2687955"/>
            <a:ext cx="10668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  <a:sym typeface="+mn-ea"/>
              </a:rPr>
              <a:t>智落地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702552" y="3220783"/>
            <a:ext cx="14224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智用｜智投｜智管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9293961" y="2756001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9371228" y="2833268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9436607" y="2898648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9522195" y="2984235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9128951" y="2014918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4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9537192" y="2130171"/>
            <a:ext cx="10668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  <a:sym typeface="+mn-ea"/>
              </a:rPr>
              <a:t>队长效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9537192" y="2663000"/>
            <a:ext cx="19558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技术｜抢修｜养护｜综合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508760" y="5879592"/>
            <a:ext cx="914400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从“借不到、修不准、问不清”，走向“看得见、算得清、管得住”</a:t>
            </a:r>
            <a:endParaRPr sz="1700" b="1">
              <a:solidFill>
                <a:srgbClr val="FFCF37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9" name="箭头: 燕尾形 10"/>
          <p:cNvSpPr/>
          <p:nvPr/>
        </p:nvSpPr>
        <p:spPr>
          <a:xfrm rot="20400000">
            <a:off x="474980" y="4838065"/>
            <a:ext cx="85598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2" name="箭头: 燕尾形 10"/>
          <p:cNvSpPr/>
          <p:nvPr/>
        </p:nvSpPr>
        <p:spPr>
          <a:xfrm rot="20400000">
            <a:off x="3087370" y="4406265"/>
            <a:ext cx="817245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3" name="箭头: 燕尾形 10"/>
          <p:cNvSpPr/>
          <p:nvPr/>
        </p:nvSpPr>
        <p:spPr>
          <a:xfrm rot="20400000">
            <a:off x="5751195" y="3822700"/>
            <a:ext cx="809625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4" name="箭头: 燕尾形 10"/>
          <p:cNvSpPr/>
          <p:nvPr/>
        </p:nvSpPr>
        <p:spPr>
          <a:xfrm rot="20400000">
            <a:off x="8494395" y="3171825"/>
            <a:ext cx="809625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6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一库清底：先把家底摸清楚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1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库见底：先把“家底”变成可用数据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让每一座烤房，都有一份动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让每一座烤房都有一份动态更新、全过程可溯的档案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0" name="文本_01"/>
          <p:cNvSpPr txBox="1"/>
          <p:nvPr/>
        </p:nvSpPr>
        <p:spPr>
          <a:xfrm>
            <a:off x="960120" y="1783080"/>
            <a:ext cx="74980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01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" name="可编辑圆环"/>
          <p:cNvSpPr/>
          <p:nvPr/>
        </p:nvSpPr>
        <p:spPr>
          <a:xfrm>
            <a:off x="148590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可编辑圆环"/>
          <p:cNvSpPr/>
          <p:nvPr/>
        </p:nvSpPr>
        <p:spPr>
          <a:xfrm>
            <a:off x="1623060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可编辑圆环"/>
          <p:cNvSpPr/>
          <p:nvPr/>
        </p:nvSpPr>
        <p:spPr>
          <a:xfrm>
            <a:off x="1746504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148840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116836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可编辑矩形"/>
          <p:cNvSpPr/>
          <p:nvPr/>
        </p:nvSpPr>
        <p:spPr>
          <a:xfrm>
            <a:off x="2011314" y="1839772"/>
            <a:ext cx="275051" cy="343814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7" name="可编辑连线"/>
          <p:cNvCxnSpPr/>
          <p:nvPr/>
        </p:nvCxnSpPr>
        <p:spPr>
          <a:xfrm>
            <a:off x="2062886" y="1934321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可编辑连线"/>
          <p:cNvCxnSpPr/>
          <p:nvPr/>
        </p:nvCxnSpPr>
        <p:spPr>
          <a:xfrm>
            <a:off x="2062886" y="200738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可编辑连线"/>
          <p:cNvCxnSpPr/>
          <p:nvPr/>
        </p:nvCxnSpPr>
        <p:spPr>
          <a:xfrm>
            <a:off x="2062886" y="208044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_现场采集"/>
          <p:cNvSpPr txBox="1"/>
          <p:nvPr/>
        </p:nvSpPr>
        <p:spPr>
          <a:xfrm>
            <a:off x="1463040" y="2487168"/>
            <a:ext cx="1874519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现场采集</a:t>
            </a:r>
            <a:endParaRPr sz="22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2" name="文本_位置、容量、状态、设备、"/>
          <p:cNvSpPr txBox="1"/>
          <p:nvPr/>
        </p:nvSpPr>
        <p:spPr>
          <a:xfrm>
            <a:off x="731520" y="2907792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加热 / 散热 / 自控 / 附属，18个关键部件</a:t>
            </a:r>
            <a:endParaRPr sz="12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" name="文本_02"/>
          <p:cNvSpPr txBox="1"/>
          <p:nvPr/>
        </p:nvSpPr>
        <p:spPr>
          <a:xfrm>
            <a:off x="4709159" y="1783080"/>
            <a:ext cx="74980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02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7" name="可编辑圆环"/>
          <p:cNvSpPr/>
          <p:nvPr/>
        </p:nvSpPr>
        <p:spPr>
          <a:xfrm>
            <a:off x="523494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可编辑圆环"/>
          <p:cNvSpPr/>
          <p:nvPr/>
        </p:nvSpPr>
        <p:spPr>
          <a:xfrm>
            <a:off x="5372099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9" name="可编辑圆环"/>
          <p:cNvSpPr/>
          <p:nvPr/>
        </p:nvSpPr>
        <p:spPr>
          <a:xfrm>
            <a:off x="5495543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0" name="可编辑连线"/>
          <p:cNvCxnSpPr/>
          <p:nvPr/>
        </p:nvCxnSpPr>
        <p:spPr>
          <a:xfrm flipV="1">
            <a:off x="5897879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可编辑圆环"/>
          <p:cNvSpPr/>
          <p:nvPr/>
        </p:nvSpPr>
        <p:spPr>
          <a:xfrm>
            <a:off x="5865875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2" name="可编辑矩形"/>
          <p:cNvSpPr/>
          <p:nvPr/>
        </p:nvSpPr>
        <p:spPr>
          <a:xfrm>
            <a:off x="5760354" y="1839772"/>
            <a:ext cx="275051" cy="343814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3" name="可编辑连线"/>
          <p:cNvCxnSpPr/>
          <p:nvPr/>
        </p:nvCxnSpPr>
        <p:spPr>
          <a:xfrm>
            <a:off x="5811926" y="1934321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可编辑连线"/>
          <p:cNvCxnSpPr/>
          <p:nvPr/>
        </p:nvCxnSpPr>
        <p:spPr>
          <a:xfrm>
            <a:off x="5811926" y="200738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可编辑连线"/>
          <p:cNvCxnSpPr/>
          <p:nvPr/>
        </p:nvCxnSpPr>
        <p:spPr>
          <a:xfrm>
            <a:off x="5811926" y="208044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_标准判定"/>
          <p:cNvSpPr txBox="1"/>
          <p:nvPr/>
        </p:nvSpPr>
        <p:spPr>
          <a:xfrm>
            <a:off x="5212079" y="2487168"/>
            <a:ext cx="1874519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标准判定</a:t>
            </a:r>
            <a:endParaRPr sz="22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8" name="文本_统一口径 / 健康评分 "/>
          <p:cNvSpPr txBox="1"/>
          <p:nvPr/>
        </p:nvSpPr>
        <p:spPr>
          <a:xfrm>
            <a:off x="4480559" y="2907792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正常 / 损坏 / 缺失；优良 / 一般 / 较差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2" name="文本_03"/>
          <p:cNvSpPr txBox="1"/>
          <p:nvPr/>
        </p:nvSpPr>
        <p:spPr>
          <a:xfrm>
            <a:off x="8458200" y="1783080"/>
            <a:ext cx="74980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03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43" name="可编辑圆环"/>
          <p:cNvSpPr/>
          <p:nvPr/>
        </p:nvSpPr>
        <p:spPr>
          <a:xfrm>
            <a:off x="898398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可编辑圆环"/>
          <p:cNvSpPr/>
          <p:nvPr/>
        </p:nvSpPr>
        <p:spPr>
          <a:xfrm>
            <a:off x="9121140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5" name="可编辑圆环"/>
          <p:cNvSpPr/>
          <p:nvPr/>
        </p:nvSpPr>
        <p:spPr>
          <a:xfrm>
            <a:off x="9244584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46" name="可编辑连线"/>
          <p:cNvCxnSpPr/>
          <p:nvPr/>
        </p:nvCxnSpPr>
        <p:spPr>
          <a:xfrm flipV="1">
            <a:off x="9646920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可编辑圆环"/>
          <p:cNvSpPr/>
          <p:nvPr/>
        </p:nvSpPr>
        <p:spPr>
          <a:xfrm>
            <a:off x="9614916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8" name="可编辑矩形"/>
          <p:cNvSpPr/>
          <p:nvPr/>
        </p:nvSpPr>
        <p:spPr>
          <a:xfrm>
            <a:off x="9483608" y="1925726"/>
            <a:ext cx="326623" cy="223479"/>
          </a:xfrm>
          <a:prstGeom prst="roundRect">
            <a:avLst/>
          </a:prstGeom>
          <a:solidFill>
            <a:srgbClr val="2E8ED0">
              <a:alpha val="90000"/>
            </a:srgbClr>
          </a:solidFill>
          <a:ln w="1143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9" name="可编辑矩形"/>
          <p:cNvSpPr/>
          <p:nvPr/>
        </p:nvSpPr>
        <p:spPr>
          <a:xfrm>
            <a:off x="9526584" y="1856963"/>
            <a:ext cx="120335" cy="85953"/>
          </a:xfrm>
          <a:prstGeom prst="rect">
            <a:avLst/>
          </a:prstGeom>
          <a:solidFill>
            <a:srgbClr val="2E8ED0">
              <a:alpha val="90000"/>
            </a:srgbClr>
          </a:solidFill>
          <a:ln w="1143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1" name="文本_一房一档"/>
          <p:cNvSpPr txBox="1"/>
          <p:nvPr/>
        </p:nvSpPr>
        <p:spPr>
          <a:xfrm>
            <a:off x="8961120" y="2487168"/>
            <a:ext cx="1874519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一房一档</a:t>
            </a:r>
            <a:endParaRPr sz="22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52" name="文本_动态更新 / 可查可用 "/>
          <p:cNvSpPr txBox="1"/>
          <p:nvPr/>
        </p:nvSpPr>
        <p:spPr>
          <a:xfrm>
            <a:off x="8229600" y="2907792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基础信息 / 部件状态 / 维修记录 / 用户评价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5" name="文本_结果：  空闲房在哪、故"/>
          <p:cNvSpPr txBox="1"/>
          <p:nvPr/>
        </p:nvSpPr>
        <p:spPr>
          <a:xfrm>
            <a:off x="2057400" y="6108192"/>
            <a:ext cx="809244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18个部件用于数据归集，12个关键部件进入健康模型计算</a:t>
            </a:r>
            <a:endParaRPr sz="195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22960" y="3410712"/>
            <a:ext cx="2834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CD3A"/>
                </a:solidFill>
                <a:latin typeface="黑体" charset="0"/>
                <a:ea typeface="黑体" charset="0"/>
                <a:cs typeface="黑体" charset="0"/>
              </a:rPr>
              <a:t>真实系统 · 烤房智管工作台</a:t>
            </a:r>
            <a:endParaRPr sz="1300" b="1">
              <a:solidFill>
                <a:srgbClr val="FFCD3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767328"/>
            <a:ext cx="2880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从“有一张表”变成“一房一档、状态可见、记录可追溯”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22960" y="4599432"/>
            <a:ext cx="28346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BADFF4"/>
                </a:solidFill>
                <a:latin typeface="黑体" charset="0"/>
                <a:ea typeface="黑体" charset="0"/>
                <a:cs typeface="黑体" charset="0"/>
              </a:rPr>
              <a:t>2442座建档  ·  状态分布  ·  预警待办  ·  工单闭环</a:t>
            </a:r>
            <a:endParaRPr sz="1050" b="0">
              <a:solidFill>
                <a:srgbClr val="BADF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113" name="Picture 112" descr="总览web_float.png"/>
          <p:cNvPicPr>
            <a:picLocks noChangeAspect="1"/>
          </p:cNvPicPr>
          <p:nvPr/>
        </p:nvPicPr>
        <p:blipFill>
          <a:blip r:embed="rId2"/>
          <a:srcRect t="16511" b="16511"/>
          <a:stretch>
            <a:fillRect/>
          </a:stretch>
        </p:blipFill>
        <p:spPr>
          <a:xfrm>
            <a:off x="3794760" y="3246120"/>
            <a:ext cx="7635240" cy="2651760"/>
          </a:xfrm>
          <a:prstGeom prst="rect">
            <a:avLst/>
          </a:prstGeom>
        </p:spPr>
      </p:pic>
      <p:sp>
        <p:nvSpPr>
          <p:cNvPr id="114" name="4-Point Star 113"/>
          <p:cNvSpPr/>
          <p:nvPr/>
        </p:nvSpPr>
        <p:spPr>
          <a:xfrm>
            <a:off x="3977640" y="2318003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5" name="4-Point Star 114"/>
          <p:cNvSpPr/>
          <p:nvPr/>
        </p:nvSpPr>
        <p:spPr>
          <a:xfrm>
            <a:off x="4153662" y="2318003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6" name="4-Point Star 115"/>
          <p:cNvSpPr/>
          <p:nvPr/>
        </p:nvSpPr>
        <p:spPr>
          <a:xfrm>
            <a:off x="7726680" y="2318003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7" name="4-Point Star 116"/>
          <p:cNvSpPr/>
          <p:nvPr/>
        </p:nvSpPr>
        <p:spPr>
          <a:xfrm>
            <a:off x="7902702" y="2318003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3389811" y="251460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9" name="4-Point Star 118"/>
          <p:cNvSpPr/>
          <p:nvPr/>
        </p:nvSpPr>
        <p:spPr>
          <a:xfrm>
            <a:off x="3588366" y="247802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3860074" y="251460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4095205" y="25146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2" name="4-Point Star 121"/>
          <p:cNvSpPr/>
          <p:nvPr/>
        </p:nvSpPr>
        <p:spPr>
          <a:xfrm>
            <a:off x="4293761" y="247802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4565468" y="25146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7138851" y="251460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5" name="4-Point Star 124"/>
          <p:cNvSpPr/>
          <p:nvPr/>
        </p:nvSpPr>
        <p:spPr>
          <a:xfrm>
            <a:off x="7337406" y="247802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7609114" y="251460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7844245" y="25146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8" name="4-Point Star 127"/>
          <p:cNvSpPr/>
          <p:nvPr/>
        </p:nvSpPr>
        <p:spPr>
          <a:xfrm>
            <a:off x="8042801" y="247802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314508" y="25146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5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模型① 烤房健康评估：从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2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模① 烤房健康评估：从打分到维修优先序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给一座烤房一个分数，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不是为了“打分”，而是把风险变成可执行的维修优先序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" name="文本_01"/>
          <p:cNvSpPr txBox="1"/>
          <p:nvPr/>
        </p:nvSpPr>
        <p:spPr>
          <a:xfrm>
            <a:off x="1188720" y="1600200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01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" name="可编辑圆环"/>
          <p:cNvSpPr/>
          <p:nvPr/>
        </p:nvSpPr>
        <p:spPr>
          <a:xfrm>
            <a:off x="1577340" y="221284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可编辑圆环"/>
          <p:cNvSpPr/>
          <p:nvPr/>
        </p:nvSpPr>
        <p:spPr>
          <a:xfrm>
            <a:off x="1714500" y="219913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可编辑圆环"/>
          <p:cNvSpPr/>
          <p:nvPr/>
        </p:nvSpPr>
        <p:spPr>
          <a:xfrm>
            <a:off x="1837944" y="218541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240280" y="168249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208276" y="165506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可编辑矩形"/>
          <p:cNvSpPr/>
          <p:nvPr/>
        </p:nvSpPr>
        <p:spPr>
          <a:xfrm>
            <a:off x="2093976" y="1591056"/>
            <a:ext cx="292608" cy="365760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7" name="可编辑连线"/>
          <p:cNvCxnSpPr/>
          <p:nvPr/>
        </p:nvCxnSpPr>
        <p:spPr>
          <a:xfrm>
            <a:off x="2148840" y="1691640"/>
            <a:ext cx="173736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可编辑连线"/>
          <p:cNvCxnSpPr/>
          <p:nvPr/>
        </p:nvCxnSpPr>
        <p:spPr>
          <a:xfrm>
            <a:off x="2148840" y="1769364"/>
            <a:ext cx="173736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可编辑连线"/>
          <p:cNvCxnSpPr/>
          <p:nvPr/>
        </p:nvCxnSpPr>
        <p:spPr>
          <a:xfrm>
            <a:off x="2148840" y="1847088"/>
            <a:ext cx="173736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_状态标准化"/>
          <p:cNvSpPr txBox="1"/>
          <p:nvPr/>
        </p:nvSpPr>
        <p:spPr>
          <a:xfrm>
            <a:off x="1188720" y="2148840"/>
            <a:ext cx="2103120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评价输入</a:t>
            </a:r>
            <a:endParaRPr sz="235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2" name="文本_12类部件 / 状态采集"/>
          <p:cNvSpPr txBox="1"/>
          <p:nvPr/>
        </p:nvSpPr>
        <p:spPr>
          <a:xfrm>
            <a:off x="868680" y="2560320"/>
            <a:ext cx="2743200" cy="3017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部件状态80% / 管护情况10% / 现场评价10%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4" name="文本_02"/>
          <p:cNvSpPr txBox="1"/>
          <p:nvPr/>
        </p:nvSpPr>
        <p:spPr>
          <a:xfrm>
            <a:off x="4937760" y="1600200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02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5" name="可编辑圆环"/>
          <p:cNvSpPr/>
          <p:nvPr/>
        </p:nvSpPr>
        <p:spPr>
          <a:xfrm>
            <a:off x="5326380" y="221284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" name="可编辑圆环"/>
          <p:cNvSpPr/>
          <p:nvPr/>
        </p:nvSpPr>
        <p:spPr>
          <a:xfrm>
            <a:off x="5463540" y="219913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7" name="可编辑圆环"/>
          <p:cNvSpPr/>
          <p:nvPr/>
        </p:nvSpPr>
        <p:spPr>
          <a:xfrm>
            <a:off x="5586983" y="218541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28" name="可编辑连线"/>
          <p:cNvCxnSpPr/>
          <p:nvPr/>
        </p:nvCxnSpPr>
        <p:spPr>
          <a:xfrm flipV="1">
            <a:off x="5989320" y="168249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可编辑圆环"/>
          <p:cNvSpPr/>
          <p:nvPr/>
        </p:nvSpPr>
        <p:spPr>
          <a:xfrm>
            <a:off x="5957316" y="165506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0" name="Gear 6 29"/>
          <p:cNvSpPr/>
          <p:nvPr/>
        </p:nvSpPr>
        <p:spPr>
          <a:xfrm>
            <a:off x="5797296" y="1581912"/>
            <a:ext cx="384048" cy="384048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1" name="可编辑圆环"/>
          <p:cNvSpPr/>
          <p:nvPr/>
        </p:nvSpPr>
        <p:spPr>
          <a:xfrm>
            <a:off x="5943600" y="1728216"/>
            <a:ext cx="91440" cy="91440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3" name="文本_AHP组合评分"/>
          <p:cNvSpPr txBox="1"/>
          <p:nvPr/>
        </p:nvSpPr>
        <p:spPr>
          <a:xfrm>
            <a:off x="4937760" y="2148840"/>
            <a:ext cx="2103120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AHP综合评分</a:t>
            </a:r>
            <a:endParaRPr sz="235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4" name="文本_权重确定 / 综合评价 "/>
          <p:cNvSpPr txBox="1"/>
          <p:nvPr/>
        </p:nvSpPr>
        <p:spPr>
          <a:xfrm>
            <a:off x="4617720" y="2560320"/>
            <a:ext cx="2743200" cy="3017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12部件权重 / 威布尔寿命 / 健康校准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6" name="文本_03"/>
          <p:cNvSpPr txBox="1"/>
          <p:nvPr/>
        </p:nvSpPr>
        <p:spPr>
          <a:xfrm>
            <a:off x="8778240" y="1600200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03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7" name="可编辑圆环"/>
          <p:cNvSpPr/>
          <p:nvPr/>
        </p:nvSpPr>
        <p:spPr>
          <a:xfrm>
            <a:off x="9166860" y="221284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可编辑圆环"/>
          <p:cNvSpPr/>
          <p:nvPr/>
        </p:nvSpPr>
        <p:spPr>
          <a:xfrm>
            <a:off x="9304020" y="219913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9" name="可编辑圆环"/>
          <p:cNvSpPr/>
          <p:nvPr/>
        </p:nvSpPr>
        <p:spPr>
          <a:xfrm>
            <a:off x="9427464" y="218541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40" name="可编辑连线"/>
          <p:cNvCxnSpPr/>
          <p:nvPr/>
        </p:nvCxnSpPr>
        <p:spPr>
          <a:xfrm flipV="1">
            <a:off x="9829800" y="168249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可编辑圆环"/>
          <p:cNvSpPr/>
          <p:nvPr/>
        </p:nvSpPr>
        <p:spPr>
          <a:xfrm>
            <a:off x="9797796" y="165506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2" name="可编辑矩形"/>
          <p:cNvSpPr/>
          <p:nvPr/>
        </p:nvSpPr>
        <p:spPr>
          <a:xfrm>
            <a:off x="9656064" y="1751076"/>
            <a:ext cx="77724" cy="16002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3" name="可编辑矩形"/>
          <p:cNvSpPr/>
          <p:nvPr/>
        </p:nvSpPr>
        <p:spPr>
          <a:xfrm>
            <a:off x="9765792" y="1659636"/>
            <a:ext cx="77724" cy="25146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可编辑矩形"/>
          <p:cNvSpPr/>
          <p:nvPr/>
        </p:nvSpPr>
        <p:spPr>
          <a:xfrm>
            <a:off x="9875520" y="1536192"/>
            <a:ext cx="77724" cy="37490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45" name="可编辑连线"/>
          <p:cNvCxnSpPr/>
          <p:nvPr/>
        </p:nvCxnSpPr>
        <p:spPr>
          <a:xfrm>
            <a:off x="9624060" y="1920240"/>
            <a:ext cx="397764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本_Weibull估寿"/>
          <p:cNvSpPr txBox="1"/>
          <p:nvPr/>
        </p:nvSpPr>
        <p:spPr>
          <a:xfrm>
            <a:off x="8778240" y="2148840"/>
            <a:ext cx="2103120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60分安全预警</a:t>
            </a:r>
            <a:endParaRPr sz="235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8" name="文本_剩余寿命 / 失效概率 "/>
          <p:cNvSpPr txBox="1"/>
          <p:nvPr/>
        </p:nvSpPr>
        <p:spPr>
          <a:xfrm>
            <a:off x="8458200" y="2560320"/>
            <a:ext cx="2743200" cy="3017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健康分 / 五级分层 / 风险部位排序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6" name="可编辑圆环"/>
          <p:cNvSpPr/>
          <p:nvPr/>
        </p:nvSpPr>
        <p:spPr>
          <a:xfrm>
            <a:off x="1261872" y="2788920"/>
            <a:ext cx="310896" cy="310896"/>
          </a:xfrm>
          <a:prstGeom prst="ellipse">
            <a:avLst/>
          </a:prstGeom>
          <a:solidFill>
            <a:srgbClr val="0B4165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4" name="文本_评分只是中间量，真正输出"/>
          <p:cNvSpPr txBox="1"/>
          <p:nvPr/>
        </p:nvSpPr>
        <p:spPr>
          <a:xfrm>
            <a:off x="2743200" y="6172200"/>
            <a:ext cx="6629400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低于60分进入预警 / 危险清单；威布尔分布用于部件剩余寿命拟合</a:t>
            </a:r>
            <a:endParaRPr sz="17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56" name="Oval 255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868680" y="3063240"/>
            <a:ext cx="2834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CD3A"/>
                </a:solidFill>
                <a:latin typeface="黑体" charset="0"/>
                <a:ea typeface="黑体" charset="0"/>
                <a:cs typeface="黑体" charset="0"/>
              </a:rPr>
              <a:t>真实模型 · 健康评估计算链</a:t>
            </a:r>
            <a:endParaRPr sz="1300" b="1">
              <a:solidFill>
                <a:srgbClr val="FFCD3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868680" y="3429000"/>
            <a:ext cx="32918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输入 → 12部件权重 → 寿命拟合 → 健康分 → 风险优先序</a:t>
            </a:r>
            <a:endParaRPr sz="13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868680" y="434340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ADFF4"/>
                </a:solidFill>
                <a:latin typeface="黑体" charset="0"/>
                <a:ea typeface="黑体" charset="0"/>
                <a:cs typeface="黑体" charset="0"/>
              </a:rPr>
              <a:t>讲公式只讲一句，画面负责证明“模型真的算起来了”</a:t>
            </a:r>
            <a:endParaRPr sz="950" b="0">
              <a:solidFill>
                <a:srgbClr val="BADF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262" name="Picture 261" descr="健康模型_float.png"/>
          <p:cNvPicPr>
            <a:picLocks noChangeAspect="1"/>
          </p:cNvPicPr>
          <p:nvPr/>
        </p:nvPicPr>
        <p:blipFill>
          <a:blip r:embed="rId2"/>
          <a:srcRect t="19597" b="19597"/>
          <a:stretch>
            <a:fillRect/>
          </a:stretch>
        </p:blipFill>
        <p:spPr>
          <a:xfrm>
            <a:off x="3794760" y="2999232"/>
            <a:ext cx="7680960" cy="2788920"/>
          </a:xfrm>
          <a:prstGeom prst="rect">
            <a:avLst/>
          </a:prstGeom>
        </p:spPr>
      </p:pic>
      <p:sp>
        <p:nvSpPr>
          <p:cNvPr id="263" name="4-Point Star 262"/>
          <p:cNvSpPr/>
          <p:nvPr/>
        </p:nvSpPr>
        <p:spPr>
          <a:xfrm>
            <a:off x="3849623" y="2002536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4" name="4-Point Star 263"/>
          <p:cNvSpPr/>
          <p:nvPr/>
        </p:nvSpPr>
        <p:spPr>
          <a:xfrm>
            <a:off x="4015587" y="2002536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5" name="4-Point Star 264"/>
          <p:cNvSpPr/>
          <p:nvPr/>
        </p:nvSpPr>
        <p:spPr>
          <a:xfrm>
            <a:off x="7827263" y="2002536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6" name="4-Point Star 265"/>
          <p:cNvSpPr/>
          <p:nvPr/>
        </p:nvSpPr>
        <p:spPr>
          <a:xfrm>
            <a:off x="7993227" y="2002536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1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430"/>
            <a:ext cx="12191695" cy="6858000"/>
          </a:xfrm>
          <a:prstGeom prst="rect">
            <a:avLst/>
          </a:prstGeom>
        </p:spPr>
      </p:pic>
      <p:sp>
        <p:nvSpPr>
          <p:cNvPr id="5" name="文本_模型② 千亩村发展导引：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2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模② 千亩村发展导引：先算有效烤能，再找真实缺口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问“想建几栋”，而是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先用健康结果折算村级有效烤能，再判断哪里真缺、缺多少、建哪里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0" name="文本_01"/>
          <p:cNvSpPr txBox="1"/>
          <p:nvPr/>
        </p:nvSpPr>
        <p:spPr>
          <a:xfrm>
            <a:off x="1069848" y="1627632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01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" name="可编辑圆环"/>
          <p:cNvSpPr/>
          <p:nvPr/>
        </p:nvSpPr>
        <p:spPr>
          <a:xfrm>
            <a:off x="1394460" y="2249424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可编辑圆环"/>
          <p:cNvSpPr/>
          <p:nvPr/>
        </p:nvSpPr>
        <p:spPr>
          <a:xfrm>
            <a:off x="1531620" y="2235708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可编辑圆环"/>
          <p:cNvSpPr/>
          <p:nvPr/>
        </p:nvSpPr>
        <p:spPr>
          <a:xfrm>
            <a:off x="1655064" y="2221992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057400" y="171907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025395" y="169164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Gear 6 15"/>
          <p:cNvSpPr/>
          <p:nvPr/>
        </p:nvSpPr>
        <p:spPr>
          <a:xfrm>
            <a:off x="1869216" y="1622328"/>
            <a:ext cx="376367" cy="376367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" name="可编辑圆环"/>
          <p:cNvSpPr/>
          <p:nvPr/>
        </p:nvSpPr>
        <p:spPr>
          <a:xfrm>
            <a:off x="2012594" y="1765706"/>
            <a:ext cx="89611" cy="89611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" name="文本_算有效烤能"/>
          <p:cNvSpPr txBox="1"/>
          <p:nvPr/>
        </p:nvSpPr>
        <p:spPr>
          <a:xfrm>
            <a:off x="1097280" y="2212848"/>
            <a:ext cx="192024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算有效烤能</a:t>
            </a:r>
            <a:endParaRPr sz="235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0" name="文本_可用烤房 / 健康折损 "/>
          <p:cNvSpPr txBox="1"/>
          <p:nvPr/>
        </p:nvSpPr>
        <p:spPr>
          <a:xfrm>
            <a:off x="640080" y="2615184"/>
            <a:ext cx="283464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单栋健康 / 健康折损 / 村级能力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2" name="文本_02"/>
          <p:cNvSpPr txBox="1"/>
          <p:nvPr/>
        </p:nvSpPr>
        <p:spPr>
          <a:xfrm>
            <a:off x="5157216" y="1627632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02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3" name="可编辑圆环"/>
          <p:cNvSpPr/>
          <p:nvPr/>
        </p:nvSpPr>
        <p:spPr>
          <a:xfrm>
            <a:off x="5481828" y="2249424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可编辑圆环"/>
          <p:cNvSpPr/>
          <p:nvPr/>
        </p:nvSpPr>
        <p:spPr>
          <a:xfrm>
            <a:off x="5618988" y="2235708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" name="可编辑圆环"/>
          <p:cNvSpPr/>
          <p:nvPr/>
        </p:nvSpPr>
        <p:spPr>
          <a:xfrm>
            <a:off x="5742431" y="2221992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26" name="可编辑连线"/>
          <p:cNvCxnSpPr/>
          <p:nvPr/>
        </p:nvCxnSpPr>
        <p:spPr>
          <a:xfrm flipV="1">
            <a:off x="6144768" y="171907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可编辑圆环"/>
          <p:cNvSpPr/>
          <p:nvPr/>
        </p:nvSpPr>
        <p:spPr>
          <a:xfrm>
            <a:off x="6112764" y="169164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可编辑矩形"/>
          <p:cNvSpPr/>
          <p:nvPr/>
        </p:nvSpPr>
        <p:spPr>
          <a:xfrm>
            <a:off x="5974506" y="1788109"/>
            <a:ext cx="76169" cy="156819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9" name="可编辑矩形"/>
          <p:cNvSpPr/>
          <p:nvPr/>
        </p:nvSpPr>
        <p:spPr>
          <a:xfrm>
            <a:off x="6082040" y="1698498"/>
            <a:ext cx="76169" cy="24643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0" name="可编辑矩形"/>
          <p:cNvSpPr/>
          <p:nvPr/>
        </p:nvSpPr>
        <p:spPr>
          <a:xfrm>
            <a:off x="6189573" y="1577522"/>
            <a:ext cx="76169" cy="367405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1" name="可编辑连线"/>
          <p:cNvCxnSpPr/>
          <p:nvPr/>
        </p:nvCxnSpPr>
        <p:spPr>
          <a:xfrm>
            <a:off x="5943142" y="1953889"/>
            <a:ext cx="389809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_判真实缺口"/>
          <p:cNvSpPr txBox="1"/>
          <p:nvPr/>
        </p:nvSpPr>
        <p:spPr>
          <a:xfrm>
            <a:off x="5184648" y="2212848"/>
            <a:ext cx="192024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判真实缺口</a:t>
            </a:r>
            <a:endParaRPr sz="235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4" name="文本_烟叶需求 / 可用产能 "/>
          <p:cNvSpPr txBox="1"/>
          <p:nvPr/>
        </p:nvSpPr>
        <p:spPr>
          <a:xfrm>
            <a:off x="4727448" y="2615184"/>
            <a:ext cx="283464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种植规模 / 产业趋势 / 集体经济 / 管护能力 / 政策适配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6" name="文本_03"/>
          <p:cNvSpPr txBox="1"/>
          <p:nvPr/>
        </p:nvSpPr>
        <p:spPr>
          <a:xfrm>
            <a:off x="8997696" y="1627632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03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7" name="可编辑圆环"/>
          <p:cNvSpPr/>
          <p:nvPr/>
        </p:nvSpPr>
        <p:spPr>
          <a:xfrm>
            <a:off x="9322308" y="2249424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可编辑圆环"/>
          <p:cNvSpPr/>
          <p:nvPr/>
        </p:nvSpPr>
        <p:spPr>
          <a:xfrm>
            <a:off x="9459468" y="2235708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9" name="可编辑圆环"/>
          <p:cNvSpPr/>
          <p:nvPr/>
        </p:nvSpPr>
        <p:spPr>
          <a:xfrm>
            <a:off x="9582912" y="2221992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40" name="可编辑连线"/>
          <p:cNvCxnSpPr/>
          <p:nvPr/>
        </p:nvCxnSpPr>
        <p:spPr>
          <a:xfrm flipV="1">
            <a:off x="9985248" y="171907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可编辑圆环"/>
          <p:cNvSpPr/>
          <p:nvPr/>
        </p:nvSpPr>
        <p:spPr>
          <a:xfrm>
            <a:off x="9953244" y="169164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2" name="可编辑矩形"/>
          <p:cNvSpPr/>
          <p:nvPr/>
        </p:nvSpPr>
        <p:spPr>
          <a:xfrm>
            <a:off x="9823947" y="1788109"/>
            <a:ext cx="322600" cy="232989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3" name="Isosceles Triangle 42"/>
          <p:cNvSpPr/>
          <p:nvPr/>
        </p:nvSpPr>
        <p:spPr>
          <a:xfrm>
            <a:off x="9770181" y="1608886"/>
            <a:ext cx="430133" cy="215066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可编辑矩形"/>
          <p:cNvSpPr/>
          <p:nvPr/>
        </p:nvSpPr>
        <p:spPr>
          <a:xfrm>
            <a:off x="9944922" y="1864278"/>
            <a:ext cx="80650" cy="125455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6" name="文本_做建设推演"/>
          <p:cNvSpPr txBox="1"/>
          <p:nvPr/>
        </p:nvSpPr>
        <p:spPr>
          <a:xfrm>
            <a:off x="9025128" y="2212848"/>
            <a:ext cx="192024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做情景推演</a:t>
            </a:r>
            <a:endParaRPr sz="235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47" name="文本_维修优先 / 调剂优先 "/>
          <p:cNvSpPr txBox="1"/>
          <p:nvPr/>
        </p:nvSpPr>
        <p:spPr>
          <a:xfrm>
            <a:off x="8567928" y="2615184"/>
            <a:ext cx="283464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AHP+熵权组合赋权 / TOPSIS排序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0" name="文本_把“有多少栋”改成“有多"/>
          <p:cNvSpPr txBox="1"/>
          <p:nvPr/>
        </p:nvSpPr>
        <p:spPr>
          <a:xfrm>
            <a:off x="2423160" y="6172200"/>
            <a:ext cx="7360920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把“有多少栋”改成“有多少有效烤能”，再决定哪里建、建多少</a:t>
            </a:r>
            <a:endParaRPr sz="17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41248" y="3054096"/>
            <a:ext cx="2880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CD3A"/>
                </a:solidFill>
                <a:latin typeface="黑体" charset="0"/>
                <a:ea typeface="黑体" charset="0"/>
                <a:cs typeface="黑体" charset="0"/>
              </a:rPr>
              <a:t>真实决策 · “哪里真缺、建哪里”</a:t>
            </a:r>
            <a:endParaRPr sz="1300" b="1">
              <a:solidFill>
                <a:srgbClr val="FFCD3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41248" y="3438144"/>
            <a:ext cx="2971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黑体" charset="0"/>
                <a:ea typeface="黑体" charset="0"/>
              </a:rPr>
              <a:t>地图把候选点、发展指数、缺口和排序同时放到一个决策界面</a:t>
            </a:r>
            <a:endParaRPr sz="1300" b="1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841248" y="4480560"/>
            <a:ext cx="2880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ADFF4"/>
                </a:solidFill>
                <a:latin typeface="黑体" charset="0"/>
                <a:ea typeface="黑体" charset="0"/>
                <a:cs typeface="黑体" charset="0"/>
              </a:rPr>
              <a:t>不是“看有多少栋”，而是先折算有效烤能，再决定是否新增。</a:t>
            </a:r>
            <a:endParaRPr sz="950" b="0">
              <a:solidFill>
                <a:srgbClr val="BADF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138" name="Picture 137" descr="新建决策_float.png"/>
          <p:cNvPicPr>
            <a:picLocks noChangeAspect="1"/>
          </p:cNvPicPr>
          <p:nvPr/>
        </p:nvPicPr>
        <p:blipFill>
          <a:blip r:embed="rId2"/>
          <a:srcRect t="12014" b="12014"/>
          <a:stretch>
            <a:fillRect/>
          </a:stretch>
        </p:blipFill>
        <p:spPr>
          <a:xfrm>
            <a:off x="3886200" y="2880360"/>
            <a:ext cx="7543800" cy="2971800"/>
          </a:xfrm>
          <a:prstGeom prst="rect">
            <a:avLst/>
          </a:prstGeom>
        </p:spPr>
      </p:pic>
      <p:sp>
        <p:nvSpPr>
          <p:cNvPr id="139" name="4-Point Star 138"/>
          <p:cNvSpPr/>
          <p:nvPr/>
        </p:nvSpPr>
        <p:spPr>
          <a:xfrm>
            <a:off x="3863340" y="2071115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4-Point Star 139"/>
          <p:cNvSpPr/>
          <p:nvPr/>
        </p:nvSpPr>
        <p:spPr>
          <a:xfrm>
            <a:off x="4024274" y="2071115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4-Point Star 140"/>
          <p:cNvSpPr/>
          <p:nvPr/>
        </p:nvSpPr>
        <p:spPr>
          <a:xfrm>
            <a:off x="7886700" y="2071115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4-Point Star 141"/>
          <p:cNvSpPr/>
          <p:nvPr/>
        </p:nvSpPr>
        <p:spPr>
          <a:xfrm>
            <a:off x="8047634" y="2071115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8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双模决策：存量评估 + 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2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模决策：健康评估 + 发展导引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把“经验判断”变成“量化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模型1回答“谁最该修”，模型2回答“哪里真缺、要不要建”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822960" y="1572768"/>
            <a:ext cx="3931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模型①  健康评估</a:t>
            </a:r>
            <a:endParaRPr sz="2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7452360" y="1572768"/>
            <a:ext cx="3931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模型②  发展导引</a:t>
            </a:r>
            <a:endParaRPr sz="2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77240" y="233172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941832" y="2423160"/>
            <a:ext cx="804672" cy="804672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1170432" y="2542032"/>
            <a:ext cx="34747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1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731519" y="3291839"/>
            <a:ext cx="12344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部件体检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704088" y="3602735"/>
            <a:ext cx="1298448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发现隐患
量化评分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2194560" y="2404872"/>
            <a:ext cx="1143000" cy="114300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2359152" y="2496312"/>
            <a:ext cx="804672" cy="804672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2587752" y="2615184"/>
            <a:ext cx="34747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2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148840" y="3364991"/>
            <a:ext cx="12344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风险分层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121408" y="3675887"/>
            <a:ext cx="1298448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60分预警
待修高危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3611880" y="233172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3776472" y="2423160"/>
            <a:ext cx="804672" cy="804672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4005072" y="2542032"/>
            <a:ext cx="34747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3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566160" y="3291839"/>
            <a:ext cx="12344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维修优先序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3538728" y="3602735"/>
            <a:ext cx="1298448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轻重缓急
科学排序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7498079" y="2331720"/>
            <a:ext cx="1078992" cy="107899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653527" y="2414015"/>
            <a:ext cx="768096" cy="768096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7863840" y="2514600"/>
            <a:ext cx="31089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1</a:t>
            </a:r>
            <a:endParaRPr sz="2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7452359" y="3246120"/>
            <a:ext cx="1188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有效烤能</a:t>
            </a:r>
            <a:endParaRPr sz="13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7424927" y="3557015"/>
            <a:ext cx="1261872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可用产能
动态测算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8796528" y="2258568"/>
            <a:ext cx="1078992" cy="107899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8951976" y="2340863"/>
            <a:ext cx="768096" cy="768096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9162288" y="2441448"/>
            <a:ext cx="31089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2</a:t>
            </a:r>
            <a:endParaRPr sz="2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8750807" y="3172968"/>
            <a:ext cx="1188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真实缺口</a:t>
            </a:r>
            <a:endParaRPr sz="13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8723376" y="3483863"/>
            <a:ext cx="1261872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需求对比
缺口识别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10094976" y="2185415"/>
            <a:ext cx="1078992" cy="107899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10250424" y="2267711"/>
            <a:ext cx="768096" cy="768096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10460736" y="2368296"/>
            <a:ext cx="31089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3</a:t>
            </a:r>
            <a:endParaRPr sz="2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0049255" y="3099815"/>
            <a:ext cx="1188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建设情景</a:t>
            </a:r>
            <a:endParaRPr sz="13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0021824" y="3410711"/>
            <a:ext cx="1261872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多情景推演
投入评估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4800600" y="3209544"/>
            <a:ext cx="2606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双模耦合输出</a:t>
            </a:r>
            <a:endParaRPr sz="2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7" name="Oval 176"/>
          <p:cNvSpPr/>
          <p:nvPr/>
        </p:nvSpPr>
        <p:spPr>
          <a:xfrm>
            <a:off x="4213860" y="321868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8" name="4-Point Star 177"/>
          <p:cNvSpPr/>
          <p:nvPr/>
        </p:nvSpPr>
        <p:spPr>
          <a:xfrm>
            <a:off x="4276344" y="3200400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9" name="Oval 178"/>
          <p:cNvSpPr/>
          <p:nvPr/>
        </p:nvSpPr>
        <p:spPr>
          <a:xfrm>
            <a:off x="4411980" y="325526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4511040" y="327355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1" name="4-Point Star 180"/>
          <p:cNvSpPr/>
          <p:nvPr/>
        </p:nvSpPr>
        <p:spPr>
          <a:xfrm>
            <a:off x="4573524" y="325526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2" name="Oval 181"/>
          <p:cNvSpPr/>
          <p:nvPr/>
        </p:nvSpPr>
        <p:spPr>
          <a:xfrm>
            <a:off x="7388352" y="324612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3" name="4-Point Star 182"/>
          <p:cNvSpPr/>
          <p:nvPr/>
        </p:nvSpPr>
        <p:spPr>
          <a:xfrm>
            <a:off x="7424928" y="320954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4" name="Oval 183"/>
          <p:cNvSpPr/>
          <p:nvPr/>
        </p:nvSpPr>
        <p:spPr>
          <a:xfrm>
            <a:off x="7534656" y="324612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3703320" y="4828032"/>
            <a:ext cx="1325880" cy="50292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3703320" y="4892040"/>
            <a:ext cx="13258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该修哪栋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7" name="Oval 186"/>
          <p:cNvSpPr/>
          <p:nvPr/>
        </p:nvSpPr>
        <p:spPr>
          <a:xfrm>
            <a:off x="5349240" y="4828032"/>
            <a:ext cx="1325880" cy="50292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5349240" y="4892040"/>
            <a:ext cx="13258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该补哪里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9" name="Oval 188"/>
          <p:cNvSpPr/>
          <p:nvPr/>
        </p:nvSpPr>
        <p:spPr>
          <a:xfrm>
            <a:off x="6995160" y="4828032"/>
            <a:ext cx="1325880" cy="50292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6995160" y="4892040"/>
            <a:ext cx="13258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该建多少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3154680" y="5715000"/>
            <a:ext cx="5852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D02A"/>
                </a:solidFill>
                <a:latin typeface="黑体" charset="0"/>
                <a:ea typeface="黑体" charset="0"/>
              </a:rPr>
              <a:t>让维修有依据、投入有方向、新建有测算</a:t>
            </a:r>
            <a:endParaRPr sz="1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4617720" y="2907792"/>
            <a:ext cx="2971800" cy="987552"/>
          </a:xfrm>
          <a:prstGeom prst="ellipse">
            <a:avLst/>
          </a:prstGeom>
          <a:solidFill>
            <a:srgbClr val="34DA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93" name="Connector 192"/>
          <p:cNvCxnSpPr/>
          <p:nvPr/>
        </p:nvCxnSpPr>
        <p:spPr>
          <a:xfrm>
            <a:off x="4773168" y="4050791"/>
            <a:ext cx="1719986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493154" y="4050791"/>
            <a:ext cx="521208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7092543" y="4027931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7222845" y="403433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7" name="4-Point Star 196"/>
          <p:cNvSpPr/>
          <p:nvPr/>
        </p:nvSpPr>
        <p:spPr>
          <a:xfrm>
            <a:off x="7340117" y="4000500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8" name="Oval 197"/>
          <p:cNvSpPr/>
          <p:nvPr/>
        </p:nvSpPr>
        <p:spPr>
          <a:xfrm>
            <a:off x="4498848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9" name="Oval 198"/>
          <p:cNvSpPr/>
          <p:nvPr/>
        </p:nvSpPr>
        <p:spPr>
          <a:xfrm>
            <a:off x="4389120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0" name="Oval 199"/>
          <p:cNvSpPr/>
          <p:nvPr/>
        </p:nvSpPr>
        <p:spPr>
          <a:xfrm>
            <a:off x="4288536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1" name="4-Point Star 200"/>
          <p:cNvSpPr/>
          <p:nvPr/>
        </p:nvSpPr>
        <p:spPr>
          <a:xfrm>
            <a:off x="4187952" y="3346704"/>
            <a:ext cx="73152" cy="73152"/>
          </a:xfrm>
          <a:prstGeom prst="star4">
            <a:avLst/>
          </a:prstGeom>
          <a:solidFill>
            <a:srgbClr val="FFFFFF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2" name="Oval 201"/>
          <p:cNvSpPr/>
          <p:nvPr/>
        </p:nvSpPr>
        <p:spPr>
          <a:xfrm>
            <a:off x="7626096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3" name="Oval 202"/>
          <p:cNvSpPr/>
          <p:nvPr/>
        </p:nvSpPr>
        <p:spPr>
          <a:xfrm>
            <a:off x="7735824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7845552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5" name="4-Point Star 204"/>
          <p:cNvSpPr/>
          <p:nvPr/>
        </p:nvSpPr>
        <p:spPr>
          <a:xfrm>
            <a:off x="7936992" y="3346704"/>
            <a:ext cx="73152" cy="73152"/>
          </a:xfrm>
          <a:prstGeom prst="star4">
            <a:avLst/>
          </a:prstGeom>
          <a:solidFill>
            <a:srgbClr val="FFFFFF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4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三智落地：把系统能力变成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智落地：模型算完，更要真正跑起来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做一个平台，而是让智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管理部门、烟农 / 技术员、合作社 / 管护队各有自己的业务入口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1143000" y="2011680"/>
            <a:ext cx="2011680" cy="20116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14400" y="1965960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30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325880" y="2633472"/>
            <a:ext cx="1508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智用</a:t>
            </a:r>
            <a:endParaRPr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01" name="4-Point Star 100"/>
          <p:cNvSpPr/>
          <p:nvPr/>
        </p:nvSpPr>
        <p:spPr>
          <a:xfrm>
            <a:off x="1234440" y="3310128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444752" y="3218688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找房调剂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03" name="4-Point Star 102"/>
          <p:cNvSpPr/>
          <p:nvPr/>
        </p:nvSpPr>
        <p:spPr>
          <a:xfrm>
            <a:off x="1234440" y="3739896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444752" y="3648456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一键报修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05" name="4-Point Star 104"/>
          <p:cNvSpPr/>
          <p:nvPr/>
        </p:nvSpPr>
        <p:spPr>
          <a:xfrm>
            <a:off x="1234440" y="4169664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444752" y="407822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进度反馈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4526280" y="1874519"/>
            <a:ext cx="2011680" cy="20116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297680" y="1828799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30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709160" y="2496312"/>
            <a:ext cx="1508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智投</a:t>
            </a:r>
            <a:endParaRPr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0" name="4-Point Star 109"/>
          <p:cNvSpPr/>
          <p:nvPr/>
        </p:nvSpPr>
        <p:spPr>
          <a:xfrm>
            <a:off x="4617720" y="3172968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828032" y="3081528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修复清单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12" name="4-Point Star 111"/>
          <p:cNvSpPr/>
          <p:nvPr/>
        </p:nvSpPr>
        <p:spPr>
          <a:xfrm>
            <a:off x="4617720" y="3602735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828032" y="3511296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点位推演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14" name="4-Point Star 113"/>
          <p:cNvSpPr/>
          <p:nvPr/>
        </p:nvSpPr>
        <p:spPr>
          <a:xfrm>
            <a:off x="4617720" y="4032504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828032" y="394106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投入复盘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7909560" y="1737360"/>
            <a:ext cx="2011680" cy="20116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680960" y="1691639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30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092440" y="2359152"/>
            <a:ext cx="1508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智管</a:t>
            </a:r>
            <a:endParaRPr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9" name="4-Point Star 118"/>
          <p:cNvSpPr/>
          <p:nvPr/>
        </p:nvSpPr>
        <p:spPr>
          <a:xfrm>
            <a:off x="8001000" y="3035808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211312" y="2944368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派单处置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21" name="4-Point Star 120"/>
          <p:cNvSpPr/>
          <p:nvPr/>
        </p:nvSpPr>
        <p:spPr>
          <a:xfrm>
            <a:off x="8001000" y="3465576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8211312" y="3374135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巡检养护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23" name="4-Point Star 122"/>
          <p:cNvSpPr/>
          <p:nvPr/>
        </p:nvSpPr>
        <p:spPr>
          <a:xfrm>
            <a:off x="8001000" y="3895344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8211312" y="380390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评价回写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3259182" y="290648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6" name="4-Point Star 125"/>
          <p:cNvSpPr/>
          <p:nvPr/>
        </p:nvSpPr>
        <p:spPr>
          <a:xfrm>
            <a:off x="3372829" y="2850315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3559628" y="2867297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3709851" y="284770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9" name="4-Point Star 128"/>
          <p:cNvSpPr/>
          <p:nvPr/>
        </p:nvSpPr>
        <p:spPr>
          <a:xfrm>
            <a:off x="3823498" y="279153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4010297" y="2808514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6642462" y="276932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2" name="4-Point Star 131"/>
          <p:cNvSpPr/>
          <p:nvPr/>
        </p:nvSpPr>
        <p:spPr>
          <a:xfrm>
            <a:off x="6756109" y="2713155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942908" y="2730137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7093131" y="271054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5" name="4-Point Star 134"/>
          <p:cNvSpPr/>
          <p:nvPr/>
        </p:nvSpPr>
        <p:spPr>
          <a:xfrm>
            <a:off x="7206778" y="265437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7393577" y="2671354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2880360" y="5257800"/>
            <a:ext cx="1325880" cy="438912"/>
          </a:xfrm>
          <a:prstGeom prst="round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13BFEA">
                  <a:alpha val="2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288036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业务发生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29310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4-Point Star 139"/>
          <p:cNvSpPr/>
          <p:nvPr/>
        </p:nvSpPr>
        <p:spPr>
          <a:xfrm>
            <a:off x="4325112" y="543153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443026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4526280" y="5257800"/>
            <a:ext cx="1325880" cy="438912"/>
          </a:xfrm>
          <a:prstGeom prst="round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13BFEA">
                  <a:alpha val="2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52628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数据回库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593902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5" name="4-Point Star 144"/>
          <p:cNvSpPr/>
          <p:nvPr/>
        </p:nvSpPr>
        <p:spPr>
          <a:xfrm>
            <a:off x="5971032" y="543153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607618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6172200" y="5257800"/>
            <a:ext cx="1325880" cy="438912"/>
          </a:xfrm>
          <a:prstGeom prst="round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13BFEA">
                  <a:alpha val="2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617220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模型再算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758494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4-Point Star 149"/>
          <p:cNvSpPr/>
          <p:nvPr/>
        </p:nvSpPr>
        <p:spPr>
          <a:xfrm>
            <a:off x="7616952" y="543153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72210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7818120" y="5257800"/>
            <a:ext cx="1325880" cy="438912"/>
          </a:xfrm>
          <a:prstGeom prst="round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13BFEA">
                  <a:alpha val="2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781812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决策优化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194560" y="5943600"/>
            <a:ext cx="7818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DCF0FC"/>
                </a:solidFill>
                <a:latin typeface="黑体" charset="0"/>
                <a:ea typeface="黑体" charset="0"/>
              </a:rPr>
              <a:t>智用把服务送到烟农手里，智投把模型变成决策清单，智管把结果沉淀回数据</a:t>
            </a:r>
            <a:endParaRPr sz="1400" b="1">
              <a:solidFill>
                <a:srgbClr val="DCF0FC"/>
              </a:solidFill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" name="Oval 195"/>
          <p:cNvSpPr/>
          <p:nvPr/>
        </p:nvSpPr>
        <p:spPr>
          <a:xfrm>
            <a:off x="5230368" y="3035808"/>
            <a:ext cx="1719072" cy="1719072"/>
          </a:xfrm>
          <a:prstGeom prst="ellipse">
            <a:avLst/>
          </a:prstGeom>
          <a:solidFill>
            <a:srgbClr val="1E99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pic>
        <p:nvPicPr>
          <p:cNvPr id="146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用：调度与抢修，真正落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智① 智用：找房、报修，不再靠一圈电话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从“打电话找房、找人、找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周边烤房可查、维修过程可见、评价结果回写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868680" y="1572768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2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371600" y="1609344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找空闲房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3078480" y="180136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3" name="4-Point Star 152"/>
          <p:cNvSpPr/>
          <p:nvPr/>
        </p:nvSpPr>
        <p:spPr>
          <a:xfrm>
            <a:off x="3148584" y="1755648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3291840" y="178308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3398520" y="1773936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6" name="4-Point Star 155"/>
          <p:cNvSpPr/>
          <p:nvPr/>
        </p:nvSpPr>
        <p:spPr>
          <a:xfrm>
            <a:off x="3468624" y="1728216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657600" y="1517904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2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4160520" y="1554480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预约调剂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5867399" y="174650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4-Point Star 159"/>
          <p:cNvSpPr/>
          <p:nvPr/>
        </p:nvSpPr>
        <p:spPr>
          <a:xfrm>
            <a:off x="5937504" y="170078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6080760" y="1728216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6187440" y="171907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3" name="4-Point Star 162"/>
          <p:cNvSpPr/>
          <p:nvPr/>
        </p:nvSpPr>
        <p:spPr>
          <a:xfrm>
            <a:off x="6257544" y="167335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6446520" y="1463040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2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6949440" y="1499616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一键报修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8656320" y="16916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7" name="4-Point Star 166"/>
          <p:cNvSpPr/>
          <p:nvPr/>
        </p:nvSpPr>
        <p:spPr>
          <a:xfrm>
            <a:off x="8726424" y="1645920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8869680" y="167335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8976360" y="1664208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0" name="4-Point Star 169"/>
          <p:cNvSpPr/>
          <p:nvPr/>
        </p:nvSpPr>
        <p:spPr>
          <a:xfrm>
            <a:off x="9046464" y="1618488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9235439" y="1408176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黑体" charset="0"/>
                <a:ea typeface="黑体" charset="0"/>
              </a:rPr>
              <a:t>04</a:t>
            </a:r>
            <a:endParaRPr sz="2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738359" y="1444752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评价回写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pic>
        <p:nvPicPr>
          <p:cNvPr id="173" name="Picture 172" descr="总览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40280"/>
            <a:ext cx="8092440" cy="3063240"/>
          </a:xfrm>
          <a:prstGeom prst="rect">
            <a:avLst/>
          </a:prstGeom>
        </p:spPr>
      </p:pic>
      <p:sp>
        <p:nvSpPr>
          <p:cNvPr id="175" name="Oval 174"/>
          <p:cNvSpPr/>
          <p:nvPr/>
        </p:nvSpPr>
        <p:spPr>
          <a:xfrm>
            <a:off x="5504688" y="3136392"/>
            <a:ext cx="1188720" cy="118872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8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6" name="Isosceles Triangle 175"/>
          <p:cNvSpPr/>
          <p:nvPr/>
        </p:nvSpPr>
        <p:spPr>
          <a:xfrm rot="5400000">
            <a:off x="5943600" y="3493008"/>
            <a:ext cx="384048" cy="438912"/>
          </a:xfrm>
          <a:prstGeom prst="triangle">
            <a:avLst/>
          </a:prstGeom>
          <a:solidFill>
            <a:srgbClr val="E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4736592" y="4050791"/>
            <a:ext cx="27432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现场录屏 00:25</a:t>
            </a:r>
            <a:endParaRPr sz="2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4160520" y="4498848"/>
            <a:ext cx="38862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1F4FC"/>
                </a:solidFill>
                <a:latin typeface="黑体" charset="0"/>
                <a:ea typeface="黑体" charset="0"/>
                <a:cs typeface="黑体" charset="0"/>
              </a:rPr>
              <a:t>预约调剂   ·   一键报修   ·   进度闭环</a:t>
            </a:r>
            <a:endParaRPr sz="1300" b="1">
              <a:solidFill>
                <a:srgbClr val="E1F4FC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2788920" y="5541264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18次报修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2788920" y="585216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8E1EE"/>
                </a:solidFill>
                <a:latin typeface="黑体" charset="0"/>
                <a:ea typeface="黑体" charset="0"/>
              </a:rPr>
              <a:t>真实记录</a:t>
            </a:r>
            <a:endParaRPr sz="1000" b="0">
              <a:solidFill>
                <a:srgbClr val="C8E1EE"/>
              </a:solidFill>
              <a:latin typeface="黑体" charset="0"/>
              <a:ea typeface="黑体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5257800" y="5541264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全部&lt;3h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5257800" y="585216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8E1EE"/>
                </a:solidFill>
                <a:latin typeface="黑体" charset="0"/>
                <a:ea typeface="黑体" charset="0"/>
              </a:rPr>
              <a:t>闭环处置</a:t>
            </a:r>
            <a:endParaRPr sz="1000" b="0">
              <a:solidFill>
                <a:srgbClr val="C8E1EE"/>
              </a:solidFill>
              <a:latin typeface="黑体" charset="0"/>
              <a:ea typeface="黑体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7726679" y="5541264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双向评价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7726679" y="585216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8E1EE"/>
                </a:solidFill>
                <a:latin typeface="黑体" charset="0"/>
                <a:ea typeface="黑体" charset="0"/>
              </a:rPr>
              <a:t>结果回写</a:t>
            </a:r>
            <a:endParaRPr sz="1000" b="0">
              <a:solidFill>
                <a:srgbClr val="C8E1EE"/>
              </a:solidFill>
              <a:latin typeface="黑体" charset="0"/>
              <a:ea typeface="黑体" charset="0"/>
            </a:endParaRPr>
          </a:p>
        </p:txBody>
      </p:sp>
      <p:cxnSp>
        <p:nvCxnSpPr>
          <p:cNvPr id="185" name="Connector 184"/>
          <p:cNvCxnSpPr/>
          <p:nvPr/>
        </p:nvCxnSpPr>
        <p:spPr>
          <a:xfrm>
            <a:off x="2057400" y="224028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057400" y="224028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9738360" y="224028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0149840" y="224028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2057400" y="489204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057400" y="530352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0149840" y="489204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9738360" y="530352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4-Point Star 192"/>
          <p:cNvSpPr/>
          <p:nvPr/>
        </p:nvSpPr>
        <p:spPr>
          <a:xfrm>
            <a:off x="6057900" y="2194560"/>
            <a:ext cx="91440" cy="91440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5957316" y="2231136"/>
            <a:ext cx="36576" cy="36576"/>
          </a:xfrm>
          <a:prstGeom prst="ellipse">
            <a:avLst/>
          </a:prstGeom>
          <a:solidFill>
            <a:srgbClr val="34DAF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6213348" y="2231136"/>
            <a:ext cx="36576" cy="36576"/>
          </a:xfrm>
          <a:prstGeom prst="ellipse">
            <a:avLst/>
          </a:prstGeom>
          <a:solidFill>
            <a:srgbClr val="7CEE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" name="Oval 196"/>
          <p:cNvSpPr/>
          <p:nvPr/>
        </p:nvSpPr>
        <p:spPr>
          <a:xfrm>
            <a:off x="749808" y="2304288"/>
            <a:ext cx="2240280" cy="1143000"/>
          </a:xfrm>
          <a:prstGeom prst="ellipse">
            <a:avLst/>
          </a:prstGeom>
          <a:solidFill>
            <a:srgbClr val="34DA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pic>
        <p:nvPicPr>
          <p:cNvPr id="15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投：把钱投到最该投的地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智② 智投：投入有据可依，布局贴合需求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存量先体检，增量再推演，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双模研判直接形成年度升级清单和新建点位建议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85800" y="1554480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25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161288" y="1591056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存量体检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2941320" y="174650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7" name="4-Point Star 156"/>
          <p:cNvSpPr/>
          <p:nvPr/>
        </p:nvSpPr>
        <p:spPr>
          <a:xfrm>
            <a:off x="3011424" y="170078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3154680" y="1728216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3261360" y="171907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4-Point Star 159"/>
          <p:cNvSpPr/>
          <p:nvPr/>
        </p:nvSpPr>
        <p:spPr>
          <a:xfrm>
            <a:off x="3331464" y="167335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538728" y="1508760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25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014216" y="1545336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缺口识别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5794248" y="170078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4" name="4-Point Star 163"/>
          <p:cNvSpPr/>
          <p:nvPr/>
        </p:nvSpPr>
        <p:spPr>
          <a:xfrm>
            <a:off x="5864352" y="1655063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6007608" y="168249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6114288" y="1673351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7" name="4-Point Star 166"/>
          <p:cNvSpPr/>
          <p:nvPr/>
        </p:nvSpPr>
        <p:spPr>
          <a:xfrm>
            <a:off x="6184392" y="162763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6391656" y="1463039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25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6867144" y="1499616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选址推演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8647176" y="1655063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1" name="4-Point Star 170"/>
          <p:cNvSpPr/>
          <p:nvPr/>
        </p:nvSpPr>
        <p:spPr>
          <a:xfrm>
            <a:off x="8717280" y="1609343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2" name="Oval 171"/>
          <p:cNvSpPr/>
          <p:nvPr/>
        </p:nvSpPr>
        <p:spPr>
          <a:xfrm>
            <a:off x="8860536" y="163677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3" name="Oval 172"/>
          <p:cNvSpPr/>
          <p:nvPr/>
        </p:nvSpPr>
        <p:spPr>
          <a:xfrm>
            <a:off x="8967216" y="1627631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4" name="4-Point Star 173"/>
          <p:cNvSpPr/>
          <p:nvPr/>
        </p:nvSpPr>
        <p:spPr>
          <a:xfrm>
            <a:off x="9037320" y="158191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9244584" y="1417319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黑体" charset="0"/>
                <a:ea typeface="黑体" charset="0"/>
              </a:rPr>
              <a:t>04</a:t>
            </a:r>
            <a:endParaRPr sz="25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9720072" y="1453895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效果复盘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960120" y="2542032"/>
            <a:ext cx="14630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340+</a:t>
            </a:r>
            <a:endParaRPr sz="4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960120" y="3163824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6F4FC"/>
                </a:solidFill>
                <a:latin typeface="黑体" charset="0"/>
                <a:ea typeface="黑体" charset="0"/>
                <a:cs typeface="黑体" charset="0"/>
              </a:rPr>
              <a:t>低于60分预警对象</a:t>
            </a:r>
            <a:endParaRPr sz="1300" b="1">
              <a:solidFill>
                <a:srgbClr val="E6F4FC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960120" y="3648456"/>
            <a:ext cx="20574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先盘活存量</a:t>
            </a:r>
            <a:endParaRPr sz="1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960120" y="4087368"/>
            <a:ext cx="20574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再精准修复</a:t>
            </a:r>
            <a:endParaRPr sz="1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960120" y="4526280"/>
            <a:ext cx="20574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仍有缺口才新增</a:t>
            </a:r>
            <a:endParaRPr sz="1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pic>
        <p:nvPicPr>
          <p:cNvPr id="186" name="Picture 185" descr="新建决策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94560"/>
            <a:ext cx="7635240" cy="3364992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9098280" y="2039112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真实决策界面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3429000" y="5907024"/>
            <a:ext cx="5349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从“凭感觉”变成“凭数据”，让资金投到最该投的地方</a:t>
            </a:r>
            <a:endParaRPr sz="1500" b="1">
              <a:solidFill>
                <a:srgbClr val="FFD02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189" name="Connector 188"/>
          <p:cNvCxnSpPr/>
          <p:nvPr/>
        </p:nvCxnSpPr>
        <p:spPr>
          <a:xfrm>
            <a:off x="941832" y="3529584"/>
            <a:ext cx="1297533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239365" y="3529584"/>
            <a:ext cx="393192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2691536" y="3506724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2789834" y="3513124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3" name="4-Point Star 192"/>
          <p:cNvSpPr/>
          <p:nvPr/>
        </p:nvSpPr>
        <p:spPr>
          <a:xfrm>
            <a:off x="2878302" y="3479291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832104" y="3685032"/>
            <a:ext cx="54864" cy="54864"/>
          </a:xfrm>
          <a:prstGeom prst="ellipse">
            <a:avLst/>
          </a:prstGeom>
          <a:solidFill>
            <a:srgbClr val="34DA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832104" y="4123944"/>
            <a:ext cx="54864" cy="54864"/>
          </a:xfrm>
          <a:prstGeom prst="ellipse">
            <a:avLst/>
          </a:prstGeom>
          <a:solidFill>
            <a:srgbClr val="34DA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832104" y="4562856"/>
            <a:ext cx="54864" cy="54864"/>
          </a:xfrm>
          <a:prstGeom prst="ellipse">
            <a:avLst/>
          </a:prstGeom>
          <a:solidFill>
            <a:srgbClr val="34DAF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管：让每一座烤房都有可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智③ 智管：让每一座烤房都有可追溯的生命周期</a:t>
            </a:r>
            <a:endParaRPr sz="30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从建档、巡检、维修到基金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从建档、巡检、维修到评价回写，全部沉淀为长期资产数据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4233672" y="1965960"/>
            <a:ext cx="3749039" cy="320040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05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63440" y="2359152"/>
            <a:ext cx="2880360" cy="2240280"/>
          </a:xfrm>
          <a:prstGeom prst="ellipse">
            <a:avLst/>
          </a:prstGeom>
          <a:gradFill rotWithShape="1">
            <a:gsLst>
              <a:gs pos="0">
                <a:srgbClr val="FFFFFF">
                  <a:alpha val="8000"/>
                </a:srgbClr>
              </a:gs>
              <a:gs pos="100000">
                <a:srgbClr val="13C9F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828032" y="2889504"/>
            <a:ext cx="25603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全生命周期档案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892040" y="3401568"/>
            <a:ext cx="2423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DCF0FA"/>
                </a:solidFill>
                <a:latin typeface="黑体" charset="0"/>
                <a:ea typeface="黑体" charset="0"/>
                <a:cs typeface="黑体" charset="0"/>
              </a:rPr>
              <a:t>数据不断档 · 责任不断链</a:t>
            </a:r>
            <a:endParaRPr sz="1200" b="1">
              <a:solidFill>
                <a:srgbClr val="DCF0F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1234440" y="1783080"/>
            <a:ext cx="2103120" cy="13258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1005840" y="17830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2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508760" y="1837943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建档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508760" y="2286000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黑体" charset="0"/>
                <a:ea typeface="黑体" charset="0"/>
                <a:cs typeface="黑体" charset="0"/>
              </a:rPr>
              <a:t>一房一档 / 责任到人</a:t>
            </a:r>
            <a:endParaRPr sz="1000" b="0">
              <a:solidFill>
                <a:srgbClr val="CDE6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9" name="4-Point Star 148"/>
          <p:cNvSpPr/>
          <p:nvPr/>
        </p:nvSpPr>
        <p:spPr>
          <a:xfrm>
            <a:off x="3017520" y="1892807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686800" y="1783080"/>
            <a:ext cx="2103120" cy="13258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458200" y="17830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2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8961120" y="1837943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巡检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8961120" y="2286000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黑体" charset="0"/>
                <a:ea typeface="黑体" charset="0"/>
                <a:cs typeface="黑体" charset="0"/>
              </a:rPr>
              <a:t>状态更新 / 风险发现</a:t>
            </a:r>
            <a:endParaRPr sz="1000" b="0">
              <a:solidFill>
                <a:srgbClr val="CDE6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4" name="4-Point Star 153"/>
          <p:cNvSpPr/>
          <p:nvPr/>
        </p:nvSpPr>
        <p:spPr>
          <a:xfrm>
            <a:off x="10469880" y="1892807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8686800" y="4261104"/>
            <a:ext cx="2103120" cy="13258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8458200" y="4261104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2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8961120" y="4315968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维修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8961120" y="4764024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黑体" charset="0"/>
                <a:ea typeface="黑体" charset="0"/>
                <a:cs typeface="黑体" charset="0"/>
              </a:rPr>
              <a:t>工单闭环 / 备件留痕</a:t>
            </a:r>
            <a:endParaRPr sz="1000" b="0">
              <a:solidFill>
                <a:srgbClr val="CDE6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9" name="4-Point Star 158"/>
          <p:cNvSpPr/>
          <p:nvPr/>
        </p:nvSpPr>
        <p:spPr>
          <a:xfrm>
            <a:off x="10469880" y="4370832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1234440" y="4261104"/>
            <a:ext cx="2103120" cy="13258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005840" y="4261104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D02A"/>
                </a:solidFill>
                <a:latin typeface="黑体" charset="0"/>
                <a:ea typeface="黑体" charset="0"/>
              </a:rPr>
              <a:t>04</a:t>
            </a:r>
            <a:endParaRPr sz="2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508760" y="4315968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评价回写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508760" y="4764024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黑体" charset="0"/>
                <a:ea typeface="黑体" charset="0"/>
                <a:cs typeface="黑体" charset="0"/>
              </a:rPr>
              <a:t>验收评价 / 数据回写</a:t>
            </a:r>
            <a:endParaRPr sz="1000" b="0">
              <a:solidFill>
                <a:srgbClr val="CDE6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64" name="4-Point Star 163"/>
          <p:cNvSpPr/>
          <p:nvPr/>
        </p:nvSpPr>
        <p:spPr>
          <a:xfrm>
            <a:off x="3017520" y="4370832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2011680" y="5870448"/>
            <a:ext cx="8183879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DCF2FC"/>
                </a:solidFill>
                <a:latin typeface="黑体" charset="0"/>
                <a:ea typeface="黑体" charset="0"/>
              </a:rPr>
              <a:t>智管不是管一次，而是让数据、责任和资金跟着烤房走完整个生命周期</a:t>
            </a:r>
            <a:endParaRPr sz="1400" b="1">
              <a:solidFill>
                <a:srgbClr val="DCF2FC"/>
              </a:solidFill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3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四队长效：让机制跑在平台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4队① 四支队伍：线下有人接住，服务才真正闭环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把一次上线，做成长期可持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sz="1500" b="0">
                <a:solidFill>
                  <a:srgbClr val="E6F5FC"/>
                </a:solidFill>
                <a:latin typeface="黑体" charset="0"/>
                <a:ea typeface="黑体" charset="0"/>
              </a:rPr>
              <a:t>烟叶调制、紧急抢修、日常管护、综合管理，各司其职又协同联动</a:t>
            </a:r>
            <a:endParaRPr sz="1500" b="0">
              <a:solidFill>
                <a:srgbClr val="E6F5FC"/>
              </a:solidFill>
              <a:latin typeface="黑体" charset="0"/>
              <a:ea typeface="黑体" charset="0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13232" y="170078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23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325880" y="171907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烟叶调制队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246120" y="173736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黑体" charset="0"/>
                <a:ea typeface="黑体" charset="0"/>
                <a:cs typeface="黑体" charset="0"/>
              </a:rPr>
              <a:t>烘烤组织 / 技术指导 / 现场服务</a:t>
            </a:r>
            <a:endParaRPr sz="1100" b="0">
              <a:solidFill>
                <a:srgbClr val="D2EAF6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1051560" y="235915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1" name="4-Point Star 90"/>
          <p:cNvSpPr/>
          <p:nvPr/>
        </p:nvSpPr>
        <p:spPr>
          <a:xfrm>
            <a:off x="1106424" y="232257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1234440" y="235915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1325880" y="235915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13232" y="266090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23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325880" y="267919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紧急抢修队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46120" y="269748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黑体" charset="0"/>
                <a:ea typeface="黑体" charset="0"/>
                <a:cs typeface="黑体" charset="0"/>
              </a:rPr>
              <a:t>故障响应 / 配件调度 / 应急处置</a:t>
            </a:r>
            <a:endParaRPr sz="1100" b="0">
              <a:solidFill>
                <a:srgbClr val="D2EAF6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1051560" y="331927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4-Point Star 97"/>
          <p:cNvSpPr/>
          <p:nvPr/>
        </p:nvSpPr>
        <p:spPr>
          <a:xfrm>
            <a:off x="1106424" y="328269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1234440" y="331927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1325880" y="331927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13232" y="362102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23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325880" y="363931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日常管护队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246120" y="365760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黑体" charset="0"/>
                <a:ea typeface="黑体" charset="0"/>
                <a:cs typeface="黑体" charset="0"/>
              </a:rPr>
              <a:t>巡检养护 / 隐患发现 / 数据更新</a:t>
            </a:r>
            <a:endParaRPr sz="1100" b="0">
              <a:solidFill>
                <a:srgbClr val="D2EAF6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1051560" y="427939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5" name="4-Point Star 104"/>
          <p:cNvSpPr/>
          <p:nvPr/>
        </p:nvSpPr>
        <p:spPr>
          <a:xfrm>
            <a:off x="1106424" y="424281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1234440" y="427939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325880" y="427939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13232" y="458114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黑体" charset="0"/>
                <a:ea typeface="黑体" charset="0"/>
              </a:rPr>
              <a:t>04</a:t>
            </a:r>
            <a:endParaRPr sz="23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325880" y="459943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综合管理队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246120" y="461772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黑体" charset="0"/>
                <a:ea typeface="黑体" charset="0"/>
                <a:cs typeface="黑体" charset="0"/>
              </a:rPr>
              <a:t>统筹协调 / 验收评价 / 基金管理</a:t>
            </a:r>
            <a:endParaRPr sz="1100" b="0">
              <a:solidFill>
                <a:srgbClr val="D2EAF6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111" name="Picture 110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343400" cy="1783080"/>
          </a:xfrm>
          <a:prstGeom prst="rect">
            <a:avLst/>
          </a:prstGeom>
        </p:spPr>
      </p:pic>
      <p:pic>
        <p:nvPicPr>
          <p:cNvPr id="113" name="Picture 112" descr="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803904"/>
            <a:ext cx="4343400" cy="178308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555480" y="1481328"/>
            <a:ext cx="1508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真实现场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108960" y="5806440"/>
            <a:ext cx="6035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从“平台有人用”，走向“服务有人接”</a:t>
            </a:r>
            <a:endParaRPr sz="1600" b="1">
              <a:solidFill>
                <a:srgbClr val="FFD02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117" name="Connector 116"/>
          <p:cNvCxnSpPr/>
          <p:nvPr/>
        </p:nvCxnSpPr>
        <p:spPr>
          <a:xfrm>
            <a:off x="6565392" y="1627632"/>
            <a:ext cx="365760" cy="0"/>
          </a:xfrm>
          <a:prstGeom prst="line">
            <a:avLst/>
          </a:prstGeom>
          <a:ln w="1524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972800" y="1627632"/>
            <a:ext cx="237744" cy="0"/>
          </a:xfrm>
          <a:prstGeom prst="line">
            <a:avLst/>
          </a:prstGeom>
          <a:ln w="1524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4-Point Star 118"/>
          <p:cNvSpPr/>
          <p:nvPr/>
        </p:nvSpPr>
        <p:spPr>
          <a:xfrm>
            <a:off x="11228832" y="1591056"/>
            <a:ext cx="73152" cy="73152"/>
          </a:xfrm>
          <a:prstGeom prst="star4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6565392" y="3739896"/>
            <a:ext cx="365760" cy="0"/>
          </a:xfrm>
          <a:prstGeom prst="line">
            <a:avLst/>
          </a:prstGeom>
          <a:ln w="1524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972800" y="3739896"/>
            <a:ext cx="237744" cy="0"/>
          </a:xfrm>
          <a:prstGeom prst="line">
            <a:avLst/>
          </a:prstGeom>
          <a:ln w="1524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4-Point Star 121"/>
          <p:cNvSpPr/>
          <p:nvPr/>
        </p:nvSpPr>
        <p:spPr>
          <a:xfrm>
            <a:off x="11228832" y="3703320"/>
            <a:ext cx="73152" cy="73152"/>
          </a:xfrm>
          <a:prstGeom prst="star4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54393"/>
            <a:ext cx="7465060" cy="553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4队② 长效机制：有人管、有钱管、有标准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2011680" cy="10972"/>
          </a:xfrm>
          <a:prstGeom prst="rect">
            <a:avLst/>
          </a:prstGeom>
          <a:gradFill rotWithShape="1">
            <a:gsLst>
              <a:gs pos="0">
                <a:srgbClr val="2BD5F4">
                  <a:alpha val="0"/>
                </a:srgbClr>
              </a:gs>
              <a:gs pos="45000">
                <a:srgbClr val="61ECFF">
                  <a:alpha val="80000"/>
                </a:srgbClr>
              </a:gs>
              <a:gs pos="100000">
                <a:srgbClr val="2BD5F4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28048" y="1216152"/>
            <a:ext cx="2011680" cy="10972"/>
          </a:xfrm>
          <a:prstGeom prst="rect">
            <a:avLst/>
          </a:prstGeom>
          <a:gradFill rotWithShape="1">
            <a:gsLst>
              <a:gs pos="0">
                <a:srgbClr val="2BD5F4">
                  <a:alpha val="0"/>
                </a:srgbClr>
              </a:gs>
              <a:gs pos="45000">
                <a:srgbClr val="61ECFF">
                  <a:alpha val="80000"/>
                </a:srgbClr>
              </a:gs>
              <a:gs pos="100000">
                <a:srgbClr val="2BD5F4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1042415"/>
            <a:ext cx="9738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E6F5FF"/>
                </a:solidFill>
                <a:latin typeface="黑体" charset="0"/>
                <a:ea typeface="黑体" charset="0"/>
              </a:rPr>
              <a:t>队伍、资金、流程三层保障，把一次上线变成长期运营</a:t>
            </a:r>
            <a:endParaRPr sz="1500" b="0">
              <a:solidFill>
                <a:srgbClr val="E6F5FF"/>
              </a:solidFill>
              <a:latin typeface="黑体" charset="0"/>
              <a:ea typeface="黑体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1363栋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4328" y="1984248"/>
            <a:ext cx="1143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1F2FC"/>
                </a:solidFill>
                <a:latin typeface="黑体" charset="0"/>
                <a:ea typeface="黑体" charset="0"/>
              </a:rPr>
              <a:t>统筹管护</a:t>
            </a:r>
            <a:endParaRPr sz="1300" b="1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1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81%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4328" y="3218688"/>
            <a:ext cx="1143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1F2FC"/>
                </a:solidFill>
                <a:latin typeface="黑体" charset="0"/>
                <a:ea typeface="黑体" charset="0"/>
              </a:rPr>
              <a:t>在用烤房覆盖</a:t>
            </a:r>
            <a:endParaRPr sz="1300" b="1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2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近190万元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4328" y="4453128"/>
            <a:ext cx="1143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1F2FC"/>
                </a:solidFill>
                <a:latin typeface="黑体" charset="0"/>
                <a:ea typeface="黑体" charset="0"/>
              </a:rPr>
              <a:t>运维基金</a:t>
            </a:r>
            <a:endParaRPr sz="1300" b="1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pic>
        <p:nvPicPr>
          <p:cNvPr id="17" name="Picture 16" descr="抢修服务队_职责体系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645920"/>
            <a:ext cx="7086600" cy="361188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097280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建档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221991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1" name="4-Point Star 20"/>
          <p:cNvSpPr/>
          <p:nvPr/>
        </p:nvSpPr>
        <p:spPr>
          <a:xfrm>
            <a:off x="2304288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459736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670048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70048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巡检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3794759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" name="4-Point Star 25"/>
          <p:cNvSpPr/>
          <p:nvPr/>
        </p:nvSpPr>
        <p:spPr>
          <a:xfrm>
            <a:off x="3877055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032504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242816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42816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报修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367528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1" name="4-Point Star 30"/>
          <p:cNvSpPr/>
          <p:nvPr/>
        </p:nvSpPr>
        <p:spPr>
          <a:xfrm>
            <a:off x="5449824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605272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815584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15584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派单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940296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6" name="4-Point Star 35"/>
          <p:cNvSpPr/>
          <p:nvPr/>
        </p:nvSpPr>
        <p:spPr>
          <a:xfrm>
            <a:off x="7022592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178040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388352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88352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处置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513063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1" name="4-Point Star 40"/>
          <p:cNvSpPr/>
          <p:nvPr/>
        </p:nvSpPr>
        <p:spPr>
          <a:xfrm>
            <a:off x="8595360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750808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961119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61119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验收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0085831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6" name="4-Point Star 45"/>
          <p:cNvSpPr/>
          <p:nvPr/>
        </p:nvSpPr>
        <p:spPr>
          <a:xfrm>
            <a:off x="10168128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323576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0533888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3888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回写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069080" y="6089904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D02A"/>
                </a:solidFill>
                <a:latin typeface="黑体" charset="0"/>
                <a:ea typeface="黑体" charset="0"/>
              </a:rPr>
              <a:t>机制不散、服务不断、数据不丢</a:t>
            </a:r>
            <a:endParaRPr sz="1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914400" y="2633472"/>
            <a:ext cx="1538935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453335" y="2633472"/>
            <a:ext cx="466344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2989630" y="2610612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106216" y="261701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5" name="4-Point Star 54"/>
          <p:cNvSpPr/>
          <p:nvPr/>
        </p:nvSpPr>
        <p:spPr>
          <a:xfrm>
            <a:off x="3211144" y="2583179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914400" y="3867912"/>
            <a:ext cx="1538935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53335" y="3867912"/>
            <a:ext cx="466344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2989630" y="3845052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3106216" y="385145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0" name="4-Point Star 59"/>
          <p:cNvSpPr/>
          <p:nvPr/>
        </p:nvSpPr>
        <p:spPr>
          <a:xfrm>
            <a:off x="3211144" y="3817620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914400" y="5102352"/>
            <a:ext cx="1538935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453335" y="5102352"/>
            <a:ext cx="466344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989630" y="5079492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3106216" y="508589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5" name="4-Point Star 64"/>
          <p:cNvSpPr/>
          <p:nvPr/>
        </p:nvSpPr>
        <p:spPr>
          <a:xfrm>
            <a:off x="3211144" y="5052060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应用成效：从经验管房，走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一个烤季，结果说话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资源可见、维修提速、决策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340+预警 ｜ 48次调剂 ｜ 1363栋统筹 ｜ 81%覆盖 ｜ 近190万基金</a:t>
            </a:r>
            <a:endParaRPr sz="15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" name="可编辑圆环"/>
          <p:cNvSpPr/>
          <p:nvPr/>
        </p:nvSpPr>
        <p:spPr>
          <a:xfrm>
            <a:off x="571500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" name="可编辑圆环"/>
          <p:cNvSpPr/>
          <p:nvPr/>
        </p:nvSpPr>
        <p:spPr>
          <a:xfrm>
            <a:off x="708660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" name="可编辑圆环"/>
          <p:cNvSpPr/>
          <p:nvPr/>
        </p:nvSpPr>
        <p:spPr>
          <a:xfrm>
            <a:off x="832104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可编辑圆环"/>
          <p:cNvSpPr/>
          <p:nvPr/>
        </p:nvSpPr>
        <p:spPr>
          <a:xfrm>
            <a:off x="1202436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" name="可编辑矩形"/>
          <p:cNvSpPr/>
          <p:nvPr/>
        </p:nvSpPr>
        <p:spPr>
          <a:xfrm>
            <a:off x="984260" y="2927908"/>
            <a:ext cx="500359" cy="361370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" name="Isosceles Triangle 14"/>
          <p:cNvSpPr/>
          <p:nvPr/>
        </p:nvSpPr>
        <p:spPr>
          <a:xfrm>
            <a:off x="900866" y="2649931"/>
            <a:ext cx="667146" cy="333573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可编辑矩形"/>
          <p:cNvSpPr/>
          <p:nvPr/>
        </p:nvSpPr>
        <p:spPr>
          <a:xfrm>
            <a:off x="1171895" y="3046049"/>
            <a:ext cx="125089" cy="194584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" name="可编辑KPI_2442座"/>
          <p:cNvSpPr txBox="1"/>
          <p:nvPr/>
        </p:nvSpPr>
        <p:spPr>
          <a:xfrm>
            <a:off x="1801368" y="2414015"/>
            <a:ext cx="2148840" cy="74980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3500" b="1" i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2442</a:t>
            </a:r>
            <a:r>
              <a:rPr sz="3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座</a:t>
            </a:r>
            <a:endParaRPr sz="3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" name="文本_烤房入库建档"/>
          <p:cNvSpPr txBox="1"/>
          <p:nvPr/>
        </p:nvSpPr>
        <p:spPr>
          <a:xfrm>
            <a:off x="1856232" y="331012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建档 + 健康评估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0" name="可编辑圆环"/>
          <p:cNvSpPr/>
          <p:nvPr/>
        </p:nvSpPr>
        <p:spPr>
          <a:xfrm>
            <a:off x="4475988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1" name="可编辑圆环"/>
          <p:cNvSpPr/>
          <p:nvPr/>
        </p:nvSpPr>
        <p:spPr>
          <a:xfrm>
            <a:off x="4613148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2" name="可编辑圆环"/>
          <p:cNvSpPr/>
          <p:nvPr/>
        </p:nvSpPr>
        <p:spPr>
          <a:xfrm>
            <a:off x="4736592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可编辑圆环"/>
          <p:cNvSpPr/>
          <p:nvPr/>
        </p:nvSpPr>
        <p:spPr>
          <a:xfrm>
            <a:off x="5106924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" name="可编辑矩形"/>
          <p:cNvSpPr/>
          <p:nvPr/>
        </p:nvSpPr>
        <p:spPr>
          <a:xfrm>
            <a:off x="4930444" y="2712476"/>
            <a:ext cx="416966" cy="500359"/>
          </a:xfrm>
          <a:prstGeom prst="round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" name="可编辑矩形"/>
          <p:cNvSpPr/>
          <p:nvPr/>
        </p:nvSpPr>
        <p:spPr>
          <a:xfrm>
            <a:off x="5055534" y="2642981"/>
            <a:ext cx="166786" cy="83393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27" name="可编辑连线"/>
          <p:cNvCxnSpPr/>
          <p:nvPr/>
        </p:nvCxnSpPr>
        <p:spPr>
          <a:xfrm>
            <a:off x="5013838" y="2851464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可编辑连线"/>
          <p:cNvCxnSpPr/>
          <p:nvPr/>
        </p:nvCxnSpPr>
        <p:spPr>
          <a:xfrm>
            <a:off x="5013838" y="2962656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可编辑连线"/>
          <p:cNvCxnSpPr/>
          <p:nvPr/>
        </p:nvCxnSpPr>
        <p:spPr>
          <a:xfrm>
            <a:off x="5013838" y="3073847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可编辑KPI_1363次"/>
          <p:cNvSpPr txBox="1"/>
          <p:nvPr/>
        </p:nvSpPr>
        <p:spPr>
          <a:xfrm>
            <a:off x="5705856" y="241401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48次</a:t>
            </a:r>
            <a:endParaRPr sz="3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1" name="文本_调度与服务闭环记录"/>
          <p:cNvSpPr txBox="1"/>
          <p:nvPr/>
        </p:nvSpPr>
        <p:spPr>
          <a:xfrm>
            <a:off x="5760720" y="331012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</a:rPr>
              <a:t>烤房调剂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33" name="可编辑圆环"/>
          <p:cNvSpPr/>
          <p:nvPr/>
        </p:nvSpPr>
        <p:spPr>
          <a:xfrm>
            <a:off x="8316468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4" name="可编辑圆环"/>
          <p:cNvSpPr/>
          <p:nvPr/>
        </p:nvSpPr>
        <p:spPr>
          <a:xfrm>
            <a:off x="8453628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5" name="可编辑圆环"/>
          <p:cNvSpPr/>
          <p:nvPr/>
        </p:nvSpPr>
        <p:spPr>
          <a:xfrm>
            <a:off x="8577072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7" name="可编辑圆环"/>
          <p:cNvSpPr/>
          <p:nvPr/>
        </p:nvSpPr>
        <p:spPr>
          <a:xfrm>
            <a:off x="8947404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可编辑矩形"/>
          <p:cNvSpPr/>
          <p:nvPr/>
        </p:nvSpPr>
        <p:spPr>
          <a:xfrm>
            <a:off x="8757025" y="2684678"/>
            <a:ext cx="444764" cy="555955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9" name="可编辑连线"/>
          <p:cNvCxnSpPr/>
          <p:nvPr/>
        </p:nvCxnSpPr>
        <p:spPr>
          <a:xfrm>
            <a:off x="8840419" y="283756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可编辑连线"/>
          <p:cNvCxnSpPr/>
          <p:nvPr/>
        </p:nvCxnSpPr>
        <p:spPr>
          <a:xfrm>
            <a:off x="8840419" y="295570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可编辑连线"/>
          <p:cNvCxnSpPr/>
          <p:nvPr/>
        </p:nvCxnSpPr>
        <p:spPr>
          <a:xfrm>
            <a:off x="8840419" y="3073847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可编辑KPI_96.8%"/>
          <p:cNvSpPr txBox="1"/>
          <p:nvPr/>
        </p:nvSpPr>
        <p:spPr>
          <a:xfrm>
            <a:off x="9546336" y="241401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18次</a:t>
            </a:r>
            <a:endParaRPr sz="3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3" name="文本_家底信息完整率"/>
          <p:cNvSpPr txBox="1"/>
          <p:nvPr/>
        </p:nvSpPr>
        <p:spPr>
          <a:xfrm>
            <a:off x="9601200" y="331012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突发抢修全部 &lt;3h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5" name="可编辑圆环"/>
          <p:cNvSpPr/>
          <p:nvPr/>
        </p:nvSpPr>
        <p:spPr>
          <a:xfrm>
            <a:off x="2583179" y="504748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6" name="可编辑圆环"/>
          <p:cNvSpPr/>
          <p:nvPr/>
        </p:nvSpPr>
        <p:spPr>
          <a:xfrm>
            <a:off x="2720339" y="503377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7" name="可编辑圆环"/>
          <p:cNvSpPr/>
          <p:nvPr/>
        </p:nvSpPr>
        <p:spPr>
          <a:xfrm>
            <a:off x="2843784" y="5020055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9" name="可编辑圆环"/>
          <p:cNvSpPr/>
          <p:nvPr/>
        </p:nvSpPr>
        <p:spPr>
          <a:xfrm>
            <a:off x="3214115" y="4489703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0" name="可编辑圆环"/>
          <p:cNvSpPr/>
          <p:nvPr/>
        </p:nvSpPr>
        <p:spPr>
          <a:xfrm>
            <a:off x="295424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1" name="可编辑圆环"/>
          <p:cNvSpPr/>
          <p:nvPr/>
        </p:nvSpPr>
        <p:spPr>
          <a:xfrm>
            <a:off x="295424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2" name="可编辑圆环"/>
          <p:cNvSpPr/>
          <p:nvPr/>
        </p:nvSpPr>
        <p:spPr>
          <a:xfrm>
            <a:off x="307933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3" name="可编辑圆环"/>
          <p:cNvSpPr/>
          <p:nvPr/>
        </p:nvSpPr>
        <p:spPr>
          <a:xfrm>
            <a:off x="307933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4" name="可编辑圆环"/>
          <p:cNvSpPr/>
          <p:nvPr/>
        </p:nvSpPr>
        <p:spPr>
          <a:xfrm>
            <a:off x="3079333" y="4678070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5" name="可编辑圆环"/>
          <p:cNvSpPr/>
          <p:nvPr/>
        </p:nvSpPr>
        <p:spPr>
          <a:xfrm>
            <a:off x="320442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6" name="可编辑圆环"/>
          <p:cNvSpPr/>
          <p:nvPr/>
        </p:nvSpPr>
        <p:spPr>
          <a:xfrm>
            <a:off x="320442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7" name="可编辑圆环"/>
          <p:cNvSpPr/>
          <p:nvPr/>
        </p:nvSpPr>
        <p:spPr>
          <a:xfrm>
            <a:off x="3204423" y="4678070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8" name="可编辑圆环"/>
          <p:cNvSpPr/>
          <p:nvPr/>
        </p:nvSpPr>
        <p:spPr>
          <a:xfrm>
            <a:off x="3204423" y="4608576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9" name="可编辑圆环"/>
          <p:cNvSpPr/>
          <p:nvPr/>
        </p:nvSpPr>
        <p:spPr>
          <a:xfrm>
            <a:off x="3385108" y="4622474"/>
            <a:ext cx="229331" cy="229331"/>
          </a:xfrm>
          <a:prstGeom prst="ellipse">
            <a:avLst/>
          </a:prstGeom>
          <a:solidFill>
            <a:srgbClr val="0C4B70">
              <a:alpha val="95000"/>
            </a:srgbClr>
          </a:solidFill>
          <a:ln w="889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0" name="文本_¥"/>
          <p:cNvSpPr txBox="1"/>
          <p:nvPr/>
        </p:nvSpPr>
        <p:spPr>
          <a:xfrm>
            <a:off x="3385108" y="4622474"/>
            <a:ext cx="229331" cy="2293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黑体" charset="0"/>
                <a:ea typeface="黑体" charset="0"/>
              </a:rPr>
              <a:t>¥</a:t>
            </a:r>
            <a:endParaRPr sz="1050" b="1" i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61" name="可编辑KPI_≈190万"/>
          <p:cNvSpPr txBox="1"/>
          <p:nvPr/>
        </p:nvSpPr>
        <p:spPr>
          <a:xfrm>
            <a:off x="3813048" y="405993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0.38h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62" name="文本_投入测算参考价值"/>
          <p:cNvSpPr txBox="1"/>
          <p:nvPr/>
        </p:nvSpPr>
        <p:spPr>
          <a:xfrm>
            <a:off x="3867911" y="495604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16条工单平均响应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64" name="可编辑圆环"/>
          <p:cNvSpPr/>
          <p:nvPr/>
        </p:nvSpPr>
        <p:spPr>
          <a:xfrm>
            <a:off x="6606540" y="504748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5" name="可编辑圆环"/>
          <p:cNvSpPr/>
          <p:nvPr/>
        </p:nvSpPr>
        <p:spPr>
          <a:xfrm>
            <a:off x="6743700" y="503377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6" name="可编辑圆环"/>
          <p:cNvSpPr/>
          <p:nvPr/>
        </p:nvSpPr>
        <p:spPr>
          <a:xfrm>
            <a:off x="6867144" y="5020055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8" name="可编辑圆环"/>
          <p:cNvSpPr/>
          <p:nvPr/>
        </p:nvSpPr>
        <p:spPr>
          <a:xfrm>
            <a:off x="7237476" y="4489703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9" name="可编辑矩形"/>
          <p:cNvSpPr/>
          <p:nvPr/>
        </p:nvSpPr>
        <p:spPr>
          <a:xfrm>
            <a:off x="7047097" y="4330598"/>
            <a:ext cx="444764" cy="555955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70" name="可编辑连线"/>
          <p:cNvCxnSpPr/>
          <p:nvPr/>
        </p:nvCxnSpPr>
        <p:spPr>
          <a:xfrm>
            <a:off x="7130491" y="448348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可编辑连线"/>
          <p:cNvCxnSpPr/>
          <p:nvPr/>
        </p:nvCxnSpPr>
        <p:spPr>
          <a:xfrm>
            <a:off x="7130491" y="460162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可编辑连线"/>
          <p:cNvCxnSpPr/>
          <p:nvPr/>
        </p:nvCxnSpPr>
        <p:spPr>
          <a:xfrm>
            <a:off x="7130491" y="4719767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可编辑KPI_48个"/>
          <p:cNvSpPr txBox="1"/>
          <p:nvPr/>
        </p:nvSpPr>
        <p:spPr>
          <a:xfrm>
            <a:off x="7836408" y="405993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96.8%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74" name="文本_重点烟区应用覆盖"/>
          <p:cNvSpPr txBox="1"/>
          <p:nvPr/>
        </p:nvSpPr>
        <p:spPr>
          <a:xfrm>
            <a:off x="7891272" y="495604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531份问卷综合满意度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76" name="文本_看得见、调得动、修得快、"/>
          <p:cNvSpPr txBox="1"/>
          <p:nvPr/>
        </p:nvSpPr>
        <p:spPr>
          <a:xfrm>
            <a:off x="2880360" y="6199632"/>
            <a:ext cx="64465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340+预警 ｜ 48次调剂 ｜ 1363栋统筹 ｜ 81%覆盖 ｜ 近190万基金</a:t>
            </a:r>
            <a:endParaRPr sz="17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pic>
        <p:nvPicPr>
          <p:cNvPr id="81" name="Picture 80" descr="总览web_float.png"/>
          <p:cNvPicPr>
            <a:picLocks noChangeAspect="1"/>
          </p:cNvPicPr>
          <p:nvPr/>
        </p:nvPicPr>
        <p:blipFill>
          <a:blip r:embed="rId2"/>
          <a:srcRect t="15366" b="15366"/>
          <a:stretch>
            <a:fillRect/>
          </a:stretch>
        </p:blipFill>
        <p:spPr>
          <a:xfrm>
            <a:off x="411480" y="5138928"/>
            <a:ext cx="2240280" cy="804672"/>
          </a:xfrm>
          <a:prstGeom prst="rect">
            <a:avLst/>
          </a:prstGeom>
        </p:spPr>
      </p:pic>
      <p:pic>
        <p:nvPicPr>
          <p:cNvPr id="82" name="Picture 81" descr="新建决策_float.png"/>
          <p:cNvPicPr>
            <a:picLocks noChangeAspect="1"/>
          </p:cNvPicPr>
          <p:nvPr/>
        </p:nvPicPr>
        <p:blipFill>
          <a:blip r:embed="rId3"/>
          <a:srcRect t="15366" b="15366"/>
          <a:stretch>
            <a:fillRect/>
          </a:stretch>
        </p:blipFill>
        <p:spPr>
          <a:xfrm>
            <a:off x="9491472" y="5138928"/>
            <a:ext cx="2240280" cy="80467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02920" y="594360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BADFF4"/>
                </a:solidFill>
                <a:latin typeface="黑体" charset="0"/>
                <a:ea typeface="黑体" charset="0"/>
              </a:rPr>
              <a:t>系统记录</a:t>
            </a:r>
            <a:endParaRPr sz="700" b="0">
              <a:solidFill>
                <a:srgbClr val="BADFF4"/>
              </a:solidFill>
              <a:latin typeface="黑体" charset="0"/>
              <a:ea typeface="黑体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601200" y="594360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BADFF4"/>
                </a:solidFill>
                <a:latin typeface="黑体" charset="0"/>
                <a:ea typeface="黑体" charset="0"/>
              </a:rPr>
              <a:t>决策留痕</a:t>
            </a:r>
            <a:endParaRPr sz="700" b="0">
              <a:solidFill>
                <a:srgbClr val="BADFF4"/>
              </a:solidFill>
              <a:latin typeface="黑体" charset="0"/>
              <a:ea typeface="黑体" charset="0"/>
            </a:endParaRPr>
          </a:p>
        </p:txBody>
      </p:sp>
      <p:sp>
        <p:nvSpPr>
          <p:cNvPr id="85" name="4-Point Star 84"/>
          <p:cNvSpPr/>
          <p:nvPr/>
        </p:nvSpPr>
        <p:spPr>
          <a:xfrm>
            <a:off x="3593591" y="2738627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6" name="4-Point Star 85"/>
          <p:cNvSpPr/>
          <p:nvPr/>
        </p:nvSpPr>
        <p:spPr>
          <a:xfrm>
            <a:off x="7479792" y="2738627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7" name="4-Point Star 86"/>
          <p:cNvSpPr/>
          <p:nvPr/>
        </p:nvSpPr>
        <p:spPr>
          <a:xfrm>
            <a:off x="11064240" y="2738627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8" name="4-Point Star 87"/>
          <p:cNvSpPr/>
          <p:nvPr/>
        </p:nvSpPr>
        <p:spPr>
          <a:xfrm>
            <a:off x="5568695" y="4384548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9" name="4-Point Star 88"/>
          <p:cNvSpPr/>
          <p:nvPr/>
        </p:nvSpPr>
        <p:spPr>
          <a:xfrm>
            <a:off x="8897112" y="4384548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0" name="4-Point Star 89"/>
          <p:cNvSpPr/>
          <p:nvPr/>
        </p:nvSpPr>
        <p:spPr>
          <a:xfrm>
            <a:off x="3561588" y="262890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1" name="4-Point Star 90"/>
          <p:cNvSpPr/>
          <p:nvPr/>
        </p:nvSpPr>
        <p:spPr>
          <a:xfrm>
            <a:off x="7447788" y="262890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2" name="4-Point Star 91"/>
          <p:cNvSpPr/>
          <p:nvPr/>
        </p:nvSpPr>
        <p:spPr>
          <a:xfrm>
            <a:off x="11032236" y="262890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3" name="4-Point Star 92"/>
          <p:cNvSpPr/>
          <p:nvPr/>
        </p:nvSpPr>
        <p:spPr>
          <a:xfrm>
            <a:off x="5545836" y="427482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4" name="4-Point Star 93"/>
          <p:cNvSpPr/>
          <p:nvPr/>
        </p:nvSpPr>
        <p:spPr>
          <a:xfrm>
            <a:off x="8865108" y="427482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5" name="4-Point Star 94"/>
          <p:cNvSpPr/>
          <p:nvPr/>
        </p:nvSpPr>
        <p:spPr>
          <a:xfrm>
            <a:off x="3547872" y="2606040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4-Point Star 95"/>
          <p:cNvSpPr/>
          <p:nvPr/>
        </p:nvSpPr>
        <p:spPr>
          <a:xfrm>
            <a:off x="7406640" y="2606040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7" name="4-Point Star 96"/>
          <p:cNvSpPr/>
          <p:nvPr/>
        </p:nvSpPr>
        <p:spPr>
          <a:xfrm>
            <a:off x="10991088" y="2606040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4-Point Star 97"/>
          <p:cNvSpPr/>
          <p:nvPr/>
        </p:nvSpPr>
        <p:spPr>
          <a:xfrm>
            <a:off x="5486400" y="4261104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4-Point Star 98"/>
          <p:cNvSpPr/>
          <p:nvPr/>
        </p:nvSpPr>
        <p:spPr>
          <a:xfrm>
            <a:off x="8796528" y="4261104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091880" y="400113"/>
            <a:ext cx="8014335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总结：一套“智烤管家”，把三难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变成一个闭环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4-Point Star 82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4-Point Star 84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280160" y="1024128"/>
            <a:ext cx="96012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1</a:t>
            </a:r>
            <a:r>
              <a:rPr sz="16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库见底  ·  </a:t>
            </a:r>
            <a:r>
              <a:rPr sz="20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2</a:t>
            </a:r>
            <a:r>
              <a:rPr sz="16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模决策  ·  </a:t>
            </a:r>
            <a:r>
              <a:rPr sz="20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16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智落地  ·  </a:t>
            </a:r>
            <a:r>
              <a:rPr sz="20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4</a:t>
            </a:r>
            <a:r>
              <a:rPr sz="16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队长效</a:t>
            </a:r>
            <a:endParaRPr sz="1600" b="1">
              <a:solidFill>
                <a:srgbClr val="F5FB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874519" y="5001768"/>
            <a:ext cx="8412480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让每一座烤房，都有一份可计算、可调度、可运维、可决策的健康档案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286000" y="5559552"/>
            <a:ext cx="7589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从“经验管房”走向“数智管家”</a:t>
            </a:r>
            <a:endParaRPr sz="1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926080" y="5998464"/>
            <a:ext cx="63093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8DDF5"/>
                </a:solidFill>
                <a:latin typeface="黑体" charset="0"/>
                <a:ea typeface="黑体" charset="0"/>
              </a:rPr>
              <a:t>核实当地数据口径、调整设施参数后，可向其他产县复制推广</a:t>
            </a:r>
            <a:endParaRPr sz="10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24712" y="3950208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黑体" charset="0"/>
                <a:ea typeface="黑体" charset="0"/>
              </a:rPr>
              <a:t>1</a:t>
            </a:r>
            <a:endParaRPr sz="28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581912" y="3977639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库见底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730752" y="3493008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黑体" charset="0"/>
                <a:ea typeface="黑体" charset="0"/>
              </a:rPr>
              <a:t>2</a:t>
            </a:r>
            <a:endParaRPr sz="28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187952" y="3520440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模决策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382512" y="3008376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黑体" charset="0"/>
                <a:ea typeface="黑体" charset="0"/>
              </a:rPr>
              <a:t>3</a:t>
            </a:r>
            <a:endParaRPr sz="28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839712" y="3035808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智落地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9034272" y="2505456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黑体" charset="0"/>
                <a:ea typeface="黑体" charset="0"/>
              </a:rPr>
              <a:t>4</a:t>
            </a:r>
            <a:endParaRPr sz="28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9491472" y="2532888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队长效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895600" y="3867911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3" name="4-Point Star 132"/>
          <p:cNvSpPr/>
          <p:nvPr/>
        </p:nvSpPr>
        <p:spPr>
          <a:xfrm>
            <a:off x="3011424" y="3767328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3200400" y="3739896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3352800" y="3675887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6" name="4-Point Star 135"/>
          <p:cNvSpPr/>
          <p:nvPr/>
        </p:nvSpPr>
        <p:spPr>
          <a:xfrm>
            <a:off x="3468624" y="3575303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5509259" y="339242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8" name="4-Point Star 137"/>
          <p:cNvSpPr/>
          <p:nvPr/>
        </p:nvSpPr>
        <p:spPr>
          <a:xfrm>
            <a:off x="5632704" y="3291839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5829300" y="326440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5989320" y="32004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4-Point Star 140"/>
          <p:cNvSpPr/>
          <p:nvPr/>
        </p:nvSpPr>
        <p:spPr>
          <a:xfrm>
            <a:off x="6112764" y="3099815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8161020" y="290322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3" name="4-Point Star 142"/>
          <p:cNvSpPr/>
          <p:nvPr/>
        </p:nvSpPr>
        <p:spPr>
          <a:xfrm>
            <a:off x="8284464" y="279806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8481060" y="276606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8641080" y="2697479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6" name="4-Point Star 145"/>
          <p:cNvSpPr/>
          <p:nvPr/>
        </p:nvSpPr>
        <p:spPr>
          <a:xfrm>
            <a:off x="8764524" y="259232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47" name="Connector 146"/>
          <p:cNvCxnSpPr/>
          <p:nvPr/>
        </p:nvCxnSpPr>
        <p:spPr>
          <a:xfrm>
            <a:off x="1078992" y="4617720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255824" y="4617720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2665933" y="4594859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2755087" y="4601260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1" name="4-Point Star 150"/>
          <p:cNvSpPr/>
          <p:nvPr/>
        </p:nvSpPr>
        <p:spPr>
          <a:xfrm>
            <a:off x="2835325" y="4567428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52" name="Connector 151"/>
          <p:cNvCxnSpPr/>
          <p:nvPr/>
        </p:nvCxnSpPr>
        <p:spPr>
          <a:xfrm>
            <a:off x="3685032" y="4160520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861864" y="4160520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5271973" y="4137659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5361127" y="4144060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6" name="4-Point Star 155"/>
          <p:cNvSpPr/>
          <p:nvPr/>
        </p:nvSpPr>
        <p:spPr>
          <a:xfrm>
            <a:off x="5441365" y="4110228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57" name="Connector 156"/>
          <p:cNvCxnSpPr/>
          <p:nvPr/>
        </p:nvCxnSpPr>
        <p:spPr>
          <a:xfrm>
            <a:off x="6336792" y="3675887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7513624" y="3675887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7923733" y="3653027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8012887" y="365942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4-Point Star 160"/>
          <p:cNvSpPr/>
          <p:nvPr/>
        </p:nvSpPr>
        <p:spPr>
          <a:xfrm>
            <a:off x="8093125" y="3625595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62" name="Connector 161"/>
          <p:cNvCxnSpPr/>
          <p:nvPr/>
        </p:nvCxnSpPr>
        <p:spPr>
          <a:xfrm>
            <a:off x="8988552" y="3172968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65384" y="3172968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10575493" y="3150108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10664647" y="315650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6" name="4-Point Star 165"/>
          <p:cNvSpPr/>
          <p:nvPr/>
        </p:nvSpPr>
        <p:spPr>
          <a:xfrm>
            <a:off x="10744885" y="3122676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1033271" y="3822191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3639312" y="3364992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6291072" y="2880360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8942832" y="2377440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2510" y="1246505"/>
            <a:ext cx="2522220" cy="79883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谢谢聆听</a:t>
            </a:r>
            <a:endParaRPr sz="4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5" name="4-Point Star 4"/>
          <p:cNvSpPr/>
          <p:nvPr/>
        </p:nvSpPr>
        <p:spPr>
          <a:xfrm>
            <a:off x="3794760" y="2267712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4-Point Star 5"/>
          <p:cNvSpPr/>
          <p:nvPr/>
        </p:nvSpPr>
        <p:spPr>
          <a:xfrm>
            <a:off x="4343400" y="219456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7" name="4-Point Star 6"/>
          <p:cNvSpPr/>
          <p:nvPr/>
        </p:nvSpPr>
        <p:spPr>
          <a:xfrm>
            <a:off x="4892040" y="2295144"/>
            <a:ext cx="100584" cy="10058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" name="4-Point Star 7"/>
          <p:cNvSpPr/>
          <p:nvPr/>
        </p:nvSpPr>
        <p:spPr>
          <a:xfrm>
            <a:off x="5486400" y="2221992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" name="4-Point Star 8"/>
          <p:cNvSpPr/>
          <p:nvPr/>
        </p:nvSpPr>
        <p:spPr>
          <a:xfrm>
            <a:off x="6053328" y="2331720"/>
            <a:ext cx="118872" cy="11887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" name="4-Point Star 9"/>
          <p:cNvSpPr/>
          <p:nvPr/>
        </p:nvSpPr>
        <p:spPr>
          <a:xfrm>
            <a:off x="6601968" y="2212848"/>
            <a:ext cx="54864" cy="5486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" name="4-Point Star 10"/>
          <p:cNvSpPr/>
          <p:nvPr/>
        </p:nvSpPr>
        <p:spPr>
          <a:xfrm>
            <a:off x="7205472" y="2304288"/>
            <a:ext cx="91440" cy="9144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4-Point Star 11"/>
          <p:cNvSpPr/>
          <p:nvPr/>
        </p:nvSpPr>
        <p:spPr>
          <a:xfrm>
            <a:off x="7754112" y="219456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4-Point Star 12"/>
          <p:cNvSpPr/>
          <p:nvPr/>
        </p:nvSpPr>
        <p:spPr>
          <a:xfrm>
            <a:off x="8275320" y="2295144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46120" y="2761488"/>
            <a:ext cx="5715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聚数成方 · 一脉致远</a:t>
            </a:r>
            <a:endParaRPr sz="2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4600" y="3456432"/>
            <a:ext cx="71780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BF8FF"/>
                </a:solidFill>
                <a:latin typeface="黑体" charset="0"/>
                <a:ea typeface="黑体" charset="0"/>
              </a:rPr>
              <a:t>智烤管家，让每一座烤房发挥最大价值！</a:t>
            </a:r>
            <a:endParaRPr sz="2000" b="1">
              <a:solidFill>
                <a:srgbClr val="EBF8FF"/>
              </a:solidFill>
              <a:latin typeface="黑体" charset="0"/>
              <a:ea typeface="黑体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4709160"/>
            <a:ext cx="8366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CDE6F5"/>
                </a:solidFill>
                <a:latin typeface="黑体" charset="0"/>
                <a:ea typeface="黑体" charset="0"/>
                <a:cs typeface="黑体" charset="0"/>
              </a:rPr>
              <a:t>A：聚数成方 ——   B：一脉致远 ——   合：智烤管家，让每一座烤房发挥最大价值！</a:t>
            </a:r>
            <a:endParaRPr sz="1200" b="0">
              <a:solidFill>
                <a:srgbClr val="CDE6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0" y="5989320"/>
            <a:ext cx="397763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0C8DC"/>
                </a:solidFill>
                <a:latin typeface="黑体" charset="0"/>
                <a:ea typeface="黑体" charset="0"/>
                <a:cs typeface="黑体" charset="0"/>
              </a:rPr>
              <a:t>湖北烟草创客大赛 · 决赛发布</a:t>
            </a:r>
            <a:endParaRPr sz="1000" b="0">
              <a:solidFill>
                <a:srgbClr val="A0C8DC"/>
              </a:solidFill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2669</Words>
  <Application>WPS 文字</Application>
  <PresentationFormat>On-screen Show (4:3)</PresentationFormat>
  <Paragraphs>528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0" baseType="lpstr">
      <vt:lpstr>Arial</vt:lpstr>
      <vt:lpstr>宋体</vt:lpstr>
      <vt:lpstr>Wingdings</vt:lpstr>
      <vt:lpstr>Arial</vt:lpstr>
      <vt:lpstr>Noto Sans CJK SC</vt:lpstr>
      <vt:lpstr>Thonburi</vt:lpstr>
      <vt:lpstr>Noto Serif CJK SC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Noto Sans CJK SC</vt:lpstr>
      <vt:lpstr>Noto Serif CJK SC</vt:lpstr>
      <vt:lpstr>微软雅黑</vt:lpstr>
      <vt:lpstr>苹方-简</vt:lpstr>
      <vt:lpstr>蘋果儷中黑</vt:lpstr>
      <vt:lpstr>黑体</vt:lpstr>
      <vt:lpstr>汉仪中黑KW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上善若水</cp:lastModifiedBy>
  <cp:revision>46</cp:revision>
  <dcterms:created xsi:type="dcterms:W3CDTF">2026-10-09T15:29:07Z</dcterms:created>
  <dcterms:modified xsi:type="dcterms:W3CDTF">2026-10-09T15:29:07Z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D8A7EA3F3725FDCE31F3C86A2EB82B68_42</vt:lpwstr>
  </property>
  <property fmtid="{D5CDD505-2E9C-101B-9397-08002B2CF9AE}" pid="3" name="KSOProductBuildVer">
    <vt:lpwstr>2052-12.1.25869.25869</vt:lpwstr>
  </property>
</Properties>
</file>