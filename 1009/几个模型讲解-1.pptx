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327" r:id="rId3"/>
    <p:sldId id="328" r:id="rId5"/>
    <p:sldId id="330" r:id="rId6"/>
    <p:sldId id="329" r:id="rId7"/>
    <p:sldId id="331" r:id="rId8"/>
    <p:sldId id="334" r:id="rId9"/>
    <p:sldId id="335" r:id="rId10"/>
    <p:sldId id="336" r:id="rId11"/>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第一个模型是烤房健康评估模型。</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健康分部件综合分 管护分 现场人工评价</a:t>
            </a:r>
            <a:r>
              <a:rPr lang="zh-CN" altLang="en-US" dirty="0">
                <a:sym typeface="+mn-ea"/>
              </a:rPr>
              <a:t>加权得到</a:t>
            </a:r>
            <a:r>
              <a:rPr lang="zh-CN" altLang="en-US" dirty="0"/>
              <a:t>，部件分通过每个部件的**硬件状态、剩余寿命占比、现场评价**加权汇总，最后划分优良预警‑危险等五档，并输出风险靠前部件。</a:t>
            </a:r>
            <a:endParaRPr lang="zh-CN" altLang="en-US" dirty="0"/>
          </a:p>
          <a:p>
            <a:r>
              <a:rPr lang="zh-CN" altLang="en-US" dirty="0"/>
              <a:t>80/10/10 权重来自我们的业务经验；用**</a:t>
            </a:r>
            <a:r>
              <a:rPr lang="en-US" altLang="zh-CN" dirty="0"/>
              <a:t>AHP </a:t>
            </a:r>
            <a:r>
              <a:rPr lang="zh-CN" altLang="en-US" dirty="0"/>
              <a:t>层次分析法**把专家的主观业务判断做量化、一致性校验，再用*熵权法**挖掘其他客观数据特征，组合得到权重，权重来源数理可复核。</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 剩余寿命预测</a:t>
            </a:r>
            <a:endParaRPr lang="zh-CN" altLang="en-US" dirty="0"/>
          </a:p>
          <a:p>
            <a:r>
              <a:rPr lang="zh-CN" altLang="en-US" dirty="0"/>
              <a:t>结构件最短寿命作为硬上限；各类功能部件加权平均寿命；再叠加维修次数折损、烤房健康水平校准、房龄年限收缩约束，通过限制得到最终剩余寿命，</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sym typeface="+mn-ea"/>
              </a:rPr>
              <a:t>并输出四级维修预警。威布尔分布补充一定可靠度下的剩余寿命与失效概率辅助计算平均寿命。</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sym typeface="+mn-ea"/>
              </a:rPr>
              <a:t>烤房新建选址模型</a:t>
            </a:r>
            <a:r>
              <a:rPr lang="en-US" altLang="zh-CN" dirty="0">
                <a:sym typeface="+mn-ea"/>
              </a:rPr>
              <a:t>，</a:t>
            </a:r>
            <a:r>
              <a:rPr lang="zh-CN" altLang="en-US" dirty="0">
                <a:sym typeface="+mn-ea"/>
              </a:rPr>
              <a:t>计算村级发展指数来评估，由折算后的**有效烤能指数**、承载压力得到的**承载匹配指数**、五维评价得到的**发展因子指数*加权汇总，</a:t>
            </a:r>
            <a:r>
              <a:rPr lang="zh-CN" altLang="en-US" dirty="0">
                <a:sym typeface="+mn-ea"/>
              </a:rPr>
              <a:t>发展指数</a:t>
            </a:r>
            <a:r>
              <a:rPr lang="zh-CN" altLang="en-US" dirty="0">
                <a:sym typeface="+mn-ea"/>
              </a:rPr>
              <a:t>越低代表缺口越大、新建优先级越高，通过沙盘推演决定新建栋数。</a:t>
            </a:r>
            <a:endParaRPr lang="en-US" altLang="zh-CN" dirty="0"/>
          </a:p>
          <a:p>
            <a:r>
              <a:rPr lang="zh-CN" altLang="en-US" dirty="0">
                <a:sym typeface="+mn-ea"/>
              </a:rPr>
              <a:t>50/30/20 权重同样接入**</a:t>
            </a:r>
            <a:r>
              <a:rPr lang="en-US" altLang="zh-CN" dirty="0">
                <a:sym typeface="+mn-ea"/>
              </a:rPr>
              <a:t>AHP‑</a:t>
            </a:r>
            <a:r>
              <a:rPr lang="zh-CN" altLang="en-US" dirty="0">
                <a:sym typeface="+mn-ea"/>
              </a:rPr>
              <a:t>熵权组合赋权**完成权重校验；引入区位熵横向对标全县，识别村庄是否是真缺口；用</a:t>
            </a:r>
            <a:r>
              <a:rPr lang="en-US" altLang="zh-CN" dirty="0">
                <a:sym typeface="+mn-ea"/>
              </a:rPr>
              <a:t>TOPSIS </a:t>
            </a:r>
            <a:r>
              <a:rPr lang="zh-CN" altLang="en-US" dirty="0">
                <a:sym typeface="+mn-ea"/>
              </a:rPr>
              <a:t>逼近理想解多准则评价完成村优先级排序，通过沙盘推演决定新建栋数。</a:t>
            </a:r>
            <a:endParaRPr lang="en-US" altLang="zh-CN" dirty="0"/>
          </a:p>
          <a:p>
            <a:r>
              <a:rPr lang="zh-CN" altLang="en-US" dirty="0">
                <a:sym typeface="+mn-ea"/>
              </a:rPr>
              <a:t>权重不是拍的，是主客观算的</a:t>
            </a:r>
            <a:r>
              <a:rPr lang="en-US" altLang="zh-CN" dirty="0">
                <a:sym typeface="+mn-ea"/>
              </a:rPr>
              <a:t>，</a:t>
            </a:r>
            <a:r>
              <a:rPr lang="zh-CN" altLang="en-US" dirty="0">
                <a:sym typeface="+mn-ea"/>
              </a:rPr>
              <a:t>风险不是猜的，是排序预警的；决策不是估的，科学推演的。</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sym typeface="+mn-ea"/>
              </a:rPr>
              <a:t>烤房新建选址模型</a:t>
            </a:r>
            <a:r>
              <a:rPr lang="en-US" altLang="zh-CN" dirty="0">
                <a:sym typeface="+mn-ea"/>
              </a:rPr>
              <a:t>，</a:t>
            </a:r>
            <a:r>
              <a:rPr lang="zh-CN" altLang="en-US" dirty="0">
                <a:sym typeface="+mn-ea"/>
              </a:rPr>
              <a:t>计算村级发展指数来评估，由折算后的**有效烤能指数**、承载压力得到的**承载匹配指数**、五维评价得到的**发展因子指数*加权汇总，</a:t>
            </a:r>
            <a:r>
              <a:rPr lang="zh-CN" altLang="en-US" dirty="0">
                <a:sym typeface="+mn-ea"/>
              </a:rPr>
              <a:t>发展指数</a:t>
            </a:r>
            <a:r>
              <a:rPr lang="zh-CN" altLang="en-US" dirty="0">
                <a:sym typeface="+mn-ea"/>
              </a:rPr>
              <a:t>越低代表缺口越大、新建优先级越高，通过沙盘推演决定新建栋数。</a:t>
            </a:r>
            <a:endParaRPr lang="en-US" altLang="zh-CN" dirty="0"/>
          </a:p>
          <a:p>
            <a:r>
              <a:rPr lang="zh-CN" altLang="en-US" dirty="0">
                <a:sym typeface="+mn-ea"/>
              </a:rPr>
              <a:t>50/30/20 权重同样接入**</a:t>
            </a:r>
            <a:r>
              <a:rPr lang="en-US" altLang="zh-CN" dirty="0">
                <a:sym typeface="+mn-ea"/>
              </a:rPr>
              <a:t>AHP‑</a:t>
            </a:r>
            <a:r>
              <a:rPr lang="zh-CN" altLang="en-US" dirty="0">
                <a:sym typeface="+mn-ea"/>
              </a:rPr>
              <a:t>熵权组合赋权**完成权重校验；引入区位熵横向对标全县，识别村庄是否是真缺口；用</a:t>
            </a:r>
            <a:r>
              <a:rPr lang="en-US" altLang="zh-CN" dirty="0">
                <a:sym typeface="+mn-ea"/>
              </a:rPr>
              <a:t>TOPSIS </a:t>
            </a:r>
            <a:r>
              <a:rPr lang="zh-CN" altLang="en-US" dirty="0">
                <a:sym typeface="+mn-ea"/>
              </a:rPr>
              <a:t>逼近理想解多准则评价完成村优先级排序，通过沙盘推演决定新建栋数。</a:t>
            </a:r>
            <a:endParaRPr lang="en-US" altLang="zh-CN" dirty="0"/>
          </a:p>
          <a:p>
            <a:r>
              <a:rPr lang="zh-CN" altLang="en-US" dirty="0">
                <a:sym typeface="+mn-ea"/>
              </a:rPr>
              <a:t>权重不是拍的，是主客观算的</a:t>
            </a:r>
            <a:r>
              <a:rPr lang="en-US" altLang="zh-CN" dirty="0">
                <a:sym typeface="+mn-ea"/>
              </a:rPr>
              <a:t>，</a:t>
            </a:r>
            <a:r>
              <a:rPr lang="zh-CN" altLang="en-US" dirty="0">
                <a:sym typeface="+mn-ea"/>
              </a:rPr>
              <a:t>风险不是猜的，是排序预警的；决策不是估的，科学推演的。</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sym typeface="+mn-ea"/>
              </a:rPr>
              <a:t>烤房新建选址模型</a:t>
            </a:r>
            <a:r>
              <a:rPr lang="en-US" altLang="zh-CN" dirty="0">
                <a:sym typeface="+mn-ea"/>
              </a:rPr>
              <a:t>，</a:t>
            </a:r>
            <a:r>
              <a:rPr lang="zh-CN" altLang="en-US" dirty="0">
                <a:sym typeface="+mn-ea"/>
              </a:rPr>
              <a:t>计算村级发展指数来评估，由折算后的**有效烤能指数**、承载压力得到的**承载匹配指数**、五维评价得到的**发展因子指数*加权汇总，</a:t>
            </a:r>
            <a:r>
              <a:rPr lang="zh-CN" altLang="en-US" dirty="0">
                <a:sym typeface="+mn-ea"/>
              </a:rPr>
              <a:t>发展指数</a:t>
            </a:r>
            <a:r>
              <a:rPr lang="zh-CN" altLang="en-US" dirty="0">
                <a:sym typeface="+mn-ea"/>
              </a:rPr>
              <a:t>越低代表缺口越大、新建优先级越高，通过沙盘推演决定新建栋数。</a:t>
            </a:r>
            <a:endParaRPr lang="en-US" altLang="zh-CN" dirty="0"/>
          </a:p>
          <a:p>
            <a:r>
              <a:rPr lang="zh-CN" altLang="en-US" dirty="0">
                <a:sym typeface="+mn-ea"/>
              </a:rPr>
              <a:t>50/30/20 权重同样接入**</a:t>
            </a:r>
            <a:r>
              <a:rPr lang="en-US" altLang="zh-CN" dirty="0">
                <a:sym typeface="+mn-ea"/>
              </a:rPr>
              <a:t>AHP‑</a:t>
            </a:r>
            <a:r>
              <a:rPr lang="zh-CN" altLang="en-US" dirty="0">
                <a:sym typeface="+mn-ea"/>
              </a:rPr>
              <a:t>熵权组合赋权**完成权重校验；引入区位熵横向对标全县，识别村庄是否是真缺口；用</a:t>
            </a:r>
            <a:r>
              <a:rPr lang="en-US" altLang="zh-CN" dirty="0">
                <a:sym typeface="+mn-ea"/>
              </a:rPr>
              <a:t>TOPSIS </a:t>
            </a:r>
            <a:r>
              <a:rPr lang="zh-CN" altLang="en-US" dirty="0">
                <a:sym typeface="+mn-ea"/>
              </a:rPr>
              <a:t>逼近理想解多准则评价完成村优先级排序，通过沙盘推演决定新建栋数。</a:t>
            </a:r>
            <a:endParaRPr lang="en-US" altLang="zh-CN" dirty="0"/>
          </a:p>
          <a:p>
            <a:r>
              <a:rPr lang="zh-CN" altLang="en-US" dirty="0">
                <a:sym typeface="+mn-ea"/>
              </a:rPr>
              <a:t>权重不是拍的，是主客观算的</a:t>
            </a:r>
            <a:r>
              <a:rPr lang="en-US" altLang="zh-CN" dirty="0">
                <a:sym typeface="+mn-ea"/>
              </a:rPr>
              <a:t>，</a:t>
            </a:r>
            <a:r>
              <a:rPr lang="zh-CN" altLang="en-US" dirty="0">
                <a:sym typeface="+mn-ea"/>
              </a:rPr>
              <a:t>风险不是猜的，是排序预警的；决策不是估的，科学推演的。</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87020" y="215900"/>
            <a:ext cx="1737360" cy="475615"/>
          </a:xfrm>
          <a:prstGeom prst="roundRect">
            <a:avLst>
              <a:gd name="adj" fmla="val 50000"/>
            </a:avLst>
          </a:prstGeom>
          <a:solidFill>
            <a:srgbClr val="14532D"/>
          </a:solidFill>
          <a:effectLst>
            <a:outerShdw blurRad="2147483647" dist="2147483647" dir="1" algn="bl" rotWithShape="0">
              <a:srgbClr val="1B4633">
                <a:alpha val="2"/>
              </a:srgbClr>
            </a:outerShdw>
          </a:effectLst>
        </p:spPr>
      </p:sp>
      <p:sp>
        <p:nvSpPr>
          <p:cNvPr id="4" name="Text 2"/>
          <p:cNvSpPr/>
          <p:nvPr/>
        </p:nvSpPr>
        <p:spPr>
          <a:xfrm>
            <a:off x="287020" y="21590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模型一</a:t>
            </a:r>
            <a:endParaRPr lang="en-US" sz="1500" dirty="0"/>
          </a:p>
        </p:txBody>
      </p:sp>
      <p:pic>
        <p:nvPicPr>
          <p:cNvPr id="2" name="图片 1" descr="1-烤房健康评估模型_健康分与剩余寿命_一页图.drawio"/>
          <p:cNvPicPr>
            <a:picLocks noChangeAspect="1"/>
          </p:cNvPicPr>
          <p:nvPr/>
        </p:nvPicPr>
        <p:blipFill>
          <a:blip r:embed="rId1"/>
          <a:stretch>
            <a:fillRect/>
          </a:stretch>
        </p:blipFill>
        <p:spPr>
          <a:xfrm>
            <a:off x="1242695" y="0"/>
            <a:ext cx="10853420" cy="62585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02920" y="502920"/>
            <a:ext cx="1737360" cy="475488"/>
          </a:xfrm>
          <a:prstGeom prst="roundRect">
            <a:avLst>
              <a:gd name="adj" fmla="val 50000"/>
            </a:avLst>
          </a:prstGeom>
          <a:solidFill>
            <a:srgbClr val="14532D"/>
          </a:solidFill>
          <a:effectLst>
            <a:outerShdw blurRad="127000" dist="50800" dir="2700000" algn="bl" rotWithShape="0">
              <a:srgbClr val="1B4633">
                <a:alpha val="22000"/>
              </a:srgbClr>
            </a:outerShdw>
          </a:effectLst>
        </p:spPr>
      </p:sp>
      <p:sp>
        <p:nvSpPr>
          <p:cNvPr id="4" name="Text 2"/>
          <p:cNvSpPr/>
          <p:nvPr/>
        </p:nvSpPr>
        <p:spPr>
          <a:xfrm>
            <a:off x="502920" y="50292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 一</a:t>
            </a:r>
            <a:endParaRPr lang="en-US" sz="1500" dirty="0"/>
          </a:p>
        </p:txBody>
      </p:sp>
      <p:sp>
        <p:nvSpPr>
          <p:cNvPr id="5" name="Text 3"/>
          <p:cNvSpPr/>
          <p:nvPr/>
        </p:nvSpPr>
        <p:spPr>
          <a:xfrm>
            <a:off x="2487168" y="365760"/>
            <a:ext cx="9052560" cy="777240"/>
          </a:xfrm>
          <a:prstGeom prst="rect">
            <a:avLst/>
          </a:prstGeom>
          <a:noFill/>
        </p:spPr>
        <p:txBody>
          <a:bodyPr wrap="square" lIns="0" tIns="0" rIns="0" bIns="0" rtlCol="0" anchor="ctr"/>
          <a:lstStyle/>
          <a:p>
            <a:pPr marL="0" indent="0">
              <a:buNone/>
            </a:pPr>
            <a:r>
              <a:rPr lang="en-US" sz="2700" b="1" dirty="0">
                <a:solidFill>
                  <a:srgbClr val="14301F"/>
                </a:solidFill>
                <a:latin typeface="微软雅黑" pitchFamily="34" charset="0"/>
                <a:ea typeface="微软雅黑" pitchFamily="34" charset="-122"/>
                <a:cs typeface="微软雅黑" pitchFamily="34" charset="-120"/>
              </a:rPr>
              <a:t>健康评估 -计算及实例</a:t>
            </a:r>
            <a:endParaRPr lang="en-US" sz="2700" dirty="0"/>
          </a:p>
        </p:txBody>
      </p:sp>
      <p:sp>
        <p:nvSpPr>
          <p:cNvPr id="7" name="Shape 5"/>
          <p:cNvSpPr/>
          <p:nvPr/>
        </p:nvSpPr>
        <p:spPr>
          <a:xfrm>
            <a:off x="248920" y="1572895"/>
            <a:ext cx="7112000" cy="3877945"/>
          </a:xfrm>
          <a:prstGeom prst="roundRect">
            <a:avLst>
              <a:gd name="adj" fmla="val 2308"/>
            </a:avLst>
          </a:prstGeom>
          <a:solidFill>
            <a:srgbClr val="FFFFFF"/>
          </a:solidFill>
          <a:ln w="12700">
            <a:solidFill>
              <a:srgbClr val="D6E3DA"/>
            </a:solidFill>
            <a:prstDash val="solid"/>
          </a:ln>
          <a:effectLst>
            <a:outerShdw blurRad="1612900000" dist="645160000" dir="-1" algn="bl" rotWithShape="0">
              <a:srgbClr val="1B4633">
                <a:alpha val="2147483647"/>
              </a:srgbClr>
            </a:outerShdw>
          </a:effectLst>
        </p:spPr>
      </p:sp>
      <p:sp>
        <p:nvSpPr>
          <p:cNvPr id="8" name="Shape 6"/>
          <p:cNvSpPr/>
          <p:nvPr/>
        </p:nvSpPr>
        <p:spPr>
          <a:xfrm>
            <a:off x="447040" y="1627505"/>
            <a:ext cx="6629400" cy="567055"/>
          </a:xfrm>
          <a:prstGeom prst="roundRect">
            <a:avLst>
              <a:gd name="adj" fmla="val 9677"/>
            </a:avLst>
          </a:prstGeom>
          <a:solidFill>
            <a:srgbClr val="14532D"/>
          </a:solidFill>
          <a:effectLst>
            <a:outerShdw blurRad="2147483647" dist="2147483647" dir="-1" algn="bl" rotWithShape="0">
              <a:srgbClr val="1B4633">
                <a:alpha val="2147483647"/>
              </a:srgbClr>
            </a:outerShdw>
          </a:effectLst>
        </p:spPr>
      </p:sp>
      <p:sp>
        <p:nvSpPr>
          <p:cNvPr id="9" name="Text 7"/>
          <p:cNvSpPr/>
          <p:nvPr/>
        </p:nvSpPr>
        <p:spPr>
          <a:xfrm>
            <a:off x="502285" y="1627505"/>
            <a:ext cx="6630035" cy="567055"/>
          </a:xfrm>
          <a:prstGeom prst="rect">
            <a:avLst/>
          </a:prstGeom>
          <a:noFill/>
        </p:spPr>
        <p:txBody>
          <a:bodyPr wrap="square" lIns="0" tIns="0" rIns="0" bIns="0" rtlCol="0" anchor="ctr"/>
          <a:lstStyle/>
          <a:p>
            <a:pPr marL="0" indent="0" algn="ctr">
              <a:buNone/>
            </a:pPr>
            <a:r>
              <a:rPr lang="en-US" sz="1700" b="1" dirty="0">
                <a:solidFill>
                  <a:srgbClr val="FFFFFF"/>
                </a:solidFill>
                <a:latin typeface="微软雅黑" pitchFamily="34" charset="0"/>
                <a:ea typeface="微软雅黑" pitchFamily="34" charset="-122"/>
                <a:cs typeface="微软雅黑" pitchFamily="34" charset="-120"/>
              </a:rPr>
              <a:t>H = 0.80·P</a:t>
            </a:r>
            <a:r>
              <a:rPr lang="zh-CN" altLang="en-US" sz="1700" b="1" dirty="0">
                <a:solidFill>
                  <a:srgbClr val="FFFFFF"/>
                </a:solidFill>
                <a:latin typeface="微软雅黑" pitchFamily="34" charset="0"/>
                <a:ea typeface="微软雅黑" pitchFamily="34" charset="-122"/>
                <a:cs typeface="微软雅黑" pitchFamily="34" charset="-120"/>
              </a:rPr>
              <a:t>总</a:t>
            </a:r>
            <a:r>
              <a:rPr lang="en-US" sz="1700" b="1" dirty="0">
                <a:solidFill>
                  <a:srgbClr val="FFFFFF"/>
                </a:solidFill>
                <a:latin typeface="微软雅黑" pitchFamily="34" charset="0"/>
                <a:ea typeface="微软雅黑" pitchFamily="34" charset="-122"/>
                <a:cs typeface="微软雅黑" pitchFamily="34" charset="-120"/>
                <a:sym typeface="+mn-ea"/>
              </a:rPr>
              <a:t>部件分</a:t>
            </a:r>
            <a:r>
              <a:rPr lang="en-US" sz="1700" b="1" dirty="0">
                <a:solidFill>
                  <a:srgbClr val="FFFFFF"/>
                </a:solidFill>
                <a:latin typeface="微软雅黑" pitchFamily="34" charset="0"/>
                <a:ea typeface="微软雅黑" pitchFamily="34" charset="-122"/>
                <a:cs typeface="微软雅黑" pitchFamily="34" charset="-120"/>
              </a:rPr>
              <a:t> + 0.10·M</a:t>
            </a:r>
            <a:r>
              <a:rPr lang="en-US" sz="1700" b="1" dirty="0">
                <a:solidFill>
                  <a:srgbClr val="FFFFFF"/>
                </a:solidFill>
                <a:latin typeface="微软雅黑" pitchFamily="34" charset="0"/>
                <a:ea typeface="微软雅黑" pitchFamily="34" charset="-122"/>
                <a:cs typeface="微软雅黑" pitchFamily="34" charset="-120"/>
                <a:sym typeface="+mn-ea"/>
              </a:rPr>
              <a:t>管护分</a:t>
            </a:r>
            <a:r>
              <a:rPr lang="en-US" sz="1700" b="1" dirty="0">
                <a:solidFill>
                  <a:srgbClr val="FFFFFF"/>
                </a:solidFill>
                <a:latin typeface="微软雅黑" pitchFamily="34" charset="0"/>
                <a:ea typeface="微软雅黑" pitchFamily="34" charset="-122"/>
                <a:cs typeface="微软雅黑" pitchFamily="34" charset="-120"/>
              </a:rPr>
              <a:t> + 0.10·E</a:t>
            </a:r>
            <a:r>
              <a:rPr lang="en-US" sz="1700" b="1" dirty="0">
                <a:solidFill>
                  <a:srgbClr val="FFFFFF"/>
                </a:solidFill>
                <a:latin typeface="微软雅黑" pitchFamily="34" charset="0"/>
                <a:ea typeface="微软雅黑" pitchFamily="34" charset="-122"/>
                <a:cs typeface="微软雅黑" pitchFamily="34" charset="-120"/>
                <a:sym typeface="+mn-ea"/>
              </a:rPr>
              <a:t>人工分</a:t>
            </a:r>
            <a:r>
              <a:rPr lang="en-US" sz="1100" dirty="0">
                <a:solidFill>
                  <a:srgbClr val="DCEBE2"/>
                </a:solidFill>
                <a:latin typeface="微软雅黑" pitchFamily="34" charset="0"/>
                <a:ea typeface="微软雅黑" pitchFamily="34" charset="-122"/>
                <a:cs typeface="微软雅黑" pitchFamily="34" charset="-120"/>
              </a:rPr>
              <a:t>（0~100）</a:t>
            </a:r>
            <a:endParaRPr lang="en-US" sz="1700" dirty="0"/>
          </a:p>
        </p:txBody>
      </p:sp>
      <p:sp>
        <p:nvSpPr>
          <p:cNvPr id="11" name="Shape 9"/>
          <p:cNvSpPr/>
          <p:nvPr/>
        </p:nvSpPr>
        <p:spPr>
          <a:xfrm>
            <a:off x="1018540" y="2350135"/>
            <a:ext cx="5642610" cy="365760"/>
          </a:xfrm>
          <a:prstGeom prst="roundRect">
            <a:avLst>
              <a:gd name="adj" fmla="val 10000"/>
            </a:avLst>
          </a:prstGeom>
          <a:solidFill>
            <a:srgbClr val="2E8B6A"/>
          </a:solidFill>
        </p:spPr>
      </p:sp>
      <p:sp>
        <p:nvSpPr>
          <p:cNvPr id="12" name="Text 10"/>
          <p:cNvSpPr/>
          <p:nvPr/>
        </p:nvSpPr>
        <p:spPr>
          <a:xfrm>
            <a:off x="1117600" y="2350135"/>
            <a:ext cx="5257800" cy="365760"/>
          </a:xfrm>
          <a:prstGeom prst="rect">
            <a:avLst/>
          </a:prstGeom>
          <a:noFill/>
        </p:spPr>
        <p:txBody>
          <a:bodyPr wrap="square" lIns="0" tIns="0" rIns="0" bIns="0" rtlCol="0" anchor="ctr"/>
          <a:lstStyle/>
          <a:p>
            <a:pPr marL="0" indent="0">
              <a:buNone/>
            </a:pPr>
            <a:r>
              <a:rPr lang="en-US" sz="1250" b="1" dirty="0">
                <a:solidFill>
                  <a:srgbClr val="FFFFFF"/>
                </a:solidFill>
                <a:latin typeface="微软雅黑" pitchFamily="34" charset="0"/>
                <a:ea typeface="微软雅黑" pitchFamily="34" charset="-122"/>
                <a:cs typeface="微软雅黑" pitchFamily="34" charset="-120"/>
              </a:rPr>
              <a:t>① </a:t>
            </a:r>
            <a:r>
              <a:rPr lang="zh-CN" altLang="en-US" sz="1250" b="1" dirty="0">
                <a:solidFill>
                  <a:srgbClr val="FFFFFF"/>
                </a:solidFill>
                <a:latin typeface="微软雅黑" pitchFamily="34" charset="0"/>
                <a:ea typeface="微软雅黑" pitchFamily="34" charset="-122"/>
                <a:cs typeface="微软雅黑" pitchFamily="34" charset="-120"/>
              </a:rPr>
              <a:t>总</a:t>
            </a:r>
            <a:r>
              <a:rPr lang="en-US" sz="1250" b="1" dirty="0">
                <a:solidFill>
                  <a:srgbClr val="FFFFFF"/>
                </a:solidFill>
                <a:latin typeface="微软雅黑" pitchFamily="34" charset="0"/>
                <a:ea typeface="微软雅黑" pitchFamily="34" charset="-122"/>
                <a:cs typeface="微软雅黑" pitchFamily="34" charset="-120"/>
              </a:rPr>
              <a:t>部件分 </a:t>
            </a:r>
            <a:r>
              <a:rPr lang="en-US" altLang="zh-CN" sz="1250" b="1" dirty="0">
                <a:solidFill>
                  <a:srgbClr val="FFFFFF"/>
                </a:solidFill>
                <a:latin typeface="微软雅黑" pitchFamily="34" charset="0"/>
                <a:ea typeface="微软雅黑" pitchFamily="34" charset="-122"/>
                <a:cs typeface="微软雅黑" pitchFamily="34" charset="-120"/>
              </a:rPr>
              <a:t>P = Σ( W</a:t>
            </a:r>
            <a:r>
              <a:rPr lang="en-US" altLang="en-US" sz="1250" b="1" dirty="0">
                <a:solidFill>
                  <a:srgbClr val="FFFFFF"/>
                </a:solidFill>
                <a:latin typeface="微软雅黑" pitchFamily="34" charset="0"/>
                <a:ea typeface="微软雅黑" pitchFamily="34" charset="-122"/>
                <a:cs typeface="微软雅黑" pitchFamily="34" charset="-120"/>
              </a:rPr>
              <a:t>ᵢ × </a:t>
            </a:r>
            <a:r>
              <a:rPr lang="en-US" altLang="zh-CN" sz="1250" b="1" dirty="0">
                <a:solidFill>
                  <a:srgbClr val="FFFFFF"/>
                </a:solidFill>
                <a:latin typeface="微软雅黑" pitchFamily="34" charset="0"/>
                <a:ea typeface="微软雅黑" pitchFamily="34" charset="-122"/>
                <a:cs typeface="微软雅黑" pitchFamily="34" charset="-120"/>
              </a:rPr>
              <a:t>score</a:t>
            </a:r>
            <a:r>
              <a:rPr lang="en-US" altLang="en-US" sz="1250" b="1" dirty="0">
                <a:solidFill>
                  <a:srgbClr val="FFFFFF"/>
                </a:solidFill>
                <a:latin typeface="微软雅黑" pitchFamily="34" charset="0"/>
                <a:ea typeface="微软雅黑" pitchFamily="34" charset="-122"/>
                <a:cs typeface="微软雅黑" pitchFamily="34" charset="-120"/>
              </a:rPr>
              <a:t>ᵢ ) / </a:t>
            </a:r>
            <a:r>
              <a:rPr lang="en-US" altLang="zh-CN" sz="1250" b="1" dirty="0">
                <a:solidFill>
                  <a:srgbClr val="FFFFFF"/>
                </a:solidFill>
                <a:latin typeface="微软雅黑" pitchFamily="34" charset="0"/>
                <a:ea typeface="微软雅黑" pitchFamily="34" charset="-122"/>
                <a:cs typeface="微软雅黑" pitchFamily="34" charset="-120"/>
              </a:rPr>
              <a:t>ΣW</a:t>
            </a:r>
            <a:r>
              <a:rPr lang="en-US" altLang="en-US" sz="1250" b="1" dirty="0">
                <a:solidFill>
                  <a:srgbClr val="FFFFFF"/>
                </a:solidFill>
                <a:latin typeface="微软雅黑" pitchFamily="34" charset="0"/>
                <a:ea typeface="微软雅黑" pitchFamily="34" charset="-122"/>
                <a:cs typeface="微软雅黑" pitchFamily="34" charset="-120"/>
              </a:rPr>
              <a:t>ᵢ × 100</a:t>
            </a:r>
            <a:r>
              <a:rPr lang="en-US" sz="1250" b="1" dirty="0">
                <a:solidFill>
                  <a:srgbClr val="FFFFFF"/>
                </a:solidFill>
                <a:latin typeface="微软雅黑" pitchFamily="34" charset="0"/>
                <a:ea typeface="微软雅黑" pitchFamily="34" charset="-122"/>
                <a:cs typeface="微软雅黑" pitchFamily="34" charset="-120"/>
              </a:rPr>
              <a:t>　</a:t>
            </a:r>
            <a:r>
              <a:rPr lang="en-US" sz="1000" dirty="0">
                <a:solidFill>
                  <a:srgbClr val="DCEBE2"/>
                </a:solidFill>
                <a:latin typeface="微软雅黑" pitchFamily="34" charset="0"/>
                <a:ea typeface="微软雅黑" pitchFamily="34" charset="-122"/>
                <a:cs typeface="微软雅黑" pitchFamily="34" charset="-120"/>
              </a:rPr>
              <a:t>　（</a:t>
            </a:r>
            <a:r>
              <a:rPr lang="en-US" altLang="zh-CN" sz="1000" dirty="0">
                <a:solidFill>
                  <a:srgbClr val="DCEBE2"/>
                </a:solidFill>
                <a:latin typeface="微软雅黑" pitchFamily="34" charset="0"/>
                <a:ea typeface="微软雅黑" pitchFamily="34" charset="-122"/>
                <a:cs typeface="微软雅黑" pitchFamily="34" charset="-120"/>
              </a:rPr>
              <a:t>ΣW</a:t>
            </a:r>
            <a:r>
              <a:rPr lang="en-US" altLang="en-US" sz="1000" dirty="0">
                <a:solidFill>
                  <a:srgbClr val="DCEBE2"/>
                </a:solidFill>
                <a:latin typeface="微软雅黑" pitchFamily="34" charset="0"/>
                <a:ea typeface="微软雅黑" pitchFamily="34" charset="-122"/>
                <a:cs typeface="微软雅黑" pitchFamily="34" charset="-120"/>
              </a:rPr>
              <a:t>ᵢ = 80</a:t>
            </a:r>
            <a:r>
              <a:rPr lang="en-US" sz="1000" dirty="0">
                <a:solidFill>
                  <a:srgbClr val="DCEBE2"/>
                </a:solidFill>
                <a:latin typeface="微软雅黑" pitchFamily="34" charset="0"/>
                <a:ea typeface="微软雅黑" pitchFamily="34" charset="-122"/>
                <a:cs typeface="微软雅黑" pitchFamily="34" charset="-120"/>
              </a:rPr>
              <a:t>）</a:t>
            </a:r>
            <a:endParaRPr lang="en-US" sz="1250" dirty="0"/>
          </a:p>
        </p:txBody>
      </p:sp>
      <p:sp>
        <p:nvSpPr>
          <p:cNvPr id="14" name="Shape 12"/>
          <p:cNvSpPr/>
          <p:nvPr/>
        </p:nvSpPr>
        <p:spPr>
          <a:xfrm>
            <a:off x="1063625" y="2853055"/>
            <a:ext cx="5446395" cy="402590"/>
          </a:xfrm>
          <a:prstGeom prst="roundRect">
            <a:avLst>
              <a:gd name="adj" fmla="val 9091"/>
            </a:avLst>
          </a:prstGeom>
          <a:solidFill>
            <a:srgbClr val="E7F2EA"/>
          </a:solidFill>
          <a:ln w="12700">
            <a:solidFill>
              <a:srgbClr val="D6E3DA"/>
            </a:solidFill>
            <a:prstDash val="solid"/>
          </a:ln>
        </p:spPr>
      </p:sp>
      <p:sp>
        <p:nvSpPr>
          <p:cNvPr id="15" name="Text 13"/>
          <p:cNvSpPr/>
          <p:nvPr/>
        </p:nvSpPr>
        <p:spPr>
          <a:xfrm>
            <a:off x="1118235" y="2853055"/>
            <a:ext cx="5392420" cy="402590"/>
          </a:xfrm>
          <a:prstGeom prst="rect">
            <a:avLst/>
          </a:prstGeom>
          <a:noFill/>
        </p:spPr>
        <p:txBody>
          <a:bodyPr wrap="square" lIns="0" tIns="0" rIns="0" bIns="0" rtlCol="0" anchor="ctr"/>
          <a:lstStyle/>
          <a:p>
            <a:pPr marL="0" indent="0" algn="ctr">
              <a:buNone/>
            </a:pPr>
            <a:r>
              <a:rPr lang="en-US" sz="1200" b="1" dirty="0">
                <a:solidFill>
                  <a:srgbClr val="166534"/>
                </a:solidFill>
                <a:latin typeface="微软雅黑" pitchFamily="34" charset="0"/>
                <a:ea typeface="微软雅黑" pitchFamily="34" charset="-122"/>
                <a:cs typeface="微软雅黑" pitchFamily="34" charset="-120"/>
              </a:rPr>
              <a:t>每个部件 </a:t>
            </a:r>
            <a:r>
              <a:rPr lang="en-US" altLang="zh-CN" sz="1200" dirty="0"/>
              <a:t>score</a:t>
            </a:r>
            <a:r>
              <a:rPr lang="en-US" altLang="en-US" sz="1200" dirty="0"/>
              <a:t>ᵢ = 100 × ( 0.50×</a:t>
            </a:r>
            <a:r>
              <a:rPr lang="en-US" altLang="zh-CN" sz="1200" dirty="0"/>
              <a:t>S_status + 0.35×R_remain + 0.15×C_eval )</a:t>
            </a:r>
            <a:endParaRPr lang="en-US" altLang="zh-CN" sz="1200" dirty="0"/>
          </a:p>
        </p:txBody>
      </p:sp>
      <p:sp>
        <p:nvSpPr>
          <p:cNvPr id="16" name="Shape 14"/>
          <p:cNvSpPr/>
          <p:nvPr/>
        </p:nvSpPr>
        <p:spPr>
          <a:xfrm>
            <a:off x="822960" y="3328670"/>
            <a:ext cx="3749675" cy="384175"/>
          </a:xfrm>
          <a:prstGeom prst="roundRect">
            <a:avLst>
              <a:gd name="adj" fmla="val 9524"/>
            </a:avLst>
          </a:prstGeom>
          <a:solidFill>
            <a:srgbClr val="FFFFFF"/>
          </a:solidFill>
          <a:ln w="12700">
            <a:solidFill>
              <a:srgbClr val="D6E3DA"/>
            </a:solidFill>
            <a:prstDash val="solid"/>
          </a:ln>
        </p:spPr>
      </p:sp>
      <p:sp>
        <p:nvSpPr>
          <p:cNvPr id="17" name="Text 15"/>
          <p:cNvSpPr/>
          <p:nvPr/>
        </p:nvSpPr>
        <p:spPr>
          <a:xfrm>
            <a:off x="914400" y="3328416"/>
            <a:ext cx="1737360" cy="384048"/>
          </a:xfrm>
          <a:prstGeom prst="rect">
            <a:avLst/>
          </a:prstGeom>
          <a:noFill/>
        </p:spPr>
        <p:txBody>
          <a:bodyPr wrap="square" lIns="0" tIns="0" rIns="0" bIns="0" rtlCol="0" anchor="ctr"/>
          <a:lstStyle/>
          <a:p>
            <a:pPr marL="0" indent="0">
              <a:buNone/>
            </a:pPr>
            <a:r>
              <a:rPr lang="en-US" altLang="zh-CN" sz="1150" dirty="0">
                <a:sym typeface="+mn-ea"/>
              </a:rPr>
              <a:t>S_status</a:t>
            </a:r>
            <a:r>
              <a:rPr lang="en-US" sz="1150" b="1" dirty="0">
                <a:solidFill>
                  <a:srgbClr val="166534"/>
                </a:solidFill>
                <a:latin typeface="微软雅黑" pitchFamily="34" charset="0"/>
                <a:ea typeface="微软雅黑" pitchFamily="34" charset="-122"/>
                <a:cs typeface="微软雅黑" pitchFamily="34" charset="-120"/>
              </a:rPr>
              <a:t> 状态</a:t>
            </a:r>
            <a:endParaRPr lang="en-US" sz="1150" dirty="0"/>
          </a:p>
        </p:txBody>
      </p:sp>
      <p:sp>
        <p:nvSpPr>
          <p:cNvPr id="18" name="Text 16"/>
          <p:cNvSpPr/>
          <p:nvPr/>
        </p:nvSpPr>
        <p:spPr>
          <a:xfrm>
            <a:off x="2032000" y="3328670"/>
            <a:ext cx="2500630" cy="384175"/>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正常1.0 ·</a:t>
            </a:r>
            <a:r>
              <a:rPr lang="zh-CN" altLang="en-US" sz="1250" b="1" dirty="0">
                <a:solidFill>
                  <a:srgbClr val="FFFFFF"/>
                </a:solidFill>
                <a:latin typeface="微软雅黑" pitchFamily="34" charset="0"/>
                <a:ea typeface="微软雅黑" pitchFamily="34" charset="-122"/>
                <a:cs typeface="微软雅黑" pitchFamily="34" charset="-120"/>
              </a:rPr>
              <a:t>一</a:t>
            </a:r>
            <a:r>
              <a:rPr lang="zh-CN" altLang="en-US" sz="1050" dirty="0">
                <a:solidFill>
                  <a:srgbClr val="14301F"/>
                </a:solidFill>
                <a:latin typeface="微软雅黑" pitchFamily="34" charset="0"/>
                <a:ea typeface="微软雅黑" pitchFamily="34" charset="-122"/>
                <a:cs typeface="微软雅黑" pitchFamily="34" charset="-120"/>
                <a:sym typeface="+mn-ea"/>
              </a:rPr>
              <a:t>一般</a:t>
            </a:r>
            <a:r>
              <a:rPr lang="en-US" sz="1050" dirty="0">
                <a:solidFill>
                  <a:srgbClr val="14301F"/>
                </a:solidFill>
                <a:latin typeface="微软雅黑" pitchFamily="34" charset="0"/>
                <a:ea typeface="微软雅黑" pitchFamily="34" charset="-122"/>
                <a:cs typeface="微软雅黑" pitchFamily="34" charset="-120"/>
              </a:rPr>
              <a:t>0.7 · 损坏0.3 · 缺失</a:t>
            </a:r>
            <a:endParaRPr lang="en-US" sz="1050" dirty="0"/>
          </a:p>
        </p:txBody>
      </p:sp>
      <p:sp>
        <p:nvSpPr>
          <p:cNvPr id="19" name="Shape 17"/>
          <p:cNvSpPr/>
          <p:nvPr/>
        </p:nvSpPr>
        <p:spPr>
          <a:xfrm>
            <a:off x="2131060" y="3785870"/>
            <a:ext cx="4004310" cy="384175"/>
          </a:xfrm>
          <a:prstGeom prst="roundRect">
            <a:avLst>
              <a:gd name="adj" fmla="val 9524"/>
            </a:avLst>
          </a:prstGeom>
          <a:solidFill>
            <a:srgbClr val="FFFFFF"/>
          </a:solidFill>
          <a:ln w="12700">
            <a:solidFill>
              <a:srgbClr val="D6E3DA"/>
            </a:solidFill>
            <a:prstDash val="solid"/>
          </a:ln>
        </p:spPr>
      </p:sp>
      <p:sp>
        <p:nvSpPr>
          <p:cNvPr id="20" name="Text 18"/>
          <p:cNvSpPr/>
          <p:nvPr/>
        </p:nvSpPr>
        <p:spPr>
          <a:xfrm>
            <a:off x="2222500" y="3785616"/>
            <a:ext cx="1737360" cy="384048"/>
          </a:xfrm>
          <a:prstGeom prst="rect">
            <a:avLst/>
          </a:prstGeom>
          <a:noFill/>
        </p:spPr>
        <p:txBody>
          <a:bodyPr wrap="square" lIns="0" tIns="0" rIns="0" bIns="0" rtlCol="0" anchor="ctr"/>
          <a:lstStyle/>
          <a:p>
            <a:pPr marL="0" indent="0">
              <a:buNone/>
            </a:pPr>
            <a:r>
              <a:rPr lang="en-US" altLang="zh-CN" sz="1150" dirty="0">
                <a:sym typeface="+mn-ea"/>
              </a:rPr>
              <a:t>R_remain </a:t>
            </a:r>
            <a:r>
              <a:rPr lang="en-US" sz="1150" b="1" dirty="0">
                <a:solidFill>
                  <a:srgbClr val="166534"/>
                </a:solidFill>
                <a:latin typeface="微软雅黑" pitchFamily="34" charset="0"/>
                <a:ea typeface="微软雅黑" pitchFamily="34" charset="-122"/>
                <a:cs typeface="微软雅黑" pitchFamily="34" charset="-120"/>
              </a:rPr>
              <a:t> 寿命比</a:t>
            </a:r>
            <a:endParaRPr lang="en-US" sz="1150" dirty="0"/>
          </a:p>
        </p:txBody>
      </p:sp>
      <p:sp>
        <p:nvSpPr>
          <p:cNvPr id="21" name="Text 19"/>
          <p:cNvSpPr/>
          <p:nvPr/>
        </p:nvSpPr>
        <p:spPr>
          <a:xfrm>
            <a:off x="3439160" y="3785235"/>
            <a:ext cx="2712085" cy="384175"/>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剩余年限 ÷ 指导寿命（修复年→回春归零）</a:t>
            </a:r>
            <a:endParaRPr lang="en-US" sz="1050" dirty="0"/>
          </a:p>
        </p:txBody>
      </p:sp>
      <p:sp>
        <p:nvSpPr>
          <p:cNvPr id="22" name="Shape 20"/>
          <p:cNvSpPr/>
          <p:nvPr/>
        </p:nvSpPr>
        <p:spPr>
          <a:xfrm>
            <a:off x="4709795" y="3328670"/>
            <a:ext cx="2516505" cy="384175"/>
          </a:xfrm>
          <a:prstGeom prst="roundRect">
            <a:avLst>
              <a:gd name="adj" fmla="val 9524"/>
            </a:avLst>
          </a:prstGeom>
          <a:solidFill>
            <a:srgbClr val="FFFFFF"/>
          </a:solidFill>
          <a:ln w="12700">
            <a:solidFill>
              <a:srgbClr val="D6E3DA"/>
            </a:solidFill>
            <a:prstDash val="solid"/>
          </a:ln>
        </p:spPr>
      </p:sp>
      <p:sp>
        <p:nvSpPr>
          <p:cNvPr id="23" name="Text 21"/>
          <p:cNvSpPr/>
          <p:nvPr/>
        </p:nvSpPr>
        <p:spPr>
          <a:xfrm>
            <a:off x="4819015" y="3339465"/>
            <a:ext cx="1628140" cy="384175"/>
          </a:xfrm>
          <a:prstGeom prst="rect">
            <a:avLst/>
          </a:prstGeom>
          <a:noFill/>
        </p:spPr>
        <p:txBody>
          <a:bodyPr wrap="square" lIns="0" tIns="0" rIns="0" bIns="0" rtlCol="0" anchor="ctr"/>
          <a:lstStyle/>
          <a:p>
            <a:pPr marL="0" indent="0">
              <a:buNone/>
            </a:pPr>
            <a:r>
              <a:rPr lang="en-US" altLang="zh-CN" sz="1150" dirty="0">
                <a:sym typeface="+mn-ea"/>
              </a:rPr>
              <a:t>C_eval</a:t>
            </a:r>
            <a:r>
              <a:rPr lang="en-US" sz="1150" b="1" dirty="0">
                <a:solidFill>
                  <a:srgbClr val="166534"/>
                </a:solidFill>
                <a:latin typeface="微软雅黑" pitchFamily="34" charset="0"/>
                <a:ea typeface="微软雅黑" pitchFamily="34" charset="-122"/>
                <a:cs typeface="微软雅黑" pitchFamily="34" charset="-120"/>
              </a:rPr>
              <a:t> 评价</a:t>
            </a:r>
            <a:endParaRPr lang="en-US" sz="1150" dirty="0"/>
          </a:p>
        </p:txBody>
      </p:sp>
      <p:sp>
        <p:nvSpPr>
          <p:cNvPr id="24" name="Text 22"/>
          <p:cNvSpPr/>
          <p:nvPr/>
        </p:nvSpPr>
        <p:spPr>
          <a:xfrm>
            <a:off x="5641975" y="3328670"/>
            <a:ext cx="1627505" cy="384175"/>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好1.0 · 差0.5 · 缺省0.8</a:t>
            </a:r>
            <a:endParaRPr lang="en-US" sz="1050" dirty="0"/>
          </a:p>
        </p:txBody>
      </p:sp>
      <p:sp>
        <p:nvSpPr>
          <p:cNvPr id="28" name="Shape 26"/>
          <p:cNvSpPr/>
          <p:nvPr/>
        </p:nvSpPr>
        <p:spPr>
          <a:xfrm>
            <a:off x="640080" y="4398010"/>
            <a:ext cx="3291840" cy="475488"/>
          </a:xfrm>
          <a:prstGeom prst="roundRect">
            <a:avLst>
              <a:gd name="adj" fmla="val 11538"/>
            </a:avLst>
          </a:prstGeom>
          <a:solidFill>
            <a:srgbClr val="C77E1B"/>
          </a:solidFill>
        </p:spPr>
      </p:sp>
      <p:sp>
        <p:nvSpPr>
          <p:cNvPr id="29" name="Text 27"/>
          <p:cNvSpPr/>
          <p:nvPr/>
        </p:nvSpPr>
        <p:spPr>
          <a:xfrm>
            <a:off x="640080" y="4398010"/>
            <a:ext cx="3291840" cy="237744"/>
          </a:xfrm>
          <a:prstGeom prst="rect">
            <a:avLst/>
          </a:prstGeom>
          <a:noFill/>
        </p:spPr>
        <p:txBody>
          <a:bodyPr wrap="square" lIns="0" tIns="0" rIns="0" bIns="0" rtlCol="0" anchor="ctr"/>
          <a:lstStyle/>
          <a:p>
            <a:pPr marL="0" indent="0" algn="ctr">
              <a:buNone/>
            </a:pPr>
            <a:r>
              <a:rPr lang="en-US" sz="1150" b="1" dirty="0">
                <a:solidFill>
                  <a:srgbClr val="FFFFFF"/>
                </a:solidFill>
                <a:latin typeface="微软雅黑" pitchFamily="34" charset="0"/>
                <a:ea typeface="微软雅黑" pitchFamily="34" charset="-122"/>
                <a:cs typeface="微软雅黑" pitchFamily="34" charset="-120"/>
              </a:rPr>
              <a:t>② 管护分 M ×0.10</a:t>
            </a:r>
            <a:endParaRPr lang="en-US" sz="1150" dirty="0"/>
          </a:p>
        </p:txBody>
      </p:sp>
      <p:sp>
        <p:nvSpPr>
          <p:cNvPr id="30" name="Text 28"/>
          <p:cNvSpPr/>
          <p:nvPr/>
        </p:nvSpPr>
        <p:spPr>
          <a:xfrm>
            <a:off x="640080" y="4635754"/>
            <a:ext cx="3291840" cy="219456"/>
          </a:xfrm>
          <a:prstGeom prst="rect">
            <a:avLst/>
          </a:prstGeom>
          <a:noFill/>
        </p:spPr>
        <p:txBody>
          <a:bodyPr wrap="square" lIns="0" tIns="0" rIns="0" bIns="0" rtlCol="0" anchor="ctr"/>
          <a:lstStyle/>
          <a:p>
            <a:pPr marL="0" indent="0" algn="ctr">
              <a:buNone/>
            </a:pPr>
            <a:r>
              <a:rPr lang="en-US" sz="1000" dirty="0">
                <a:solidFill>
                  <a:srgbClr val="FFFFFF"/>
                </a:solidFill>
                <a:latin typeface="微软雅黑" pitchFamily="34" charset="0"/>
                <a:ea typeface="微软雅黑" pitchFamily="34" charset="-122"/>
                <a:cs typeface="微软雅黑" pitchFamily="34" charset="-120"/>
              </a:rPr>
              <a:t>集中100 · 分户80</a:t>
            </a:r>
            <a:endParaRPr lang="en-US" sz="1000" dirty="0"/>
          </a:p>
        </p:txBody>
      </p:sp>
      <p:sp>
        <p:nvSpPr>
          <p:cNvPr id="31" name="Shape 29"/>
          <p:cNvSpPr/>
          <p:nvPr/>
        </p:nvSpPr>
        <p:spPr>
          <a:xfrm>
            <a:off x="4069080" y="4398010"/>
            <a:ext cx="3063240" cy="475615"/>
          </a:xfrm>
          <a:prstGeom prst="roundRect">
            <a:avLst>
              <a:gd name="adj" fmla="val 11538"/>
            </a:avLst>
          </a:prstGeom>
          <a:solidFill>
            <a:srgbClr val="B8922A"/>
          </a:solidFill>
        </p:spPr>
      </p:sp>
      <p:sp>
        <p:nvSpPr>
          <p:cNvPr id="32" name="Text 30"/>
          <p:cNvSpPr/>
          <p:nvPr/>
        </p:nvSpPr>
        <p:spPr>
          <a:xfrm>
            <a:off x="4069080" y="4398010"/>
            <a:ext cx="3291840" cy="237744"/>
          </a:xfrm>
          <a:prstGeom prst="rect">
            <a:avLst/>
          </a:prstGeom>
          <a:noFill/>
        </p:spPr>
        <p:txBody>
          <a:bodyPr wrap="square" lIns="0" tIns="0" rIns="0" bIns="0" rtlCol="0" anchor="ctr"/>
          <a:lstStyle/>
          <a:p>
            <a:pPr marL="0" indent="0" algn="ctr">
              <a:buNone/>
            </a:pPr>
            <a:r>
              <a:rPr lang="en-US" sz="1150" b="1" dirty="0">
                <a:solidFill>
                  <a:srgbClr val="FFFFFF"/>
                </a:solidFill>
                <a:latin typeface="微软雅黑" pitchFamily="34" charset="0"/>
                <a:ea typeface="微软雅黑" pitchFamily="34" charset="-122"/>
                <a:cs typeface="微软雅黑" pitchFamily="34" charset="-120"/>
              </a:rPr>
              <a:t>③ 人工分 E ×0.10</a:t>
            </a:r>
            <a:endParaRPr lang="en-US" sz="1150" dirty="0"/>
          </a:p>
        </p:txBody>
      </p:sp>
      <p:sp>
        <p:nvSpPr>
          <p:cNvPr id="33" name="Text 31"/>
          <p:cNvSpPr/>
          <p:nvPr/>
        </p:nvSpPr>
        <p:spPr>
          <a:xfrm>
            <a:off x="4069080" y="4635754"/>
            <a:ext cx="3291840" cy="219456"/>
          </a:xfrm>
          <a:prstGeom prst="rect">
            <a:avLst/>
          </a:prstGeom>
          <a:noFill/>
        </p:spPr>
        <p:txBody>
          <a:bodyPr wrap="square" lIns="0" tIns="0" rIns="0" bIns="0" rtlCol="0" anchor="ctr"/>
          <a:lstStyle/>
          <a:p>
            <a:pPr marL="0" indent="0" algn="ctr">
              <a:buNone/>
            </a:pPr>
            <a:r>
              <a:rPr lang="en-US" sz="1000" dirty="0">
                <a:solidFill>
                  <a:srgbClr val="FFFFFF"/>
                </a:solidFill>
                <a:latin typeface="微软雅黑" pitchFamily="34" charset="0"/>
                <a:ea typeface="微软雅黑" pitchFamily="34" charset="-122"/>
                <a:cs typeface="微软雅黑" pitchFamily="34" charset="-120"/>
              </a:rPr>
              <a:t>好100 · 中80 · 差50</a:t>
            </a:r>
            <a:endParaRPr lang="en-US" sz="1000" dirty="0"/>
          </a:p>
        </p:txBody>
      </p:sp>
      <p:sp>
        <p:nvSpPr>
          <p:cNvPr id="34" name="Text 32"/>
          <p:cNvSpPr/>
          <p:nvPr/>
        </p:nvSpPr>
        <p:spPr>
          <a:xfrm>
            <a:off x="640080" y="4992370"/>
            <a:ext cx="6400800" cy="310896"/>
          </a:xfrm>
          <a:prstGeom prst="rect">
            <a:avLst/>
          </a:prstGeom>
          <a:noFill/>
        </p:spPr>
        <p:txBody>
          <a:bodyPr wrap="square" lIns="0" tIns="0" rIns="0" bIns="0" rtlCol="0" anchor="ctr"/>
          <a:lstStyle/>
          <a:p>
            <a:pPr marL="0" indent="0" algn="ctr">
              <a:buNone/>
            </a:pPr>
            <a:r>
              <a:rPr lang="en-US" sz="950" dirty="0">
                <a:solidFill>
                  <a:srgbClr val="5C6B62"/>
                </a:solidFill>
                <a:latin typeface="微软雅黑" pitchFamily="34" charset="0"/>
                <a:ea typeface="微软雅黑" pitchFamily="34" charset="-122"/>
                <a:cs typeface="微软雅黑" pitchFamily="34" charset="-120"/>
              </a:rPr>
              <a:t>贡献 Cᵢ = Wᵢ×scoreᵢ÷100　　健康状况五档：≥90优良 / ≥75良好 / ≥60一般 / ≥40预警 / &lt;40危险</a:t>
            </a:r>
            <a:endParaRPr lang="en-US" sz="950" dirty="0"/>
          </a:p>
        </p:txBody>
      </p:sp>
      <p:sp>
        <p:nvSpPr>
          <p:cNvPr id="70" name="Shape 33"/>
          <p:cNvSpPr/>
          <p:nvPr/>
        </p:nvSpPr>
        <p:spPr>
          <a:xfrm>
            <a:off x="7543800" y="1572768"/>
            <a:ext cx="4142232" cy="4754880"/>
          </a:xfrm>
          <a:prstGeom prst="roundRect">
            <a:avLst>
              <a:gd name="adj" fmla="val 2649"/>
            </a:avLst>
          </a:prstGeom>
          <a:solidFill>
            <a:srgbClr val="FFFFFF"/>
          </a:solidFill>
          <a:ln w="12700">
            <a:solidFill>
              <a:srgbClr val="D6E3DA"/>
            </a:solidFill>
            <a:prstDash val="solid"/>
          </a:ln>
          <a:effectLst>
            <a:outerShdw blurRad="2147483647" dist="2147483647" dir="-1" algn="bl" rotWithShape="0">
              <a:srgbClr val="1B4633">
                <a:alpha val="2147483647"/>
              </a:srgbClr>
            </a:outerShdw>
          </a:effectLst>
        </p:spPr>
      </p:sp>
      <p:sp>
        <p:nvSpPr>
          <p:cNvPr id="71" name="Text 34"/>
          <p:cNvSpPr/>
          <p:nvPr/>
        </p:nvSpPr>
        <p:spPr>
          <a:xfrm>
            <a:off x="7772400" y="1627632"/>
            <a:ext cx="3794760" cy="310896"/>
          </a:xfrm>
          <a:prstGeom prst="rect">
            <a:avLst/>
          </a:prstGeom>
          <a:noFill/>
        </p:spPr>
        <p:txBody>
          <a:bodyPr wrap="square" lIns="0" tIns="0" rIns="0" bIns="0" rtlCol="0" anchor="ctr"/>
          <a:lstStyle/>
          <a:p>
            <a:pPr marL="0" indent="0">
              <a:buNone/>
            </a:pPr>
            <a:r>
              <a:rPr lang="en-US" sz="1300" b="1" dirty="0">
                <a:solidFill>
                  <a:srgbClr val="166534"/>
                </a:solidFill>
                <a:latin typeface="微软雅黑" pitchFamily="34" charset="0"/>
                <a:ea typeface="微软雅黑" pitchFamily="34" charset="-122"/>
                <a:cs typeface="微软雅黑" pitchFamily="34" charset="-120"/>
              </a:rPr>
              <a:t>真实算例 · 10-420527KF00308</a:t>
            </a:r>
            <a:r>
              <a:rPr lang="en-US" sz="850" dirty="0">
                <a:solidFill>
                  <a:srgbClr val="5C6B62"/>
                </a:solidFill>
                <a:latin typeface="微软雅黑" pitchFamily="34" charset="0"/>
                <a:ea typeface="微软雅黑" pitchFamily="34" charset="-122"/>
                <a:cs typeface="微软雅黑" pitchFamily="34" charset="-120"/>
              </a:rPr>
              <a:t>（秭归·磨坪·磨坪 · 2010建）</a:t>
            </a:r>
            <a:endParaRPr lang="en-US" sz="1300" dirty="0"/>
          </a:p>
        </p:txBody>
      </p:sp>
      <p:sp>
        <p:nvSpPr>
          <p:cNvPr id="72" name="Text 35"/>
          <p:cNvSpPr/>
          <p:nvPr/>
        </p:nvSpPr>
        <p:spPr>
          <a:xfrm>
            <a:off x="7772400" y="1947672"/>
            <a:ext cx="3749040" cy="201168"/>
          </a:xfrm>
          <a:prstGeom prst="rect">
            <a:avLst/>
          </a:prstGeom>
          <a:noFill/>
        </p:spPr>
        <p:txBody>
          <a:bodyPr wrap="square" lIns="0" tIns="0" rIns="0" bIns="0" rtlCol="0" anchor="ctr"/>
          <a:lstStyle/>
          <a:p>
            <a:pPr marL="0" indent="0">
              <a:buNone/>
            </a:pPr>
            <a:r>
              <a:rPr lang="en-US" sz="950" dirty="0">
                <a:solidFill>
                  <a:srgbClr val="5C6B62"/>
                </a:solidFill>
                <a:latin typeface="微软雅黑" pitchFamily="34" charset="0"/>
                <a:ea typeface="微软雅黑" pitchFamily="34" charset="-122"/>
                <a:cs typeface="微软雅黑" pitchFamily="34" charset="-120"/>
              </a:rPr>
              <a:t>逐部件 score → 权重贡献 Cᵢ：</a:t>
            </a:r>
            <a:endParaRPr lang="en-US" sz="950" dirty="0"/>
          </a:p>
        </p:txBody>
      </p:sp>
      <p:sp>
        <p:nvSpPr>
          <p:cNvPr id="73" name="Text 36"/>
          <p:cNvSpPr/>
          <p:nvPr/>
        </p:nvSpPr>
        <p:spPr>
          <a:xfrm>
            <a:off x="7772400" y="2176272"/>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加热器</a:t>
            </a:r>
            <a:endParaRPr lang="en-US" sz="850" dirty="0"/>
          </a:p>
        </p:txBody>
      </p:sp>
      <p:sp>
        <p:nvSpPr>
          <p:cNvPr id="74" name="Text 37"/>
          <p:cNvSpPr/>
          <p:nvPr/>
        </p:nvSpPr>
        <p:spPr>
          <a:xfrm>
            <a:off x="9646920" y="2176272"/>
            <a:ext cx="1874520" cy="173736"/>
          </a:xfrm>
          <a:prstGeom prst="rect">
            <a:avLst/>
          </a:prstGeom>
          <a:noFill/>
        </p:spPr>
        <p:txBody>
          <a:bodyPr wrap="square" lIns="0" tIns="0" rIns="0" bIns="0" rtlCol="0" anchor="ctr"/>
          <a:lstStyle/>
          <a:p>
            <a:pPr marL="0" indent="0" algn="r">
              <a:buNone/>
            </a:pPr>
            <a:r>
              <a:rPr lang="en-US" sz="850" b="1" dirty="0">
                <a:solidFill>
                  <a:srgbClr val="B23A24"/>
                </a:solidFill>
                <a:latin typeface="微软雅黑" pitchFamily="34" charset="0"/>
                <a:ea typeface="微软雅黑" pitchFamily="34" charset="-122"/>
                <a:cs typeface="微软雅黑" pitchFamily="34" charset="-120"/>
              </a:rPr>
              <a:t>15·74.3→11.2</a:t>
            </a:r>
            <a:endParaRPr lang="en-US" sz="850" dirty="0"/>
          </a:p>
        </p:txBody>
      </p:sp>
      <p:sp>
        <p:nvSpPr>
          <p:cNvPr id="75" name="Text 38"/>
          <p:cNvSpPr/>
          <p:nvPr/>
        </p:nvSpPr>
        <p:spPr>
          <a:xfrm>
            <a:off x="7772400" y="2355494"/>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自控仪主板</a:t>
            </a:r>
            <a:endParaRPr lang="en-US" sz="850" dirty="0"/>
          </a:p>
        </p:txBody>
      </p:sp>
      <p:sp>
        <p:nvSpPr>
          <p:cNvPr id="76" name="Text 39"/>
          <p:cNvSpPr/>
          <p:nvPr/>
        </p:nvSpPr>
        <p:spPr>
          <a:xfrm>
            <a:off x="9646920" y="2355494"/>
            <a:ext cx="1874520" cy="173736"/>
          </a:xfrm>
          <a:prstGeom prst="rect">
            <a:avLst/>
          </a:prstGeom>
          <a:noFill/>
        </p:spPr>
        <p:txBody>
          <a:bodyPr wrap="square" lIns="0" tIns="0" rIns="0" bIns="0" rtlCol="0" anchor="ctr"/>
          <a:lstStyle/>
          <a:p>
            <a:pPr marL="0" indent="0" algn="r">
              <a:buNone/>
            </a:pPr>
            <a:r>
              <a:rPr lang="en-US" sz="850" b="1" dirty="0">
                <a:solidFill>
                  <a:srgbClr val="B23A24"/>
                </a:solidFill>
                <a:latin typeface="微软雅黑" pitchFamily="34" charset="0"/>
                <a:ea typeface="微软雅黑" pitchFamily="34" charset="-122"/>
                <a:cs typeface="微软雅黑" pitchFamily="34" charset="-120"/>
              </a:rPr>
              <a:t>8·66.8→5.3</a:t>
            </a:r>
            <a:endParaRPr lang="en-US" sz="850" dirty="0"/>
          </a:p>
        </p:txBody>
      </p:sp>
      <p:sp>
        <p:nvSpPr>
          <p:cNvPr id="77" name="Text 40"/>
          <p:cNvSpPr/>
          <p:nvPr/>
        </p:nvSpPr>
        <p:spPr>
          <a:xfrm>
            <a:off x="7772400" y="2534717"/>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屋顶/墙体</a:t>
            </a:r>
            <a:endParaRPr lang="en-US" sz="850" dirty="0"/>
          </a:p>
        </p:txBody>
      </p:sp>
      <p:sp>
        <p:nvSpPr>
          <p:cNvPr id="78" name="Text 41"/>
          <p:cNvSpPr/>
          <p:nvPr/>
        </p:nvSpPr>
        <p:spPr>
          <a:xfrm>
            <a:off x="9646920" y="2534717"/>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10·83.7→8.4</a:t>
            </a:r>
            <a:endParaRPr lang="en-US" sz="850" dirty="0"/>
          </a:p>
        </p:txBody>
      </p:sp>
      <p:sp>
        <p:nvSpPr>
          <p:cNvPr id="79" name="Text 42"/>
          <p:cNvSpPr/>
          <p:nvPr/>
        </p:nvSpPr>
        <p:spPr>
          <a:xfrm>
            <a:off x="7772400" y="2713939"/>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大门</a:t>
            </a:r>
            <a:endParaRPr lang="en-US" sz="850" dirty="0"/>
          </a:p>
        </p:txBody>
      </p:sp>
      <p:sp>
        <p:nvSpPr>
          <p:cNvPr id="80" name="Text 43"/>
          <p:cNvSpPr/>
          <p:nvPr/>
        </p:nvSpPr>
        <p:spPr>
          <a:xfrm>
            <a:off x="9646920" y="2713939"/>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10·73.4→7.3</a:t>
            </a:r>
            <a:endParaRPr lang="en-US" sz="850" dirty="0"/>
          </a:p>
        </p:txBody>
      </p:sp>
      <p:sp>
        <p:nvSpPr>
          <p:cNvPr id="81" name="Text 44"/>
          <p:cNvSpPr/>
          <p:nvPr/>
        </p:nvSpPr>
        <p:spPr>
          <a:xfrm>
            <a:off x="7772400" y="2893162"/>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温湿度探头</a:t>
            </a:r>
            <a:endParaRPr lang="en-US" sz="850" dirty="0"/>
          </a:p>
        </p:txBody>
      </p:sp>
      <p:sp>
        <p:nvSpPr>
          <p:cNvPr id="82" name="Text 45"/>
          <p:cNvSpPr/>
          <p:nvPr/>
        </p:nvSpPr>
        <p:spPr>
          <a:xfrm>
            <a:off x="9646920" y="2893162"/>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6·66.8→4.0</a:t>
            </a:r>
            <a:endParaRPr lang="en-US" sz="850" dirty="0"/>
          </a:p>
        </p:txBody>
      </p:sp>
      <p:sp>
        <p:nvSpPr>
          <p:cNvPr id="83" name="Text 46"/>
          <p:cNvSpPr/>
          <p:nvPr/>
        </p:nvSpPr>
        <p:spPr>
          <a:xfrm>
            <a:off x="7772400" y="3072384"/>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循环风机</a:t>
            </a:r>
            <a:endParaRPr lang="en-US" sz="850" dirty="0"/>
          </a:p>
        </p:txBody>
      </p:sp>
      <p:sp>
        <p:nvSpPr>
          <p:cNvPr id="84" name="Text 47"/>
          <p:cNvSpPr/>
          <p:nvPr/>
        </p:nvSpPr>
        <p:spPr>
          <a:xfrm>
            <a:off x="9646920" y="3072384"/>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5·69.2→3.5</a:t>
            </a:r>
            <a:endParaRPr lang="en-US" sz="850" dirty="0"/>
          </a:p>
        </p:txBody>
      </p:sp>
      <p:sp>
        <p:nvSpPr>
          <p:cNvPr id="85" name="Text 48"/>
          <p:cNvSpPr/>
          <p:nvPr/>
        </p:nvSpPr>
        <p:spPr>
          <a:xfrm>
            <a:off x="7772400" y="3251606"/>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水壶/传感</a:t>
            </a:r>
            <a:endParaRPr lang="en-US" sz="850" dirty="0"/>
          </a:p>
        </p:txBody>
      </p:sp>
      <p:sp>
        <p:nvSpPr>
          <p:cNvPr id="86" name="Text 49"/>
          <p:cNvSpPr/>
          <p:nvPr/>
        </p:nvSpPr>
        <p:spPr>
          <a:xfrm>
            <a:off x="9646920" y="3251606"/>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6·66.8→4.0</a:t>
            </a:r>
            <a:endParaRPr lang="en-US" sz="850" dirty="0"/>
          </a:p>
        </p:txBody>
      </p:sp>
      <p:sp>
        <p:nvSpPr>
          <p:cNvPr id="87" name="Text 50"/>
          <p:cNvSpPr/>
          <p:nvPr/>
        </p:nvSpPr>
        <p:spPr>
          <a:xfrm>
            <a:off x="7772400" y="3430829"/>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散热管</a:t>
            </a:r>
            <a:endParaRPr lang="en-US" sz="850" dirty="0"/>
          </a:p>
        </p:txBody>
      </p:sp>
      <p:sp>
        <p:nvSpPr>
          <p:cNvPr id="88" name="Text 51"/>
          <p:cNvSpPr/>
          <p:nvPr/>
        </p:nvSpPr>
        <p:spPr>
          <a:xfrm>
            <a:off x="9646920" y="3430829"/>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4·74.3→3.0</a:t>
            </a:r>
            <a:endParaRPr lang="en-US" sz="850" dirty="0"/>
          </a:p>
        </p:txBody>
      </p:sp>
      <p:sp>
        <p:nvSpPr>
          <p:cNvPr id="89" name="Text 52"/>
          <p:cNvSpPr/>
          <p:nvPr/>
        </p:nvSpPr>
        <p:spPr>
          <a:xfrm>
            <a:off x="7772400" y="3610051"/>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烟囱</a:t>
            </a:r>
            <a:endParaRPr lang="en-US" sz="850" dirty="0"/>
          </a:p>
        </p:txBody>
      </p:sp>
      <p:sp>
        <p:nvSpPr>
          <p:cNvPr id="90" name="Text 53"/>
          <p:cNvSpPr/>
          <p:nvPr/>
        </p:nvSpPr>
        <p:spPr>
          <a:xfrm>
            <a:off x="9646920" y="3610051"/>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4·74.3→3.0</a:t>
            </a:r>
            <a:endParaRPr lang="en-US" sz="850" dirty="0"/>
          </a:p>
        </p:txBody>
      </p:sp>
      <p:sp>
        <p:nvSpPr>
          <p:cNvPr id="91" name="Text 54"/>
          <p:cNvSpPr/>
          <p:nvPr/>
        </p:nvSpPr>
        <p:spPr>
          <a:xfrm>
            <a:off x="7772400" y="3789274"/>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炉膛</a:t>
            </a:r>
            <a:endParaRPr lang="en-US" sz="850" dirty="0"/>
          </a:p>
        </p:txBody>
      </p:sp>
      <p:sp>
        <p:nvSpPr>
          <p:cNvPr id="92" name="Text 55"/>
          <p:cNvSpPr/>
          <p:nvPr/>
        </p:nvSpPr>
        <p:spPr>
          <a:xfrm>
            <a:off x="9646920" y="3789274"/>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4·74.3→3.0</a:t>
            </a:r>
            <a:endParaRPr lang="en-US" sz="850" dirty="0"/>
          </a:p>
        </p:txBody>
      </p:sp>
      <p:sp>
        <p:nvSpPr>
          <p:cNvPr id="93" name="Text 56"/>
          <p:cNvSpPr/>
          <p:nvPr/>
        </p:nvSpPr>
        <p:spPr>
          <a:xfrm>
            <a:off x="7772400" y="3968496"/>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挂烟梁柱</a:t>
            </a:r>
            <a:endParaRPr lang="en-US" sz="850" dirty="0"/>
          </a:p>
        </p:txBody>
      </p:sp>
      <p:sp>
        <p:nvSpPr>
          <p:cNvPr id="94" name="Text 57"/>
          <p:cNvSpPr/>
          <p:nvPr/>
        </p:nvSpPr>
        <p:spPr>
          <a:xfrm>
            <a:off x="9646920" y="3968496"/>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5·66.8→3.3</a:t>
            </a:r>
            <a:endParaRPr lang="en-US" sz="850" dirty="0"/>
          </a:p>
        </p:txBody>
      </p:sp>
      <p:sp>
        <p:nvSpPr>
          <p:cNvPr id="95" name="Text 58"/>
          <p:cNvSpPr/>
          <p:nvPr/>
        </p:nvSpPr>
        <p:spPr>
          <a:xfrm>
            <a:off x="7772400" y="4147718"/>
            <a:ext cx="1874520" cy="173736"/>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清灰门</a:t>
            </a:r>
            <a:endParaRPr lang="en-US" sz="850" dirty="0"/>
          </a:p>
        </p:txBody>
      </p:sp>
      <p:sp>
        <p:nvSpPr>
          <p:cNvPr id="96" name="Text 59"/>
          <p:cNvSpPr/>
          <p:nvPr/>
        </p:nvSpPr>
        <p:spPr>
          <a:xfrm>
            <a:off x="9646920" y="4147718"/>
            <a:ext cx="1874520" cy="173736"/>
          </a:xfrm>
          <a:prstGeom prst="rect">
            <a:avLst/>
          </a:prstGeom>
          <a:noFill/>
        </p:spPr>
        <p:txBody>
          <a:bodyPr wrap="square" lIns="0" tIns="0" rIns="0" bIns="0" rtlCol="0" anchor="ctr"/>
          <a:lstStyle/>
          <a:p>
            <a:pPr marL="0" indent="0" algn="r">
              <a:buNone/>
            </a:pPr>
            <a:r>
              <a:rPr lang="en-US" sz="850" b="1" dirty="0">
                <a:solidFill>
                  <a:srgbClr val="2E8B6A"/>
                </a:solidFill>
                <a:latin typeface="微软雅黑" pitchFamily="34" charset="0"/>
                <a:ea typeface="微软雅黑" pitchFamily="34" charset="-122"/>
                <a:cs typeface="微软雅黑" pitchFamily="34" charset="-120"/>
              </a:rPr>
              <a:t>3·74.3→2.2</a:t>
            </a:r>
            <a:endParaRPr lang="en-US" sz="850" dirty="0"/>
          </a:p>
        </p:txBody>
      </p:sp>
      <p:sp>
        <p:nvSpPr>
          <p:cNvPr id="97" name="Shape 60"/>
          <p:cNvSpPr/>
          <p:nvPr/>
        </p:nvSpPr>
        <p:spPr>
          <a:xfrm>
            <a:off x="7772400" y="4326941"/>
            <a:ext cx="3749040" cy="274320"/>
          </a:xfrm>
          <a:prstGeom prst="roundRect">
            <a:avLst>
              <a:gd name="adj" fmla="val 13333"/>
            </a:avLst>
          </a:prstGeom>
          <a:solidFill>
            <a:srgbClr val="E7F2EA"/>
          </a:solidFill>
          <a:ln w="12700">
            <a:solidFill>
              <a:srgbClr val="D6E3DA"/>
            </a:solidFill>
            <a:prstDash val="solid"/>
          </a:ln>
        </p:spPr>
      </p:sp>
      <p:sp>
        <p:nvSpPr>
          <p:cNvPr id="98" name="Text 61"/>
          <p:cNvSpPr/>
          <p:nvPr/>
        </p:nvSpPr>
        <p:spPr>
          <a:xfrm>
            <a:off x="7772400" y="4326941"/>
            <a:ext cx="3749040" cy="274320"/>
          </a:xfrm>
          <a:prstGeom prst="rect">
            <a:avLst/>
          </a:prstGeom>
          <a:noFill/>
        </p:spPr>
        <p:txBody>
          <a:bodyPr wrap="square" lIns="0" tIns="0" rIns="0" bIns="0" rtlCol="0" anchor="ctr"/>
          <a:lstStyle/>
          <a:p>
            <a:pPr marL="0" indent="0" algn="ctr">
              <a:buNone/>
            </a:pPr>
            <a:r>
              <a:rPr lang="en-US" sz="1000" b="1" dirty="0">
                <a:solidFill>
                  <a:srgbClr val="166534"/>
                </a:solidFill>
                <a:latin typeface="微软雅黑" pitchFamily="34" charset="0"/>
                <a:ea typeface="微软雅黑" pitchFamily="34" charset="-122"/>
                <a:cs typeface="微软雅黑" pitchFamily="34" charset="-120"/>
              </a:rPr>
              <a:t>ΣW=80 · ΣC=58.2 → P_norm = 72.7</a:t>
            </a:r>
            <a:endParaRPr lang="en-US" sz="1000" dirty="0"/>
          </a:p>
        </p:txBody>
      </p:sp>
      <p:sp>
        <p:nvSpPr>
          <p:cNvPr id="99" name="Text 62"/>
          <p:cNvSpPr/>
          <p:nvPr/>
        </p:nvSpPr>
        <p:spPr>
          <a:xfrm>
            <a:off x="7772400" y="4619549"/>
            <a:ext cx="3749040" cy="201168"/>
          </a:xfrm>
          <a:prstGeom prst="rect">
            <a:avLst/>
          </a:prstGeom>
          <a:noFill/>
        </p:spPr>
        <p:txBody>
          <a:bodyPr wrap="square" lIns="0" tIns="0" rIns="0" bIns="0" rtlCol="0" anchor="ctr"/>
          <a:lstStyle/>
          <a:p>
            <a:pPr marL="0" indent="0" algn="ctr">
              <a:buNone/>
            </a:pPr>
            <a:r>
              <a:rPr lang="en-US" sz="900" dirty="0">
                <a:solidFill>
                  <a:srgbClr val="5C6B62"/>
                </a:solidFill>
                <a:latin typeface="微软雅黑" pitchFamily="34" charset="0"/>
                <a:ea typeface="微软雅黑" pitchFamily="34" charset="-122"/>
                <a:cs typeface="微软雅黑" pitchFamily="34" charset="-120"/>
              </a:rPr>
              <a:t>M=100(集中管护) · E=100(评价好)</a:t>
            </a:r>
            <a:endParaRPr lang="en-US" sz="900" dirty="0"/>
          </a:p>
        </p:txBody>
      </p:sp>
      <p:sp>
        <p:nvSpPr>
          <p:cNvPr id="100" name="Shape 63"/>
          <p:cNvSpPr/>
          <p:nvPr/>
        </p:nvSpPr>
        <p:spPr>
          <a:xfrm>
            <a:off x="7772400" y="4839005"/>
            <a:ext cx="3749040" cy="731520"/>
          </a:xfrm>
          <a:prstGeom prst="roundRect">
            <a:avLst>
              <a:gd name="adj" fmla="val 7500"/>
            </a:avLst>
          </a:prstGeom>
          <a:solidFill>
            <a:srgbClr val="14532D"/>
          </a:solidFill>
          <a:effectLst>
            <a:outerShdw blurRad="2147483647" dist="2147483647" dir="3" algn="bl" rotWithShape="0">
              <a:srgbClr val="1B4633">
                <a:alpha val="2"/>
              </a:srgbClr>
            </a:outerShdw>
          </a:effectLst>
        </p:spPr>
      </p:sp>
      <p:sp>
        <p:nvSpPr>
          <p:cNvPr id="101" name="Text 64"/>
          <p:cNvSpPr/>
          <p:nvPr/>
        </p:nvSpPr>
        <p:spPr>
          <a:xfrm>
            <a:off x="7772400" y="4839005"/>
            <a:ext cx="3749040" cy="731520"/>
          </a:xfrm>
          <a:prstGeom prst="rect">
            <a:avLst/>
          </a:prstGeom>
          <a:noFill/>
        </p:spPr>
        <p:txBody>
          <a:bodyPr wrap="square" lIns="0" tIns="0" rIns="0" bIns="0" rtlCol="0" anchor="ctr"/>
          <a:lstStyle/>
          <a:p>
            <a:pPr marL="0" indent="0" algn="ctr">
              <a:buNone/>
            </a:pPr>
            <a:r>
              <a:rPr lang="en-US" sz="1050" dirty="0">
                <a:solidFill>
                  <a:srgbClr val="DCEBE2"/>
                </a:solidFill>
                <a:latin typeface="微软雅黑" pitchFamily="34" charset="0"/>
                <a:ea typeface="微软雅黑" pitchFamily="34" charset="-122"/>
                <a:cs typeface="微软雅黑" pitchFamily="34" charset="-120"/>
              </a:rPr>
              <a:t>H = 0.8×72.7 + 0.1×100 + 0.1×100 = 78.2
</a:t>
            </a:r>
            <a:r>
              <a:rPr lang="en-US" sz="950" b="1" dirty="0">
                <a:solidFill>
                  <a:srgbClr val="FFFFFF"/>
                </a:solidFill>
                <a:latin typeface="微软雅黑" pitchFamily="34" charset="0"/>
                <a:ea typeface="微软雅黑" pitchFamily="34" charset="-122"/>
                <a:cs typeface="微软雅黑" pitchFamily="34" charset="-120"/>
              </a:rPr>
              <a:t>→ 前端显示【良好】· 风险Top3：加热器/主板/大门</a:t>
            </a:r>
            <a:endParaRPr lang="en-US" sz="1050" dirty="0"/>
          </a:p>
        </p:txBody>
      </p:sp>
      <p:sp>
        <p:nvSpPr>
          <p:cNvPr id="10" name="Shape 14"/>
          <p:cNvSpPr/>
          <p:nvPr/>
        </p:nvSpPr>
        <p:spPr>
          <a:xfrm>
            <a:off x="248920" y="5320030"/>
            <a:ext cx="821055" cy="775335"/>
          </a:xfrm>
          <a:prstGeom prst="roundRect">
            <a:avLst>
              <a:gd name="adj" fmla="val 6667"/>
            </a:avLst>
          </a:prstGeom>
          <a:solidFill>
            <a:srgbClr val="2E8B6A"/>
          </a:solidFill>
          <a:effectLst>
            <a:outerShdw blurRad="2147483647" dist="2147483647" dir="1" algn="bl" rotWithShape="0">
              <a:srgbClr val="1B4633">
                <a:alpha val="2"/>
              </a:srgbClr>
            </a:outerShdw>
          </a:effectLst>
        </p:spPr>
      </p:sp>
      <p:sp>
        <p:nvSpPr>
          <p:cNvPr id="13" name="Text 15"/>
          <p:cNvSpPr/>
          <p:nvPr/>
        </p:nvSpPr>
        <p:spPr>
          <a:xfrm>
            <a:off x="-393065" y="5411470"/>
            <a:ext cx="2103120" cy="36576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优良</a:t>
            </a:r>
            <a:endParaRPr lang="en-US" sz="1600" dirty="0"/>
          </a:p>
        </p:txBody>
      </p:sp>
      <p:sp>
        <p:nvSpPr>
          <p:cNvPr id="25" name="Text 16"/>
          <p:cNvSpPr/>
          <p:nvPr/>
        </p:nvSpPr>
        <p:spPr>
          <a:xfrm>
            <a:off x="-393065" y="5761355"/>
            <a:ext cx="2103120" cy="365760"/>
          </a:xfrm>
          <a:prstGeom prst="rect">
            <a:avLst/>
          </a:prstGeom>
          <a:noFill/>
        </p:spPr>
        <p:txBody>
          <a:bodyPr wrap="square" lIns="0" tIns="0" rIns="0" bIns="0" rtlCol="0" anchor="ctr"/>
          <a:lstStyle/>
          <a:p>
            <a:pPr marL="0" indent="0" algn="ctr">
              <a:buNone/>
            </a:pPr>
            <a:r>
              <a:rPr lang="en-US" sz="1200" dirty="0">
                <a:solidFill>
                  <a:srgbClr val="F0F7F2"/>
                </a:solidFill>
                <a:latin typeface="微软雅黑" pitchFamily="34" charset="0"/>
                <a:ea typeface="微软雅黑" pitchFamily="34" charset="-122"/>
                <a:cs typeface="微软雅黑" pitchFamily="34" charset="-120"/>
              </a:rPr>
              <a:t>85-100分</a:t>
            </a:r>
            <a:endParaRPr lang="en-US" sz="1200" dirty="0"/>
          </a:p>
        </p:txBody>
      </p:sp>
      <p:sp>
        <p:nvSpPr>
          <p:cNvPr id="26" name="Shape 17"/>
          <p:cNvSpPr/>
          <p:nvPr/>
        </p:nvSpPr>
        <p:spPr>
          <a:xfrm>
            <a:off x="1525270" y="5320030"/>
            <a:ext cx="820420" cy="775335"/>
          </a:xfrm>
          <a:prstGeom prst="roundRect">
            <a:avLst>
              <a:gd name="adj" fmla="val 6667"/>
            </a:avLst>
          </a:prstGeom>
          <a:solidFill>
            <a:srgbClr val="5FB292"/>
          </a:solidFill>
          <a:effectLst>
            <a:outerShdw blurRad="2147483647" dist="2147483647" dir="7" algn="bl" rotWithShape="0">
              <a:srgbClr val="1B4633">
                <a:alpha val="2"/>
              </a:srgbClr>
            </a:outerShdw>
          </a:effectLst>
        </p:spPr>
      </p:sp>
      <p:sp>
        <p:nvSpPr>
          <p:cNvPr id="27" name="Text 18"/>
          <p:cNvSpPr/>
          <p:nvPr/>
        </p:nvSpPr>
        <p:spPr>
          <a:xfrm>
            <a:off x="857885" y="5457190"/>
            <a:ext cx="2103120" cy="258445"/>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良好</a:t>
            </a:r>
            <a:endParaRPr lang="en-US" sz="1600" dirty="0"/>
          </a:p>
        </p:txBody>
      </p:sp>
      <p:sp>
        <p:nvSpPr>
          <p:cNvPr id="35" name="Text 19"/>
          <p:cNvSpPr/>
          <p:nvPr/>
        </p:nvSpPr>
        <p:spPr>
          <a:xfrm>
            <a:off x="857885" y="5868670"/>
            <a:ext cx="2103120" cy="258445"/>
          </a:xfrm>
          <a:prstGeom prst="rect">
            <a:avLst/>
          </a:prstGeom>
          <a:noFill/>
        </p:spPr>
        <p:txBody>
          <a:bodyPr wrap="square" lIns="0" tIns="0" rIns="0" bIns="0" rtlCol="0" anchor="ctr"/>
          <a:lstStyle/>
          <a:p>
            <a:pPr marL="0" indent="0" algn="ctr">
              <a:buNone/>
            </a:pPr>
            <a:r>
              <a:rPr lang="en-US" sz="1200" dirty="0">
                <a:solidFill>
                  <a:srgbClr val="F0F7F2"/>
                </a:solidFill>
                <a:latin typeface="微软雅黑" pitchFamily="34" charset="0"/>
                <a:ea typeface="微软雅黑" pitchFamily="34" charset="-122"/>
                <a:cs typeface="微软雅黑" pitchFamily="34" charset="-120"/>
              </a:rPr>
              <a:t>70-85分</a:t>
            </a:r>
            <a:endParaRPr lang="en-US" sz="1200" dirty="0"/>
          </a:p>
        </p:txBody>
      </p:sp>
      <p:sp>
        <p:nvSpPr>
          <p:cNvPr id="36" name="Shape 20"/>
          <p:cNvSpPr/>
          <p:nvPr/>
        </p:nvSpPr>
        <p:spPr>
          <a:xfrm>
            <a:off x="3007360" y="5320030"/>
            <a:ext cx="821055" cy="775335"/>
          </a:xfrm>
          <a:prstGeom prst="roundRect">
            <a:avLst>
              <a:gd name="adj" fmla="val 6667"/>
            </a:avLst>
          </a:prstGeom>
          <a:solidFill>
            <a:srgbClr val="F39C12"/>
          </a:solidFill>
          <a:effectLst>
            <a:outerShdw blurRad="2147483647" dist="2147483647" dir="4" algn="bl" rotWithShape="0">
              <a:srgbClr val="1B4633">
                <a:alpha val="2"/>
              </a:srgbClr>
            </a:outerShdw>
          </a:effectLst>
        </p:spPr>
      </p:sp>
      <p:sp>
        <p:nvSpPr>
          <p:cNvPr id="37" name="Text 21"/>
          <p:cNvSpPr/>
          <p:nvPr/>
        </p:nvSpPr>
        <p:spPr>
          <a:xfrm>
            <a:off x="2345690" y="5457190"/>
            <a:ext cx="2103120" cy="258445"/>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一般</a:t>
            </a:r>
            <a:endParaRPr lang="en-US" sz="1600" dirty="0"/>
          </a:p>
        </p:txBody>
      </p:sp>
      <p:sp>
        <p:nvSpPr>
          <p:cNvPr id="38" name="Text 22"/>
          <p:cNvSpPr/>
          <p:nvPr/>
        </p:nvSpPr>
        <p:spPr>
          <a:xfrm>
            <a:off x="2345690" y="5868670"/>
            <a:ext cx="2103120" cy="258445"/>
          </a:xfrm>
          <a:prstGeom prst="rect">
            <a:avLst/>
          </a:prstGeom>
          <a:noFill/>
        </p:spPr>
        <p:txBody>
          <a:bodyPr wrap="square" lIns="0" tIns="0" rIns="0" bIns="0" rtlCol="0" anchor="ctr"/>
          <a:lstStyle/>
          <a:p>
            <a:pPr marL="0" indent="0" algn="ctr">
              <a:buNone/>
            </a:pPr>
            <a:r>
              <a:rPr lang="en-US" sz="1200" dirty="0">
                <a:solidFill>
                  <a:srgbClr val="F0F7F2"/>
                </a:solidFill>
                <a:latin typeface="微软雅黑" pitchFamily="34" charset="0"/>
                <a:ea typeface="微软雅黑" pitchFamily="34" charset="-122"/>
                <a:cs typeface="微软雅黑" pitchFamily="34" charset="-120"/>
              </a:rPr>
              <a:t>60-70分</a:t>
            </a:r>
            <a:endParaRPr lang="en-US" sz="1200" dirty="0"/>
          </a:p>
        </p:txBody>
      </p:sp>
      <p:sp>
        <p:nvSpPr>
          <p:cNvPr id="39" name="Shape 23"/>
          <p:cNvSpPr/>
          <p:nvPr/>
        </p:nvSpPr>
        <p:spPr>
          <a:xfrm>
            <a:off x="4448810" y="5320030"/>
            <a:ext cx="840105" cy="775335"/>
          </a:xfrm>
          <a:prstGeom prst="roundRect">
            <a:avLst>
              <a:gd name="adj" fmla="val 6667"/>
            </a:avLst>
          </a:prstGeom>
          <a:solidFill>
            <a:srgbClr val="C77E1B"/>
          </a:solidFill>
          <a:effectLst>
            <a:outerShdw blurRad="2147483647" dist="2147483647" dir="2" algn="bl" rotWithShape="0">
              <a:srgbClr val="1B4633">
                <a:alpha val="2"/>
              </a:srgbClr>
            </a:outerShdw>
          </a:effectLst>
        </p:spPr>
      </p:sp>
      <p:sp>
        <p:nvSpPr>
          <p:cNvPr id="40" name="Text 24"/>
          <p:cNvSpPr/>
          <p:nvPr/>
        </p:nvSpPr>
        <p:spPr>
          <a:xfrm>
            <a:off x="3810635" y="5411470"/>
            <a:ext cx="2103120" cy="258445"/>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预警</a:t>
            </a:r>
            <a:endParaRPr lang="en-US" sz="1600" dirty="0"/>
          </a:p>
        </p:txBody>
      </p:sp>
      <p:sp>
        <p:nvSpPr>
          <p:cNvPr id="41" name="Text 25"/>
          <p:cNvSpPr/>
          <p:nvPr/>
        </p:nvSpPr>
        <p:spPr>
          <a:xfrm>
            <a:off x="3810635" y="5822950"/>
            <a:ext cx="2103120" cy="258445"/>
          </a:xfrm>
          <a:prstGeom prst="rect">
            <a:avLst/>
          </a:prstGeom>
          <a:noFill/>
        </p:spPr>
        <p:txBody>
          <a:bodyPr wrap="square" lIns="0" tIns="0" rIns="0" bIns="0" rtlCol="0" anchor="ctr"/>
          <a:lstStyle/>
          <a:p>
            <a:pPr marL="0" indent="0" algn="ctr">
              <a:buNone/>
            </a:pPr>
            <a:r>
              <a:rPr lang="en-US" sz="1200" dirty="0">
                <a:solidFill>
                  <a:srgbClr val="F0F7F2"/>
                </a:solidFill>
                <a:latin typeface="微软雅黑" pitchFamily="34" charset="0"/>
                <a:ea typeface="微软雅黑" pitchFamily="34" charset="-122"/>
                <a:cs typeface="微软雅黑" pitchFamily="34" charset="-120"/>
              </a:rPr>
              <a:t>45-60分</a:t>
            </a:r>
            <a:endParaRPr lang="en-US" sz="1200" dirty="0"/>
          </a:p>
        </p:txBody>
      </p:sp>
      <p:sp>
        <p:nvSpPr>
          <p:cNvPr id="42" name="Shape 26"/>
          <p:cNvSpPr/>
          <p:nvPr/>
        </p:nvSpPr>
        <p:spPr>
          <a:xfrm>
            <a:off x="5836285" y="5320030"/>
            <a:ext cx="840740" cy="775335"/>
          </a:xfrm>
          <a:prstGeom prst="roundRect">
            <a:avLst>
              <a:gd name="adj" fmla="val 6667"/>
            </a:avLst>
          </a:prstGeom>
          <a:solidFill>
            <a:srgbClr val="B23A24"/>
          </a:solidFill>
          <a:effectLst>
            <a:outerShdw blurRad="2147483647" dist="2147483647" dir="1" algn="bl" rotWithShape="0">
              <a:srgbClr val="1B4633">
                <a:alpha val="2"/>
              </a:srgbClr>
            </a:outerShdw>
          </a:effectLst>
        </p:spPr>
      </p:sp>
      <p:sp>
        <p:nvSpPr>
          <p:cNvPr id="43" name="Text 27"/>
          <p:cNvSpPr/>
          <p:nvPr/>
        </p:nvSpPr>
        <p:spPr>
          <a:xfrm>
            <a:off x="5257800" y="5457190"/>
            <a:ext cx="2103120" cy="258445"/>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危险</a:t>
            </a:r>
            <a:endParaRPr lang="en-US" sz="1600" dirty="0"/>
          </a:p>
        </p:txBody>
      </p:sp>
      <p:sp>
        <p:nvSpPr>
          <p:cNvPr id="44" name="Text 28"/>
          <p:cNvSpPr/>
          <p:nvPr/>
        </p:nvSpPr>
        <p:spPr>
          <a:xfrm>
            <a:off x="5257800" y="5868670"/>
            <a:ext cx="2103120" cy="258445"/>
          </a:xfrm>
          <a:prstGeom prst="rect">
            <a:avLst/>
          </a:prstGeom>
          <a:noFill/>
        </p:spPr>
        <p:txBody>
          <a:bodyPr wrap="square" lIns="0" tIns="0" rIns="0" bIns="0" rtlCol="0" anchor="ctr"/>
          <a:lstStyle/>
          <a:p>
            <a:pPr marL="0" indent="0" algn="ctr">
              <a:buNone/>
            </a:pPr>
            <a:r>
              <a:rPr lang="en-US" sz="1200" dirty="0">
                <a:solidFill>
                  <a:srgbClr val="F0F7F2"/>
                </a:solidFill>
                <a:latin typeface="微软雅黑" pitchFamily="34" charset="0"/>
                <a:ea typeface="微软雅黑" pitchFamily="34" charset="-122"/>
                <a:cs typeface="微软雅黑" pitchFamily="34" charset="-120"/>
              </a:rPr>
              <a:t>&lt;45分</a:t>
            </a:r>
            <a:endParaRPr 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02920" y="502920"/>
            <a:ext cx="1737360" cy="475488"/>
          </a:xfrm>
          <a:prstGeom prst="roundRect">
            <a:avLst>
              <a:gd name="adj" fmla="val 50000"/>
            </a:avLst>
          </a:prstGeom>
          <a:solidFill>
            <a:srgbClr val="14532D"/>
          </a:solidFill>
          <a:effectLst>
            <a:outerShdw blurRad="2147483647" dist="2147483647" dir="2" algn="bl" rotWithShape="0">
              <a:srgbClr val="1B4633">
                <a:alpha val="2"/>
              </a:srgbClr>
            </a:outerShdw>
          </a:effectLst>
        </p:spPr>
      </p:sp>
      <p:sp>
        <p:nvSpPr>
          <p:cNvPr id="4" name="Text 2"/>
          <p:cNvSpPr/>
          <p:nvPr/>
        </p:nvSpPr>
        <p:spPr>
          <a:xfrm>
            <a:off x="502920" y="50292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 一</a:t>
            </a:r>
            <a:endParaRPr lang="en-US" sz="1500" dirty="0"/>
          </a:p>
        </p:txBody>
      </p:sp>
      <p:sp>
        <p:nvSpPr>
          <p:cNvPr id="5" name="Text 3"/>
          <p:cNvSpPr/>
          <p:nvPr/>
        </p:nvSpPr>
        <p:spPr>
          <a:xfrm>
            <a:off x="2487168" y="365760"/>
            <a:ext cx="9052560" cy="777240"/>
          </a:xfrm>
          <a:prstGeom prst="rect">
            <a:avLst/>
          </a:prstGeom>
          <a:noFill/>
        </p:spPr>
        <p:txBody>
          <a:bodyPr wrap="square" lIns="0" tIns="0" rIns="0" bIns="0" rtlCol="0" anchor="ctr"/>
          <a:lstStyle/>
          <a:p>
            <a:pPr marL="0" indent="0">
              <a:buNone/>
            </a:pPr>
            <a:r>
              <a:rPr lang="en-US" sz="2700" b="1" dirty="0">
                <a:solidFill>
                  <a:srgbClr val="14301F"/>
                </a:solidFill>
                <a:latin typeface="微软雅黑" pitchFamily="34" charset="0"/>
                <a:ea typeface="微软雅黑" pitchFamily="34" charset="-122"/>
                <a:cs typeface="微软雅黑" pitchFamily="34" charset="-120"/>
              </a:rPr>
              <a:t>剩余寿命 -计算及实例</a:t>
            </a:r>
            <a:endParaRPr lang="en-US" sz="2700" dirty="0"/>
          </a:p>
        </p:txBody>
      </p:sp>
      <p:sp>
        <p:nvSpPr>
          <p:cNvPr id="7" name="Shape 5"/>
          <p:cNvSpPr/>
          <p:nvPr/>
        </p:nvSpPr>
        <p:spPr>
          <a:xfrm>
            <a:off x="502920" y="1115568"/>
            <a:ext cx="6858000" cy="4754880"/>
          </a:xfrm>
          <a:prstGeom prst="roundRect">
            <a:avLst>
              <a:gd name="adj" fmla="val 2308"/>
            </a:avLst>
          </a:prstGeom>
          <a:solidFill>
            <a:srgbClr val="FFFFFF"/>
          </a:solidFill>
          <a:ln w="12700">
            <a:solidFill>
              <a:srgbClr val="D6E3DA"/>
            </a:solidFill>
            <a:prstDash val="solid"/>
          </a:ln>
          <a:effectLst>
            <a:outerShdw blurRad="2147483647" dist="2147483647" dir="1" algn="bl" rotWithShape="0">
              <a:srgbClr val="1B4633">
                <a:alpha val="2"/>
              </a:srgbClr>
            </a:outerShdw>
          </a:effectLst>
        </p:spPr>
      </p:sp>
      <p:sp>
        <p:nvSpPr>
          <p:cNvPr id="8" name="Shape 6"/>
          <p:cNvSpPr/>
          <p:nvPr/>
        </p:nvSpPr>
        <p:spPr>
          <a:xfrm>
            <a:off x="731520" y="1170432"/>
            <a:ext cx="6400800" cy="548640"/>
          </a:xfrm>
          <a:prstGeom prst="roundRect">
            <a:avLst>
              <a:gd name="adj" fmla="val 10000"/>
            </a:avLst>
          </a:prstGeom>
          <a:solidFill>
            <a:srgbClr val="14532D"/>
          </a:solidFill>
          <a:effectLst>
            <a:outerShdw blurRad="2147483647" dist="2147483647" dir="7" algn="bl" rotWithShape="0">
              <a:srgbClr val="1B4633">
                <a:alpha val="2"/>
              </a:srgbClr>
            </a:outerShdw>
          </a:effectLst>
        </p:spPr>
      </p:sp>
      <p:sp>
        <p:nvSpPr>
          <p:cNvPr id="9" name="Text 7"/>
          <p:cNvSpPr/>
          <p:nvPr/>
        </p:nvSpPr>
        <p:spPr>
          <a:xfrm>
            <a:off x="731520" y="1170432"/>
            <a:ext cx="6400800" cy="548640"/>
          </a:xfrm>
          <a:prstGeom prst="rect">
            <a:avLst/>
          </a:prstGeom>
          <a:noFill/>
        </p:spPr>
        <p:txBody>
          <a:bodyPr wrap="square" lIns="0" tIns="0" rIns="0" bIns="0" rtlCol="0" anchor="ctr"/>
          <a:lstStyle/>
          <a:p>
            <a:pPr marL="0" indent="0" algn="ctr">
              <a:buNone/>
            </a:pPr>
            <a:r>
              <a:rPr lang="en-US" sz="1700" b="1" dirty="0">
                <a:solidFill>
                  <a:srgbClr val="FFFFFF"/>
                </a:solidFill>
                <a:latin typeface="微软雅黑" pitchFamily="34" charset="0"/>
                <a:ea typeface="微软雅黑" pitchFamily="34" charset="-122"/>
                <a:cs typeface="微软雅黑" pitchFamily="34" charset="-120"/>
              </a:rPr>
              <a:t>life = clamp限制函数( life_raw , 0 , year_cap )</a:t>
            </a:r>
            <a:endParaRPr lang="en-US" sz="1700" dirty="0"/>
          </a:p>
        </p:txBody>
      </p:sp>
      <p:sp>
        <p:nvSpPr>
          <p:cNvPr id="10" name="Shape 8"/>
          <p:cNvSpPr/>
          <p:nvPr/>
        </p:nvSpPr>
        <p:spPr>
          <a:xfrm>
            <a:off x="3931920" y="1737360"/>
            <a:ext cx="10973" cy="109728"/>
          </a:xfrm>
          <a:prstGeom prst="line">
            <a:avLst/>
          </a:prstGeom>
          <a:noFill/>
          <a:ln w="17780">
            <a:solidFill>
              <a:srgbClr val="6B8F7C"/>
            </a:solidFill>
            <a:prstDash val="solid"/>
          </a:ln>
        </p:spPr>
      </p:sp>
      <p:sp>
        <p:nvSpPr>
          <p:cNvPr id="11" name="Shape 9"/>
          <p:cNvSpPr/>
          <p:nvPr/>
        </p:nvSpPr>
        <p:spPr>
          <a:xfrm>
            <a:off x="731520" y="1847088"/>
            <a:ext cx="6400800" cy="384048"/>
          </a:xfrm>
          <a:prstGeom prst="roundRect">
            <a:avLst>
              <a:gd name="adj" fmla="val 9524"/>
            </a:avLst>
          </a:prstGeom>
          <a:solidFill>
            <a:srgbClr val="2E8B6A"/>
          </a:solidFill>
        </p:spPr>
      </p:sp>
      <p:sp>
        <p:nvSpPr>
          <p:cNvPr id="12" name="Text 10"/>
          <p:cNvSpPr/>
          <p:nvPr/>
        </p:nvSpPr>
        <p:spPr>
          <a:xfrm>
            <a:off x="822960" y="1847088"/>
            <a:ext cx="6217920" cy="384048"/>
          </a:xfrm>
          <a:prstGeom prst="rect">
            <a:avLst/>
          </a:prstGeom>
          <a:noFill/>
        </p:spPr>
        <p:txBody>
          <a:bodyPr wrap="square" lIns="0" tIns="0" rIns="0" bIns="0" rtlCol="0" anchor="ctr"/>
          <a:lstStyle/>
          <a:p>
            <a:pPr marL="0" indent="0" algn="ctr">
              <a:buNone/>
            </a:pPr>
            <a:r>
              <a:rPr lang="en-US" sz="1150" b="1" dirty="0">
                <a:solidFill>
                  <a:srgbClr val="FFFFFF"/>
                </a:solidFill>
                <a:latin typeface="微软雅黑" pitchFamily="34" charset="0"/>
                <a:ea typeface="微软雅黑" pitchFamily="34" charset="-122"/>
                <a:cs typeface="微软雅黑" pitchFamily="34" charset="-120"/>
              </a:rPr>
              <a:t>life_raw = ( hard_limit×0.6 + soft_avg×0.4 )×repair_decay×health_factor</a:t>
            </a:r>
            <a:endParaRPr lang="en-US" sz="1150" dirty="0"/>
          </a:p>
        </p:txBody>
      </p:sp>
      <p:sp>
        <p:nvSpPr>
          <p:cNvPr id="13" name="Shape 11"/>
          <p:cNvSpPr/>
          <p:nvPr/>
        </p:nvSpPr>
        <p:spPr>
          <a:xfrm>
            <a:off x="731520" y="2377440"/>
            <a:ext cx="6400800" cy="548640"/>
          </a:xfrm>
          <a:prstGeom prst="roundRect">
            <a:avLst>
              <a:gd name="adj" fmla="val 10000"/>
            </a:avLst>
          </a:prstGeom>
          <a:solidFill>
            <a:srgbClr val="FFFFFF"/>
          </a:solidFill>
          <a:ln w="12700">
            <a:solidFill>
              <a:srgbClr val="D6E3DA"/>
            </a:solidFill>
            <a:prstDash val="solid"/>
          </a:ln>
        </p:spPr>
      </p:sp>
      <p:sp>
        <p:nvSpPr>
          <p:cNvPr id="15" name="Text 13"/>
          <p:cNvSpPr/>
          <p:nvPr/>
        </p:nvSpPr>
        <p:spPr>
          <a:xfrm>
            <a:off x="960120" y="2377440"/>
            <a:ext cx="1645920" cy="548640"/>
          </a:xfrm>
          <a:prstGeom prst="rect">
            <a:avLst/>
          </a:prstGeom>
          <a:noFill/>
        </p:spPr>
        <p:txBody>
          <a:bodyPr wrap="square" lIns="0" tIns="0" rIns="0" bIns="0" rtlCol="0" anchor="ctr"/>
          <a:lstStyle/>
          <a:p>
            <a:pPr marL="0" indent="0">
              <a:buNone/>
            </a:pPr>
            <a:r>
              <a:rPr lang="en-US" sz="1250" b="1" dirty="0">
                <a:solidFill>
                  <a:srgbClr val="166534"/>
                </a:solidFill>
                <a:latin typeface="微软雅黑" pitchFamily="34" charset="0"/>
                <a:ea typeface="微软雅黑" pitchFamily="34" charset="-122"/>
                <a:cs typeface="微软雅黑" pitchFamily="34" charset="-120"/>
              </a:rPr>
              <a:t>A类 硬上限　</a:t>
            </a:r>
            <a:r>
              <a:rPr lang="en-US" sz="1000" b="1" dirty="0">
                <a:solidFill>
                  <a:srgbClr val="B23A24"/>
                </a:solidFill>
                <a:latin typeface="微软雅黑" pitchFamily="34" charset="0"/>
                <a:ea typeface="微软雅黑" pitchFamily="34" charset="-122"/>
                <a:cs typeface="微软雅黑" pitchFamily="34" charset="-120"/>
              </a:rPr>
              <a:t>×0.6</a:t>
            </a:r>
            <a:endParaRPr lang="en-US" sz="1250" dirty="0"/>
          </a:p>
        </p:txBody>
      </p:sp>
      <p:sp>
        <p:nvSpPr>
          <p:cNvPr id="16" name="Text 14"/>
          <p:cNvSpPr/>
          <p:nvPr/>
        </p:nvSpPr>
        <p:spPr>
          <a:xfrm>
            <a:off x="2651760" y="2377440"/>
            <a:ext cx="2880360" cy="548640"/>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hard_limit = min(屋顶, 大门, 挂烟梁) 最短寿命</a:t>
            </a:r>
            <a:endParaRPr lang="en-US" sz="1050" dirty="0"/>
          </a:p>
        </p:txBody>
      </p:sp>
      <p:sp>
        <p:nvSpPr>
          <p:cNvPr id="17" name="Text 15"/>
          <p:cNvSpPr/>
          <p:nvPr/>
        </p:nvSpPr>
        <p:spPr>
          <a:xfrm>
            <a:off x="5532120" y="2377440"/>
            <a:ext cx="1554480" cy="548640"/>
          </a:xfrm>
          <a:prstGeom prst="rect">
            <a:avLst/>
          </a:prstGeom>
          <a:noFill/>
        </p:spPr>
        <p:txBody>
          <a:bodyPr wrap="square" lIns="0" tIns="0" rIns="0" bIns="0" rtlCol="0" anchor="ctr"/>
          <a:lstStyle/>
          <a:p>
            <a:pPr marL="0" indent="0" algn="ctr">
              <a:buNone/>
            </a:pPr>
            <a:r>
              <a:rPr lang="en-US" sz="850" dirty="0">
                <a:solidFill>
                  <a:srgbClr val="5C6B62"/>
                </a:solidFill>
                <a:latin typeface="微软雅黑" pitchFamily="34" charset="0"/>
                <a:ea typeface="微软雅黑" pitchFamily="34" charset="-122"/>
                <a:cs typeface="微软雅黑" pitchFamily="34" charset="-120"/>
              </a:rPr>
              <a:t>结构性定“生死上限”</a:t>
            </a:r>
            <a:endParaRPr lang="en-US" sz="850" dirty="0"/>
          </a:p>
        </p:txBody>
      </p:sp>
      <p:sp>
        <p:nvSpPr>
          <p:cNvPr id="18" name="Shape 16"/>
          <p:cNvSpPr/>
          <p:nvPr/>
        </p:nvSpPr>
        <p:spPr>
          <a:xfrm>
            <a:off x="731520" y="3035808"/>
            <a:ext cx="6400800" cy="548640"/>
          </a:xfrm>
          <a:prstGeom prst="roundRect">
            <a:avLst>
              <a:gd name="adj" fmla="val 10000"/>
            </a:avLst>
          </a:prstGeom>
          <a:solidFill>
            <a:srgbClr val="FFFFFF"/>
          </a:solidFill>
          <a:ln w="12700">
            <a:solidFill>
              <a:srgbClr val="D6E3DA"/>
            </a:solidFill>
            <a:prstDash val="solid"/>
          </a:ln>
        </p:spPr>
      </p:sp>
      <p:sp>
        <p:nvSpPr>
          <p:cNvPr id="20" name="Text 18"/>
          <p:cNvSpPr/>
          <p:nvPr/>
        </p:nvSpPr>
        <p:spPr>
          <a:xfrm>
            <a:off x="960120" y="3035808"/>
            <a:ext cx="1645920" cy="548640"/>
          </a:xfrm>
          <a:prstGeom prst="rect">
            <a:avLst/>
          </a:prstGeom>
          <a:noFill/>
        </p:spPr>
        <p:txBody>
          <a:bodyPr wrap="square" lIns="0" tIns="0" rIns="0" bIns="0" rtlCol="0" anchor="ctr"/>
          <a:lstStyle/>
          <a:p>
            <a:pPr marL="0" indent="0">
              <a:buNone/>
            </a:pPr>
            <a:r>
              <a:rPr lang="en-US" sz="1250" b="1" dirty="0">
                <a:solidFill>
                  <a:srgbClr val="166534"/>
                </a:solidFill>
                <a:latin typeface="微软雅黑" pitchFamily="34" charset="0"/>
                <a:ea typeface="微软雅黑" pitchFamily="34" charset="-122"/>
                <a:cs typeface="微软雅黑" pitchFamily="34" charset="-120"/>
              </a:rPr>
              <a:t>B类 软平均　</a:t>
            </a:r>
            <a:r>
              <a:rPr lang="en-US" sz="1000" b="1" dirty="0">
                <a:solidFill>
                  <a:srgbClr val="2E8B6A"/>
                </a:solidFill>
                <a:latin typeface="微软雅黑" pitchFamily="34" charset="0"/>
                <a:ea typeface="微软雅黑" pitchFamily="34" charset="-122"/>
                <a:cs typeface="微软雅黑" pitchFamily="34" charset="-120"/>
              </a:rPr>
              <a:t>×0.4</a:t>
            </a:r>
            <a:endParaRPr lang="en-US" sz="1250" dirty="0"/>
          </a:p>
        </p:txBody>
      </p:sp>
      <p:sp>
        <p:nvSpPr>
          <p:cNvPr id="21" name="Text 19"/>
          <p:cNvSpPr/>
          <p:nvPr/>
        </p:nvSpPr>
        <p:spPr>
          <a:xfrm>
            <a:off x="2651760" y="3035808"/>
            <a:ext cx="2880360" cy="548640"/>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soft_avg = Σ(寿命×重要度) ÷ Σ重要度</a:t>
            </a:r>
            <a:endParaRPr lang="en-US" sz="1050" dirty="0"/>
          </a:p>
        </p:txBody>
      </p:sp>
      <p:sp>
        <p:nvSpPr>
          <p:cNvPr id="22" name="Text 20"/>
          <p:cNvSpPr/>
          <p:nvPr/>
        </p:nvSpPr>
        <p:spPr>
          <a:xfrm>
            <a:off x="5532120" y="3035808"/>
            <a:ext cx="1554480" cy="548640"/>
          </a:xfrm>
          <a:prstGeom prst="rect">
            <a:avLst/>
          </a:prstGeom>
          <a:noFill/>
        </p:spPr>
        <p:txBody>
          <a:bodyPr wrap="square" lIns="0" tIns="0" rIns="0" bIns="0" rtlCol="0" anchor="ctr"/>
          <a:lstStyle/>
          <a:p>
            <a:pPr marL="0" indent="0" algn="ctr">
              <a:buNone/>
            </a:pPr>
            <a:r>
              <a:rPr lang="en-US" sz="850" dirty="0">
                <a:solidFill>
                  <a:srgbClr val="5C6B62"/>
                </a:solidFill>
                <a:latin typeface="微软雅黑" pitchFamily="34" charset="0"/>
                <a:ea typeface="微软雅黑" pitchFamily="34" charset="-122"/>
                <a:cs typeface="微软雅黑" pitchFamily="34" charset="-120"/>
              </a:rPr>
              <a:t>功能性定“运行质量”</a:t>
            </a:r>
            <a:endParaRPr lang="en-US" sz="850" dirty="0"/>
          </a:p>
        </p:txBody>
      </p:sp>
      <p:sp>
        <p:nvSpPr>
          <p:cNvPr id="23" name="Shape 21"/>
          <p:cNvSpPr/>
          <p:nvPr/>
        </p:nvSpPr>
        <p:spPr>
          <a:xfrm>
            <a:off x="731520" y="3694176"/>
            <a:ext cx="6400800" cy="548640"/>
          </a:xfrm>
          <a:prstGeom prst="roundRect">
            <a:avLst>
              <a:gd name="adj" fmla="val 10000"/>
            </a:avLst>
          </a:prstGeom>
          <a:solidFill>
            <a:srgbClr val="FFFFFF"/>
          </a:solidFill>
          <a:ln w="12700">
            <a:solidFill>
              <a:srgbClr val="D6E3DA"/>
            </a:solidFill>
            <a:prstDash val="solid"/>
          </a:ln>
        </p:spPr>
      </p:sp>
      <p:sp>
        <p:nvSpPr>
          <p:cNvPr id="25" name="Text 23"/>
          <p:cNvSpPr/>
          <p:nvPr/>
        </p:nvSpPr>
        <p:spPr>
          <a:xfrm>
            <a:off x="960120" y="3694176"/>
            <a:ext cx="1645920" cy="548640"/>
          </a:xfrm>
          <a:prstGeom prst="rect">
            <a:avLst/>
          </a:prstGeom>
          <a:noFill/>
        </p:spPr>
        <p:txBody>
          <a:bodyPr wrap="square" lIns="0" tIns="0" rIns="0" bIns="0" rtlCol="0" anchor="ctr"/>
          <a:lstStyle/>
          <a:p>
            <a:pPr marL="0" indent="0">
              <a:buNone/>
            </a:pPr>
            <a:r>
              <a:rPr lang="en-US" sz="1250" b="1" dirty="0">
                <a:solidFill>
                  <a:srgbClr val="166534"/>
                </a:solidFill>
                <a:latin typeface="微软雅黑" pitchFamily="34" charset="0"/>
                <a:ea typeface="微软雅黑" pitchFamily="34" charset="-122"/>
                <a:cs typeface="微软雅黑" pitchFamily="34" charset="-120"/>
              </a:rPr>
              <a:t>维修 复衰　</a:t>
            </a:r>
            <a:r>
              <a:rPr lang="en-US" sz="1000" b="1" dirty="0">
                <a:solidFill>
                  <a:srgbClr val="C77E1B"/>
                </a:solidFill>
                <a:latin typeface="微软雅黑" pitchFamily="34" charset="0"/>
                <a:ea typeface="微软雅黑" pitchFamily="34" charset="-122"/>
                <a:cs typeface="微软雅黑" pitchFamily="34" charset="-120"/>
              </a:rPr>
              <a:t>e^衰减</a:t>
            </a:r>
            <a:endParaRPr lang="en-US" sz="1250" dirty="0"/>
          </a:p>
        </p:txBody>
      </p:sp>
      <p:sp>
        <p:nvSpPr>
          <p:cNvPr id="26" name="Text 24"/>
          <p:cNvSpPr/>
          <p:nvPr/>
        </p:nvSpPr>
        <p:spPr>
          <a:xfrm>
            <a:off x="2651760" y="3694176"/>
            <a:ext cx="2880360" cy="548640"/>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repair_decay = e^(−0.08×维修次数)</a:t>
            </a:r>
            <a:endParaRPr lang="en-US" sz="1050" dirty="0"/>
          </a:p>
        </p:txBody>
      </p:sp>
      <p:sp>
        <p:nvSpPr>
          <p:cNvPr id="27" name="Text 25"/>
          <p:cNvSpPr/>
          <p:nvPr/>
        </p:nvSpPr>
        <p:spPr>
          <a:xfrm>
            <a:off x="5532120" y="3694176"/>
            <a:ext cx="1554480" cy="548640"/>
          </a:xfrm>
          <a:prstGeom prst="rect">
            <a:avLst/>
          </a:prstGeom>
          <a:noFill/>
        </p:spPr>
        <p:txBody>
          <a:bodyPr wrap="square" lIns="0" tIns="0" rIns="0" bIns="0" rtlCol="0" anchor="ctr"/>
          <a:lstStyle/>
          <a:p>
            <a:pPr marL="0" indent="0" algn="ctr">
              <a:buNone/>
            </a:pPr>
            <a:r>
              <a:rPr lang="en-US" sz="850" dirty="0">
                <a:solidFill>
                  <a:srgbClr val="5C6B62"/>
                </a:solidFill>
                <a:latin typeface="微软雅黑" pitchFamily="34" charset="0"/>
                <a:ea typeface="微软雅黑" pitchFamily="34" charset="-122"/>
                <a:cs typeface="微软雅黑" pitchFamily="34" charset="-120"/>
              </a:rPr>
              <a:t>修1次0.92 · 修3次0.79</a:t>
            </a:r>
            <a:endParaRPr lang="en-US" sz="850" dirty="0"/>
          </a:p>
        </p:txBody>
      </p:sp>
      <p:sp>
        <p:nvSpPr>
          <p:cNvPr id="28" name="Shape 26"/>
          <p:cNvSpPr/>
          <p:nvPr/>
        </p:nvSpPr>
        <p:spPr>
          <a:xfrm>
            <a:off x="731520" y="4352544"/>
            <a:ext cx="6400800" cy="548640"/>
          </a:xfrm>
          <a:prstGeom prst="roundRect">
            <a:avLst>
              <a:gd name="adj" fmla="val 10000"/>
            </a:avLst>
          </a:prstGeom>
          <a:solidFill>
            <a:srgbClr val="FFFFFF"/>
          </a:solidFill>
          <a:ln w="12700">
            <a:solidFill>
              <a:srgbClr val="D6E3DA"/>
            </a:solidFill>
            <a:prstDash val="solid"/>
          </a:ln>
        </p:spPr>
      </p:sp>
      <p:sp>
        <p:nvSpPr>
          <p:cNvPr id="30" name="Text 28"/>
          <p:cNvSpPr/>
          <p:nvPr/>
        </p:nvSpPr>
        <p:spPr>
          <a:xfrm>
            <a:off x="960120" y="4352544"/>
            <a:ext cx="1645920" cy="548640"/>
          </a:xfrm>
          <a:prstGeom prst="rect">
            <a:avLst/>
          </a:prstGeom>
          <a:noFill/>
        </p:spPr>
        <p:txBody>
          <a:bodyPr wrap="square" lIns="0" tIns="0" rIns="0" bIns="0" rtlCol="0" anchor="ctr"/>
          <a:lstStyle/>
          <a:p>
            <a:pPr marL="0" indent="0">
              <a:buNone/>
            </a:pPr>
            <a:r>
              <a:rPr lang="en-US" sz="1250" b="1" dirty="0">
                <a:solidFill>
                  <a:srgbClr val="166534"/>
                </a:solidFill>
                <a:latin typeface="微软雅黑" pitchFamily="34" charset="0"/>
                <a:ea typeface="微软雅黑" pitchFamily="34" charset="-122"/>
                <a:cs typeface="微软雅黑" pitchFamily="34" charset="-120"/>
              </a:rPr>
              <a:t>健康 校准　</a:t>
            </a:r>
            <a:r>
              <a:rPr lang="en-US" sz="1000" b="1" dirty="0">
                <a:solidFill>
                  <a:srgbClr val="C77E1B"/>
                </a:solidFill>
                <a:latin typeface="微软雅黑" pitchFamily="34" charset="0"/>
                <a:ea typeface="微软雅黑" pitchFamily="34" charset="-122"/>
                <a:cs typeface="微软雅黑" pitchFamily="34" charset="-120"/>
              </a:rPr>
              <a:t>加速</a:t>
            </a:r>
            <a:endParaRPr lang="en-US" sz="1250" dirty="0"/>
          </a:p>
        </p:txBody>
      </p:sp>
      <p:sp>
        <p:nvSpPr>
          <p:cNvPr id="31" name="Text 29"/>
          <p:cNvSpPr/>
          <p:nvPr/>
        </p:nvSpPr>
        <p:spPr>
          <a:xfrm>
            <a:off x="2651760" y="4352544"/>
            <a:ext cx="2880360" cy="548640"/>
          </a:xfrm>
          <a:prstGeom prst="rect">
            <a:avLst/>
          </a:prstGeom>
          <a:noFill/>
        </p:spPr>
        <p:txBody>
          <a:bodyPr wrap="square" lIns="0" tIns="0" rIns="0" bIns="0" rtlCol="0" anchor="ctr"/>
          <a:lstStyle/>
          <a:p>
            <a:pPr marL="0" indent="0">
              <a:buNone/>
            </a:pPr>
            <a:r>
              <a:rPr lang="en-US" sz="1050" dirty="0">
                <a:solidFill>
                  <a:srgbClr val="14301F"/>
                </a:solidFill>
                <a:latin typeface="微软雅黑" pitchFamily="34" charset="0"/>
                <a:ea typeface="微软雅黑" pitchFamily="34" charset="-122"/>
                <a:cs typeface="微软雅黑" pitchFamily="34" charset="-120"/>
              </a:rPr>
              <a:t>health_factor = 0.70 + 0.30×(H/100)</a:t>
            </a:r>
            <a:endParaRPr lang="en-US" sz="1050" dirty="0"/>
          </a:p>
        </p:txBody>
      </p:sp>
      <p:sp>
        <p:nvSpPr>
          <p:cNvPr id="32" name="Text 30"/>
          <p:cNvSpPr/>
          <p:nvPr/>
        </p:nvSpPr>
        <p:spPr>
          <a:xfrm>
            <a:off x="5532120" y="4352544"/>
            <a:ext cx="1554480" cy="548640"/>
          </a:xfrm>
          <a:prstGeom prst="rect">
            <a:avLst/>
          </a:prstGeom>
          <a:noFill/>
        </p:spPr>
        <p:txBody>
          <a:bodyPr wrap="square" lIns="0" tIns="0" rIns="0" bIns="0" rtlCol="0" anchor="ctr"/>
          <a:lstStyle/>
          <a:p>
            <a:pPr marL="0" indent="0" algn="ctr">
              <a:buNone/>
            </a:pPr>
            <a:r>
              <a:rPr lang="en-US" sz="850" dirty="0">
                <a:solidFill>
                  <a:srgbClr val="5C6B62"/>
                </a:solidFill>
                <a:latin typeface="微软雅黑" pitchFamily="34" charset="0"/>
                <a:ea typeface="微软雅黑" pitchFamily="34" charset="-122"/>
                <a:cs typeface="微软雅黑" pitchFamily="34" charset="-120"/>
              </a:rPr>
              <a:t>H=100→1.00 · H=40→0.82</a:t>
            </a:r>
            <a:endParaRPr lang="en-US" sz="850" dirty="0"/>
          </a:p>
        </p:txBody>
      </p:sp>
      <p:sp>
        <p:nvSpPr>
          <p:cNvPr id="33" name="Shape 31"/>
          <p:cNvSpPr/>
          <p:nvPr/>
        </p:nvSpPr>
        <p:spPr>
          <a:xfrm>
            <a:off x="731520" y="5065776"/>
            <a:ext cx="6400800" cy="457200"/>
          </a:xfrm>
          <a:prstGeom prst="roundRect">
            <a:avLst>
              <a:gd name="adj" fmla="val 12000"/>
            </a:avLst>
          </a:prstGeom>
          <a:solidFill>
            <a:srgbClr val="C77E1B"/>
          </a:solidFill>
        </p:spPr>
      </p:sp>
      <p:sp>
        <p:nvSpPr>
          <p:cNvPr id="34" name="Text 32"/>
          <p:cNvSpPr/>
          <p:nvPr/>
        </p:nvSpPr>
        <p:spPr>
          <a:xfrm>
            <a:off x="731520" y="5065776"/>
            <a:ext cx="6400800" cy="457200"/>
          </a:xfrm>
          <a:prstGeom prst="rect">
            <a:avLst/>
          </a:prstGeom>
          <a:noFill/>
        </p:spPr>
        <p:txBody>
          <a:bodyPr wrap="square" lIns="0" tIns="0" rIns="0" bIns="0" rtlCol="0" anchor="ctr"/>
          <a:lstStyle/>
          <a:p>
            <a:pPr marL="0" indent="0" algn="ctr">
              <a:buNone/>
            </a:pPr>
            <a:r>
              <a:rPr lang="en-US" sz="1100" b="1" dirty="0">
                <a:solidFill>
                  <a:srgbClr val="FFFFFF"/>
                </a:solidFill>
                <a:latin typeface="微软雅黑" pitchFamily="34" charset="0"/>
                <a:ea typeface="微软雅黑" pitchFamily="34" charset="-122"/>
                <a:cs typeface="微软雅黑" pitchFamily="34" charset="-120"/>
              </a:rPr>
              <a:t>L5 年限收缩+钳制：year_cap = max(0, 15−房龄×0.55)，老房不虚高、新+2.65封顶</a:t>
            </a:r>
            <a:endParaRPr lang="en-US" sz="1100" dirty="0"/>
          </a:p>
        </p:txBody>
      </p:sp>
      <p:sp>
        <p:nvSpPr>
          <p:cNvPr id="35" name="Text 33"/>
          <p:cNvSpPr/>
          <p:nvPr/>
        </p:nvSpPr>
        <p:spPr>
          <a:xfrm>
            <a:off x="777240" y="5577840"/>
            <a:ext cx="6400800" cy="274320"/>
          </a:xfrm>
          <a:prstGeom prst="rect">
            <a:avLst/>
          </a:prstGeom>
          <a:noFill/>
        </p:spPr>
        <p:txBody>
          <a:bodyPr wrap="square" lIns="0" tIns="0" rIns="0" bIns="0" rtlCol="0" anchor="ctr"/>
          <a:lstStyle/>
          <a:p>
            <a:pPr marL="0" indent="0" algn="ctr">
              <a:buNone/>
            </a:pPr>
            <a:r>
              <a:rPr lang="en-US" sz="1050" dirty="0">
                <a:solidFill>
                  <a:srgbClr val="5C6B62"/>
                </a:solidFill>
                <a:latin typeface="微软雅黑" pitchFamily="34" charset="0"/>
                <a:ea typeface="微软雅黑" pitchFamily="34" charset="-122"/>
                <a:cs typeface="微软雅黑" pitchFamily="34" charset="-120"/>
              </a:rPr>
              <a:t>四级预警：≤0紧急 · 1~4建议维修 · 4~7需关注 · &gt;7正常</a:t>
            </a:r>
            <a:endParaRPr lang="en-US" sz="1050" dirty="0"/>
          </a:p>
        </p:txBody>
      </p:sp>
      <p:sp>
        <p:nvSpPr>
          <p:cNvPr id="36" name="Shape 34"/>
          <p:cNvSpPr/>
          <p:nvPr/>
        </p:nvSpPr>
        <p:spPr>
          <a:xfrm>
            <a:off x="7543800" y="1115568"/>
            <a:ext cx="4142232" cy="4754880"/>
          </a:xfrm>
          <a:prstGeom prst="roundRect">
            <a:avLst>
              <a:gd name="adj" fmla="val 2649"/>
            </a:avLst>
          </a:prstGeom>
          <a:solidFill>
            <a:srgbClr val="FFFFFF"/>
          </a:solidFill>
          <a:ln w="12700">
            <a:solidFill>
              <a:srgbClr val="D6E3DA"/>
            </a:solidFill>
            <a:prstDash val="solid"/>
          </a:ln>
          <a:effectLst>
            <a:outerShdw blurRad="2147483647" dist="2147483647" dir="4" algn="bl" rotWithShape="0">
              <a:srgbClr val="1B4633">
                <a:alpha val="2"/>
              </a:srgbClr>
            </a:outerShdw>
          </a:effectLst>
        </p:spPr>
      </p:sp>
      <p:sp>
        <p:nvSpPr>
          <p:cNvPr id="37" name="Text 35"/>
          <p:cNvSpPr/>
          <p:nvPr/>
        </p:nvSpPr>
        <p:spPr>
          <a:xfrm>
            <a:off x="7772400" y="1207008"/>
            <a:ext cx="3749040" cy="310896"/>
          </a:xfrm>
          <a:prstGeom prst="rect">
            <a:avLst/>
          </a:prstGeom>
          <a:noFill/>
        </p:spPr>
        <p:txBody>
          <a:bodyPr wrap="square" lIns="0" tIns="0" rIns="0" bIns="0" rtlCol="0" anchor="ctr"/>
          <a:lstStyle/>
          <a:p>
            <a:pPr marL="0" indent="0">
              <a:buNone/>
            </a:pPr>
            <a:r>
              <a:rPr lang="en-US" sz="1400" b="1" dirty="0">
                <a:solidFill>
                  <a:srgbClr val="166534"/>
                </a:solidFill>
                <a:latin typeface="微软雅黑" pitchFamily="34" charset="0"/>
                <a:ea typeface="微软雅黑" pitchFamily="34" charset="-122"/>
                <a:cs typeface="微软雅黑" pitchFamily="34" charset="-120"/>
              </a:rPr>
              <a:t>单栋算例 · 2009老房</a:t>
            </a:r>
            <a:r>
              <a:rPr lang="en-US" sz="900" dirty="0">
                <a:solidFill>
                  <a:srgbClr val="5C6B62"/>
                </a:solidFill>
                <a:latin typeface="微软雅黑" pitchFamily="34" charset="0"/>
                <a:ea typeface="微软雅黑" pitchFamily="34" charset="-122"/>
                <a:cs typeface="微软雅黑" pitchFamily="34" charset="-120"/>
              </a:rPr>
              <a:t>（2022换自控·2024修散热, H=71）</a:t>
            </a:r>
            <a:endParaRPr lang="en-US" sz="1400" dirty="0"/>
          </a:p>
        </p:txBody>
      </p:sp>
      <p:sp>
        <p:nvSpPr>
          <p:cNvPr id="38" name="Shape 36"/>
          <p:cNvSpPr/>
          <p:nvPr/>
        </p:nvSpPr>
        <p:spPr>
          <a:xfrm>
            <a:off x="7772400" y="1645920"/>
            <a:ext cx="3749040" cy="457200"/>
          </a:xfrm>
          <a:prstGeom prst="roundRect">
            <a:avLst>
              <a:gd name="adj" fmla="val 10000"/>
            </a:avLst>
          </a:prstGeom>
          <a:solidFill>
            <a:srgbClr val="FFFFFF"/>
          </a:solidFill>
          <a:ln w="12700">
            <a:solidFill>
              <a:srgbClr val="D6E3DA"/>
            </a:solidFill>
            <a:prstDash val="solid"/>
          </a:ln>
        </p:spPr>
      </p:sp>
      <p:sp>
        <p:nvSpPr>
          <p:cNvPr id="39" name="Text 37"/>
          <p:cNvSpPr/>
          <p:nvPr/>
        </p:nvSpPr>
        <p:spPr>
          <a:xfrm>
            <a:off x="7882128" y="1645920"/>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L1 硬上限</a:t>
            </a:r>
            <a:endParaRPr lang="en-US" sz="1050" dirty="0"/>
          </a:p>
        </p:txBody>
      </p:sp>
      <p:sp>
        <p:nvSpPr>
          <p:cNvPr id="40" name="Text 38"/>
          <p:cNvSpPr/>
          <p:nvPr/>
        </p:nvSpPr>
        <p:spPr>
          <a:xfrm>
            <a:off x="9098280" y="1645920"/>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屋顶最弱 → hard_limit = 2.5年</a:t>
            </a:r>
            <a:endParaRPr lang="en-US" sz="950" dirty="0"/>
          </a:p>
        </p:txBody>
      </p:sp>
      <p:sp>
        <p:nvSpPr>
          <p:cNvPr id="41" name="Shape 39"/>
          <p:cNvSpPr/>
          <p:nvPr/>
        </p:nvSpPr>
        <p:spPr>
          <a:xfrm>
            <a:off x="7772400" y="2167128"/>
            <a:ext cx="3749040" cy="457200"/>
          </a:xfrm>
          <a:prstGeom prst="roundRect">
            <a:avLst>
              <a:gd name="adj" fmla="val 10000"/>
            </a:avLst>
          </a:prstGeom>
          <a:solidFill>
            <a:srgbClr val="FFFFFF"/>
          </a:solidFill>
          <a:ln w="12700">
            <a:solidFill>
              <a:srgbClr val="D6E3DA"/>
            </a:solidFill>
            <a:prstDash val="solid"/>
          </a:ln>
        </p:spPr>
      </p:sp>
      <p:sp>
        <p:nvSpPr>
          <p:cNvPr id="42" name="Text 40"/>
          <p:cNvSpPr/>
          <p:nvPr/>
        </p:nvSpPr>
        <p:spPr>
          <a:xfrm>
            <a:off x="7882128" y="2167128"/>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L2 软平均</a:t>
            </a:r>
            <a:endParaRPr lang="en-US" sz="1050" dirty="0"/>
          </a:p>
        </p:txBody>
      </p:sp>
      <p:sp>
        <p:nvSpPr>
          <p:cNvPr id="43" name="Text 41"/>
          <p:cNvSpPr/>
          <p:nvPr/>
        </p:nvSpPr>
        <p:spPr>
          <a:xfrm>
            <a:off x="9098280" y="2167128"/>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soft_avg = 5.0 年（9功能件加权均值）</a:t>
            </a:r>
            <a:endParaRPr lang="en-US" sz="950" dirty="0"/>
          </a:p>
        </p:txBody>
      </p:sp>
      <p:sp>
        <p:nvSpPr>
          <p:cNvPr id="44" name="Shape 42"/>
          <p:cNvSpPr/>
          <p:nvPr/>
        </p:nvSpPr>
        <p:spPr>
          <a:xfrm>
            <a:off x="7772400" y="2688336"/>
            <a:ext cx="3749040" cy="457200"/>
          </a:xfrm>
          <a:prstGeom prst="roundRect">
            <a:avLst>
              <a:gd name="adj" fmla="val 10000"/>
            </a:avLst>
          </a:prstGeom>
          <a:solidFill>
            <a:srgbClr val="FFFFFF"/>
          </a:solidFill>
          <a:ln w="12700">
            <a:solidFill>
              <a:srgbClr val="D6E3DA"/>
            </a:solidFill>
            <a:prstDash val="solid"/>
          </a:ln>
        </p:spPr>
      </p:sp>
      <p:sp>
        <p:nvSpPr>
          <p:cNvPr id="45" name="Text 43"/>
          <p:cNvSpPr/>
          <p:nvPr/>
        </p:nvSpPr>
        <p:spPr>
          <a:xfrm>
            <a:off x="7882128" y="2688336"/>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L3 维修复衰</a:t>
            </a:r>
            <a:endParaRPr lang="en-US" sz="1050" dirty="0"/>
          </a:p>
        </p:txBody>
      </p:sp>
      <p:sp>
        <p:nvSpPr>
          <p:cNvPr id="46" name="Text 44"/>
          <p:cNvSpPr/>
          <p:nvPr/>
        </p:nvSpPr>
        <p:spPr>
          <a:xfrm>
            <a:off x="9098280" y="2688336"/>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修2次 → e^(−0.16) = 0.852</a:t>
            </a:r>
            <a:endParaRPr lang="en-US" sz="950" dirty="0"/>
          </a:p>
        </p:txBody>
      </p:sp>
      <p:sp>
        <p:nvSpPr>
          <p:cNvPr id="47" name="Shape 45"/>
          <p:cNvSpPr/>
          <p:nvPr/>
        </p:nvSpPr>
        <p:spPr>
          <a:xfrm>
            <a:off x="7772400" y="3209544"/>
            <a:ext cx="3749040" cy="457200"/>
          </a:xfrm>
          <a:prstGeom prst="roundRect">
            <a:avLst>
              <a:gd name="adj" fmla="val 10000"/>
            </a:avLst>
          </a:prstGeom>
          <a:solidFill>
            <a:srgbClr val="FFFFFF"/>
          </a:solidFill>
          <a:ln w="12700">
            <a:solidFill>
              <a:srgbClr val="D6E3DA"/>
            </a:solidFill>
            <a:prstDash val="solid"/>
          </a:ln>
        </p:spPr>
      </p:sp>
      <p:sp>
        <p:nvSpPr>
          <p:cNvPr id="48" name="Text 46"/>
          <p:cNvSpPr/>
          <p:nvPr/>
        </p:nvSpPr>
        <p:spPr>
          <a:xfrm>
            <a:off x="7882128" y="3209544"/>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L4 健康校准</a:t>
            </a:r>
            <a:endParaRPr lang="en-US" sz="1050" dirty="0"/>
          </a:p>
        </p:txBody>
      </p:sp>
      <p:sp>
        <p:nvSpPr>
          <p:cNvPr id="49" name="Text 47"/>
          <p:cNvSpPr/>
          <p:nvPr/>
        </p:nvSpPr>
        <p:spPr>
          <a:xfrm>
            <a:off x="9098280" y="3209544"/>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H=71 → 0.70+0.30×0.71 = 0.913</a:t>
            </a:r>
            <a:endParaRPr lang="en-US" sz="950" dirty="0"/>
          </a:p>
        </p:txBody>
      </p:sp>
      <p:sp>
        <p:nvSpPr>
          <p:cNvPr id="50" name="Shape 48"/>
          <p:cNvSpPr/>
          <p:nvPr/>
        </p:nvSpPr>
        <p:spPr>
          <a:xfrm>
            <a:off x="7772400" y="3730752"/>
            <a:ext cx="3749040" cy="457200"/>
          </a:xfrm>
          <a:prstGeom prst="roundRect">
            <a:avLst>
              <a:gd name="adj" fmla="val 10000"/>
            </a:avLst>
          </a:prstGeom>
          <a:solidFill>
            <a:srgbClr val="FFFFFF"/>
          </a:solidFill>
          <a:ln w="12700">
            <a:solidFill>
              <a:srgbClr val="D6E3DA"/>
            </a:solidFill>
            <a:prstDash val="solid"/>
          </a:ln>
        </p:spPr>
      </p:sp>
      <p:sp>
        <p:nvSpPr>
          <p:cNvPr id="51" name="Text 49"/>
          <p:cNvSpPr/>
          <p:nvPr/>
        </p:nvSpPr>
        <p:spPr>
          <a:xfrm>
            <a:off x="7882128" y="3730752"/>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life_raw</a:t>
            </a:r>
            <a:endParaRPr lang="en-US" sz="1050" dirty="0"/>
          </a:p>
        </p:txBody>
      </p:sp>
      <p:sp>
        <p:nvSpPr>
          <p:cNvPr id="52" name="Text 50"/>
          <p:cNvSpPr/>
          <p:nvPr/>
        </p:nvSpPr>
        <p:spPr>
          <a:xfrm>
            <a:off x="9098280" y="3730752"/>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(2.5×0.65+5×0.35)×0.852×0.913 = 2.63</a:t>
            </a:r>
            <a:endParaRPr lang="en-US" sz="950" dirty="0"/>
          </a:p>
        </p:txBody>
      </p:sp>
      <p:sp>
        <p:nvSpPr>
          <p:cNvPr id="53" name="Shape 51"/>
          <p:cNvSpPr/>
          <p:nvPr/>
        </p:nvSpPr>
        <p:spPr>
          <a:xfrm>
            <a:off x="7772400" y="4251960"/>
            <a:ext cx="3749040" cy="457200"/>
          </a:xfrm>
          <a:prstGeom prst="roundRect">
            <a:avLst>
              <a:gd name="adj" fmla="val 10000"/>
            </a:avLst>
          </a:prstGeom>
          <a:solidFill>
            <a:srgbClr val="FFFFFF"/>
          </a:solidFill>
          <a:ln w="12700">
            <a:solidFill>
              <a:srgbClr val="D6E3DA"/>
            </a:solidFill>
            <a:prstDash val="solid"/>
          </a:ln>
        </p:spPr>
      </p:sp>
      <p:sp>
        <p:nvSpPr>
          <p:cNvPr id="54" name="Text 52"/>
          <p:cNvSpPr/>
          <p:nvPr/>
        </p:nvSpPr>
        <p:spPr>
          <a:xfrm>
            <a:off x="7882128" y="4251960"/>
            <a:ext cx="1188720" cy="457200"/>
          </a:xfrm>
          <a:prstGeom prst="rect">
            <a:avLst/>
          </a:prstGeom>
          <a:noFill/>
        </p:spPr>
        <p:txBody>
          <a:bodyPr wrap="square" lIns="0" tIns="0" rIns="0" bIns="0" rtlCol="0" anchor="ctr"/>
          <a:lstStyle/>
          <a:p>
            <a:pPr marL="0" indent="0">
              <a:buNone/>
            </a:pPr>
            <a:r>
              <a:rPr lang="en-US" sz="1050" b="1" dirty="0">
                <a:solidFill>
                  <a:srgbClr val="166534"/>
                </a:solidFill>
                <a:latin typeface="微软雅黑" pitchFamily="34" charset="0"/>
                <a:ea typeface="微软雅黑" pitchFamily="34" charset="-122"/>
                <a:cs typeface="微软雅黑" pitchFamily="34" charset="-120"/>
              </a:rPr>
              <a:t>L5 年限收缩</a:t>
            </a:r>
            <a:endParaRPr lang="en-US" sz="1050" dirty="0"/>
          </a:p>
        </p:txBody>
      </p:sp>
      <p:sp>
        <p:nvSpPr>
          <p:cNvPr id="55" name="Text 53"/>
          <p:cNvSpPr/>
          <p:nvPr/>
        </p:nvSpPr>
        <p:spPr>
          <a:xfrm>
            <a:off x="9098280" y="4251960"/>
            <a:ext cx="2331720" cy="457200"/>
          </a:xfrm>
          <a:prstGeom prst="rect">
            <a:avLst/>
          </a:prstGeom>
          <a:noFill/>
        </p:spPr>
        <p:txBody>
          <a:bodyPr wrap="square" lIns="0" tIns="0" rIns="0" bIns="0" rtlCol="0" anchor="ctr"/>
          <a:lstStyle/>
          <a:p>
            <a:pPr marL="0" indent="0">
              <a:lnSpc>
                <a:spcPts val="1100"/>
              </a:lnSpc>
              <a:buNone/>
            </a:pPr>
            <a:r>
              <a:rPr lang="en-US" sz="950" dirty="0">
                <a:solidFill>
                  <a:srgbClr val="14301F"/>
                </a:solidFill>
                <a:latin typeface="微软雅黑" pitchFamily="34" charset="0"/>
                <a:ea typeface="微软雅黑" pitchFamily="34" charset="-122"/>
                <a:cs typeface="微软雅黑" pitchFamily="34" charset="-120"/>
              </a:rPr>
              <a:t>year_cap = 15−17×0.55 = 5.65</a:t>
            </a:r>
            <a:endParaRPr lang="en-US" sz="950" dirty="0"/>
          </a:p>
        </p:txBody>
      </p:sp>
      <p:sp>
        <p:nvSpPr>
          <p:cNvPr id="56" name="Shape 54"/>
          <p:cNvSpPr/>
          <p:nvPr/>
        </p:nvSpPr>
        <p:spPr>
          <a:xfrm>
            <a:off x="7772400" y="4800600"/>
            <a:ext cx="3749040" cy="731520"/>
          </a:xfrm>
          <a:prstGeom prst="roundRect">
            <a:avLst>
              <a:gd name="adj" fmla="val 7500"/>
            </a:avLst>
          </a:prstGeom>
          <a:solidFill>
            <a:srgbClr val="14532D"/>
          </a:solidFill>
          <a:effectLst>
            <a:outerShdw blurRad="2147483647" dist="2147483647" dir="2" algn="bl" rotWithShape="0">
              <a:srgbClr val="1B4633">
                <a:alpha val="2"/>
              </a:srgbClr>
            </a:outerShdw>
          </a:effectLst>
        </p:spPr>
      </p:sp>
      <p:sp>
        <p:nvSpPr>
          <p:cNvPr id="57" name="Text 55"/>
          <p:cNvSpPr/>
          <p:nvPr/>
        </p:nvSpPr>
        <p:spPr>
          <a:xfrm>
            <a:off x="7772400" y="4800600"/>
            <a:ext cx="3749040" cy="731520"/>
          </a:xfrm>
          <a:prstGeom prst="rect">
            <a:avLst/>
          </a:prstGeom>
          <a:noFill/>
        </p:spPr>
        <p:txBody>
          <a:bodyPr wrap="square" lIns="0" tIns="0" rIns="0" bIns="0" rtlCol="0" anchor="ctr"/>
          <a:lstStyle/>
          <a:p>
            <a:pPr marL="0" indent="0" algn="ctr">
              <a:buNone/>
            </a:pPr>
            <a:r>
              <a:rPr lang="en-US" sz="1200" dirty="0">
                <a:solidFill>
                  <a:srgbClr val="DCEBE2"/>
                </a:solidFill>
                <a:latin typeface="微软雅黑" pitchFamily="34" charset="0"/>
                <a:ea typeface="微软雅黑" pitchFamily="34" charset="-122"/>
                <a:cs typeface="微软雅黑" pitchFamily="34" charset="-120"/>
              </a:rPr>
              <a:t>life = clamp(2.63, 0, 5.65) = 2.6 年
</a:t>
            </a:r>
            <a:r>
              <a:rPr lang="en-US" sz="1100" b="1" dirty="0">
                <a:solidFill>
                  <a:srgbClr val="FFFFFF"/>
                </a:solidFill>
                <a:latin typeface="微软雅黑" pitchFamily="34" charset="0"/>
                <a:ea typeface="微软雅黑" pitchFamily="34" charset="-122"/>
                <a:cs typeface="微软雅黑" pitchFamily="34" charset="-120"/>
              </a:rPr>
              <a:t>→ 建议维修（1~4年）· 退役年≈2029</a:t>
            </a:r>
            <a:endParaRPr lang="en-US" sz="1200" dirty="0"/>
          </a:p>
        </p:txBody>
      </p:sp>
      <p:sp>
        <p:nvSpPr>
          <p:cNvPr id="58" name="Text 56"/>
          <p:cNvSpPr/>
          <p:nvPr/>
        </p:nvSpPr>
        <p:spPr>
          <a:xfrm>
            <a:off x="7772400" y="5596128"/>
            <a:ext cx="3749040" cy="457200"/>
          </a:xfrm>
          <a:prstGeom prst="rect">
            <a:avLst/>
          </a:prstGeom>
          <a:noFill/>
        </p:spPr>
        <p:txBody>
          <a:bodyPr wrap="square" lIns="0" tIns="0" rIns="0" bIns="0" rtlCol="0" anchor="ctr"/>
          <a:lstStyle/>
          <a:p>
            <a:pPr marL="0" indent="0">
              <a:lnSpc>
                <a:spcPts val="1100"/>
              </a:lnSpc>
              <a:buNone/>
            </a:pPr>
            <a:r>
              <a:rPr lang="en-US" sz="950" dirty="0">
                <a:solidFill>
                  <a:srgbClr val="B23A24"/>
                </a:solidFill>
                <a:latin typeface="微软雅黑" pitchFamily="34" charset="0"/>
                <a:ea typeface="微软雅黑" pitchFamily="34" charset="-122"/>
                <a:cs typeface="微软雅黑" pitchFamily="34" charset="-120"/>
              </a:rPr>
              <a:t>维修能续命但不能回春：老房即使换新设备，也被年限收缩约束</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ppt_x"/>
                                          </p:val>
                                        </p:tav>
                                        <p:tav tm="100000">
                                          <p:val>
                                            <p:strVal val="#ppt_x"/>
                                          </p:val>
                                        </p:tav>
                                      </p:tavLst>
                                    </p:anim>
                                    <p:anim calcmode="lin" valueType="num">
                                      <p:cBhvr additive="base">
                                        <p:cTn id="60" dur="500" fill="hold"/>
                                        <p:tgtEl>
                                          <p:spTgt spid="17"/>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00" fill="hold"/>
                                        <p:tgtEl>
                                          <p:spTgt spid="18"/>
                                        </p:tgtEl>
                                        <p:attrNameLst>
                                          <p:attrName>ppt_x</p:attrName>
                                        </p:attrNameLst>
                                      </p:cBhvr>
                                      <p:tavLst>
                                        <p:tav tm="0">
                                          <p:val>
                                            <p:strVal val="#ppt_x"/>
                                          </p:val>
                                        </p:tav>
                                        <p:tav tm="100000">
                                          <p:val>
                                            <p:strVal val="#ppt_x"/>
                                          </p:val>
                                        </p:tav>
                                      </p:tavLst>
                                    </p:anim>
                                    <p:anim calcmode="lin" valueType="num">
                                      <p:cBhvr additive="base">
                                        <p:cTn id="64" dur="500" fill="hold"/>
                                        <p:tgtEl>
                                          <p:spTgt spid="18"/>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500" fill="hold"/>
                                        <p:tgtEl>
                                          <p:spTgt spid="21"/>
                                        </p:tgtEl>
                                        <p:attrNameLst>
                                          <p:attrName>ppt_x</p:attrName>
                                        </p:attrNameLst>
                                      </p:cBhvr>
                                      <p:tavLst>
                                        <p:tav tm="0">
                                          <p:val>
                                            <p:strVal val="#ppt_x"/>
                                          </p:val>
                                        </p:tav>
                                        <p:tav tm="100000">
                                          <p:val>
                                            <p:strVal val="#ppt_x"/>
                                          </p:val>
                                        </p:tav>
                                      </p:tavLst>
                                    </p:anim>
                                    <p:anim calcmode="lin" valueType="num">
                                      <p:cBhvr additive="base">
                                        <p:cTn id="72" dur="500" fill="hold"/>
                                        <p:tgtEl>
                                          <p:spTgt spid="21"/>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500" fill="hold"/>
                                        <p:tgtEl>
                                          <p:spTgt spid="22"/>
                                        </p:tgtEl>
                                        <p:attrNameLst>
                                          <p:attrName>ppt_x</p:attrName>
                                        </p:attrNameLst>
                                      </p:cBhvr>
                                      <p:tavLst>
                                        <p:tav tm="0">
                                          <p:val>
                                            <p:strVal val="#ppt_x"/>
                                          </p:val>
                                        </p:tav>
                                        <p:tav tm="100000">
                                          <p:val>
                                            <p:strVal val="#ppt_x"/>
                                          </p:val>
                                        </p:tav>
                                      </p:tavLst>
                                    </p:anim>
                                    <p:anim calcmode="lin" valueType="num">
                                      <p:cBhvr additive="base">
                                        <p:cTn id="76" dur="500" fill="hold"/>
                                        <p:tgtEl>
                                          <p:spTgt spid="22"/>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00" fill="hold"/>
                                        <p:tgtEl>
                                          <p:spTgt spid="23"/>
                                        </p:tgtEl>
                                        <p:attrNameLst>
                                          <p:attrName>ppt_x</p:attrName>
                                        </p:attrNameLst>
                                      </p:cBhvr>
                                      <p:tavLst>
                                        <p:tav tm="0">
                                          <p:val>
                                            <p:strVal val="#ppt_x"/>
                                          </p:val>
                                        </p:tav>
                                        <p:tav tm="100000">
                                          <p:val>
                                            <p:strVal val="#ppt_x"/>
                                          </p:val>
                                        </p:tav>
                                      </p:tavLst>
                                    </p:anim>
                                    <p:anim calcmode="lin" valueType="num">
                                      <p:cBhvr additive="base">
                                        <p:cTn id="80" dur="500" fill="hold"/>
                                        <p:tgtEl>
                                          <p:spTgt spid="23"/>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additive="base">
                                        <p:cTn id="83" dur="500" fill="hold"/>
                                        <p:tgtEl>
                                          <p:spTgt spid="25"/>
                                        </p:tgtEl>
                                        <p:attrNameLst>
                                          <p:attrName>ppt_x</p:attrName>
                                        </p:attrNameLst>
                                      </p:cBhvr>
                                      <p:tavLst>
                                        <p:tav tm="0">
                                          <p:val>
                                            <p:strVal val="#ppt_x"/>
                                          </p:val>
                                        </p:tav>
                                        <p:tav tm="100000">
                                          <p:val>
                                            <p:strVal val="#ppt_x"/>
                                          </p:val>
                                        </p:tav>
                                      </p:tavLst>
                                    </p:anim>
                                    <p:anim calcmode="lin" valueType="num">
                                      <p:cBhvr additive="base">
                                        <p:cTn id="84" dur="500" fill="hold"/>
                                        <p:tgtEl>
                                          <p:spTgt spid="25"/>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anim calcmode="lin" valueType="num">
                                      <p:cBhvr additive="base">
                                        <p:cTn id="91" dur="500" fill="hold"/>
                                        <p:tgtEl>
                                          <p:spTgt spid="27"/>
                                        </p:tgtEl>
                                        <p:attrNameLst>
                                          <p:attrName>ppt_x</p:attrName>
                                        </p:attrNameLst>
                                      </p:cBhvr>
                                      <p:tavLst>
                                        <p:tav tm="0">
                                          <p:val>
                                            <p:strVal val="#ppt_x"/>
                                          </p:val>
                                        </p:tav>
                                        <p:tav tm="100000">
                                          <p:val>
                                            <p:strVal val="#ppt_x"/>
                                          </p:val>
                                        </p:tav>
                                      </p:tavLst>
                                    </p:anim>
                                    <p:anim calcmode="lin" valueType="num">
                                      <p:cBhvr additive="base">
                                        <p:cTn id="92" dur="500" fill="hold"/>
                                        <p:tgtEl>
                                          <p:spTgt spid="27"/>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additive="base">
                                        <p:cTn id="99" dur="500" fill="hold"/>
                                        <p:tgtEl>
                                          <p:spTgt spid="30"/>
                                        </p:tgtEl>
                                        <p:attrNameLst>
                                          <p:attrName>ppt_x</p:attrName>
                                        </p:attrNameLst>
                                      </p:cBhvr>
                                      <p:tavLst>
                                        <p:tav tm="0">
                                          <p:val>
                                            <p:strVal val="#ppt_x"/>
                                          </p:val>
                                        </p:tav>
                                        <p:tav tm="100000">
                                          <p:val>
                                            <p:strVal val="#ppt_x"/>
                                          </p:val>
                                        </p:tav>
                                      </p:tavLst>
                                    </p:anim>
                                    <p:anim calcmode="lin" valueType="num">
                                      <p:cBhvr additive="base">
                                        <p:cTn id="100" dur="500" fill="hold"/>
                                        <p:tgtEl>
                                          <p:spTgt spid="30"/>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2"/>
                                        </p:tgtEl>
                                        <p:attrNameLst>
                                          <p:attrName>style.visibility</p:attrName>
                                        </p:attrNameLst>
                                      </p:cBhvr>
                                      <p:to>
                                        <p:strVal val="visible"/>
                                      </p:to>
                                    </p:set>
                                    <p:anim calcmode="lin" valueType="num">
                                      <p:cBhvr additive="base">
                                        <p:cTn id="107" dur="500" fill="hold"/>
                                        <p:tgtEl>
                                          <p:spTgt spid="32"/>
                                        </p:tgtEl>
                                        <p:attrNameLst>
                                          <p:attrName>ppt_x</p:attrName>
                                        </p:attrNameLst>
                                      </p:cBhvr>
                                      <p:tavLst>
                                        <p:tav tm="0">
                                          <p:val>
                                            <p:strVal val="#ppt_x"/>
                                          </p:val>
                                        </p:tav>
                                        <p:tav tm="100000">
                                          <p:val>
                                            <p:strVal val="#ppt_x"/>
                                          </p:val>
                                        </p:tav>
                                      </p:tavLst>
                                    </p:anim>
                                    <p:anim calcmode="lin" valueType="num">
                                      <p:cBhvr additive="base">
                                        <p:cTn id="108" dur="500" fill="hold"/>
                                        <p:tgtEl>
                                          <p:spTgt spid="32"/>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33"/>
                                        </p:tgtEl>
                                        <p:attrNameLst>
                                          <p:attrName>style.visibility</p:attrName>
                                        </p:attrNameLst>
                                      </p:cBhvr>
                                      <p:to>
                                        <p:strVal val="visible"/>
                                      </p:to>
                                    </p:set>
                                    <p:anim calcmode="lin" valueType="num">
                                      <p:cBhvr additive="base">
                                        <p:cTn id="111" dur="500" fill="hold"/>
                                        <p:tgtEl>
                                          <p:spTgt spid="33"/>
                                        </p:tgtEl>
                                        <p:attrNameLst>
                                          <p:attrName>ppt_x</p:attrName>
                                        </p:attrNameLst>
                                      </p:cBhvr>
                                      <p:tavLst>
                                        <p:tav tm="0">
                                          <p:val>
                                            <p:strVal val="#ppt_x"/>
                                          </p:val>
                                        </p:tav>
                                        <p:tav tm="100000">
                                          <p:val>
                                            <p:strVal val="#ppt_x"/>
                                          </p:val>
                                        </p:tav>
                                      </p:tavLst>
                                    </p:anim>
                                    <p:anim calcmode="lin" valueType="num">
                                      <p:cBhvr additive="base">
                                        <p:cTn id="112" dur="500" fill="hold"/>
                                        <p:tgtEl>
                                          <p:spTgt spid="33"/>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35"/>
                                        </p:tgtEl>
                                        <p:attrNameLst>
                                          <p:attrName>style.visibility</p:attrName>
                                        </p:attrNameLst>
                                      </p:cBhvr>
                                      <p:to>
                                        <p:strVal val="visible"/>
                                      </p:to>
                                    </p:set>
                                    <p:anim calcmode="lin" valueType="num">
                                      <p:cBhvr additive="base">
                                        <p:cTn id="119" dur="500" fill="hold"/>
                                        <p:tgtEl>
                                          <p:spTgt spid="35"/>
                                        </p:tgtEl>
                                        <p:attrNameLst>
                                          <p:attrName>ppt_x</p:attrName>
                                        </p:attrNameLst>
                                      </p:cBhvr>
                                      <p:tavLst>
                                        <p:tav tm="0">
                                          <p:val>
                                            <p:strVal val="#ppt_x"/>
                                          </p:val>
                                        </p:tav>
                                        <p:tav tm="100000">
                                          <p:val>
                                            <p:strVal val="#ppt_x"/>
                                          </p:val>
                                        </p:tav>
                                      </p:tavLst>
                                    </p:anim>
                                    <p:anim calcmode="lin" valueType="num">
                                      <p:cBhvr additive="base">
                                        <p:cTn id="12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4" fill="hold" nodeType="clickEffect">
                                  <p:stCondLst>
                                    <p:cond delay="0"/>
                                  </p:stCondLst>
                                  <p:childTnLst>
                                    <p:set>
                                      <p:cBhvr>
                                        <p:cTn id="124" dur="1" fill="hold">
                                          <p:stCondLst>
                                            <p:cond delay="0"/>
                                          </p:stCondLst>
                                        </p:cTn>
                                        <p:tgtEl>
                                          <p:spTgt spid="36"/>
                                        </p:tgtEl>
                                        <p:attrNameLst>
                                          <p:attrName>style.visibility</p:attrName>
                                        </p:attrNameLst>
                                      </p:cBhvr>
                                      <p:to>
                                        <p:strVal val="visible"/>
                                      </p:to>
                                    </p:set>
                                    <p:anim calcmode="lin" valueType="num">
                                      <p:cBhvr additive="base">
                                        <p:cTn id="125" dur="500" fill="hold"/>
                                        <p:tgtEl>
                                          <p:spTgt spid="36"/>
                                        </p:tgtEl>
                                        <p:attrNameLst>
                                          <p:attrName>ppt_x</p:attrName>
                                        </p:attrNameLst>
                                      </p:cBhvr>
                                      <p:tavLst>
                                        <p:tav tm="0">
                                          <p:val>
                                            <p:strVal val="#ppt_x"/>
                                          </p:val>
                                        </p:tav>
                                        <p:tav tm="100000">
                                          <p:val>
                                            <p:strVal val="#ppt_x"/>
                                          </p:val>
                                        </p:tav>
                                      </p:tavLst>
                                    </p:anim>
                                    <p:anim calcmode="lin" valueType="num">
                                      <p:cBhvr additive="base">
                                        <p:cTn id="126" dur="500" fill="hold"/>
                                        <p:tgtEl>
                                          <p:spTgt spid="36"/>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37"/>
                                        </p:tgtEl>
                                        <p:attrNameLst>
                                          <p:attrName>style.visibility</p:attrName>
                                        </p:attrNameLst>
                                      </p:cBhvr>
                                      <p:to>
                                        <p:strVal val="visible"/>
                                      </p:to>
                                    </p:set>
                                    <p:anim calcmode="lin" valueType="num">
                                      <p:cBhvr additive="base">
                                        <p:cTn id="129" dur="500" fill="hold"/>
                                        <p:tgtEl>
                                          <p:spTgt spid="37"/>
                                        </p:tgtEl>
                                        <p:attrNameLst>
                                          <p:attrName>ppt_x</p:attrName>
                                        </p:attrNameLst>
                                      </p:cBhvr>
                                      <p:tavLst>
                                        <p:tav tm="0">
                                          <p:val>
                                            <p:strVal val="#ppt_x"/>
                                          </p:val>
                                        </p:tav>
                                        <p:tav tm="100000">
                                          <p:val>
                                            <p:strVal val="#ppt_x"/>
                                          </p:val>
                                        </p:tav>
                                      </p:tavLst>
                                    </p:anim>
                                    <p:anim calcmode="lin" valueType="num">
                                      <p:cBhvr additive="base">
                                        <p:cTn id="130" dur="500" fill="hold"/>
                                        <p:tgtEl>
                                          <p:spTgt spid="37"/>
                                        </p:tgtEl>
                                        <p:attrNameLst>
                                          <p:attrName>ppt_y</p:attrName>
                                        </p:attrNameLst>
                                      </p:cBhvr>
                                      <p:tavLst>
                                        <p:tav tm="0">
                                          <p:val>
                                            <p:strVal val="1+#ppt_h/2"/>
                                          </p:val>
                                        </p:tav>
                                        <p:tav tm="100000">
                                          <p:val>
                                            <p:strVal val="#ppt_y"/>
                                          </p:val>
                                        </p:tav>
                                      </p:tavLst>
                                    </p:anim>
                                  </p:childTnLst>
                                </p:cTn>
                              </p:par>
                              <p:par>
                                <p:cTn id="131" presetID="2" presetClass="entr" presetSubtype="4" fill="hold" nodeType="withEffect">
                                  <p:stCondLst>
                                    <p:cond delay="0"/>
                                  </p:stCondLst>
                                  <p:childTnLst>
                                    <p:set>
                                      <p:cBhvr>
                                        <p:cTn id="132" dur="1" fill="hold">
                                          <p:stCondLst>
                                            <p:cond delay="0"/>
                                          </p:stCondLst>
                                        </p:cTn>
                                        <p:tgtEl>
                                          <p:spTgt spid="38"/>
                                        </p:tgtEl>
                                        <p:attrNameLst>
                                          <p:attrName>style.visibility</p:attrName>
                                        </p:attrNameLst>
                                      </p:cBhvr>
                                      <p:to>
                                        <p:strVal val="visible"/>
                                      </p:to>
                                    </p:set>
                                    <p:anim calcmode="lin" valueType="num">
                                      <p:cBhvr additive="base">
                                        <p:cTn id="133" dur="500" fill="hold"/>
                                        <p:tgtEl>
                                          <p:spTgt spid="38"/>
                                        </p:tgtEl>
                                        <p:attrNameLst>
                                          <p:attrName>ppt_x</p:attrName>
                                        </p:attrNameLst>
                                      </p:cBhvr>
                                      <p:tavLst>
                                        <p:tav tm="0">
                                          <p:val>
                                            <p:strVal val="#ppt_x"/>
                                          </p:val>
                                        </p:tav>
                                        <p:tav tm="100000">
                                          <p:val>
                                            <p:strVal val="#ppt_x"/>
                                          </p:val>
                                        </p:tav>
                                      </p:tavLst>
                                    </p:anim>
                                    <p:anim calcmode="lin" valueType="num">
                                      <p:cBhvr additive="base">
                                        <p:cTn id="134" dur="500" fill="hold"/>
                                        <p:tgtEl>
                                          <p:spTgt spid="38"/>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39"/>
                                        </p:tgtEl>
                                        <p:attrNameLst>
                                          <p:attrName>style.visibility</p:attrName>
                                        </p:attrNameLst>
                                      </p:cBhvr>
                                      <p:to>
                                        <p:strVal val="visible"/>
                                      </p:to>
                                    </p:set>
                                    <p:anim calcmode="lin" valueType="num">
                                      <p:cBhvr additive="base">
                                        <p:cTn id="137" dur="500" fill="hold"/>
                                        <p:tgtEl>
                                          <p:spTgt spid="39"/>
                                        </p:tgtEl>
                                        <p:attrNameLst>
                                          <p:attrName>ppt_x</p:attrName>
                                        </p:attrNameLst>
                                      </p:cBhvr>
                                      <p:tavLst>
                                        <p:tav tm="0">
                                          <p:val>
                                            <p:strVal val="#ppt_x"/>
                                          </p:val>
                                        </p:tav>
                                        <p:tav tm="100000">
                                          <p:val>
                                            <p:strVal val="#ppt_x"/>
                                          </p:val>
                                        </p:tav>
                                      </p:tavLst>
                                    </p:anim>
                                    <p:anim calcmode="lin" valueType="num">
                                      <p:cBhvr additive="base">
                                        <p:cTn id="138" dur="500" fill="hold"/>
                                        <p:tgtEl>
                                          <p:spTgt spid="39"/>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40"/>
                                        </p:tgtEl>
                                        <p:attrNameLst>
                                          <p:attrName>style.visibility</p:attrName>
                                        </p:attrNameLst>
                                      </p:cBhvr>
                                      <p:to>
                                        <p:strVal val="visible"/>
                                      </p:to>
                                    </p:set>
                                    <p:anim calcmode="lin" valueType="num">
                                      <p:cBhvr additive="base">
                                        <p:cTn id="141" dur="500" fill="hold"/>
                                        <p:tgtEl>
                                          <p:spTgt spid="40"/>
                                        </p:tgtEl>
                                        <p:attrNameLst>
                                          <p:attrName>ppt_x</p:attrName>
                                        </p:attrNameLst>
                                      </p:cBhvr>
                                      <p:tavLst>
                                        <p:tav tm="0">
                                          <p:val>
                                            <p:strVal val="#ppt_x"/>
                                          </p:val>
                                        </p:tav>
                                        <p:tav tm="100000">
                                          <p:val>
                                            <p:strVal val="#ppt_x"/>
                                          </p:val>
                                        </p:tav>
                                      </p:tavLst>
                                    </p:anim>
                                    <p:anim calcmode="lin" valueType="num">
                                      <p:cBhvr additive="base">
                                        <p:cTn id="142" dur="500" fill="hold"/>
                                        <p:tgtEl>
                                          <p:spTgt spid="40"/>
                                        </p:tgtEl>
                                        <p:attrNameLst>
                                          <p:attrName>ppt_y</p:attrName>
                                        </p:attrNameLst>
                                      </p:cBhvr>
                                      <p:tavLst>
                                        <p:tav tm="0">
                                          <p:val>
                                            <p:strVal val="1+#ppt_h/2"/>
                                          </p:val>
                                        </p:tav>
                                        <p:tav tm="100000">
                                          <p:val>
                                            <p:strVal val="#ppt_y"/>
                                          </p:val>
                                        </p:tav>
                                      </p:tavLst>
                                    </p:anim>
                                  </p:childTnLst>
                                </p:cTn>
                              </p:par>
                              <p:par>
                                <p:cTn id="143" presetID="2" presetClass="entr" presetSubtype="4" fill="hold" nodeType="withEffect">
                                  <p:stCondLst>
                                    <p:cond delay="0"/>
                                  </p:stCondLst>
                                  <p:childTnLst>
                                    <p:set>
                                      <p:cBhvr>
                                        <p:cTn id="144" dur="1" fill="hold">
                                          <p:stCondLst>
                                            <p:cond delay="0"/>
                                          </p:stCondLst>
                                        </p:cTn>
                                        <p:tgtEl>
                                          <p:spTgt spid="41"/>
                                        </p:tgtEl>
                                        <p:attrNameLst>
                                          <p:attrName>style.visibility</p:attrName>
                                        </p:attrNameLst>
                                      </p:cBhvr>
                                      <p:to>
                                        <p:strVal val="visible"/>
                                      </p:to>
                                    </p:set>
                                    <p:anim calcmode="lin" valueType="num">
                                      <p:cBhvr additive="base">
                                        <p:cTn id="145" dur="500" fill="hold"/>
                                        <p:tgtEl>
                                          <p:spTgt spid="41"/>
                                        </p:tgtEl>
                                        <p:attrNameLst>
                                          <p:attrName>ppt_x</p:attrName>
                                        </p:attrNameLst>
                                      </p:cBhvr>
                                      <p:tavLst>
                                        <p:tav tm="0">
                                          <p:val>
                                            <p:strVal val="#ppt_x"/>
                                          </p:val>
                                        </p:tav>
                                        <p:tav tm="100000">
                                          <p:val>
                                            <p:strVal val="#ppt_x"/>
                                          </p:val>
                                        </p:tav>
                                      </p:tavLst>
                                    </p:anim>
                                    <p:anim calcmode="lin" valueType="num">
                                      <p:cBhvr additive="base">
                                        <p:cTn id="146" dur="500" fill="hold"/>
                                        <p:tgtEl>
                                          <p:spTgt spid="41"/>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42"/>
                                        </p:tgtEl>
                                        <p:attrNameLst>
                                          <p:attrName>style.visibility</p:attrName>
                                        </p:attrNameLst>
                                      </p:cBhvr>
                                      <p:to>
                                        <p:strVal val="visible"/>
                                      </p:to>
                                    </p:set>
                                    <p:anim calcmode="lin" valueType="num">
                                      <p:cBhvr additive="base">
                                        <p:cTn id="149" dur="500" fill="hold"/>
                                        <p:tgtEl>
                                          <p:spTgt spid="42"/>
                                        </p:tgtEl>
                                        <p:attrNameLst>
                                          <p:attrName>ppt_x</p:attrName>
                                        </p:attrNameLst>
                                      </p:cBhvr>
                                      <p:tavLst>
                                        <p:tav tm="0">
                                          <p:val>
                                            <p:strVal val="#ppt_x"/>
                                          </p:val>
                                        </p:tav>
                                        <p:tav tm="100000">
                                          <p:val>
                                            <p:strVal val="#ppt_x"/>
                                          </p:val>
                                        </p:tav>
                                      </p:tavLst>
                                    </p:anim>
                                    <p:anim calcmode="lin" valueType="num">
                                      <p:cBhvr additive="base">
                                        <p:cTn id="150" dur="500" fill="hold"/>
                                        <p:tgtEl>
                                          <p:spTgt spid="42"/>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43"/>
                                        </p:tgtEl>
                                        <p:attrNameLst>
                                          <p:attrName>style.visibility</p:attrName>
                                        </p:attrNameLst>
                                      </p:cBhvr>
                                      <p:to>
                                        <p:strVal val="visible"/>
                                      </p:to>
                                    </p:set>
                                    <p:anim calcmode="lin" valueType="num">
                                      <p:cBhvr additive="base">
                                        <p:cTn id="153" dur="500" fill="hold"/>
                                        <p:tgtEl>
                                          <p:spTgt spid="43"/>
                                        </p:tgtEl>
                                        <p:attrNameLst>
                                          <p:attrName>ppt_x</p:attrName>
                                        </p:attrNameLst>
                                      </p:cBhvr>
                                      <p:tavLst>
                                        <p:tav tm="0">
                                          <p:val>
                                            <p:strVal val="#ppt_x"/>
                                          </p:val>
                                        </p:tav>
                                        <p:tav tm="100000">
                                          <p:val>
                                            <p:strVal val="#ppt_x"/>
                                          </p:val>
                                        </p:tav>
                                      </p:tavLst>
                                    </p:anim>
                                    <p:anim calcmode="lin" valueType="num">
                                      <p:cBhvr additive="base">
                                        <p:cTn id="154" dur="500" fill="hold"/>
                                        <p:tgtEl>
                                          <p:spTgt spid="43"/>
                                        </p:tgtEl>
                                        <p:attrNameLst>
                                          <p:attrName>ppt_y</p:attrName>
                                        </p:attrNameLst>
                                      </p:cBhvr>
                                      <p:tavLst>
                                        <p:tav tm="0">
                                          <p:val>
                                            <p:strVal val="1+#ppt_h/2"/>
                                          </p:val>
                                        </p:tav>
                                        <p:tav tm="100000">
                                          <p:val>
                                            <p:strVal val="#ppt_y"/>
                                          </p:val>
                                        </p:tav>
                                      </p:tavLst>
                                    </p:anim>
                                  </p:childTnLst>
                                </p:cTn>
                              </p:par>
                              <p:par>
                                <p:cTn id="155" presetID="2" presetClass="entr" presetSubtype="4" fill="hold" nodeType="withEffect">
                                  <p:stCondLst>
                                    <p:cond delay="0"/>
                                  </p:stCondLst>
                                  <p:childTnLst>
                                    <p:set>
                                      <p:cBhvr>
                                        <p:cTn id="156" dur="1" fill="hold">
                                          <p:stCondLst>
                                            <p:cond delay="0"/>
                                          </p:stCondLst>
                                        </p:cTn>
                                        <p:tgtEl>
                                          <p:spTgt spid="44"/>
                                        </p:tgtEl>
                                        <p:attrNameLst>
                                          <p:attrName>style.visibility</p:attrName>
                                        </p:attrNameLst>
                                      </p:cBhvr>
                                      <p:to>
                                        <p:strVal val="visible"/>
                                      </p:to>
                                    </p:set>
                                    <p:anim calcmode="lin" valueType="num">
                                      <p:cBhvr additive="base">
                                        <p:cTn id="157" dur="500" fill="hold"/>
                                        <p:tgtEl>
                                          <p:spTgt spid="44"/>
                                        </p:tgtEl>
                                        <p:attrNameLst>
                                          <p:attrName>ppt_x</p:attrName>
                                        </p:attrNameLst>
                                      </p:cBhvr>
                                      <p:tavLst>
                                        <p:tav tm="0">
                                          <p:val>
                                            <p:strVal val="#ppt_x"/>
                                          </p:val>
                                        </p:tav>
                                        <p:tav tm="100000">
                                          <p:val>
                                            <p:strVal val="#ppt_x"/>
                                          </p:val>
                                        </p:tav>
                                      </p:tavLst>
                                    </p:anim>
                                    <p:anim calcmode="lin" valueType="num">
                                      <p:cBhvr additive="base">
                                        <p:cTn id="158" dur="500" fill="hold"/>
                                        <p:tgtEl>
                                          <p:spTgt spid="44"/>
                                        </p:tgtEl>
                                        <p:attrNameLst>
                                          <p:attrName>ppt_y</p:attrName>
                                        </p:attrNameLst>
                                      </p:cBhvr>
                                      <p:tavLst>
                                        <p:tav tm="0">
                                          <p:val>
                                            <p:strVal val="1+#ppt_h/2"/>
                                          </p:val>
                                        </p:tav>
                                        <p:tav tm="100000">
                                          <p:val>
                                            <p:strVal val="#ppt_y"/>
                                          </p:val>
                                        </p:tav>
                                      </p:tavLst>
                                    </p:anim>
                                  </p:childTnLst>
                                </p:cTn>
                              </p:par>
                              <p:par>
                                <p:cTn id="159" presetID="2" presetClass="entr" presetSubtype="4" fill="hold" grpId="0" nodeType="withEffect">
                                  <p:stCondLst>
                                    <p:cond delay="0"/>
                                  </p:stCondLst>
                                  <p:childTnLst>
                                    <p:set>
                                      <p:cBhvr>
                                        <p:cTn id="160" dur="1" fill="hold">
                                          <p:stCondLst>
                                            <p:cond delay="0"/>
                                          </p:stCondLst>
                                        </p:cTn>
                                        <p:tgtEl>
                                          <p:spTgt spid="45"/>
                                        </p:tgtEl>
                                        <p:attrNameLst>
                                          <p:attrName>style.visibility</p:attrName>
                                        </p:attrNameLst>
                                      </p:cBhvr>
                                      <p:to>
                                        <p:strVal val="visible"/>
                                      </p:to>
                                    </p:set>
                                    <p:anim calcmode="lin" valueType="num">
                                      <p:cBhvr additive="base">
                                        <p:cTn id="161" dur="500" fill="hold"/>
                                        <p:tgtEl>
                                          <p:spTgt spid="45"/>
                                        </p:tgtEl>
                                        <p:attrNameLst>
                                          <p:attrName>ppt_x</p:attrName>
                                        </p:attrNameLst>
                                      </p:cBhvr>
                                      <p:tavLst>
                                        <p:tav tm="0">
                                          <p:val>
                                            <p:strVal val="#ppt_x"/>
                                          </p:val>
                                        </p:tav>
                                        <p:tav tm="100000">
                                          <p:val>
                                            <p:strVal val="#ppt_x"/>
                                          </p:val>
                                        </p:tav>
                                      </p:tavLst>
                                    </p:anim>
                                    <p:anim calcmode="lin" valueType="num">
                                      <p:cBhvr additive="base">
                                        <p:cTn id="162" dur="500" fill="hold"/>
                                        <p:tgtEl>
                                          <p:spTgt spid="45"/>
                                        </p:tgtEl>
                                        <p:attrNameLst>
                                          <p:attrName>ppt_y</p:attrName>
                                        </p:attrNameLst>
                                      </p:cBhvr>
                                      <p:tavLst>
                                        <p:tav tm="0">
                                          <p:val>
                                            <p:strVal val="1+#ppt_h/2"/>
                                          </p:val>
                                        </p:tav>
                                        <p:tav tm="100000">
                                          <p:val>
                                            <p:strVal val="#ppt_y"/>
                                          </p:val>
                                        </p:tav>
                                      </p:tavLst>
                                    </p:anim>
                                  </p:childTnLst>
                                </p:cTn>
                              </p:par>
                              <p:par>
                                <p:cTn id="163" presetID="2" presetClass="entr" presetSubtype="4" fill="hold" grpId="0" nodeType="withEffect">
                                  <p:stCondLst>
                                    <p:cond delay="0"/>
                                  </p:stCondLst>
                                  <p:childTnLst>
                                    <p:set>
                                      <p:cBhvr>
                                        <p:cTn id="164" dur="1" fill="hold">
                                          <p:stCondLst>
                                            <p:cond delay="0"/>
                                          </p:stCondLst>
                                        </p:cTn>
                                        <p:tgtEl>
                                          <p:spTgt spid="46"/>
                                        </p:tgtEl>
                                        <p:attrNameLst>
                                          <p:attrName>style.visibility</p:attrName>
                                        </p:attrNameLst>
                                      </p:cBhvr>
                                      <p:to>
                                        <p:strVal val="visible"/>
                                      </p:to>
                                    </p:set>
                                    <p:anim calcmode="lin" valueType="num">
                                      <p:cBhvr additive="base">
                                        <p:cTn id="165" dur="500" fill="hold"/>
                                        <p:tgtEl>
                                          <p:spTgt spid="46"/>
                                        </p:tgtEl>
                                        <p:attrNameLst>
                                          <p:attrName>ppt_x</p:attrName>
                                        </p:attrNameLst>
                                      </p:cBhvr>
                                      <p:tavLst>
                                        <p:tav tm="0">
                                          <p:val>
                                            <p:strVal val="#ppt_x"/>
                                          </p:val>
                                        </p:tav>
                                        <p:tav tm="100000">
                                          <p:val>
                                            <p:strVal val="#ppt_x"/>
                                          </p:val>
                                        </p:tav>
                                      </p:tavLst>
                                    </p:anim>
                                    <p:anim calcmode="lin" valueType="num">
                                      <p:cBhvr additive="base">
                                        <p:cTn id="166" dur="500" fill="hold"/>
                                        <p:tgtEl>
                                          <p:spTgt spid="46"/>
                                        </p:tgtEl>
                                        <p:attrNameLst>
                                          <p:attrName>ppt_y</p:attrName>
                                        </p:attrNameLst>
                                      </p:cBhvr>
                                      <p:tavLst>
                                        <p:tav tm="0">
                                          <p:val>
                                            <p:strVal val="1+#ppt_h/2"/>
                                          </p:val>
                                        </p:tav>
                                        <p:tav tm="100000">
                                          <p:val>
                                            <p:strVal val="#ppt_y"/>
                                          </p:val>
                                        </p:tav>
                                      </p:tavLst>
                                    </p:anim>
                                  </p:childTnLst>
                                </p:cTn>
                              </p:par>
                              <p:par>
                                <p:cTn id="167" presetID="2" presetClass="entr" presetSubtype="4" fill="hold" nodeType="withEffect">
                                  <p:stCondLst>
                                    <p:cond delay="0"/>
                                  </p:stCondLst>
                                  <p:childTnLst>
                                    <p:set>
                                      <p:cBhvr>
                                        <p:cTn id="168" dur="1" fill="hold">
                                          <p:stCondLst>
                                            <p:cond delay="0"/>
                                          </p:stCondLst>
                                        </p:cTn>
                                        <p:tgtEl>
                                          <p:spTgt spid="47"/>
                                        </p:tgtEl>
                                        <p:attrNameLst>
                                          <p:attrName>style.visibility</p:attrName>
                                        </p:attrNameLst>
                                      </p:cBhvr>
                                      <p:to>
                                        <p:strVal val="visible"/>
                                      </p:to>
                                    </p:set>
                                    <p:anim calcmode="lin" valueType="num">
                                      <p:cBhvr additive="base">
                                        <p:cTn id="169" dur="500" fill="hold"/>
                                        <p:tgtEl>
                                          <p:spTgt spid="47"/>
                                        </p:tgtEl>
                                        <p:attrNameLst>
                                          <p:attrName>ppt_x</p:attrName>
                                        </p:attrNameLst>
                                      </p:cBhvr>
                                      <p:tavLst>
                                        <p:tav tm="0">
                                          <p:val>
                                            <p:strVal val="#ppt_x"/>
                                          </p:val>
                                        </p:tav>
                                        <p:tav tm="100000">
                                          <p:val>
                                            <p:strVal val="#ppt_x"/>
                                          </p:val>
                                        </p:tav>
                                      </p:tavLst>
                                    </p:anim>
                                    <p:anim calcmode="lin" valueType="num">
                                      <p:cBhvr additive="base">
                                        <p:cTn id="170" dur="500" fill="hold"/>
                                        <p:tgtEl>
                                          <p:spTgt spid="47"/>
                                        </p:tgtEl>
                                        <p:attrNameLst>
                                          <p:attrName>ppt_y</p:attrName>
                                        </p:attrNameLst>
                                      </p:cBhvr>
                                      <p:tavLst>
                                        <p:tav tm="0">
                                          <p:val>
                                            <p:strVal val="1+#ppt_h/2"/>
                                          </p:val>
                                        </p:tav>
                                        <p:tav tm="100000">
                                          <p:val>
                                            <p:strVal val="#ppt_y"/>
                                          </p:val>
                                        </p:tav>
                                      </p:tavLst>
                                    </p:anim>
                                  </p:childTnLst>
                                </p:cTn>
                              </p:par>
                              <p:par>
                                <p:cTn id="171" presetID="2" presetClass="entr" presetSubtype="4" fill="hold" grpId="0" nodeType="withEffect">
                                  <p:stCondLst>
                                    <p:cond delay="0"/>
                                  </p:stCondLst>
                                  <p:childTnLst>
                                    <p:set>
                                      <p:cBhvr>
                                        <p:cTn id="172" dur="1" fill="hold">
                                          <p:stCondLst>
                                            <p:cond delay="0"/>
                                          </p:stCondLst>
                                        </p:cTn>
                                        <p:tgtEl>
                                          <p:spTgt spid="48"/>
                                        </p:tgtEl>
                                        <p:attrNameLst>
                                          <p:attrName>style.visibility</p:attrName>
                                        </p:attrNameLst>
                                      </p:cBhvr>
                                      <p:to>
                                        <p:strVal val="visible"/>
                                      </p:to>
                                    </p:set>
                                    <p:anim calcmode="lin" valueType="num">
                                      <p:cBhvr additive="base">
                                        <p:cTn id="173" dur="500" fill="hold"/>
                                        <p:tgtEl>
                                          <p:spTgt spid="48"/>
                                        </p:tgtEl>
                                        <p:attrNameLst>
                                          <p:attrName>ppt_x</p:attrName>
                                        </p:attrNameLst>
                                      </p:cBhvr>
                                      <p:tavLst>
                                        <p:tav tm="0">
                                          <p:val>
                                            <p:strVal val="#ppt_x"/>
                                          </p:val>
                                        </p:tav>
                                        <p:tav tm="100000">
                                          <p:val>
                                            <p:strVal val="#ppt_x"/>
                                          </p:val>
                                        </p:tav>
                                      </p:tavLst>
                                    </p:anim>
                                    <p:anim calcmode="lin" valueType="num">
                                      <p:cBhvr additive="base">
                                        <p:cTn id="174" dur="500" fill="hold"/>
                                        <p:tgtEl>
                                          <p:spTgt spid="48"/>
                                        </p:tgtEl>
                                        <p:attrNameLst>
                                          <p:attrName>ppt_y</p:attrName>
                                        </p:attrNameLst>
                                      </p:cBhvr>
                                      <p:tavLst>
                                        <p:tav tm="0">
                                          <p:val>
                                            <p:strVal val="1+#ppt_h/2"/>
                                          </p:val>
                                        </p:tav>
                                        <p:tav tm="100000">
                                          <p:val>
                                            <p:strVal val="#ppt_y"/>
                                          </p:val>
                                        </p:tav>
                                      </p:tavLst>
                                    </p:anim>
                                  </p:childTnLst>
                                </p:cTn>
                              </p:par>
                              <p:par>
                                <p:cTn id="175" presetID="2" presetClass="entr" presetSubtype="4" fill="hold" grpId="0" nodeType="withEffect">
                                  <p:stCondLst>
                                    <p:cond delay="0"/>
                                  </p:stCondLst>
                                  <p:childTnLst>
                                    <p:set>
                                      <p:cBhvr>
                                        <p:cTn id="176" dur="1" fill="hold">
                                          <p:stCondLst>
                                            <p:cond delay="0"/>
                                          </p:stCondLst>
                                        </p:cTn>
                                        <p:tgtEl>
                                          <p:spTgt spid="49"/>
                                        </p:tgtEl>
                                        <p:attrNameLst>
                                          <p:attrName>style.visibility</p:attrName>
                                        </p:attrNameLst>
                                      </p:cBhvr>
                                      <p:to>
                                        <p:strVal val="visible"/>
                                      </p:to>
                                    </p:set>
                                    <p:anim calcmode="lin" valueType="num">
                                      <p:cBhvr additive="base">
                                        <p:cTn id="177" dur="500" fill="hold"/>
                                        <p:tgtEl>
                                          <p:spTgt spid="49"/>
                                        </p:tgtEl>
                                        <p:attrNameLst>
                                          <p:attrName>ppt_x</p:attrName>
                                        </p:attrNameLst>
                                      </p:cBhvr>
                                      <p:tavLst>
                                        <p:tav tm="0">
                                          <p:val>
                                            <p:strVal val="#ppt_x"/>
                                          </p:val>
                                        </p:tav>
                                        <p:tav tm="100000">
                                          <p:val>
                                            <p:strVal val="#ppt_x"/>
                                          </p:val>
                                        </p:tav>
                                      </p:tavLst>
                                    </p:anim>
                                    <p:anim calcmode="lin" valueType="num">
                                      <p:cBhvr additive="base">
                                        <p:cTn id="178" dur="500" fill="hold"/>
                                        <p:tgtEl>
                                          <p:spTgt spid="49"/>
                                        </p:tgtEl>
                                        <p:attrNameLst>
                                          <p:attrName>ppt_y</p:attrName>
                                        </p:attrNameLst>
                                      </p:cBhvr>
                                      <p:tavLst>
                                        <p:tav tm="0">
                                          <p:val>
                                            <p:strVal val="1+#ppt_h/2"/>
                                          </p:val>
                                        </p:tav>
                                        <p:tav tm="100000">
                                          <p:val>
                                            <p:strVal val="#ppt_y"/>
                                          </p:val>
                                        </p:tav>
                                      </p:tavLst>
                                    </p:anim>
                                  </p:childTnLst>
                                </p:cTn>
                              </p:par>
                              <p:par>
                                <p:cTn id="179" presetID="2" presetClass="entr" presetSubtype="4" fill="hold" nodeType="withEffect">
                                  <p:stCondLst>
                                    <p:cond delay="0"/>
                                  </p:stCondLst>
                                  <p:childTnLst>
                                    <p:set>
                                      <p:cBhvr>
                                        <p:cTn id="180" dur="1" fill="hold">
                                          <p:stCondLst>
                                            <p:cond delay="0"/>
                                          </p:stCondLst>
                                        </p:cTn>
                                        <p:tgtEl>
                                          <p:spTgt spid="50"/>
                                        </p:tgtEl>
                                        <p:attrNameLst>
                                          <p:attrName>style.visibility</p:attrName>
                                        </p:attrNameLst>
                                      </p:cBhvr>
                                      <p:to>
                                        <p:strVal val="visible"/>
                                      </p:to>
                                    </p:set>
                                    <p:anim calcmode="lin" valueType="num">
                                      <p:cBhvr additive="base">
                                        <p:cTn id="181" dur="500" fill="hold"/>
                                        <p:tgtEl>
                                          <p:spTgt spid="50"/>
                                        </p:tgtEl>
                                        <p:attrNameLst>
                                          <p:attrName>ppt_x</p:attrName>
                                        </p:attrNameLst>
                                      </p:cBhvr>
                                      <p:tavLst>
                                        <p:tav tm="0">
                                          <p:val>
                                            <p:strVal val="#ppt_x"/>
                                          </p:val>
                                        </p:tav>
                                        <p:tav tm="100000">
                                          <p:val>
                                            <p:strVal val="#ppt_x"/>
                                          </p:val>
                                        </p:tav>
                                      </p:tavLst>
                                    </p:anim>
                                    <p:anim calcmode="lin" valueType="num">
                                      <p:cBhvr additive="base">
                                        <p:cTn id="182" dur="500" fill="hold"/>
                                        <p:tgtEl>
                                          <p:spTgt spid="50"/>
                                        </p:tgtEl>
                                        <p:attrNameLst>
                                          <p:attrName>ppt_y</p:attrName>
                                        </p:attrNameLst>
                                      </p:cBhvr>
                                      <p:tavLst>
                                        <p:tav tm="0">
                                          <p:val>
                                            <p:strVal val="1+#ppt_h/2"/>
                                          </p:val>
                                        </p:tav>
                                        <p:tav tm="100000">
                                          <p:val>
                                            <p:strVal val="#ppt_y"/>
                                          </p:val>
                                        </p:tav>
                                      </p:tavLst>
                                    </p:anim>
                                  </p:childTnLst>
                                </p:cTn>
                              </p:par>
                              <p:par>
                                <p:cTn id="183" presetID="2" presetClass="entr" presetSubtype="4" fill="hold" grpId="0" nodeType="withEffect">
                                  <p:stCondLst>
                                    <p:cond delay="0"/>
                                  </p:stCondLst>
                                  <p:childTnLst>
                                    <p:set>
                                      <p:cBhvr>
                                        <p:cTn id="184" dur="1" fill="hold">
                                          <p:stCondLst>
                                            <p:cond delay="0"/>
                                          </p:stCondLst>
                                        </p:cTn>
                                        <p:tgtEl>
                                          <p:spTgt spid="51"/>
                                        </p:tgtEl>
                                        <p:attrNameLst>
                                          <p:attrName>style.visibility</p:attrName>
                                        </p:attrNameLst>
                                      </p:cBhvr>
                                      <p:to>
                                        <p:strVal val="visible"/>
                                      </p:to>
                                    </p:set>
                                    <p:anim calcmode="lin" valueType="num">
                                      <p:cBhvr additive="base">
                                        <p:cTn id="185" dur="500" fill="hold"/>
                                        <p:tgtEl>
                                          <p:spTgt spid="51"/>
                                        </p:tgtEl>
                                        <p:attrNameLst>
                                          <p:attrName>ppt_x</p:attrName>
                                        </p:attrNameLst>
                                      </p:cBhvr>
                                      <p:tavLst>
                                        <p:tav tm="0">
                                          <p:val>
                                            <p:strVal val="#ppt_x"/>
                                          </p:val>
                                        </p:tav>
                                        <p:tav tm="100000">
                                          <p:val>
                                            <p:strVal val="#ppt_x"/>
                                          </p:val>
                                        </p:tav>
                                      </p:tavLst>
                                    </p:anim>
                                    <p:anim calcmode="lin" valueType="num">
                                      <p:cBhvr additive="base">
                                        <p:cTn id="186" dur="500" fill="hold"/>
                                        <p:tgtEl>
                                          <p:spTgt spid="51"/>
                                        </p:tgtEl>
                                        <p:attrNameLst>
                                          <p:attrName>ppt_y</p:attrName>
                                        </p:attrNameLst>
                                      </p:cBhvr>
                                      <p:tavLst>
                                        <p:tav tm="0">
                                          <p:val>
                                            <p:strVal val="1+#ppt_h/2"/>
                                          </p:val>
                                        </p:tav>
                                        <p:tav tm="100000">
                                          <p:val>
                                            <p:strVal val="#ppt_y"/>
                                          </p:val>
                                        </p:tav>
                                      </p:tavLst>
                                    </p:anim>
                                  </p:childTnLst>
                                </p:cTn>
                              </p:par>
                              <p:par>
                                <p:cTn id="187" presetID="2" presetClass="entr" presetSubtype="4" fill="hold" grpId="0" nodeType="withEffect">
                                  <p:stCondLst>
                                    <p:cond delay="0"/>
                                  </p:stCondLst>
                                  <p:childTnLst>
                                    <p:set>
                                      <p:cBhvr>
                                        <p:cTn id="188" dur="1" fill="hold">
                                          <p:stCondLst>
                                            <p:cond delay="0"/>
                                          </p:stCondLst>
                                        </p:cTn>
                                        <p:tgtEl>
                                          <p:spTgt spid="52"/>
                                        </p:tgtEl>
                                        <p:attrNameLst>
                                          <p:attrName>style.visibility</p:attrName>
                                        </p:attrNameLst>
                                      </p:cBhvr>
                                      <p:to>
                                        <p:strVal val="visible"/>
                                      </p:to>
                                    </p:set>
                                    <p:anim calcmode="lin" valueType="num">
                                      <p:cBhvr additive="base">
                                        <p:cTn id="189" dur="500" fill="hold"/>
                                        <p:tgtEl>
                                          <p:spTgt spid="52"/>
                                        </p:tgtEl>
                                        <p:attrNameLst>
                                          <p:attrName>ppt_x</p:attrName>
                                        </p:attrNameLst>
                                      </p:cBhvr>
                                      <p:tavLst>
                                        <p:tav tm="0">
                                          <p:val>
                                            <p:strVal val="#ppt_x"/>
                                          </p:val>
                                        </p:tav>
                                        <p:tav tm="100000">
                                          <p:val>
                                            <p:strVal val="#ppt_x"/>
                                          </p:val>
                                        </p:tav>
                                      </p:tavLst>
                                    </p:anim>
                                    <p:anim calcmode="lin" valueType="num">
                                      <p:cBhvr additive="base">
                                        <p:cTn id="190" dur="500" fill="hold"/>
                                        <p:tgtEl>
                                          <p:spTgt spid="52"/>
                                        </p:tgtEl>
                                        <p:attrNameLst>
                                          <p:attrName>ppt_y</p:attrName>
                                        </p:attrNameLst>
                                      </p:cBhvr>
                                      <p:tavLst>
                                        <p:tav tm="0">
                                          <p:val>
                                            <p:strVal val="1+#ppt_h/2"/>
                                          </p:val>
                                        </p:tav>
                                        <p:tav tm="100000">
                                          <p:val>
                                            <p:strVal val="#ppt_y"/>
                                          </p:val>
                                        </p:tav>
                                      </p:tavLst>
                                    </p:anim>
                                  </p:childTnLst>
                                </p:cTn>
                              </p:par>
                              <p:par>
                                <p:cTn id="191" presetID="2" presetClass="entr" presetSubtype="4" fill="hold" nodeType="withEffect">
                                  <p:stCondLst>
                                    <p:cond delay="0"/>
                                  </p:stCondLst>
                                  <p:childTnLst>
                                    <p:set>
                                      <p:cBhvr>
                                        <p:cTn id="192" dur="1" fill="hold">
                                          <p:stCondLst>
                                            <p:cond delay="0"/>
                                          </p:stCondLst>
                                        </p:cTn>
                                        <p:tgtEl>
                                          <p:spTgt spid="53"/>
                                        </p:tgtEl>
                                        <p:attrNameLst>
                                          <p:attrName>style.visibility</p:attrName>
                                        </p:attrNameLst>
                                      </p:cBhvr>
                                      <p:to>
                                        <p:strVal val="visible"/>
                                      </p:to>
                                    </p:set>
                                    <p:anim calcmode="lin" valueType="num">
                                      <p:cBhvr additive="base">
                                        <p:cTn id="193" dur="500" fill="hold"/>
                                        <p:tgtEl>
                                          <p:spTgt spid="53"/>
                                        </p:tgtEl>
                                        <p:attrNameLst>
                                          <p:attrName>ppt_x</p:attrName>
                                        </p:attrNameLst>
                                      </p:cBhvr>
                                      <p:tavLst>
                                        <p:tav tm="0">
                                          <p:val>
                                            <p:strVal val="#ppt_x"/>
                                          </p:val>
                                        </p:tav>
                                        <p:tav tm="100000">
                                          <p:val>
                                            <p:strVal val="#ppt_x"/>
                                          </p:val>
                                        </p:tav>
                                      </p:tavLst>
                                    </p:anim>
                                    <p:anim calcmode="lin" valueType="num">
                                      <p:cBhvr additive="base">
                                        <p:cTn id="194" dur="500" fill="hold"/>
                                        <p:tgtEl>
                                          <p:spTgt spid="53"/>
                                        </p:tgtEl>
                                        <p:attrNameLst>
                                          <p:attrName>ppt_y</p:attrName>
                                        </p:attrNameLst>
                                      </p:cBhvr>
                                      <p:tavLst>
                                        <p:tav tm="0">
                                          <p:val>
                                            <p:strVal val="1+#ppt_h/2"/>
                                          </p:val>
                                        </p:tav>
                                        <p:tav tm="100000">
                                          <p:val>
                                            <p:strVal val="#ppt_y"/>
                                          </p:val>
                                        </p:tav>
                                      </p:tavLst>
                                    </p:anim>
                                  </p:childTnLst>
                                </p:cTn>
                              </p:par>
                              <p:par>
                                <p:cTn id="195" presetID="2" presetClass="entr" presetSubtype="4" fill="hold" grpId="0" nodeType="withEffect">
                                  <p:stCondLst>
                                    <p:cond delay="0"/>
                                  </p:stCondLst>
                                  <p:childTnLst>
                                    <p:set>
                                      <p:cBhvr>
                                        <p:cTn id="196" dur="1" fill="hold">
                                          <p:stCondLst>
                                            <p:cond delay="0"/>
                                          </p:stCondLst>
                                        </p:cTn>
                                        <p:tgtEl>
                                          <p:spTgt spid="54"/>
                                        </p:tgtEl>
                                        <p:attrNameLst>
                                          <p:attrName>style.visibility</p:attrName>
                                        </p:attrNameLst>
                                      </p:cBhvr>
                                      <p:to>
                                        <p:strVal val="visible"/>
                                      </p:to>
                                    </p:set>
                                    <p:anim calcmode="lin" valueType="num">
                                      <p:cBhvr additive="base">
                                        <p:cTn id="197" dur="500" fill="hold"/>
                                        <p:tgtEl>
                                          <p:spTgt spid="54"/>
                                        </p:tgtEl>
                                        <p:attrNameLst>
                                          <p:attrName>ppt_x</p:attrName>
                                        </p:attrNameLst>
                                      </p:cBhvr>
                                      <p:tavLst>
                                        <p:tav tm="0">
                                          <p:val>
                                            <p:strVal val="#ppt_x"/>
                                          </p:val>
                                        </p:tav>
                                        <p:tav tm="100000">
                                          <p:val>
                                            <p:strVal val="#ppt_x"/>
                                          </p:val>
                                        </p:tav>
                                      </p:tavLst>
                                    </p:anim>
                                    <p:anim calcmode="lin" valueType="num">
                                      <p:cBhvr additive="base">
                                        <p:cTn id="198" dur="500" fill="hold"/>
                                        <p:tgtEl>
                                          <p:spTgt spid="54"/>
                                        </p:tgtEl>
                                        <p:attrNameLst>
                                          <p:attrName>ppt_y</p:attrName>
                                        </p:attrNameLst>
                                      </p:cBhvr>
                                      <p:tavLst>
                                        <p:tav tm="0">
                                          <p:val>
                                            <p:strVal val="1+#ppt_h/2"/>
                                          </p:val>
                                        </p:tav>
                                        <p:tav tm="100000">
                                          <p:val>
                                            <p:strVal val="#ppt_y"/>
                                          </p:val>
                                        </p:tav>
                                      </p:tavLst>
                                    </p:anim>
                                  </p:childTnLst>
                                </p:cTn>
                              </p:par>
                              <p:par>
                                <p:cTn id="199" presetID="2" presetClass="entr" presetSubtype="4" fill="hold" grpId="0" nodeType="withEffect">
                                  <p:stCondLst>
                                    <p:cond delay="0"/>
                                  </p:stCondLst>
                                  <p:childTnLst>
                                    <p:set>
                                      <p:cBhvr>
                                        <p:cTn id="200" dur="1" fill="hold">
                                          <p:stCondLst>
                                            <p:cond delay="0"/>
                                          </p:stCondLst>
                                        </p:cTn>
                                        <p:tgtEl>
                                          <p:spTgt spid="55"/>
                                        </p:tgtEl>
                                        <p:attrNameLst>
                                          <p:attrName>style.visibility</p:attrName>
                                        </p:attrNameLst>
                                      </p:cBhvr>
                                      <p:to>
                                        <p:strVal val="visible"/>
                                      </p:to>
                                    </p:set>
                                    <p:anim calcmode="lin" valueType="num">
                                      <p:cBhvr additive="base">
                                        <p:cTn id="201" dur="500" fill="hold"/>
                                        <p:tgtEl>
                                          <p:spTgt spid="55"/>
                                        </p:tgtEl>
                                        <p:attrNameLst>
                                          <p:attrName>ppt_x</p:attrName>
                                        </p:attrNameLst>
                                      </p:cBhvr>
                                      <p:tavLst>
                                        <p:tav tm="0">
                                          <p:val>
                                            <p:strVal val="#ppt_x"/>
                                          </p:val>
                                        </p:tav>
                                        <p:tav tm="100000">
                                          <p:val>
                                            <p:strVal val="#ppt_x"/>
                                          </p:val>
                                        </p:tav>
                                      </p:tavLst>
                                    </p:anim>
                                    <p:anim calcmode="lin" valueType="num">
                                      <p:cBhvr additive="base">
                                        <p:cTn id="202" dur="500" fill="hold"/>
                                        <p:tgtEl>
                                          <p:spTgt spid="55"/>
                                        </p:tgtEl>
                                        <p:attrNameLst>
                                          <p:attrName>ppt_y</p:attrName>
                                        </p:attrNameLst>
                                      </p:cBhvr>
                                      <p:tavLst>
                                        <p:tav tm="0">
                                          <p:val>
                                            <p:strVal val="1+#ppt_h/2"/>
                                          </p:val>
                                        </p:tav>
                                        <p:tav tm="100000">
                                          <p:val>
                                            <p:strVal val="#ppt_y"/>
                                          </p:val>
                                        </p:tav>
                                      </p:tavLst>
                                    </p:anim>
                                  </p:childTnLst>
                                </p:cTn>
                              </p:par>
                              <p:par>
                                <p:cTn id="203" presetID="2" presetClass="entr" presetSubtype="4" fill="hold" nodeType="withEffect">
                                  <p:stCondLst>
                                    <p:cond delay="0"/>
                                  </p:stCondLst>
                                  <p:childTnLst>
                                    <p:set>
                                      <p:cBhvr>
                                        <p:cTn id="204" dur="1" fill="hold">
                                          <p:stCondLst>
                                            <p:cond delay="0"/>
                                          </p:stCondLst>
                                        </p:cTn>
                                        <p:tgtEl>
                                          <p:spTgt spid="56"/>
                                        </p:tgtEl>
                                        <p:attrNameLst>
                                          <p:attrName>style.visibility</p:attrName>
                                        </p:attrNameLst>
                                      </p:cBhvr>
                                      <p:to>
                                        <p:strVal val="visible"/>
                                      </p:to>
                                    </p:set>
                                    <p:anim calcmode="lin" valueType="num">
                                      <p:cBhvr additive="base">
                                        <p:cTn id="205" dur="500" fill="hold"/>
                                        <p:tgtEl>
                                          <p:spTgt spid="56"/>
                                        </p:tgtEl>
                                        <p:attrNameLst>
                                          <p:attrName>ppt_x</p:attrName>
                                        </p:attrNameLst>
                                      </p:cBhvr>
                                      <p:tavLst>
                                        <p:tav tm="0">
                                          <p:val>
                                            <p:strVal val="#ppt_x"/>
                                          </p:val>
                                        </p:tav>
                                        <p:tav tm="100000">
                                          <p:val>
                                            <p:strVal val="#ppt_x"/>
                                          </p:val>
                                        </p:tav>
                                      </p:tavLst>
                                    </p:anim>
                                    <p:anim calcmode="lin" valueType="num">
                                      <p:cBhvr additive="base">
                                        <p:cTn id="206" dur="500" fill="hold"/>
                                        <p:tgtEl>
                                          <p:spTgt spid="56"/>
                                        </p:tgtEl>
                                        <p:attrNameLst>
                                          <p:attrName>ppt_y</p:attrName>
                                        </p:attrNameLst>
                                      </p:cBhvr>
                                      <p:tavLst>
                                        <p:tav tm="0">
                                          <p:val>
                                            <p:strVal val="1+#ppt_h/2"/>
                                          </p:val>
                                        </p:tav>
                                        <p:tav tm="100000">
                                          <p:val>
                                            <p:strVal val="#ppt_y"/>
                                          </p:val>
                                        </p:tav>
                                      </p:tavLst>
                                    </p:anim>
                                  </p:childTnLst>
                                </p:cTn>
                              </p:par>
                              <p:par>
                                <p:cTn id="207" presetID="2" presetClass="entr" presetSubtype="4" fill="hold" grpId="0" nodeType="withEffect">
                                  <p:stCondLst>
                                    <p:cond delay="0"/>
                                  </p:stCondLst>
                                  <p:childTnLst>
                                    <p:set>
                                      <p:cBhvr>
                                        <p:cTn id="208" dur="1" fill="hold">
                                          <p:stCondLst>
                                            <p:cond delay="0"/>
                                          </p:stCondLst>
                                        </p:cTn>
                                        <p:tgtEl>
                                          <p:spTgt spid="57"/>
                                        </p:tgtEl>
                                        <p:attrNameLst>
                                          <p:attrName>style.visibility</p:attrName>
                                        </p:attrNameLst>
                                      </p:cBhvr>
                                      <p:to>
                                        <p:strVal val="visible"/>
                                      </p:to>
                                    </p:set>
                                    <p:anim calcmode="lin" valueType="num">
                                      <p:cBhvr additive="base">
                                        <p:cTn id="209" dur="500" fill="hold"/>
                                        <p:tgtEl>
                                          <p:spTgt spid="57"/>
                                        </p:tgtEl>
                                        <p:attrNameLst>
                                          <p:attrName>ppt_x</p:attrName>
                                        </p:attrNameLst>
                                      </p:cBhvr>
                                      <p:tavLst>
                                        <p:tav tm="0">
                                          <p:val>
                                            <p:strVal val="#ppt_x"/>
                                          </p:val>
                                        </p:tav>
                                        <p:tav tm="100000">
                                          <p:val>
                                            <p:strVal val="#ppt_x"/>
                                          </p:val>
                                        </p:tav>
                                      </p:tavLst>
                                    </p:anim>
                                    <p:anim calcmode="lin" valueType="num">
                                      <p:cBhvr additive="base">
                                        <p:cTn id="210" dur="500" fill="hold"/>
                                        <p:tgtEl>
                                          <p:spTgt spid="57"/>
                                        </p:tgtEl>
                                        <p:attrNameLst>
                                          <p:attrName>ppt_y</p:attrName>
                                        </p:attrNameLst>
                                      </p:cBhvr>
                                      <p:tavLst>
                                        <p:tav tm="0">
                                          <p:val>
                                            <p:strVal val="1+#ppt_h/2"/>
                                          </p:val>
                                        </p:tav>
                                        <p:tav tm="100000">
                                          <p:val>
                                            <p:strVal val="#ppt_y"/>
                                          </p:val>
                                        </p:tav>
                                      </p:tavLst>
                                    </p:anim>
                                  </p:childTnLst>
                                </p:cTn>
                              </p:par>
                              <p:par>
                                <p:cTn id="211" presetID="2" presetClass="entr" presetSubtype="4" fill="hold" grpId="0" nodeType="withEffect">
                                  <p:stCondLst>
                                    <p:cond delay="0"/>
                                  </p:stCondLst>
                                  <p:childTnLst>
                                    <p:set>
                                      <p:cBhvr>
                                        <p:cTn id="212" dur="1" fill="hold">
                                          <p:stCondLst>
                                            <p:cond delay="0"/>
                                          </p:stCondLst>
                                        </p:cTn>
                                        <p:tgtEl>
                                          <p:spTgt spid="58"/>
                                        </p:tgtEl>
                                        <p:attrNameLst>
                                          <p:attrName>style.visibility</p:attrName>
                                        </p:attrNameLst>
                                      </p:cBhvr>
                                      <p:to>
                                        <p:strVal val="visible"/>
                                      </p:to>
                                    </p:set>
                                    <p:anim calcmode="lin" valueType="num">
                                      <p:cBhvr additive="base">
                                        <p:cTn id="213" dur="500" fill="hold"/>
                                        <p:tgtEl>
                                          <p:spTgt spid="58"/>
                                        </p:tgtEl>
                                        <p:attrNameLst>
                                          <p:attrName>ppt_x</p:attrName>
                                        </p:attrNameLst>
                                      </p:cBhvr>
                                      <p:tavLst>
                                        <p:tav tm="0">
                                          <p:val>
                                            <p:strVal val="#ppt_x"/>
                                          </p:val>
                                        </p:tav>
                                        <p:tav tm="100000">
                                          <p:val>
                                            <p:strVal val="#ppt_x"/>
                                          </p:val>
                                        </p:tav>
                                      </p:tavLst>
                                    </p:anim>
                                    <p:anim calcmode="lin" valueType="num">
                                      <p:cBhvr additive="base">
                                        <p:cTn id="214"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P spid="12" grpId="0"/>
      <p:bldP spid="15" grpId="0"/>
      <p:bldP spid="16" grpId="0"/>
      <p:bldP spid="17" grpId="0"/>
      <p:bldP spid="20" grpId="0"/>
      <p:bldP spid="21" grpId="0"/>
      <p:bldP spid="22" grpId="0"/>
      <p:bldP spid="25" grpId="0"/>
      <p:bldP spid="26" grpId="0"/>
      <p:bldP spid="27" grpId="0"/>
      <p:bldP spid="30" grpId="0"/>
      <p:bldP spid="31" grpId="0"/>
      <p:bldP spid="32" grpId="0"/>
      <p:bldP spid="34" grpId="0"/>
      <p:bldP spid="35" grpId="0"/>
      <p:bldP spid="37" grpId="0"/>
      <p:bldP spid="39" grpId="0"/>
      <p:bldP spid="40" grpId="0"/>
      <p:bldP spid="42" grpId="0"/>
      <p:bldP spid="43" grpId="0"/>
      <p:bldP spid="45" grpId="0"/>
      <p:bldP spid="46" grpId="0"/>
      <p:bldP spid="48" grpId="0"/>
      <p:bldP spid="49" grpId="0"/>
      <p:bldP spid="51" grpId="0"/>
      <p:bldP spid="52" grpId="0"/>
      <p:bldP spid="54" grpId="0"/>
      <p:bldP spid="55" grpId="0"/>
      <p:bldP spid="57" grpId="0"/>
      <p:bldP spid="5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02920" y="502920"/>
            <a:ext cx="1737360" cy="475488"/>
          </a:xfrm>
          <a:prstGeom prst="roundRect">
            <a:avLst>
              <a:gd name="adj" fmla="val 50000"/>
            </a:avLst>
          </a:prstGeom>
          <a:solidFill>
            <a:srgbClr val="14532D"/>
          </a:solidFill>
          <a:effectLst>
            <a:outerShdw blurRad="2147483647" dist="2147483647" dir="5" algn="bl" rotWithShape="0">
              <a:srgbClr val="1B4633">
                <a:alpha val="2"/>
              </a:srgbClr>
            </a:outerShdw>
          </a:effectLst>
        </p:spPr>
      </p:sp>
      <p:sp>
        <p:nvSpPr>
          <p:cNvPr id="4" name="Text 2"/>
          <p:cNvSpPr/>
          <p:nvPr/>
        </p:nvSpPr>
        <p:spPr>
          <a:xfrm>
            <a:off x="502920" y="50292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 一</a:t>
            </a:r>
            <a:endParaRPr lang="en-US" sz="1500" dirty="0"/>
          </a:p>
        </p:txBody>
      </p:sp>
      <p:sp>
        <p:nvSpPr>
          <p:cNvPr id="5" name="Text 3"/>
          <p:cNvSpPr/>
          <p:nvPr/>
        </p:nvSpPr>
        <p:spPr>
          <a:xfrm>
            <a:off x="2487168" y="365760"/>
            <a:ext cx="9052560" cy="777240"/>
          </a:xfrm>
          <a:prstGeom prst="rect">
            <a:avLst/>
          </a:prstGeom>
          <a:noFill/>
        </p:spPr>
        <p:txBody>
          <a:bodyPr wrap="square" lIns="0" tIns="0" rIns="0" bIns="0" rtlCol="0" anchor="ctr"/>
          <a:lstStyle/>
          <a:p>
            <a:pPr marL="0" indent="0">
              <a:buNone/>
            </a:pPr>
            <a:r>
              <a:rPr lang="en-US" sz="2800" b="1" dirty="0">
                <a:solidFill>
                  <a:srgbClr val="14301F"/>
                </a:solidFill>
                <a:latin typeface="微软雅黑" pitchFamily="34" charset="0"/>
                <a:ea typeface="微软雅黑" pitchFamily="34" charset="-122"/>
                <a:cs typeface="微软雅黑" pitchFamily="34" charset="-120"/>
              </a:rPr>
              <a:t>剩余寿命预测 - 四级预警</a:t>
            </a:r>
            <a:endParaRPr lang="en-US" sz="2800" dirty="0"/>
          </a:p>
        </p:txBody>
      </p:sp>
      <p:sp>
        <p:nvSpPr>
          <p:cNvPr id="6" name="Text 4"/>
          <p:cNvSpPr/>
          <p:nvPr/>
        </p:nvSpPr>
        <p:spPr>
          <a:xfrm>
            <a:off x="2505710" y="1115695"/>
            <a:ext cx="6125845" cy="365760"/>
          </a:xfrm>
          <a:prstGeom prst="rect">
            <a:avLst/>
          </a:prstGeom>
          <a:noFill/>
        </p:spPr>
        <p:txBody>
          <a:bodyPr wrap="square" lIns="0" tIns="0" rIns="0" bIns="0" rtlCol="0" anchor="ctr"/>
          <a:lstStyle/>
          <a:p>
            <a:pPr marL="0" indent="0">
              <a:buNone/>
            </a:pPr>
            <a:r>
              <a:rPr lang="en-US" sz="1350" dirty="0">
                <a:solidFill>
                  <a:srgbClr val="5C6B62"/>
                </a:solidFill>
                <a:latin typeface="微软雅黑" pitchFamily="34" charset="0"/>
                <a:ea typeface="微软雅黑" pitchFamily="34" charset="-122"/>
                <a:cs typeface="微软雅黑" pitchFamily="34" charset="-120"/>
              </a:rPr>
              <a:t>把剩余寿命换算成“多紧急”，直接驱动维修排程</a:t>
            </a:r>
            <a:endParaRPr lang="en-US" sz="1350" dirty="0"/>
          </a:p>
        </p:txBody>
      </p:sp>
      <p:sp>
        <p:nvSpPr>
          <p:cNvPr id="7" name="Shape 5"/>
          <p:cNvSpPr/>
          <p:nvPr/>
        </p:nvSpPr>
        <p:spPr>
          <a:xfrm>
            <a:off x="1845310" y="1554480"/>
            <a:ext cx="6720840" cy="4201795"/>
          </a:xfrm>
          <a:prstGeom prst="roundRect">
            <a:avLst>
              <a:gd name="adj" fmla="val 2718"/>
            </a:avLst>
          </a:prstGeom>
          <a:solidFill>
            <a:srgbClr val="FFFFFF"/>
          </a:solidFill>
          <a:ln w="12700">
            <a:solidFill>
              <a:srgbClr val="D6E3DA"/>
            </a:solidFill>
            <a:prstDash val="solid"/>
          </a:ln>
          <a:effectLst>
            <a:outerShdw blurRad="2147483647" dist="2147483647" dir="3" algn="bl" rotWithShape="0">
              <a:srgbClr val="1B4633">
                <a:alpha val="2"/>
              </a:srgbClr>
            </a:outerShdw>
          </a:effectLst>
        </p:spPr>
      </p:sp>
      <p:sp>
        <p:nvSpPr>
          <p:cNvPr id="8" name="Text 6"/>
          <p:cNvSpPr/>
          <p:nvPr/>
        </p:nvSpPr>
        <p:spPr>
          <a:xfrm>
            <a:off x="2119630" y="1737360"/>
            <a:ext cx="6126480" cy="384048"/>
          </a:xfrm>
          <a:prstGeom prst="rect">
            <a:avLst/>
          </a:prstGeom>
          <a:noFill/>
        </p:spPr>
        <p:txBody>
          <a:bodyPr wrap="square" lIns="0" tIns="0" rIns="0" bIns="0" rtlCol="0" anchor="ctr"/>
          <a:lstStyle/>
          <a:p>
            <a:pPr marL="0" indent="0">
              <a:buNone/>
            </a:pPr>
            <a:r>
              <a:rPr lang="en-US" sz="1700" b="1" dirty="0">
                <a:solidFill>
                  <a:srgbClr val="166534"/>
                </a:solidFill>
                <a:latin typeface="微软雅黑" pitchFamily="34" charset="0"/>
                <a:ea typeface="微软雅黑" pitchFamily="34" charset="-122"/>
                <a:cs typeface="微软雅黑" pitchFamily="34" charset="-120"/>
              </a:rPr>
              <a:t>剩余寿命 · 四级预警</a:t>
            </a:r>
            <a:endParaRPr lang="en-US" sz="1700" dirty="0"/>
          </a:p>
        </p:txBody>
      </p:sp>
      <p:sp>
        <p:nvSpPr>
          <p:cNvPr id="9" name="Shape 7"/>
          <p:cNvSpPr/>
          <p:nvPr/>
        </p:nvSpPr>
        <p:spPr>
          <a:xfrm>
            <a:off x="2119630" y="2212848"/>
            <a:ext cx="1444752" cy="822960"/>
          </a:xfrm>
          <a:prstGeom prst="roundRect">
            <a:avLst>
              <a:gd name="adj" fmla="val 8889"/>
            </a:avLst>
          </a:prstGeom>
          <a:solidFill>
            <a:srgbClr val="B23A24"/>
          </a:solidFill>
          <a:effectLst>
            <a:outerShdw blurRad="2147483647" dist="2147483647" dir="2" algn="bl" rotWithShape="0">
              <a:srgbClr val="1B4633">
                <a:alpha val="2"/>
              </a:srgbClr>
            </a:outerShdw>
          </a:effectLst>
        </p:spPr>
      </p:sp>
      <p:sp>
        <p:nvSpPr>
          <p:cNvPr id="10" name="Text 8"/>
          <p:cNvSpPr/>
          <p:nvPr/>
        </p:nvSpPr>
        <p:spPr>
          <a:xfrm>
            <a:off x="2119630" y="2249424"/>
            <a:ext cx="1444752" cy="329184"/>
          </a:xfrm>
          <a:prstGeom prst="rect">
            <a:avLst/>
          </a:prstGeom>
          <a:noFill/>
        </p:spPr>
        <p:txBody>
          <a:bodyPr wrap="square" lIns="0" tIns="0" rIns="0" bIns="0" rtlCol="0" anchor="ctr"/>
          <a:lstStyle/>
          <a:p>
            <a:pPr marL="0" indent="0" algn="ctr">
              <a:buNone/>
            </a:pPr>
            <a:r>
              <a:rPr lang="en-US" sz="1200" b="1" dirty="0">
                <a:solidFill>
                  <a:srgbClr val="FFFFFF"/>
                </a:solidFill>
                <a:latin typeface="微软雅黑" pitchFamily="34" charset="0"/>
                <a:ea typeface="微软雅黑" pitchFamily="34" charset="-122"/>
                <a:cs typeface="微软雅黑" pitchFamily="34" charset="-120"/>
              </a:rPr>
              <a:t>紧急维修</a:t>
            </a:r>
            <a:endParaRPr lang="en-US" sz="1200" dirty="0"/>
          </a:p>
        </p:txBody>
      </p:sp>
      <p:sp>
        <p:nvSpPr>
          <p:cNvPr id="11" name="Text 9"/>
          <p:cNvSpPr/>
          <p:nvPr/>
        </p:nvSpPr>
        <p:spPr>
          <a:xfrm>
            <a:off x="2119630" y="2596896"/>
            <a:ext cx="1444752" cy="274320"/>
          </a:xfrm>
          <a:prstGeom prst="rect">
            <a:avLst/>
          </a:prstGeom>
          <a:noFill/>
        </p:spPr>
        <p:txBody>
          <a:bodyPr wrap="square" lIns="0" tIns="0" rIns="0" bIns="0" rtlCol="0" anchor="ctr"/>
          <a:lstStyle/>
          <a:p>
            <a:pPr marL="0" indent="0" algn="ctr">
              <a:buNone/>
            </a:pPr>
            <a:r>
              <a:rPr lang="en-US" sz="1100" dirty="0">
                <a:solidFill>
                  <a:srgbClr val="F0F7F2"/>
                </a:solidFill>
                <a:latin typeface="微软雅黑" pitchFamily="34" charset="0"/>
                <a:ea typeface="微软雅黑" pitchFamily="34" charset="-122"/>
                <a:cs typeface="微软雅黑" pitchFamily="34" charset="-120"/>
              </a:rPr>
              <a:t>≤0年</a:t>
            </a:r>
            <a:endParaRPr lang="en-US" sz="1100" dirty="0"/>
          </a:p>
        </p:txBody>
      </p:sp>
      <p:sp>
        <p:nvSpPr>
          <p:cNvPr id="12" name="Text 10"/>
          <p:cNvSpPr/>
          <p:nvPr/>
        </p:nvSpPr>
        <p:spPr>
          <a:xfrm>
            <a:off x="2119630" y="3054096"/>
            <a:ext cx="1444752" cy="457200"/>
          </a:xfrm>
          <a:prstGeom prst="rect">
            <a:avLst/>
          </a:prstGeom>
          <a:noFill/>
        </p:spPr>
        <p:txBody>
          <a:bodyPr wrap="square" lIns="0" tIns="0" rIns="0" bIns="0" rtlCol="0" anchor="ctr"/>
          <a:lstStyle/>
          <a:p>
            <a:pPr marL="0" indent="0" algn="ctr">
              <a:lnSpc>
                <a:spcPts val="1000"/>
              </a:lnSpc>
              <a:buNone/>
            </a:pPr>
            <a:r>
              <a:rPr lang="en-US" sz="850" dirty="0">
                <a:solidFill>
                  <a:srgbClr val="5C6B62"/>
                </a:solidFill>
                <a:latin typeface="微软雅黑" pitchFamily="34" charset="0"/>
                <a:ea typeface="微软雅黑" pitchFamily="34" charset="-122"/>
                <a:cs typeface="微软雅黑" pitchFamily="34" charset="-120"/>
              </a:rPr>
              <a:t>立即处置 · 停用待修</a:t>
            </a:r>
            <a:endParaRPr lang="en-US" sz="850" dirty="0"/>
          </a:p>
        </p:txBody>
      </p:sp>
      <p:sp>
        <p:nvSpPr>
          <p:cNvPr id="13" name="Shape 11"/>
          <p:cNvSpPr/>
          <p:nvPr/>
        </p:nvSpPr>
        <p:spPr>
          <a:xfrm>
            <a:off x="3674110" y="2212848"/>
            <a:ext cx="1444752" cy="822960"/>
          </a:xfrm>
          <a:prstGeom prst="roundRect">
            <a:avLst>
              <a:gd name="adj" fmla="val 8889"/>
            </a:avLst>
          </a:prstGeom>
          <a:solidFill>
            <a:srgbClr val="C77E1B"/>
          </a:solidFill>
          <a:effectLst>
            <a:outerShdw blurRad="2147483647" dist="2147483647" dir="1" algn="bl" rotWithShape="0">
              <a:srgbClr val="1B4633">
                <a:alpha val="2"/>
              </a:srgbClr>
            </a:outerShdw>
          </a:effectLst>
        </p:spPr>
      </p:sp>
      <p:sp>
        <p:nvSpPr>
          <p:cNvPr id="14" name="Text 12"/>
          <p:cNvSpPr/>
          <p:nvPr/>
        </p:nvSpPr>
        <p:spPr>
          <a:xfrm>
            <a:off x="3674110" y="2249424"/>
            <a:ext cx="1444752" cy="329184"/>
          </a:xfrm>
          <a:prstGeom prst="rect">
            <a:avLst/>
          </a:prstGeom>
          <a:noFill/>
        </p:spPr>
        <p:txBody>
          <a:bodyPr wrap="square" lIns="0" tIns="0" rIns="0" bIns="0" rtlCol="0" anchor="ctr"/>
          <a:lstStyle/>
          <a:p>
            <a:pPr marL="0" indent="0" algn="ctr">
              <a:buNone/>
            </a:pPr>
            <a:r>
              <a:rPr lang="en-US" sz="1200" b="1" dirty="0">
                <a:solidFill>
                  <a:srgbClr val="FFFFFF"/>
                </a:solidFill>
                <a:latin typeface="微软雅黑" pitchFamily="34" charset="0"/>
                <a:ea typeface="微软雅黑" pitchFamily="34" charset="-122"/>
                <a:cs typeface="微软雅黑" pitchFamily="34" charset="-120"/>
              </a:rPr>
              <a:t>建议维修</a:t>
            </a:r>
            <a:endParaRPr lang="en-US" sz="1200" dirty="0"/>
          </a:p>
        </p:txBody>
      </p:sp>
      <p:sp>
        <p:nvSpPr>
          <p:cNvPr id="15" name="Text 13"/>
          <p:cNvSpPr/>
          <p:nvPr/>
        </p:nvSpPr>
        <p:spPr>
          <a:xfrm>
            <a:off x="3674110" y="2596896"/>
            <a:ext cx="1444752" cy="274320"/>
          </a:xfrm>
          <a:prstGeom prst="rect">
            <a:avLst/>
          </a:prstGeom>
          <a:noFill/>
        </p:spPr>
        <p:txBody>
          <a:bodyPr wrap="square" lIns="0" tIns="0" rIns="0" bIns="0" rtlCol="0" anchor="ctr"/>
          <a:lstStyle/>
          <a:p>
            <a:pPr marL="0" indent="0" algn="ctr">
              <a:buNone/>
            </a:pPr>
            <a:r>
              <a:rPr lang="en-US" sz="1100" dirty="0">
                <a:solidFill>
                  <a:srgbClr val="F0F7F2"/>
                </a:solidFill>
                <a:latin typeface="微软雅黑" pitchFamily="34" charset="0"/>
                <a:ea typeface="微软雅黑" pitchFamily="34" charset="-122"/>
                <a:cs typeface="微软雅黑" pitchFamily="34" charset="-120"/>
              </a:rPr>
              <a:t>1-4年</a:t>
            </a:r>
            <a:endParaRPr lang="en-US" sz="1100" dirty="0"/>
          </a:p>
        </p:txBody>
      </p:sp>
      <p:sp>
        <p:nvSpPr>
          <p:cNvPr id="16" name="Text 14"/>
          <p:cNvSpPr/>
          <p:nvPr/>
        </p:nvSpPr>
        <p:spPr>
          <a:xfrm>
            <a:off x="3674110" y="3054096"/>
            <a:ext cx="1444752" cy="457200"/>
          </a:xfrm>
          <a:prstGeom prst="rect">
            <a:avLst/>
          </a:prstGeom>
          <a:noFill/>
        </p:spPr>
        <p:txBody>
          <a:bodyPr wrap="square" lIns="0" tIns="0" rIns="0" bIns="0" rtlCol="0" anchor="ctr"/>
          <a:lstStyle/>
          <a:p>
            <a:pPr marL="0" indent="0" algn="ctr">
              <a:lnSpc>
                <a:spcPts val="1000"/>
              </a:lnSpc>
              <a:buNone/>
            </a:pPr>
            <a:r>
              <a:rPr lang="en-US" sz="850" dirty="0">
                <a:solidFill>
                  <a:srgbClr val="5C6B62"/>
                </a:solidFill>
                <a:latin typeface="微软雅黑" pitchFamily="34" charset="0"/>
                <a:ea typeface="微软雅黑" pitchFamily="34" charset="-122"/>
                <a:cs typeface="微软雅黑" pitchFamily="34" charset="-120"/>
              </a:rPr>
              <a:t>纳入当年维修计划</a:t>
            </a:r>
            <a:endParaRPr lang="en-US" sz="850" dirty="0"/>
          </a:p>
        </p:txBody>
      </p:sp>
      <p:sp>
        <p:nvSpPr>
          <p:cNvPr id="17" name="Shape 15"/>
          <p:cNvSpPr/>
          <p:nvPr/>
        </p:nvSpPr>
        <p:spPr>
          <a:xfrm>
            <a:off x="5228590" y="2212848"/>
            <a:ext cx="1444752" cy="822960"/>
          </a:xfrm>
          <a:prstGeom prst="roundRect">
            <a:avLst>
              <a:gd name="adj" fmla="val 8889"/>
            </a:avLst>
          </a:prstGeom>
          <a:solidFill>
            <a:srgbClr val="D99E2B"/>
          </a:solidFill>
          <a:effectLst>
            <a:outerShdw blurRad="2147483647" dist="2147483647" dir="7" algn="bl" rotWithShape="0">
              <a:srgbClr val="1B4633">
                <a:alpha val="2"/>
              </a:srgbClr>
            </a:outerShdw>
          </a:effectLst>
        </p:spPr>
      </p:sp>
      <p:sp>
        <p:nvSpPr>
          <p:cNvPr id="18" name="Text 16"/>
          <p:cNvSpPr/>
          <p:nvPr/>
        </p:nvSpPr>
        <p:spPr>
          <a:xfrm>
            <a:off x="5228590" y="2249424"/>
            <a:ext cx="1444752" cy="329184"/>
          </a:xfrm>
          <a:prstGeom prst="rect">
            <a:avLst/>
          </a:prstGeom>
          <a:noFill/>
        </p:spPr>
        <p:txBody>
          <a:bodyPr wrap="square" lIns="0" tIns="0" rIns="0" bIns="0" rtlCol="0" anchor="ctr"/>
          <a:lstStyle/>
          <a:p>
            <a:pPr marL="0" indent="0" algn="ctr">
              <a:buNone/>
            </a:pPr>
            <a:r>
              <a:rPr lang="en-US" sz="1200" b="1" dirty="0">
                <a:solidFill>
                  <a:srgbClr val="FFFFFF"/>
                </a:solidFill>
                <a:latin typeface="微软雅黑" pitchFamily="34" charset="0"/>
                <a:ea typeface="微软雅黑" pitchFamily="34" charset="-122"/>
                <a:cs typeface="微软雅黑" pitchFamily="34" charset="-120"/>
              </a:rPr>
              <a:t>需关注</a:t>
            </a:r>
            <a:endParaRPr lang="en-US" sz="1200" dirty="0"/>
          </a:p>
        </p:txBody>
      </p:sp>
      <p:sp>
        <p:nvSpPr>
          <p:cNvPr id="19" name="Text 17"/>
          <p:cNvSpPr/>
          <p:nvPr/>
        </p:nvSpPr>
        <p:spPr>
          <a:xfrm>
            <a:off x="5228590" y="2596896"/>
            <a:ext cx="1444752" cy="274320"/>
          </a:xfrm>
          <a:prstGeom prst="rect">
            <a:avLst/>
          </a:prstGeom>
          <a:noFill/>
        </p:spPr>
        <p:txBody>
          <a:bodyPr wrap="square" lIns="0" tIns="0" rIns="0" bIns="0" rtlCol="0" anchor="ctr"/>
          <a:lstStyle/>
          <a:p>
            <a:pPr marL="0" indent="0" algn="ctr">
              <a:buNone/>
            </a:pPr>
            <a:r>
              <a:rPr lang="en-US" sz="1100" dirty="0">
                <a:solidFill>
                  <a:srgbClr val="F0F7F2"/>
                </a:solidFill>
                <a:latin typeface="微软雅黑" pitchFamily="34" charset="0"/>
                <a:ea typeface="微软雅黑" pitchFamily="34" charset="-122"/>
                <a:cs typeface="微软雅黑" pitchFamily="34" charset="-120"/>
              </a:rPr>
              <a:t>4-7年</a:t>
            </a:r>
            <a:endParaRPr lang="en-US" sz="1100" dirty="0"/>
          </a:p>
        </p:txBody>
      </p:sp>
      <p:sp>
        <p:nvSpPr>
          <p:cNvPr id="20" name="Text 18"/>
          <p:cNvSpPr/>
          <p:nvPr/>
        </p:nvSpPr>
        <p:spPr>
          <a:xfrm>
            <a:off x="5228590" y="3054096"/>
            <a:ext cx="1444752" cy="457200"/>
          </a:xfrm>
          <a:prstGeom prst="rect">
            <a:avLst/>
          </a:prstGeom>
          <a:noFill/>
        </p:spPr>
        <p:txBody>
          <a:bodyPr wrap="square" lIns="0" tIns="0" rIns="0" bIns="0" rtlCol="0" anchor="ctr"/>
          <a:lstStyle/>
          <a:p>
            <a:pPr marL="0" indent="0" algn="ctr">
              <a:lnSpc>
                <a:spcPts val="1000"/>
              </a:lnSpc>
              <a:buNone/>
            </a:pPr>
            <a:r>
              <a:rPr lang="en-US" sz="850" dirty="0">
                <a:solidFill>
                  <a:srgbClr val="5C6B62"/>
                </a:solidFill>
                <a:latin typeface="微软雅黑" pitchFamily="34" charset="0"/>
                <a:ea typeface="微软雅黑" pitchFamily="34" charset="-122"/>
                <a:cs typeface="微软雅黑" pitchFamily="34" charset="-120"/>
              </a:rPr>
              <a:t>跟踪监测 · 提前备件</a:t>
            </a:r>
            <a:endParaRPr lang="en-US" sz="850" dirty="0"/>
          </a:p>
        </p:txBody>
      </p:sp>
      <p:sp>
        <p:nvSpPr>
          <p:cNvPr id="21" name="Shape 19"/>
          <p:cNvSpPr/>
          <p:nvPr/>
        </p:nvSpPr>
        <p:spPr>
          <a:xfrm>
            <a:off x="6783070" y="2212848"/>
            <a:ext cx="1444752" cy="822960"/>
          </a:xfrm>
          <a:prstGeom prst="roundRect">
            <a:avLst>
              <a:gd name="adj" fmla="val 8889"/>
            </a:avLst>
          </a:prstGeom>
          <a:solidFill>
            <a:srgbClr val="2E8B6A"/>
          </a:solidFill>
          <a:effectLst>
            <a:outerShdw blurRad="2147483647" dist="2147483647" dir="4" algn="bl" rotWithShape="0">
              <a:srgbClr val="1B4633">
                <a:alpha val="2"/>
              </a:srgbClr>
            </a:outerShdw>
          </a:effectLst>
        </p:spPr>
      </p:sp>
      <p:sp>
        <p:nvSpPr>
          <p:cNvPr id="22" name="Text 20"/>
          <p:cNvSpPr/>
          <p:nvPr/>
        </p:nvSpPr>
        <p:spPr>
          <a:xfrm>
            <a:off x="6783070" y="2249424"/>
            <a:ext cx="1444752" cy="329184"/>
          </a:xfrm>
          <a:prstGeom prst="rect">
            <a:avLst/>
          </a:prstGeom>
          <a:noFill/>
        </p:spPr>
        <p:txBody>
          <a:bodyPr wrap="square" lIns="0" tIns="0" rIns="0" bIns="0" rtlCol="0" anchor="ctr"/>
          <a:lstStyle/>
          <a:p>
            <a:pPr marL="0" indent="0" algn="ctr">
              <a:buNone/>
            </a:pPr>
            <a:r>
              <a:rPr lang="en-US" sz="1200" b="1" dirty="0">
                <a:solidFill>
                  <a:srgbClr val="FFFFFF"/>
                </a:solidFill>
                <a:latin typeface="微软雅黑" pitchFamily="34" charset="0"/>
                <a:ea typeface="微软雅黑" pitchFamily="34" charset="-122"/>
                <a:cs typeface="微软雅黑" pitchFamily="34" charset="-120"/>
              </a:rPr>
              <a:t>正常</a:t>
            </a:r>
            <a:endParaRPr lang="en-US" sz="1200" dirty="0"/>
          </a:p>
        </p:txBody>
      </p:sp>
      <p:sp>
        <p:nvSpPr>
          <p:cNvPr id="23" name="Text 21"/>
          <p:cNvSpPr/>
          <p:nvPr/>
        </p:nvSpPr>
        <p:spPr>
          <a:xfrm>
            <a:off x="6783070" y="2596896"/>
            <a:ext cx="1444752" cy="274320"/>
          </a:xfrm>
          <a:prstGeom prst="rect">
            <a:avLst/>
          </a:prstGeom>
          <a:noFill/>
        </p:spPr>
        <p:txBody>
          <a:bodyPr wrap="square" lIns="0" tIns="0" rIns="0" bIns="0" rtlCol="0" anchor="ctr"/>
          <a:lstStyle/>
          <a:p>
            <a:pPr marL="0" indent="0" algn="ctr">
              <a:buNone/>
            </a:pPr>
            <a:r>
              <a:rPr lang="en-US" sz="1100" dirty="0">
                <a:solidFill>
                  <a:srgbClr val="F0F7F2"/>
                </a:solidFill>
                <a:latin typeface="微软雅黑" pitchFamily="34" charset="0"/>
                <a:ea typeface="微软雅黑" pitchFamily="34" charset="-122"/>
                <a:cs typeface="微软雅黑" pitchFamily="34" charset="-120"/>
              </a:rPr>
              <a:t>&gt;7年</a:t>
            </a:r>
            <a:endParaRPr lang="en-US" sz="1100" dirty="0"/>
          </a:p>
        </p:txBody>
      </p:sp>
      <p:sp>
        <p:nvSpPr>
          <p:cNvPr id="24" name="Text 22"/>
          <p:cNvSpPr/>
          <p:nvPr/>
        </p:nvSpPr>
        <p:spPr>
          <a:xfrm>
            <a:off x="6783070" y="3054096"/>
            <a:ext cx="1444752" cy="457200"/>
          </a:xfrm>
          <a:prstGeom prst="rect">
            <a:avLst/>
          </a:prstGeom>
          <a:noFill/>
        </p:spPr>
        <p:txBody>
          <a:bodyPr wrap="square" lIns="0" tIns="0" rIns="0" bIns="0" rtlCol="0" anchor="ctr"/>
          <a:lstStyle/>
          <a:p>
            <a:pPr marL="0" indent="0" algn="ctr">
              <a:lnSpc>
                <a:spcPts val="1000"/>
              </a:lnSpc>
              <a:buNone/>
            </a:pPr>
            <a:r>
              <a:rPr lang="en-US" sz="850" dirty="0">
                <a:solidFill>
                  <a:srgbClr val="5C6B62"/>
                </a:solidFill>
                <a:latin typeface="微软雅黑" pitchFamily="34" charset="0"/>
                <a:ea typeface="微软雅黑" pitchFamily="34" charset="-122"/>
                <a:cs typeface="微软雅黑" pitchFamily="34" charset="-120"/>
              </a:rPr>
              <a:t>按周期巡检</a:t>
            </a:r>
            <a:endParaRPr lang="en-US" sz="850" dirty="0"/>
          </a:p>
        </p:txBody>
      </p:sp>
      <p:sp>
        <p:nvSpPr>
          <p:cNvPr id="25" name="Shape 23"/>
          <p:cNvSpPr/>
          <p:nvPr/>
        </p:nvSpPr>
        <p:spPr>
          <a:xfrm>
            <a:off x="2119630" y="3474720"/>
            <a:ext cx="6126480" cy="18288"/>
          </a:xfrm>
          <a:prstGeom prst="rect">
            <a:avLst/>
          </a:prstGeom>
          <a:solidFill>
            <a:srgbClr val="D6E3DA"/>
          </a:solidFill>
        </p:spPr>
      </p:sp>
      <p:sp>
        <p:nvSpPr>
          <p:cNvPr id="28" name="Shape 26"/>
          <p:cNvSpPr/>
          <p:nvPr/>
        </p:nvSpPr>
        <p:spPr>
          <a:xfrm>
            <a:off x="2119630" y="4572000"/>
            <a:ext cx="6126480" cy="914400"/>
          </a:xfrm>
          <a:prstGeom prst="roundRect">
            <a:avLst>
              <a:gd name="adj" fmla="val 10000"/>
            </a:avLst>
          </a:prstGeom>
          <a:solidFill>
            <a:srgbClr val="E7F2EA"/>
          </a:solidFill>
          <a:ln w="12700">
            <a:solidFill>
              <a:srgbClr val="D6E3DA"/>
            </a:solidFill>
            <a:prstDash val="solid"/>
          </a:ln>
        </p:spPr>
      </p:sp>
      <p:sp>
        <p:nvSpPr>
          <p:cNvPr id="29" name="Text 27"/>
          <p:cNvSpPr/>
          <p:nvPr/>
        </p:nvSpPr>
        <p:spPr>
          <a:xfrm>
            <a:off x="2302510" y="4663440"/>
            <a:ext cx="5760720" cy="310896"/>
          </a:xfrm>
          <a:prstGeom prst="rect">
            <a:avLst/>
          </a:prstGeom>
          <a:noFill/>
        </p:spPr>
        <p:txBody>
          <a:bodyPr wrap="square" lIns="0" tIns="0" rIns="0" bIns="0" rtlCol="0" anchor="ctr"/>
          <a:lstStyle/>
          <a:p>
            <a:pPr marL="0" indent="0">
              <a:buNone/>
            </a:pPr>
            <a:r>
              <a:rPr lang="en-US" sz="1400" b="1" dirty="0">
                <a:solidFill>
                  <a:srgbClr val="166534"/>
                </a:solidFill>
                <a:latin typeface="微软雅黑" pitchFamily="34" charset="0"/>
                <a:ea typeface="微软雅黑" pitchFamily="34" charset="-122"/>
                <a:cs typeface="微软雅黑" pitchFamily="34" charset="-120"/>
              </a:rPr>
              <a:t>输出：剩余年数 + 风险部位 Top3 + 预警等级</a:t>
            </a:r>
            <a:endParaRPr lang="en-US" sz="1400" dirty="0"/>
          </a:p>
        </p:txBody>
      </p:sp>
      <p:sp>
        <p:nvSpPr>
          <p:cNvPr id="30" name="Text 28"/>
          <p:cNvSpPr/>
          <p:nvPr/>
        </p:nvSpPr>
        <p:spPr>
          <a:xfrm>
            <a:off x="2302510" y="5010912"/>
            <a:ext cx="5760720" cy="384048"/>
          </a:xfrm>
          <a:prstGeom prst="rect">
            <a:avLst/>
          </a:prstGeom>
          <a:noFill/>
        </p:spPr>
        <p:txBody>
          <a:bodyPr wrap="square" lIns="0" tIns="0" rIns="0" bIns="0" rtlCol="0" anchor="ctr"/>
          <a:lstStyle/>
          <a:p>
            <a:pPr marL="0" indent="0">
              <a:buNone/>
            </a:pPr>
            <a:r>
              <a:rPr lang="en-US" sz="1150" dirty="0">
                <a:solidFill>
                  <a:srgbClr val="5C6B62"/>
                </a:solidFill>
                <a:latin typeface="微软雅黑" pitchFamily="34" charset="0"/>
                <a:ea typeface="微软雅黑" pitchFamily="34" charset="-122"/>
                <a:cs typeface="微软雅黑" pitchFamily="34" charset="-120"/>
              </a:rPr>
              <a:t>“修哪里、何时修、多急” → 智投·抢修排程，让维修台账与寿命联动</a:t>
            </a:r>
            <a:endParaRPr lang="en-US" sz="1150" dirty="0"/>
          </a:p>
        </p:txBody>
      </p:sp>
      <p:sp>
        <p:nvSpPr>
          <p:cNvPr id="49" name="Text 47"/>
          <p:cNvSpPr/>
          <p:nvPr/>
        </p:nvSpPr>
        <p:spPr>
          <a:xfrm>
            <a:off x="1918335" y="3822065"/>
            <a:ext cx="6181090" cy="311150"/>
          </a:xfrm>
          <a:prstGeom prst="rect">
            <a:avLst/>
          </a:prstGeom>
          <a:noFill/>
        </p:spPr>
        <p:txBody>
          <a:bodyPr wrap="square" lIns="0" tIns="0" rIns="0" bIns="0" rtlCol="0" anchor="ctr"/>
          <a:lstStyle/>
          <a:p>
            <a:pPr marL="0" indent="0">
              <a:buNone/>
            </a:pPr>
            <a:r>
              <a:rPr lang="en-US" sz="1100" dirty="0">
                <a:solidFill>
                  <a:srgbClr val="5C6B62"/>
                </a:solidFill>
                <a:latin typeface="微软雅黑" pitchFamily="34" charset="0"/>
                <a:ea typeface="微软雅黑" pitchFamily="34" charset="-122"/>
                <a:cs typeface="微软雅黑" pitchFamily="34" charset="-120"/>
              </a:rPr>
              <a:t>短板约束 + 重要度 + 维修衰减 + 健康加速 + 年限收缩 —— 五层递进可复核</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00" fill="hold"/>
                                        <p:tgtEl>
                                          <p:spTgt spid="17"/>
                                        </p:tgtEl>
                                        <p:attrNameLst>
                                          <p:attrName>ppt_x</p:attrName>
                                        </p:attrNameLst>
                                      </p:cBhvr>
                                      <p:tavLst>
                                        <p:tav tm="0">
                                          <p:val>
                                            <p:strVal val="#ppt_x"/>
                                          </p:val>
                                        </p:tav>
                                        <p:tav tm="100000">
                                          <p:val>
                                            <p:strVal val="#ppt_x"/>
                                          </p:val>
                                        </p:tav>
                                      </p:tavLst>
                                    </p:anim>
                                    <p:anim calcmode="lin" valueType="num">
                                      <p:cBhvr additive="base">
                                        <p:cTn id="64" dur="500" fill="hold"/>
                                        <p:tgtEl>
                                          <p:spTgt spid="1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00" fill="hold"/>
                                        <p:tgtEl>
                                          <p:spTgt spid="19"/>
                                        </p:tgtEl>
                                        <p:attrNameLst>
                                          <p:attrName>ppt_x</p:attrName>
                                        </p:attrNameLst>
                                      </p:cBhvr>
                                      <p:tavLst>
                                        <p:tav tm="0">
                                          <p:val>
                                            <p:strVal val="#ppt_x"/>
                                          </p:val>
                                        </p:tav>
                                        <p:tav tm="100000">
                                          <p:val>
                                            <p:strVal val="#ppt_x"/>
                                          </p:val>
                                        </p:tav>
                                      </p:tavLst>
                                    </p:anim>
                                    <p:anim calcmode="lin" valueType="num">
                                      <p:cBhvr additive="base">
                                        <p:cTn id="72" dur="500" fill="hold"/>
                                        <p:tgtEl>
                                          <p:spTgt spid="1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fill="hold"/>
                                        <p:tgtEl>
                                          <p:spTgt spid="20"/>
                                        </p:tgtEl>
                                        <p:attrNameLst>
                                          <p:attrName>ppt_x</p:attrName>
                                        </p:attrNameLst>
                                      </p:cBhvr>
                                      <p:tavLst>
                                        <p:tav tm="0">
                                          <p:val>
                                            <p:strVal val="#ppt_x"/>
                                          </p:val>
                                        </p:tav>
                                        <p:tav tm="100000">
                                          <p:val>
                                            <p:strVal val="#ppt_x"/>
                                          </p:val>
                                        </p:tav>
                                      </p:tavLst>
                                    </p:anim>
                                    <p:anim calcmode="lin" valueType="num">
                                      <p:cBhvr additive="base">
                                        <p:cTn id="76" dur="500" fill="hold"/>
                                        <p:tgtEl>
                                          <p:spTgt spid="20"/>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00" fill="hold"/>
                                        <p:tgtEl>
                                          <p:spTgt spid="21"/>
                                        </p:tgtEl>
                                        <p:attrNameLst>
                                          <p:attrName>ppt_x</p:attrName>
                                        </p:attrNameLst>
                                      </p:cBhvr>
                                      <p:tavLst>
                                        <p:tav tm="0">
                                          <p:val>
                                            <p:strVal val="#ppt_x"/>
                                          </p:val>
                                        </p:tav>
                                        <p:tav tm="100000">
                                          <p:val>
                                            <p:strVal val="#ppt_x"/>
                                          </p:val>
                                        </p:tav>
                                      </p:tavLst>
                                    </p:anim>
                                    <p:anim calcmode="lin" valueType="num">
                                      <p:cBhvr additive="base">
                                        <p:cTn id="80" dur="500" fill="hold"/>
                                        <p:tgtEl>
                                          <p:spTgt spid="21"/>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00" fill="hold"/>
                                        <p:tgtEl>
                                          <p:spTgt spid="22"/>
                                        </p:tgtEl>
                                        <p:attrNameLst>
                                          <p:attrName>ppt_x</p:attrName>
                                        </p:attrNameLst>
                                      </p:cBhvr>
                                      <p:tavLst>
                                        <p:tav tm="0">
                                          <p:val>
                                            <p:strVal val="#ppt_x"/>
                                          </p:val>
                                        </p:tav>
                                        <p:tav tm="100000">
                                          <p:val>
                                            <p:strVal val="#ppt_x"/>
                                          </p:val>
                                        </p:tav>
                                      </p:tavLst>
                                    </p:anim>
                                    <p:anim calcmode="lin" valueType="num">
                                      <p:cBhvr additive="base">
                                        <p:cTn id="84" dur="500" fill="hold"/>
                                        <p:tgtEl>
                                          <p:spTgt spid="22"/>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00" fill="hold"/>
                                        <p:tgtEl>
                                          <p:spTgt spid="23"/>
                                        </p:tgtEl>
                                        <p:attrNameLst>
                                          <p:attrName>ppt_x</p:attrName>
                                        </p:attrNameLst>
                                      </p:cBhvr>
                                      <p:tavLst>
                                        <p:tav tm="0">
                                          <p:val>
                                            <p:strVal val="#ppt_x"/>
                                          </p:val>
                                        </p:tav>
                                        <p:tav tm="100000">
                                          <p:val>
                                            <p:strVal val="#ppt_x"/>
                                          </p:val>
                                        </p:tav>
                                      </p:tavLst>
                                    </p:anim>
                                    <p:anim calcmode="lin" valueType="num">
                                      <p:cBhvr additive="base">
                                        <p:cTn id="88" dur="500" fill="hold"/>
                                        <p:tgtEl>
                                          <p:spTgt spid="23"/>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500" fill="hold"/>
                                        <p:tgtEl>
                                          <p:spTgt spid="24"/>
                                        </p:tgtEl>
                                        <p:attrNameLst>
                                          <p:attrName>ppt_x</p:attrName>
                                        </p:attrNameLst>
                                      </p:cBhvr>
                                      <p:tavLst>
                                        <p:tav tm="0">
                                          <p:val>
                                            <p:strVal val="#ppt_x"/>
                                          </p:val>
                                        </p:tav>
                                        <p:tav tm="100000">
                                          <p:val>
                                            <p:strVal val="#ppt_x"/>
                                          </p:val>
                                        </p:tav>
                                      </p:tavLst>
                                    </p:anim>
                                    <p:anim calcmode="lin" valueType="num">
                                      <p:cBhvr additive="base">
                                        <p:cTn id="92" dur="500" fill="hold"/>
                                        <p:tgtEl>
                                          <p:spTgt spid="24"/>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ppt_x</p:attrName>
                                        </p:attrNameLst>
                                      </p:cBhvr>
                                      <p:tavLst>
                                        <p:tav tm="0">
                                          <p:val>
                                            <p:strVal val="#ppt_x"/>
                                          </p:val>
                                        </p:tav>
                                        <p:tav tm="100000">
                                          <p:val>
                                            <p:strVal val="#ppt_x"/>
                                          </p:val>
                                        </p:tav>
                                      </p:tavLst>
                                    </p:anim>
                                    <p:anim calcmode="lin" valueType="num">
                                      <p:cBhvr additive="base">
                                        <p:cTn id="96" dur="500" fill="hold"/>
                                        <p:tgtEl>
                                          <p:spTgt spid="25"/>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ppt_x"/>
                                          </p:val>
                                        </p:tav>
                                        <p:tav tm="100000">
                                          <p:val>
                                            <p:strVal val="#ppt_x"/>
                                          </p:val>
                                        </p:tav>
                                      </p:tavLst>
                                    </p:anim>
                                    <p:anim calcmode="lin" valueType="num">
                                      <p:cBhvr additive="base">
                                        <p:cTn id="100" dur="500" fill="hold"/>
                                        <p:tgtEl>
                                          <p:spTgt spid="28"/>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29"/>
                                        </p:tgtEl>
                                        <p:attrNameLst>
                                          <p:attrName>style.visibility</p:attrName>
                                        </p:attrNameLst>
                                      </p:cBhvr>
                                      <p:to>
                                        <p:strVal val="visible"/>
                                      </p:to>
                                    </p:set>
                                    <p:anim calcmode="lin" valueType="num">
                                      <p:cBhvr additive="base">
                                        <p:cTn id="103" dur="500" fill="hold"/>
                                        <p:tgtEl>
                                          <p:spTgt spid="29"/>
                                        </p:tgtEl>
                                        <p:attrNameLst>
                                          <p:attrName>ppt_x</p:attrName>
                                        </p:attrNameLst>
                                      </p:cBhvr>
                                      <p:tavLst>
                                        <p:tav tm="0">
                                          <p:val>
                                            <p:strVal val="#ppt_x"/>
                                          </p:val>
                                        </p:tav>
                                        <p:tav tm="100000">
                                          <p:val>
                                            <p:strVal val="#ppt_x"/>
                                          </p:val>
                                        </p:tav>
                                      </p:tavLst>
                                    </p:anim>
                                    <p:anim calcmode="lin" valueType="num">
                                      <p:cBhvr additive="base">
                                        <p:cTn id="104" dur="500" fill="hold"/>
                                        <p:tgtEl>
                                          <p:spTgt spid="29"/>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0"/>
                                        </p:tgtEl>
                                        <p:attrNameLst>
                                          <p:attrName>style.visibility</p:attrName>
                                        </p:attrNameLst>
                                      </p:cBhvr>
                                      <p:to>
                                        <p:strVal val="visible"/>
                                      </p:to>
                                    </p:set>
                                    <p:anim calcmode="lin" valueType="num">
                                      <p:cBhvr additive="base">
                                        <p:cTn id="107" dur="500" fill="hold"/>
                                        <p:tgtEl>
                                          <p:spTgt spid="30"/>
                                        </p:tgtEl>
                                        <p:attrNameLst>
                                          <p:attrName>ppt_x</p:attrName>
                                        </p:attrNameLst>
                                      </p:cBhvr>
                                      <p:tavLst>
                                        <p:tav tm="0">
                                          <p:val>
                                            <p:strVal val="#ppt_x"/>
                                          </p:val>
                                        </p:tav>
                                        <p:tav tm="100000">
                                          <p:val>
                                            <p:strVal val="#ppt_x"/>
                                          </p:val>
                                        </p:tav>
                                      </p:tavLst>
                                    </p:anim>
                                    <p:anim calcmode="lin" valueType="num">
                                      <p:cBhvr additive="base">
                                        <p:cTn id="108" dur="500" fill="hold"/>
                                        <p:tgtEl>
                                          <p:spTgt spid="30"/>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49"/>
                                        </p:tgtEl>
                                        <p:attrNameLst>
                                          <p:attrName>style.visibility</p:attrName>
                                        </p:attrNameLst>
                                      </p:cBhvr>
                                      <p:to>
                                        <p:strVal val="visible"/>
                                      </p:to>
                                    </p:set>
                                    <p:anim calcmode="lin" valueType="num">
                                      <p:cBhvr additive="base">
                                        <p:cTn id="111" dur="500" fill="hold"/>
                                        <p:tgtEl>
                                          <p:spTgt spid="49"/>
                                        </p:tgtEl>
                                        <p:attrNameLst>
                                          <p:attrName>ppt_x</p:attrName>
                                        </p:attrNameLst>
                                      </p:cBhvr>
                                      <p:tavLst>
                                        <p:tav tm="0">
                                          <p:val>
                                            <p:strVal val="#ppt_x"/>
                                          </p:val>
                                        </p:tav>
                                        <p:tav tm="100000">
                                          <p:val>
                                            <p:strVal val="#ppt_x"/>
                                          </p:val>
                                        </p:tav>
                                      </p:tavLst>
                                    </p:anim>
                                    <p:anim calcmode="lin" valueType="num">
                                      <p:cBhvr additive="base">
                                        <p:cTn id="112" dur="500" fill="hold"/>
                                        <p:tgtEl>
                                          <p:spTgt spid="49"/>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6"/>
                                        </p:tgtEl>
                                        <p:attrNameLst>
                                          <p:attrName>style.visibility</p:attrName>
                                        </p:attrNameLst>
                                      </p:cBhvr>
                                      <p:to>
                                        <p:strVal val="visible"/>
                                      </p:to>
                                    </p:set>
                                    <p:anim calcmode="lin" valueType="num">
                                      <p:cBhvr additive="base">
                                        <p:cTn id="115" dur="500" fill="hold"/>
                                        <p:tgtEl>
                                          <p:spTgt spid="6"/>
                                        </p:tgtEl>
                                        <p:attrNameLst>
                                          <p:attrName>ppt_x</p:attrName>
                                        </p:attrNameLst>
                                      </p:cBhvr>
                                      <p:tavLst>
                                        <p:tav tm="0">
                                          <p:val>
                                            <p:strVal val="#ppt_x"/>
                                          </p:val>
                                        </p:tav>
                                        <p:tav tm="100000">
                                          <p:val>
                                            <p:strVal val="#ppt_x"/>
                                          </p:val>
                                        </p:tav>
                                      </p:tavLst>
                                    </p:anim>
                                    <p:anim calcmode="lin" valueType="num">
                                      <p:cBhvr additive="base">
                                        <p:cTn id="1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10" grpId="0"/>
      <p:bldP spid="11" grpId="0"/>
      <p:bldP spid="12" grpId="0"/>
      <p:bldP spid="14" grpId="0"/>
      <p:bldP spid="15" grpId="0"/>
      <p:bldP spid="16" grpId="0"/>
      <p:bldP spid="18" grpId="0"/>
      <p:bldP spid="19" grpId="0"/>
      <p:bldP spid="20" grpId="0"/>
      <p:bldP spid="22" grpId="0"/>
      <p:bldP spid="23" grpId="0"/>
      <p:bldP spid="24" grpId="0"/>
      <p:bldP spid="29" grpId="0"/>
      <p:bldP spid="30" grpId="0"/>
      <p:bldP spid="49"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287020" y="215900"/>
            <a:ext cx="1737360" cy="475615"/>
          </a:xfrm>
          <a:prstGeom prst="roundRect">
            <a:avLst>
              <a:gd name="adj" fmla="val 50000"/>
            </a:avLst>
          </a:prstGeom>
          <a:solidFill>
            <a:srgbClr val="14532D"/>
          </a:solidFill>
          <a:effectLst>
            <a:outerShdw blurRad="2147483647" dist="2147483647" dir="1" algn="bl" rotWithShape="0">
              <a:srgbClr val="1B4633">
                <a:alpha val="2"/>
              </a:srgbClr>
            </a:outerShdw>
          </a:effectLst>
        </p:spPr>
      </p:sp>
      <p:sp>
        <p:nvSpPr>
          <p:cNvPr id="4" name="Text 2"/>
          <p:cNvSpPr/>
          <p:nvPr/>
        </p:nvSpPr>
        <p:spPr>
          <a:xfrm>
            <a:off x="287020" y="21590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a:t>
            </a:r>
            <a:r>
              <a:rPr lang="zh-CN" altLang="en-US" sz="1500" b="1" dirty="0">
                <a:solidFill>
                  <a:srgbClr val="FFFFFF"/>
                </a:solidFill>
                <a:latin typeface="微软雅黑" pitchFamily="34" charset="0"/>
                <a:ea typeface="微软雅黑" pitchFamily="34" charset="-122"/>
                <a:cs typeface="微软雅黑" pitchFamily="34" charset="-120"/>
              </a:rPr>
              <a:t>二</a:t>
            </a:r>
            <a:endParaRPr lang="zh-CN" altLang="en-US" sz="1500" b="1" dirty="0">
              <a:solidFill>
                <a:srgbClr val="FFFFFF"/>
              </a:solidFill>
              <a:latin typeface="微软雅黑" pitchFamily="34" charset="0"/>
              <a:ea typeface="微软雅黑" pitchFamily="34" charset="-122"/>
              <a:cs typeface="微软雅黑" pitchFamily="34" charset="-120"/>
            </a:endParaRPr>
          </a:p>
        </p:txBody>
      </p:sp>
      <p:pic>
        <p:nvPicPr>
          <p:cNvPr id="6" name="图片 5" descr="1-烤房新建选址模型_需求判断与候选点排序_一页图.drawio"/>
          <p:cNvPicPr>
            <a:picLocks noChangeAspect="1"/>
          </p:cNvPicPr>
          <p:nvPr/>
        </p:nvPicPr>
        <p:blipFill>
          <a:blip r:embed="rId1"/>
          <a:stretch>
            <a:fillRect/>
          </a:stretch>
        </p:blipFill>
        <p:spPr>
          <a:xfrm>
            <a:off x="1272540" y="0"/>
            <a:ext cx="10595610" cy="62934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02920" y="502920"/>
            <a:ext cx="1737360" cy="475488"/>
          </a:xfrm>
          <a:prstGeom prst="roundRect">
            <a:avLst>
              <a:gd name="adj" fmla="val 50000"/>
            </a:avLst>
          </a:prstGeom>
          <a:solidFill>
            <a:srgbClr val="14532D"/>
          </a:solidFill>
          <a:effectLst>
            <a:outerShdw blurRad="2147483647" dist="2147483647" dir="1" algn="bl" rotWithShape="0">
              <a:srgbClr val="1B4633">
                <a:alpha val="2"/>
              </a:srgbClr>
            </a:outerShdw>
          </a:effectLst>
        </p:spPr>
        <p:txBody>
          <a:bodyPr/>
          <a:p/>
        </p:txBody>
      </p:sp>
      <p:sp>
        <p:nvSpPr>
          <p:cNvPr id="4" name="Text 2"/>
          <p:cNvSpPr/>
          <p:nvPr/>
        </p:nvSpPr>
        <p:spPr>
          <a:xfrm>
            <a:off x="502920" y="50292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 二</a:t>
            </a:r>
            <a:endParaRPr lang="en-US" sz="1500" dirty="0"/>
          </a:p>
        </p:txBody>
      </p:sp>
      <p:sp>
        <p:nvSpPr>
          <p:cNvPr id="5" name="Text 3"/>
          <p:cNvSpPr/>
          <p:nvPr/>
        </p:nvSpPr>
        <p:spPr>
          <a:xfrm>
            <a:off x="2487168" y="365760"/>
            <a:ext cx="9052560" cy="777240"/>
          </a:xfrm>
          <a:prstGeom prst="rect">
            <a:avLst/>
          </a:prstGeom>
          <a:noFill/>
        </p:spPr>
        <p:txBody>
          <a:bodyPr wrap="square" lIns="0" tIns="0" rIns="0" bIns="0" rtlCol="0" anchor="ctr"/>
          <a:lstStyle/>
          <a:p>
            <a:pPr marL="0" indent="0">
              <a:buNone/>
            </a:pPr>
            <a:r>
              <a:rPr lang="en-US" sz="2700" b="1" dirty="0">
                <a:solidFill>
                  <a:srgbClr val="14301F"/>
                </a:solidFill>
                <a:latin typeface="微软雅黑" pitchFamily="34" charset="0"/>
                <a:ea typeface="微软雅黑" pitchFamily="34" charset="-122"/>
                <a:cs typeface="微软雅黑" pitchFamily="34" charset="-120"/>
              </a:rPr>
              <a:t>村级发展指数 —</a:t>
            </a:r>
            <a:r>
              <a:rPr lang="en-US" sz="2700" b="1" dirty="0">
                <a:solidFill>
                  <a:srgbClr val="14301F"/>
                </a:solidFill>
                <a:latin typeface="微软雅黑" pitchFamily="34" charset="0"/>
                <a:ea typeface="微软雅黑" pitchFamily="34" charset="-122"/>
                <a:cs typeface="微软雅黑" pitchFamily="34" charset="-120"/>
                <a:sym typeface="+mn-ea"/>
              </a:rPr>
              <a:t>科学回答：哪里建、建几栋</a:t>
            </a:r>
            <a:endParaRPr lang="en-US" sz="2700" dirty="0"/>
          </a:p>
        </p:txBody>
      </p:sp>
      <p:sp>
        <p:nvSpPr>
          <p:cNvPr id="7" name="Shape 5"/>
          <p:cNvSpPr/>
          <p:nvPr/>
        </p:nvSpPr>
        <p:spPr>
          <a:xfrm>
            <a:off x="502920" y="1100455"/>
            <a:ext cx="6858000" cy="4500245"/>
          </a:xfrm>
          <a:prstGeom prst="roundRect">
            <a:avLst>
              <a:gd name="adj" fmla="val 2308"/>
            </a:avLst>
          </a:prstGeom>
          <a:solidFill>
            <a:srgbClr val="FFFFFF"/>
          </a:solidFill>
          <a:ln w="12700">
            <a:solidFill>
              <a:srgbClr val="D6E3DA"/>
            </a:solidFill>
            <a:prstDash val="solid"/>
          </a:ln>
          <a:effectLst>
            <a:outerShdw blurRad="2147483647" dist="2147483647" dir="9" algn="bl" rotWithShape="0">
              <a:srgbClr val="1B4633">
                <a:alpha val="2"/>
              </a:srgbClr>
            </a:outerShdw>
          </a:effectLst>
        </p:spPr>
        <p:txBody>
          <a:bodyPr/>
          <a:p/>
        </p:txBody>
      </p:sp>
      <p:sp>
        <p:nvSpPr>
          <p:cNvPr id="8" name="Shape 6"/>
          <p:cNvSpPr/>
          <p:nvPr/>
        </p:nvSpPr>
        <p:spPr>
          <a:xfrm>
            <a:off x="731520" y="1155192"/>
            <a:ext cx="6400800" cy="640080"/>
          </a:xfrm>
          <a:prstGeom prst="roundRect">
            <a:avLst>
              <a:gd name="adj" fmla="val 8571"/>
            </a:avLst>
          </a:prstGeom>
          <a:solidFill>
            <a:srgbClr val="14532D"/>
          </a:solidFill>
          <a:effectLst>
            <a:outerShdw blurRad="2147483647" dist="2147483647" dir="5" algn="bl" rotWithShape="0">
              <a:srgbClr val="1B4633">
                <a:alpha val="2"/>
              </a:srgbClr>
            </a:outerShdw>
          </a:effectLst>
        </p:spPr>
        <p:txBody>
          <a:bodyPr/>
          <a:p/>
        </p:txBody>
      </p:sp>
      <p:sp>
        <p:nvSpPr>
          <p:cNvPr id="9" name="Text 7"/>
          <p:cNvSpPr/>
          <p:nvPr/>
        </p:nvSpPr>
        <p:spPr>
          <a:xfrm>
            <a:off x="731520" y="1155192"/>
            <a:ext cx="6400800" cy="64008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itchFamily="34" charset="0"/>
                <a:ea typeface="微软雅黑" pitchFamily="34" charset="-122"/>
                <a:cs typeface="微软雅黑" pitchFamily="34" charset="-120"/>
              </a:rPr>
              <a:t>V = 0.50·Hc + 0.30·Lc + 0.20·Dc　</a:t>
            </a:r>
            <a:r>
              <a:rPr lang="en-US" sz="1250" b="1" dirty="0">
                <a:solidFill>
                  <a:srgbClr val="B8922A"/>
                </a:solidFill>
                <a:latin typeface="微软雅黑" pitchFamily="34" charset="0"/>
                <a:ea typeface="微软雅黑" pitchFamily="34" charset="-122"/>
                <a:cs typeface="微软雅黑" pitchFamily="34" charset="-120"/>
              </a:rPr>
              <a:t>新建需求分 N = 100 − V</a:t>
            </a:r>
            <a:endParaRPr lang="en-US" sz="1600" dirty="0"/>
          </a:p>
        </p:txBody>
      </p:sp>
      <p:sp>
        <p:nvSpPr>
          <p:cNvPr id="10" name="Shape 8"/>
          <p:cNvSpPr/>
          <p:nvPr/>
        </p:nvSpPr>
        <p:spPr>
          <a:xfrm>
            <a:off x="3931920" y="1813560"/>
            <a:ext cx="10973" cy="109728"/>
          </a:xfrm>
          <a:prstGeom prst="line">
            <a:avLst/>
          </a:prstGeom>
          <a:noFill/>
          <a:ln w="17780">
            <a:solidFill>
              <a:srgbClr val="6B8F7C"/>
            </a:solidFill>
            <a:prstDash val="solid"/>
          </a:ln>
        </p:spPr>
        <p:txBody>
          <a:bodyPr/>
          <a:p/>
        </p:txBody>
      </p:sp>
      <p:sp>
        <p:nvSpPr>
          <p:cNvPr id="11" name="Shape 9"/>
          <p:cNvSpPr/>
          <p:nvPr/>
        </p:nvSpPr>
        <p:spPr>
          <a:xfrm>
            <a:off x="731520" y="2014728"/>
            <a:ext cx="6400800" cy="1225296"/>
          </a:xfrm>
          <a:prstGeom prst="roundRect">
            <a:avLst>
              <a:gd name="adj" fmla="val 5970"/>
            </a:avLst>
          </a:prstGeom>
          <a:solidFill>
            <a:srgbClr val="FFFFFF"/>
          </a:solidFill>
          <a:ln w="12700">
            <a:solidFill>
              <a:srgbClr val="D6E3DA"/>
            </a:solidFill>
            <a:prstDash val="solid"/>
          </a:ln>
        </p:spPr>
        <p:txBody>
          <a:bodyPr/>
          <a:p/>
        </p:txBody>
      </p:sp>
      <p:sp>
        <p:nvSpPr>
          <p:cNvPr id="13" name="Text 11"/>
          <p:cNvSpPr/>
          <p:nvPr/>
        </p:nvSpPr>
        <p:spPr>
          <a:xfrm>
            <a:off x="960120" y="2069592"/>
            <a:ext cx="6126480" cy="310896"/>
          </a:xfrm>
          <a:prstGeom prst="rect">
            <a:avLst/>
          </a:prstGeom>
          <a:noFill/>
        </p:spPr>
        <p:txBody>
          <a:bodyPr wrap="square" lIns="0" tIns="0" rIns="0" bIns="0" rtlCol="0" anchor="ctr"/>
          <a:lstStyle/>
          <a:p>
            <a:pPr marL="0" indent="0">
              <a:buNone/>
            </a:pPr>
            <a:r>
              <a:rPr lang="en-US" sz="1350" b="1" dirty="0">
                <a:solidFill>
                  <a:srgbClr val="166534"/>
                </a:solidFill>
                <a:latin typeface="微软雅黑" pitchFamily="34" charset="0"/>
                <a:ea typeface="微软雅黑" pitchFamily="34" charset="-122"/>
                <a:cs typeface="微软雅黑" pitchFamily="34" charset="-120"/>
              </a:rPr>
              <a:t>Hc 有效烤能指数 ×0.50</a:t>
            </a:r>
            <a:endParaRPr lang="en-US" sz="1350" dirty="0"/>
          </a:p>
        </p:txBody>
      </p:sp>
      <p:sp>
        <p:nvSpPr>
          <p:cNvPr id="14" name="Text 12"/>
          <p:cNvSpPr/>
          <p:nvPr/>
        </p:nvSpPr>
        <p:spPr>
          <a:xfrm>
            <a:off x="960120" y="2398776"/>
            <a:ext cx="6172200" cy="786384"/>
          </a:xfrm>
          <a:prstGeom prst="rect">
            <a:avLst/>
          </a:prstGeom>
          <a:noFill/>
        </p:spPr>
        <p:txBody>
          <a:bodyPr wrap="square" lIns="0" tIns="0" rIns="0" bIns="0" rtlCol="0" anchor="ctr"/>
          <a:lstStyle/>
          <a:p>
            <a:pPr marL="0" indent="0">
              <a:lnSpc>
                <a:spcPts val="1500"/>
              </a:lnSpc>
              <a:buNone/>
            </a:pPr>
            <a:r>
              <a:rPr lang="en-US" sz="1050" dirty="0">
                <a:solidFill>
                  <a:srgbClr val="5C6B62"/>
                </a:solidFill>
                <a:latin typeface="微软雅黑" pitchFamily="34" charset="0"/>
                <a:ea typeface="微软雅黑" pitchFamily="34" charset="-122"/>
                <a:cs typeface="微软雅黑" pitchFamily="34" charset="-120"/>
              </a:rPr>
              <a:t>单栋 E=健康分/100×容量×状态(在用1.0·闲置0.4·待修0.1)</a:t>
            </a:r>
            <a:endParaRPr lang="en-US" sz="1050" dirty="0"/>
          </a:p>
          <a:p>
            <a:pPr marL="0" indent="0">
              <a:lnSpc>
                <a:spcPts val="1500"/>
              </a:lnSpc>
              <a:buNone/>
            </a:pPr>
            <a:r>
              <a:rPr lang="en-US" sz="1050" dirty="0">
                <a:solidFill>
                  <a:srgbClr val="5C6B62"/>
                </a:solidFill>
                <a:latin typeface="微软雅黑" pitchFamily="34" charset="0"/>
                <a:ea typeface="微软雅黑" pitchFamily="34" charset="-122"/>
                <a:cs typeface="微软雅黑" pitchFamily="34" charset="-120"/>
              </a:rPr>
              <a:t>A=在用ΣE ， B=闲置ΣE×0.4 ， C=待修ΣE×0.1</a:t>
            </a:r>
            <a:endParaRPr lang="en-US" sz="1050" dirty="0"/>
          </a:p>
          <a:p>
            <a:pPr marL="0" indent="0">
              <a:lnSpc>
                <a:spcPts val="1500"/>
              </a:lnSpc>
              <a:buNone/>
            </a:pPr>
            <a:r>
              <a:rPr lang="en-US" sz="1050" dirty="0">
                <a:solidFill>
                  <a:srgbClr val="5C6B62"/>
                </a:solidFill>
                <a:latin typeface="微软雅黑" pitchFamily="34" charset="0"/>
                <a:ea typeface="微软雅黑" pitchFamily="34" charset="-122"/>
                <a:cs typeface="微软雅黑" pitchFamily="34" charset="-120"/>
              </a:rPr>
              <a:t>Q=0.7A+0.2B+0.1C ， Hc=min(100, Q/D×100)</a:t>
            </a:r>
            <a:endParaRPr lang="en-US" sz="1050" dirty="0"/>
          </a:p>
        </p:txBody>
      </p:sp>
      <p:sp>
        <p:nvSpPr>
          <p:cNvPr id="15" name="Shape 13"/>
          <p:cNvSpPr/>
          <p:nvPr/>
        </p:nvSpPr>
        <p:spPr>
          <a:xfrm>
            <a:off x="731520" y="3368040"/>
            <a:ext cx="6400800" cy="933450"/>
          </a:xfrm>
          <a:prstGeom prst="roundRect">
            <a:avLst>
              <a:gd name="adj" fmla="val 5970"/>
            </a:avLst>
          </a:prstGeom>
          <a:solidFill>
            <a:srgbClr val="FFFFFF"/>
          </a:solidFill>
          <a:ln w="12700">
            <a:solidFill>
              <a:srgbClr val="D6E3DA"/>
            </a:solidFill>
            <a:prstDash val="solid"/>
          </a:ln>
        </p:spPr>
        <p:txBody>
          <a:bodyPr/>
          <a:p/>
        </p:txBody>
      </p:sp>
      <p:sp>
        <p:nvSpPr>
          <p:cNvPr id="17" name="Text 15"/>
          <p:cNvSpPr/>
          <p:nvPr/>
        </p:nvSpPr>
        <p:spPr>
          <a:xfrm>
            <a:off x="960120" y="3422904"/>
            <a:ext cx="6126480" cy="310896"/>
          </a:xfrm>
          <a:prstGeom prst="rect">
            <a:avLst/>
          </a:prstGeom>
          <a:noFill/>
        </p:spPr>
        <p:txBody>
          <a:bodyPr wrap="square" lIns="0" tIns="0" rIns="0" bIns="0" rtlCol="0" anchor="ctr"/>
          <a:lstStyle/>
          <a:p>
            <a:pPr marL="0" indent="0">
              <a:buNone/>
            </a:pPr>
            <a:r>
              <a:rPr lang="en-US" sz="1350" b="1" dirty="0">
                <a:solidFill>
                  <a:srgbClr val="166534"/>
                </a:solidFill>
                <a:latin typeface="微软雅黑" pitchFamily="34" charset="0"/>
                <a:ea typeface="微软雅黑" pitchFamily="34" charset="-122"/>
                <a:cs typeface="微软雅黑" pitchFamily="34" charset="-120"/>
              </a:rPr>
              <a:t>Lc 承载匹配指数 ×0.30</a:t>
            </a:r>
            <a:endParaRPr lang="en-US" sz="1350" dirty="0"/>
          </a:p>
        </p:txBody>
      </p:sp>
      <p:sp>
        <p:nvSpPr>
          <p:cNvPr id="18" name="Text 16"/>
          <p:cNvSpPr/>
          <p:nvPr/>
        </p:nvSpPr>
        <p:spPr>
          <a:xfrm>
            <a:off x="960120" y="3752215"/>
            <a:ext cx="6172200" cy="549275"/>
          </a:xfrm>
          <a:prstGeom prst="rect">
            <a:avLst/>
          </a:prstGeom>
          <a:noFill/>
        </p:spPr>
        <p:txBody>
          <a:bodyPr wrap="square" lIns="0" tIns="0" rIns="0" bIns="0" rtlCol="0" anchor="ctr"/>
          <a:lstStyle/>
          <a:p>
            <a:pPr marL="0" indent="0">
              <a:lnSpc>
                <a:spcPts val="1500"/>
              </a:lnSpc>
              <a:buNone/>
            </a:pPr>
            <a:r>
              <a:rPr lang="en-US" sz="1050" dirty="0">
                <a:solidFill>
                  <a:srgbClr val="5C6B62"/>
                </a:solidFill>
                <a:latin typeface="微软雅黑" pitchFamily="34" charset="0"/>
                <a:ea typeface="微软雅黑" pitchFamily="34" charset="-122"/>
                <a:cs typeface="微软雅黑" pitchFamily="34" charset="-120"/>
              </a:rPr>
              <a:t>压力 P = D ÷ Q · 分档：≤0.85→100 · ≤1→85 · ≤1.2→70 · ≤1.5→50 · &gt;1.5→30</a:t>
            </a:r>
            <a:endParaRPr lang="en-US" sz="1050" dirty="0"/>
          </a:p>
        </p:txBody>
      </p:sp>
      <p:sp>
        <p:nvSpPr>
          <p:cNvPr id="19" name="Shape 17"/>
          <p:cNvSpPr/>
          <p:nvPr/>
        </p:nvSpPr>
        <p:spPr>
          <a:xfrm>
            <a:off x="731520" y="4538345"/>
            <a:ext cx="6400800" cy="786130"/>
          </a:xfrm>
          <a:prstGeom prst="roundRect">
            <a:avLst>
              <a:gd name="adj" fmla="val 5970"/>
            </a:avLst>
          </a:prstGeom>
          <a:solidFill>
            <a:srgbClr val="FFFFFF"/>
          </a:solidFill>
          <a:ln w="12700">
            <a:solidFill>
              <a:srgbClr val="D6E3DA"/>
            </a:solidFill>
            <a:prstDash val="solid"/>
          </a:ln>
        </p:spPr>
        <p:txBody>
          <a:bodyPr/>
          <a:p/>
        </p:txBody>
      </p:sp>
      <p:sp>
        <p:nvSpPr>
          <p:cNvPr id="21" name="Text 19"/>
          <p:cNvSpPr/>
          <p:nvPr/>
        </p:nvSpPr>
        <p:spPr>
          <a:xfrm>
            <a:off x="960120" y="4776216"/>
            <a:ext cx="6126480" cy="310896"/>
          </a:xfrm>
          <a:prstGeom prst="rect">
            <a:avLst/>
          </a:prstGeom>
          <a:noFill/>
        </p:spPr>
        <p:txBody>
          <a:bodyPr wrap="square" lIns="0" tIns="0" rIns="0" bIns="0" rtlCol="0" anchor="ctr"/>
          <a:lstStyle/>
          <a:p>
            <a:pPr marL="0" indent="0">
              <a:buNone/>
            </a:pPr>
            <a:r>
              <a:rPr lang="en-US" sz="1350" b="1" dirty="0">
                <a:solidFill>
                  <a:srgbClr val="166534"/>
                </a:solidFill>
                <a:latin typeface="微软雅黑" pitchFamily="34" charset="0"/>
                <a:ea typeface="微软雅黑" pitchFamily="34" charset="-122"/>
                <a:cs typeface="微软雅黑" pitchFamily="34" charset="-120"/>
              </a:rPr>
              <a:t>Dc 发展因子指数 ×0.20</a:t>
            </a:r>
            <a:endParaRPr lang="en-US" sz="1350" dirty="0"/>
          </a:p>
        </p:txBody>
      </p:sp>
      <p:sp>
        <p:nvSpPr>
          <p:cNvPr id="22" name="Text 20"/>
          <p:cNvSpPr/>
          <p:nvPr/>
        </p:nvSpPr>
        <p:spPr>
          <a:xfrm>
            <a:off x="960120" y="4939665"/>
            <a:ext cx="6172200" cy="549275"/>
          </a:xfrm>
          <a:prstGeom prst="rect">
            <a:avLst/>
          </a:prstGeom>
          <a:noFill/>
        </p:spPr>
        <p:txBody>
          <a:bodyPr wrap="square" lIns="0" tIns="0" rIns="0" bIns="0" rtlCol="0" anchor="ctr"/>
          <a:lstStyle/>
          <a:p>
            <a:pPr marL="0" indent="0">
              <a:lnSpc>
                <a:spcPts val="1500"/>
              </a:lnSpc>
              <a:buNone/>
            </a:pPr>
            <a:r>
              <a:rPr lang="en-US" sz="1050" dirty="0">
                <a:solidFill>
                  <a:srgbClr val="5C6B62"/>
                </a:solidFill>
                <a:latin typeface="微软雅黑" pitchFamily="34" charset="0"/>
                <a:ea typeface="微软雅黑" pitchFamily="34" charset="-122"/>
                <a:cs typeface="微软雅黑" pitchFamily="34" charset="-120"/>
              </a:rPr>
              <a:t>五维各0.2：规模增长 · 管护缴费 · 政策争取 · 服务能力 · 扩张韧性 → Dc=五维均值</a:t>
            </a:r>
            <a:endParaRPr lang="en-US" sz="1050" dirty="0"/>
          </a:p>
        </p:txBody>
      </p:sp>
      <p:sp>
        <p:nvSpPr>
          <p:cNvPr id="23" name="Shape 21"/>
          <p:cNvSpPr/>
          <p:nvPr/>
        </p:nvSpPr>
        <p:spPr>
          <a:xfrm>
            <a:off x="731520" y="5635752"/>
            <a:ext cx="6400800" cy="493776"/>
          </a:xfrm>
          <a:prstGeom prst="roundRect">
            <a:avLst>
              <a:gd name="adj" fmla="val 11111"/>
            </a:avLst>
          </a:prstGeom>
          <a:solidFill>
            <a:srgbClr val="C77E1B"/>
          </a:solidFill>
        </p:spPr>
        <p:txBody>
          <a:bodyPr/>
          <a:p/>
        </p:txBody>
      </p:sp>
      <p:sp>
        <p:nvSpPr>
          <p:cNvPr id="24" name="Text 22"/>
          <p:cNvSpPr/>
          <p:nvPr/>
        </p:nvSpPr>
        <p:spPr>
          <a:xfrm>
            <a:off x="731520" y="5708777"/>
            <a:ext cx="6400800" cy="493776"/>
          </a:xfrm>
          <a:prstGeom prst="rect">
            <a:avLst/>
          </a:prstGeom>
          <a:noFill/>
        </p:spPr>
        <p:txBody>
          <a:bodyPr wrap="square" lIns="0" tIns="0" rIns="0" bIns="0" rtlCol="0" anchor="ctr"/>
          <a:lstStyle/>
          <a:p>
            <a:pPr marL="0" indent="0" algn="ctr">
              <a:buNone/>
            </a:pPr>
            <a:r>
              <a:rPr lang="en-US" sz="1250" b="1" dirty="0">
                <a:solidFill>
                  <a:srgbClr val="FFFFFF"/>
                </a:solidFill>
                <a:latin typeface="微软雅黑" pitchFamily="34" charset="0"/>
                <a:ea typeface="微软雅黑" pitchFamily="34" charset="-122"/>
                <a:cs typeface="微软雅黑" pitchFamily="34" charset="-120"/>
              </a:rPr>
              <a:t>决策：V越低→烤能缺口越大→新建越迫切　N越高→优先级越高</a:t>
            </a:r>
            <a:endParaRPr lang="en-US" sz="1250" dirty="0"/>
          </a:p>
        </p:txBody>
      </p:sp>
      <p:sp>
        <p:nvSpPr>
          <p:cNvPr id="67" name="Shape 23"/>
          <p:cNvSpPr/>
          <p:nvPr/>
        </p:nvSpPr>
        <p:spPr>
          <a:xfrm>
            <a:off x="7543800" y="1100328"/>
            <a:ext cx="4142232" cy="4754880"/>
          </a:xfrm>
          <a:prstGeom prst="roundRect">
            <a:avLst>
              <a:gd name="adj" fmla="val 2649"/>
            </a:avLst>
          </a:prstGeom>
          <a:solidFill>
            <a:srgbClr val="FFFFFF"/>
          </a:solidFill>
          <a:ln w="12700">
            <a:solidFill>
              <a:srgbClr val="D6E3DA"/>
            </a:solidFill>
            <a:prstDash val="solid"/>
          </a:ln>
          <a:effectLst>
            <a:outerShdw blurRad="2147483647" dist="2147483647" dir="3" algn="bl" rotWithShape="0">
              <a:srgbClr val="1B4633">
                <a:alpha val="2"/>
              </a:srgbClr>
            </a:outerShdw>
          </a:effectLst>
        </p:spPr>
        <p:txBody>
          <a:bodyPr/>
          <a:p/>
        </p:txBody>
      </p:sp>
      <p:sp>
        <p:nvSpPr>
          <p:cNvPr id="68" name="Text 24"/>
          <p:cNvSpPr/>
          <p:nvPr/>
        </p:nvSpPr>
        <p:spPr>
          <a:xfrm>
            <a:off x="7772400" y="1155192"/>
            <a:ext cx="3794760" cy="310896"/>
          </a:xfrm>
          <a:prstGeom prst="rect">
            <a:avLst/>
          </a:prstGeom>
          <a:noFill/>
        </p:spPr>
        <p:txBody>
          <a:bodyPr wrap="square" lIns="0" tIns="0" rIns="0" bIns="0" rtlCol="0" anchor="ctr"/>
          <a:lstStyle/>
          <a:p>
            <a:pPr marL="0" indent="0">
              <a:buNone/>
            </a:pPr>
            <a:r>
              <a:rPr lang="en-US" sz="1300" b="1" dirty="0">
                <a:solidFill>
                  <a:srgbClr val="166534"/>
                </a:solidFill>
                <a:latin typeface="微软雅黑" pitchFamily="34" charset="0"/>
                <a:ea typeface="微软雅黑" pitchFamily="34" charset="-122"/>
                <a:cs typeface="微软雅黑" pitchFamily="34" charset="-120"/>
              </a:rPr>
              <a:t>真实算例 · 郭家坝·文家岩</a:t>
            </a:r>
            <a:endParaRPr lang="en-US" sz="1300" b="1" dirty="0">
              <a:solidFill>
                <a:srgbClr val="166534"/>
              </a:solidFill>
              <a:latin typeface="微软雅黑" pitchFamily="34" charset="0"/>
              <a:ea typeface="微软雅黑" pitchFamily="34" charset="-122"/>
              <a:cs typeface="微软雅黑" pitchFamily="34" charset="-120"/>
            </a:endParaRPr>
          </a:p>
          <a:p>
            <a:pPr marL="0" indent="0">
              <a:buNone/>
            </a:pPr>
            <a:r>
              <a:rPr lang="en-US" sz="850" dirty="0">
                <a:solidFill>
                  <a:srgbClr val="5C6B62"/>
                </a:solidFill>
                <a:latin typeface="微软雅黑" pitchFamily="34" charset="0"/>
                <a:ea typeface="微软雅黑" pitchFamily="34" charset="-122"/>
                <a:cs typeface="微软雅黑" pitchFamily="34" charset="-120"/>
              </a:rPr>
              <a:t>（69栋 在用36/闲置11/待修22 · 2026）</a:t>
            </a:r>
            <a:endParaRPr lang="en-US" sz="1300" dirty="0"/>
          </a:p>
        </p:txBody>
      </p:sp>
      <p:sp>
        <p:nvSpPr>
          <p:cNvPr id="69" name="Text 25"/>
          <p:cNvSpPr/>
          <p:nvPr/>
        </p:nvSpPr>
        <p:spPr>
          <a:xfrm>
            <a:off x="7772400" y="1484376"/>
            <a:ext cx="3749040" cy="219456"/>
          </a:xfrm>
          <a:prstGeom prst="rect">
            <a:avLst/>
          </a:prstGeom>
          <a:noFill/>
        </p:spPr>
        <p:txBody>
          <a:bodyPr wrap="square" lIns="0" tIns="0" rIns="0" bIns="0" rtlCol="0" anchor="ctr"/>
          <a:lstStyle/>
          <a:p>
            <a:pPr marL="0" indent="0">
              <a:buNone/>
            </a:pPr>
            <a:r>
              <a:rPr lang="en-US" sz="950" dirty="0">
                <a:solidFill>
                  <a:srgbClr val="5C6B62"/>
                </a:solidFill>
                <a:latin typeface="微软雅黑" pitchFamily="34" charset="0"/>
                <a:ea typeface="微软雅黑" pitchFamily="34" charset="-122"/>
                <a:cs typeface="微软雅黑" pitchFamily="34" charset="-120"/>
              </a:rPr>
              <a:t>基础数据（取自决策统计表）：</a:t>
            </a:r>
            <a:endParaRPr lang="en-US" sz="950" dirty="0"/>
          </a:p>
        </p:txBody>
      </p:sp>
      <p:sp>
        <p:nvSpPr>
          <p:cNvPr id="70" name="Text 26"/>
          <p:cNvSpPr/>
          <p:nvPr/>
        </p:nvSpPr>
        <p:spPr>
          <a:xfrm>
            <a:off x="7772400" y="1722120"/>
            <a:ext cx="1828800" cy="365760"/>
          </a:xfrm>
          <a:prstGeom prst="rect">
            <a:avLst/>
          </a:prstGeom>
          <a:noFill/>
        </p:spPr>
        <p:txBody>
          <a:bodyPr wrap="square" lIns="0" tIns="0" rIns="0" bIns="0" rtlCol="0" anchor="ctr"/>
          <a:lstStyle/>
          <a:p>
            <a:pPr marL="0" indent="0">
              <a:buNone/>
            </a:pPr>
            <a:r>
              <a:rPr lang="en-US" sz="1000" b="1" dirty="0">
                <a:solidFill>
                  <a:srgbClr val="14301F"/>
                </a:solidFill>
                <a:latin typeface="微软雅黑" pitchFamily="34" charset="0"/>
                <a:ea typeface="微软雅黑" pitchFamily="34" charset="-122"/>
                <a:cs typeface="微软雅黑" pitchFamily="34" charset="-120"/>
              </a:rPr>
              <a:t>在用/闲置/待修</a:t>
            </a:r>
            <a:endParaRPr lang="en-US" sz="1000" dirty="0"/>
          </a:p>
        </p:txBody>
      </p:sp>
      <p:sp>
        <p:nvSpPr>
          <p:cNvPr id="71" name="Text 27"/>
          <p:cNvSpPr/>
          <p:nvPr/>
        </p:nvSpPr>
        <p:spPr>
          <a:xfrm>
            <a:off x="9601200" y="1722120"/>
            <a:ext cx="1965960" cy="365760"/>
          </a:xfrm>
          <a:prstGeom prst="rect">
            <a:avLst/>
          </a:prstGeom>
          <a:noFill/>
        </p:spPr>
        <p:txBody>
          <a:bodyPr wrap="square" lIns="0" tIns="0" rIns="0" bIns="0" rtlCol="0" anchor="ctr"/>
          <a:lstStyle/>
          <a:p>
            <a:pPr marL="0" indent="0" algn="r">
              <a:buNone/>
            </a:pPr>
            <a:r>
              <a:rPr lang="en-US" sz="950" b="1" dirty="0">
                <a:solidFill>
                  <a:srgbClr val="2E8B6A"/>
                </a:solidFill>
                <a:latin typeface="微软雅黑" pitchFamily="34" charset="0"/>
                <a:ea typeface="微软雅黑" pitchFamily="34" charset="-122"/>
                <a:cs typeface="微软雅黑" pitchFamily="34" charset="-120"/>
              </a:rPr>
              <a:t>36 / 11 / 22 座</a:t>
            </a:r>
            <a:endParaRPr lang="en-US" sz="950" dirty="0"/>
          </a:p>
        </p:txBody>
      </p:sp>
      <p:sp>
        <p:nvSpPr>
          <p:cNvPr id="72" name="Text 28"/>
          <p:cNvSpPr/>
          <p:nvPr/>
        </p:nvSpPr>
        <p:spPr>
          <a:xfrm>
            <a:off x="7772400" y="2124456"/>
            <a:ext cx="1828800" cy="365760"/>
          </a:xfrm>
          <a:prstGeom prst="rect">
            <a:avLst/>
          </a:prstGeom>
          <a:noFill/>
        </p:spPr>
        <p:txBody>
          <a:bodyPr wrap="square" lIns="0" tIns="0" rIns="0" bIns="0" rtlCol="0" anchor="ctr"/>
          <a:lstStyle/>
          <a:p>
            <a:pPr marL="0" indent="0">
              <a:buNone/>
            </a:pPr>
            <a:r>
              <a:rPr lang="en-US" sz="1000" b="1" dirty="0">
                <a:solidFill>
                  <a:srgbClr val="14301F"/>
                </a:solidFill>
                <a:latin typeface="微软雅黑" pitchFamily="34" charset="0"/>
                <a:ea typeface="微软雅黑" pitchFamily="34" charset="-122"/>
                <a:cs typeface="微软雅黑" pitchFamily="34" charset="-120"/>
              </a:rPr>
              <a:t>加权烤能 Q</a:t>
            </a:r>
            <a:endParaRPr lang="en-US" sz="1000" dirty="0"/>
          </a:p>
        </p:txBody>
      </p:sp>
      <p:sp>
        <p:nvSpPr>
          <p:cNvPr id="73" name="Text 29"/>
          <p:cNvSpPr/>
          <p:nvPr/>
        </p:nvSpPr>
        <p:spPr>
          <a:xfrm>
            <a:off x="9601200" y="2124456"/>
            <a:ext cx="1965960" cy="365760"/>
          </a:xfrm>
          <a:prstGeom prst="rect">
            <a:avLst/>
          </a:prstGeom>
          <a:noFill/>
        </p:spPr>
        <p:txBody>
          <a:bodyPr wrap="square" lIns="0" tIns="0" rIns="0" bIns="0" rtlCol="0" anchor="ctr"/>
          <a:lstStyle/>
          <a:p>
            <a:pPr marL="0" indent="0" algn="r">
              <a:buNone/>
            </a:pPr>
            <a:r>
              <a:rPr lang="en-US" sz="950" b="1" dirty="0">
                <a:solidFill>
                  <a:srgbClr val="2E8B6A"/>
                </a:solidFill>
                <a:latin typeface="微软雅黑" pitchFamily="34" charset="0"/>
                <a:ea typeface="微软雅黑" pitchFamily="34" charset="-122"/>
                <a:cs typeface="微软雅黑" pitchFamily="34" charset="-120"/>
              </a:rPr>
              <a:t>20302 kg · 有效烤能 32010 kg</a:t>
            </a:r>
            <a:endParaRPr lang="en-US" sz="950" dirty="0"/>
          </a:p>
        </p:txBody>
      </p:sp>
      <p:sp>
        <p:nvSpPr>
          <p:cNvPr id="74" name="Text 30"/>
          <p:cNvSpPr/>
          <p:nvPr/>
        </p:nvSpPr>
        <p:spPr>
          <a:xfrm>
            <a:off x="7772400" y="2526792"/>
            <a:ext cx="1828800" cy="365760"/>
          </a:xfrm>
          <a:prstGeom prst="rect">
            <a:avLst/>
          </a:prstGeom>
          <a:noFill/>
        </p:spPr>
        <p:txBody>
          <a:bodyPr wrap="square" lIns="0" tIns="0" rIns="0" bIns="0" rtlCol="0" anchor="ctr"/>
          <a:lstStyle/>
          <a:p>
            <a:pPr marL="0" indent="0">
              <a:buNone/>
            </a:pPr>
            <a:r>
              <a:rPr lang="en-US" sz="1000" b="1" dirty="0">
                <a:solidFill>
                  <a:srgbClr val="14301F"/>
                </a:solidFill>
                <a:latin typeface="微软雅黑" pitchFamily="34" charset="0"/>
                <a:ea typeface="微软雅黑" pitchFamily="34" charset="-122"/>
                <a:cs typeface="微软雅黑" pitchFamily="34" charset="-120"/>
              </a:rPr>
              <a:t>收购需求 D</a:t>
            </a:r>
            <a:endParaRPr lang="en-US" sz="1000" dirty="0"/>
          </a:p>
        </p:txBody>
      </p:sp>
      <p:sp>
        <p:nvSpPr>
          <p:cNvPr id="75" name="Text 31"/>
          <p:cNvSpPr/>
          <p:nvPr/>
        </p:nvSpPr>
        <p:spPr>
          <a:xfrm>
            <a:off x="9601200" y="2526792"/>
            <a:ext cx="1965960" cy="365760"/>
          </a:xfrm>
          <a:prstGeom prst="rect">
            <a:avLst/>
          </a:prstGeom>
          <a:noFill/>
        </p:spPr>
        <p:txBody>
          <a:bodyPr wrap="square" lIns="0" tIns="0" rIns="0" bIns="0" rtlCol="0" anchor="ctr"/>
          <a:lstStyle/>
          <a:p>
            <a:pPr marL="0" indent="0" algn="r">
              <a:buNone/>
            </a:pPr>
            <a:r>
              <a:rPr lang="en-US" sz="950" b="1" dirty="0">
                <a:solidFill>
                  <a:srgbClr val="2E8B6A"/>
                </a:solidFill>
                <a:latin typeface="微软雅黑" pitchFamily="34" charset="0"/>
                <a:ea typeface="微软雅黑" pitchFamily="34" charset="-122"/>
                <a:cs typeface="微软雅黑" pitchFamily="34" charset="-120"/>
              </a:rPr>
              <a:t>129600 kg（D=收购量）</a:t>
            </a:r>
            <a:endParaRPr lang="en-US" sz="950" dirty="0"/>
          </a:p>
        </p:txBody>
      </p:sp>
      <p:sp>
        <p:nvSpPr>
          <p:cNvPr id="76" name="Shape 32"/>
          <p:cNvSpPr/>
          <p:nvPr/>
        </p:nvSpPr>
        <p:spPr>
          <a:xfrm>
            <a:off x="7772400" y="2901696"/>
            <a:ext cx="3749040" cy="18288"/>
          </a:xfrm>
          <a:prstGeom prst="rect">
            <a:avLst/>
          </a:prstGeom>
          <a:solidFill>
            <a:srgbClr val="D6E3DA"/>
          </a:solidFill>
        </p:spPr>
        <p:txBody>
          <a:bodyPr/>
          <a:p/>
        </p:txBody>
      </p:sp>
      <p:sp>
        <p:nvSpPr>
          <p:cNvPr id="77" name="Shape 33"/>
          <p:cNvSpPr/>
          <p:nvPr/>
        </p:nvSpPr>
        <p:spPr>
          <a:xfrm>
            <a:off x="7772400" y="2983992"/>
            <a:ext cx="3749040" cy="438912"/>
          </a:xfrm>
          <a:prstGeom prst="roundRect">
            <a:avLst>
              <a:gd name="adj" fmla="val 8333"/>
            </a:avLst>
          </a:prstGeom>
          <a:solidFill>
            <a:srgbClr val="E7F2EA"/>
          </a:solidFill>
          <a:ln w="12700">
            <a:solidFill>
              <a:srgbClr val="D6E3DA"/>
            </a:solidFill>
            <a:prstDash val="solid"/>
          </a:ln>
        </p:spPr>
        <p:txBody>
          <a:bodyPr/>
          <a:p/>
        </p:txBody>
      </p:sp>
      <p:sp>
        <p:nvSpPr>
          <p:cNvPr id="78" name="Text 34"/>
          <p:cNvSpPr/>
          <p:nvPr/>
        </p:nvSpPr>
        <p:spPr>
          <a:xfrm>
            <a:off x="7882128" y="2983992"/>
            <a:ext cx="640080" cy="438912"/>
          </a:xfrm>
          <a:prstGeom prst="rect">
            <a:avLst/>
          </a:prstGeom>
          <a:noFill/>
        </p:spPr>
        <p:txBody>
          <a:bodyPr wrap="square" lIns="0" tIns="0" rIns="0" bIns="0" rtlCol="0" anchor="ctr"/>
          <a:lstStyle/>
          <a:p>
            <a:pPr marL="0" indent="0">
              <a:buNone/>
            </a:pPr>
            <a:r>
              <a:rPr lang="en-US" sz="1100" b="1" dirty="0">
                <a:solidFill>
                  <a:srgbClr val="166534"/>
                </a:solidFill>
                <a:latin typeface="微软雅黑" pitchFamily="34" charset="0"/>
                <a:ea typeface="微软雅黑" pitchFamily="34" charset="-122"/>
                <a:cs typeface="微软雅黑" pitchFamily="34" charset="-120"/>
              </a:rPr>
              <a:t>Hc</a:t>
            </a:r>
            <a:endParaRPr lang="en-US" sz="1100" dirty="0"/>
          </a:p>
        </p:txBody>
      </p:sp>
      <p:sp>
        <p:nvSpPr>
          <p:cNvPr id="79" name="Text 35"/>
          <p:cNvSpPr/>
          <p:nvPr/>
        </p:nvSpPr>
        <p:spPr>
          <a:xfrm>
            <a:off x="8549640" y="2983992"/>
            <a:ext cx="2880360" cy="438912"/>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Q÷D×100 = 20302 ÷129600×100 = 15.7</a:t>
            </a:r>
            <a:endParaRPr lang="en-US" sz="850" dirty="0"/>
          </a:p>
        </p:txBody>
      </p:sp>
      <p:sp>
        <p:nvSpPr>
          <p:cNvPr id="80" name="Shape 36"/>
          <p:cNvSpPr/>
          <p:nvPr/>
        </p:nvSpPr>
        <p:spPr>
          <a:xfrm>
            <a:off x="7772400" y="3496056"/>
            <a:ext cx="3749040" cy="438912"/>
          </a:xfrm>
          <a:prstGeom prst="roundRect">
            <a:avLst>
              <a:gd name="adj" fmla="val 8333"/>
            </a:avLst>
          </a:prstGeom>
          <a:solidFill>
            <a:srgbClr val="E7F2EA"/>
          </a:solidFill>
          <a:ln w="12700">
            <a:solidFill>
              <a:srgbClr val="D6E3DA"/>
            </a:solidFill>
            <a:prstDash val="solid"/>
          </a:ln>
        </p:spPr>
        <p:txBody>
          <a:bodyPr/>
          <a:p/>
        </p:txBody>
      </p:sp>
      <p:sp>
        <p:nvSpPr>
          <p:cNvPr id="81" name="Text 37"/>
          <p:cNvSpPr/>
          <p:nvPr/>
        </p:nvSpPr>
        <p:spPr>
          <a:xfrm>
            <a:off x="7882128" y="3496056"/>
            <a:ext cx="640080" cy="438912"/>
          </a:xfrm>
          <a:prstGeom prst="rect">
            <a:avLst/>
          </a:prstGeom>
          <a:noFill/>
        </p:spPr>
        <p:txBody>
          <a:bodyPr wrap="square" lIns="0" tIns="0" rIns="0" bIns="0" rtlCol="0" anchor="ctr"/>
          <a:lstStyle/>
          <a:p>
            <a:pPr marL="0" indent="0">
              <a:buNone/>
            </a:pPr>
            <a:r>
              <a:rPr lang="en-US" sz="1100" b="1" dirty="0">
                <a:solidFill>
                  <a:srgbClr val="166534"/>
                </a:solidFill>
                <a:latin typeface="微软雅黑" pitchFamily="34" charset="0"/>
                <a:ea typeface="微软雅黑" pitchFamily="34" charset="-122"/>
                <a:cs typeface="微软雅黑" pitchFamily="34" charset="-120"/>
              </a:rPr>
              <a:t>P</a:t>
            </a:r>
            <a:endParaRPr lang="en-US" sz="1100" dirty="0"/>
          </a:p>
        </p:txBody>
      </p:sp>
      <p:sp>
        <p:nvSpPr>
          <p:cNvPr id="82" name="Text 38"/>
          <p:cNvSpPr/>
          <p:nvPr/>
        </p:nvSpPr>
        <p:spPr>
          <a:xfrm>
            <a:off x="8549640" y="3496056"/>
            <a:ext cx="2880360" cy="438912"/>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D÷Q = 129600÷20302 = 6.38 → Lc=30</a:t>
            </a:r>
            <a:endParaRPr lang="en-US" sz="850" dirty="0"/>
          </a:p>
        </p:txBody>
      </p:sp>
      <p:sp>
        <p:nvSpPr>
          <p:cNvPr id="83" name="Shape 39"/>
          <p:cNvSpPr/>
          <p:nvPr/>
        </p:nvSpPr>
        <p:spPr>
          <a:xfrm>
            <a:off x="7772400" y="4008120"/>
            <a:ext cx="3749040" cy="438912"/>
          </a:xfrm>
          <a:prstGeom prst="roundRect">
            <a:avLst>
              <a:gd name="adj" fmla="val 8333"/>
            </a:avLst>
          </a:prstGeom>
          <a:solidFill>
            <a:srgbClr val="E7F2EA"/>
          </a:solidFill>
          <a:ln w="12700">
            <a:solidFill>
              <a:srgbClr val="D6E3DA"/>
            </a:solidFill>
            <a:prstDash val="solid"/>
          </a:ln>
        </p:spPr>
        <p:txBody>
          <a:bodyPr/>
          <a:p/>
        </p:txBody>
      </p:sp>
      <p:sp>
        <p:nvSpPr>
          <p:cNvPr id="84" name="Text 40"/>
          <p:cNvSpPr/>
          <p:nvPr/>
        </p:nvSpPr>
        <p:spPr>
          <a:xfrm>
            <a:off x="7882128" y="4008120"/>
            <a:ext cx="640080" cy="438912"/>
          </a:xfrm>
          <a:prstGeom prst="rect">
            <a:avLst/>
          </a:prstGeom>
          <a:noFill/>
        </p:spPr>
        <p:txBody>
          <a:bodyPr wrap="square" lIns="0" tIns="0" rIns="0" bIns="0" rtlCol="0" anchor="ctr"/>
          <a:lstStyle/>
          <a:p>
            <a:pPr marL="0" indent="0">
              <a:buNone/>
            </a:pPr>
            <a:r>
              <a:rPr lang="en-US" sz="1100" b="1" dirty="0">
                <a:solidFill>
                  <a:srgbClr val="166534"/>
                </a:solidFill>
                <a:latin typeface="微软雅黑" pitchFamily="34" charset="0"/>
                <a:ea typeface="微软雅黑" pitchFamily="34" charset="-122"/>
                <a:cs typeface="微软雅黑" pitchFamily="34" charset="-120"/>
              </a:rPr>
              <a:t>Dc</a:t>
            </a:r>
            <a:endParaRPr lang="en-US" sz="1100" dirty="0"/>
          </a:p>
        </p:txBody>
      </p:sp>
      <p:sp>
        <p:nvSpPr>
          <p:cNvPr id="85" name="Text 41"/>
          <p:cNvSpPr/>
          <p:nvPr/>
        </p:nvSpPr>
        <p:spPr>
          <a:xfrm>
            <a:off x="8549640" y="4008120"/>
            <a:ext cx="2880360" cy="438912"/>
          </a:xfrm>
          <a:prstGeom prst="rect">
            <a:avLst/>
          </a:prstGeom>
          <a:noFill/>
        </p:spPr>
        <p:txBody>
          <a:bodyPr wrap="square" lIns="0" tIns="0" rIns="0" bIns="0" rtlCol="0" anchor="ctr"/>
          <a:lstStyle/>
          <a:p>
            <a:pPr marL="0" indent="0">
              <a:buNone/>
            </a:pPr>
            <a:r>
              <a:rPr lang="en-US" sz="850" dirty="0">
                <a:solidFill>
                  <a:srgbClr val="14301F"/>
                </a:solidFill>
                <a:latin typeface="微软雅黑" pitchFamily="34" charset="0"/>
                <a:ea typeface="微软雅黑" pitchFamily="34" charset="-122"/>
                <a:cs typeface="微软雅黑" pitchFamily="34" charset="-120"/>
              </a:rPr>
              <a:t>五维均值 = 64.4</a:t>
            </a:r>
            <a:endParaRPr lang="en-US" sz="850" dirty="0"/>
          </a:p>
        </p:txBody>
      </p:sp>
      <p:sp>
        <p:nvSpPr>
          <p:cNvPr id="86" name="Shape 42"/>
          <p:cNvSpPr/>
          <p:nvPr/>
        </p:nvSpPr>
        <p:spPr>
          <a:xfrm>
            <a:off x="7772400" y="4556760"/>
            <a:ext cx="3749040" cy="749808"/>
          </a:xfrm>
          <a:prstGeom prst="roundRect">
            <a:avLst>
              <a:gd name="adj" fmla="val 7317"/>
            </a:avLst>
          </a:prstGeom>
          <a:solidFill>
            <a:srgbClr val="14532D"/>
          </a:solidFill>
          <a:effectLst>
            <a:outerShdw blurRad="2147483647" dist="2147483647" dir="2" algn="bl" rotWithShape="0">
              <a:srgbClr val="1B4633">
                <a:alpha val="2"/>
              </a:srgbClr>
            </a:outerShdw>
          </a:effectLst>
        </p:spPr>
        <p:txBody>
          <a:bodyPr/>
          <a:p/>
        </p:txBody>
      </p:sp>
      <p:sp>
        <p:nvSpPr>
          <p:cNvPr id="87" name="Text 43"/>
          <p:cNvSpPr/>
          <p:nvPr/>
        </p:nvSpPr>
        <p:spPr>
          <a:xfrm>
            <a:off x="7772400" y="4556760"/>
            <a:ext cx="3749040" cy="749808"/>
          </a:xfrm>
          <a:prstGeom prst="rect">
            <a:avLst/>
          </a:prstGeom>
          <a:noFill/>
        </p:spPr>
        <p:txBody>
          <a:bodyPr wrap="square" lIns="0" tIns="0" rIns="0" bIns="0" rtlCol="0" anchor="ctr"/>
          <a:lstStyle/>
          <a:p>
            <a:pPr marL="0" indent="0" algn="ctr">
              <a:buNone/>
            </a:pPr>
            <a:r>
              <a:rPr lang="en-US" sz="1050" dirty="0">
                <a:solidFill>
                  <a:srgbClr val="DCEBE2"/>
                </a:solidFill>
                <a:latin typeface="微软雅黑" pitchFamily="34" charset="0"/>
                <a:ea typeface="微软雅黑" pitchFamily="34" charset="-122"/>
                <a:cs typeface="微软雅黑" pitchFamily="34" charset="-120"/>
              </a:rPr>
              <a:t>V = 0.5×15.7 + 0.3×30 + 0.2×64.4 = 29.7
</a:t>
            </a:r>
            <a:r>
              <a:rPr lang="en-US" sz="1050" b="1" dirty="0">
                <a:solidFill>
                  <a:srgbClr val="FFFFFF"/>
                </a:solidFill>
                <a:latin typeface="微软雅黑" pitchFamily="34" charset="0"/>
                <a:ea typeface="微软雅黑" pitchFamily="34" charset="-122"/>
                <a:cs typeface="微软雅黑" pitchFamily="34" charset="-120"/>
              </a:rPr>
              <a:t>→ N = 70.3 </a:t>
            </a:r>
            <a:endParaRPr lang="en-US" sz="1050" dirty="0"/>
          </a:p>
        </p:txBody>
      </p:sp>
      <p:sp>
        <p:nvSpPr>
          <p:cNvPr id="88" name="Text 44"/>
          <p:cNvSpPr/>
          <p:nvPr/>
        </p:nvSpPr>
        <p:spPr>
          <a:xfrm>
            <a:off x="7772400" y="5343144"/>
            <a:ext cx="3749040" cy="365760"/>
          </a:xfrm>
          <a:prstGeom prst="rect">
            <a:avLst/>
          </a:prstGeom>
          <a:noFill/>
        </p:spPr>
        <p:txBody>
          <a:bodyPr wrap="square" lIns="0" tIns="0" rIns="0" bIns="0" rtlCol="0" anchor="ctr"/>
          <a:lstStyle/>
          <a:p>
            <a:pPr marL="0" indent="0">
              <a:lnSpc>
                <a:spcPts val="1100"/>
              </a:lnSpc>
              <a:buNone/>
            </a:pPr>
            <a:r>
              <a:rPr lang="en-US" sz="850" dirty="0">
                <a:solidFill>
                  <a:srgbClr val="5C6B62"/>
                </a:solidFill>
                <a:latin typeface="微软雅黑" pitchFamily="34" charset="0"/>
                <a:ea typeface="微软雅黑" pitchFamily="34" charset="-122"/>
                <a:cs typeface="微软雅黑" pitchFamily="34" charset="-120"/>
              </a:rPr>
              <a:t>决策库同值：开发指数 29.7 / 需求分 70.3 → 优先新建</a:t>
            </a:r>
            <a:endParaRPr lang="en-US" sz="8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ppt_x"/>
                                          </p:val>
                                        </p:tav>
                                        <p:tav tm="100000">
                                          <p:val>
                                            <p:strVal val="#ppt_x"/>
                                          </p:val>
                                        </p:tav>
                                      </p:tavLst>
                                    </p:anim>
                                    <p:anim calcmode="lin" valueType="num">
                                      <p:cBhvr additive="base">
                                        <p:cTn id="76" dur="500" fill="hold"/>
                                        <p:tgtEl>
                                          <p:spTgt spid="23"/>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67"/>
                                        </p:tgtEl>
                                        <p:attrNameLst>
                                          <p:attrName>style.visibility</p:attrName>
                                        </p:attrNameLst>
                                      </p:cBhvr>
                                      <p:to>
                                        <p:strVal val="visible"/>
                                      </p:to>
                                    </p:set>
                                    <p:anim calcmode="lin" valueType="num">
                                      <p:cBhvr additive="base">
                                        <p:cTn id="83" dur="500" fill="hold"/>
                                        <p:tgtEl>
                                          <p:spTgt spid="67"/>
                                        </p:tgtEl>
                                        <p:attrNameLst>
                                          <p:attrName>ppt_x</p:attrName>
                                        </p:attrNameLst>
                                      </p:cBhvr>
                                      <p:tavLst>
                                        <p:tav tm="0">
                                          <p:val>
                                            <p:strVal val="#ppt_x"/>
                                          </p:val>
                                        </p:tav>
                                        <p:tav tm="100000">
                                          <p:val>
                                            <p:strVal val="#ppt_x"/>
                                          </p:val>
                                        </p:tav>
                                      </p:tavLst>
                                    </p:anim>
                                    <p:anim calcmode="lin" valueType="num">
                                      <p:cBhvr additive="base">
                                        <p:cTn id="84" dur="500" fill="hold"/>
                                        <p:tgtEl>
                                          <p:spTgt spid="67"/>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68"/>
                                        </p:tgtEl>
                                        <p:attrNameLst>
                                          <p:attrName>style.visibility</p:attrName>
                                        </p:attrNameLst>
                                      </p:cBhvr>
                                      <p:to>
                                        <p:strVal val="visible"/>
                                      </p:to>
                                    </p:set>
                                    <p:anim calcmode="lin" valueType="num">
                                      <p:cBhvr additive="base">
                                        <p:cTn id="87" dur="500" fill="hold"/>
                                        <p:tgtEl>
                                          <p:spTgt spid="68"/>
                                        </p:tgtEl>
                                        <p:attrNameLst>
                                          <p:attrName>ppt_x</p:attrName>
                                        </p:attrNameLst>
                                      </p:cBhvr>
                                      <p:tavLst>
                                        <p:tav tm="0">
                                          <p:val>
                                            <p:strVal val="#ppt_x"/>
                                          </p:val>
                                        </p:tav>
                                        <p:tav tm="100000">
                                          <p:val>
                                            <p:strVal val="#ppt_x"/>
                                          </p:val>
                                        </p:tav>
                                      </p:tavLst>
                                    </p:anim>
                                    <p:anim calcmode="lin" valueType="num">
                                      <p:cBhvr additive="base">
                                        <p:cTn id="88" dur="500" fill="hold"/>
                                        <p:tgtEl>
                                          <p:spTgt spid="68"/>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69"/>
                                        </p:tgtEl>
                                        <p:attrNameLst>
                                          <p:attrName>style.visibility</p:attrName>
                                        </p:attrNameLst>
                                      </p:cBhvr>
                                      <p:to>
                                        <p:strVal val="visible"/>
                                      </p:to>
                                    </p:set>
                                    <p:anim calcmode="lin" valueType="num">
                                      <p:cBhvr additive="base">
                                        <p:cTn id="91" dur="500" fill="hold"/>
                                        <p:tgtEl>
                                          <p:spTgt spid="69"/>
                                        </p:tgtEl>
                                        <p:attrNameLst>
                                          <p:attrName>ppt_x</p:attrName>
                                        </p:attrNameLst>
                                      </p:cBhvr>
                                      <p:tavLst>
                                        <p:tav tm="0">
                                          <p:val>
                                            <p:strVal val="#ppt_x"/>
                                          </p:val>
                                        </p:tav>
                                        <p:tav tm="100000">
                                          <p:val>
                                            <p:strVal val="#ppt_x"/>
                                          </p:val>
                                        </p:tav>
                                      </p:tavLst>
                                    </p:anim>
                                    <p:anim calcmode="lin" valueType="num">
                                      <p:cBhvr additive="base">
                                        <p:cTn id="92" dur="500" fill="hold"/>
                                        <p:tgtEl>
                                          <p:spTgt spid="69"/>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70"/>
                                        </p:tgtEl>
                                        <p:attrNameLst>
                                          <p:attrName>style.visibility</p:attrName>
                                        </p:attrNameLst>
                                      </p:cBhvr>
                                      <p:to>
                                        <p:strVal val="visible"/>
                                      </p:to>
                                    </p:set>
                                    <p:anim calcmode="lin" valueType="num">
                                      <p:cBhvr additive="base">
                                        <p:cTn id="95" dur="500" fill="hold"/>
                                        <p:tgtEl>
                                          <p:spTgt spid="70"/>
                                        </p:tgtEl>
                                        <p:attrNameLst>
                                          <p:attrName>ppt_x</p:attrName>
                                        </p:attrNameLst>
                                      </p:cBhvr>
                                      <p:tavLst>
                                        <p:tav tm="0">
                                          <p:val>
                                            <p:strVal val="#ppt_x"/>
                                          </p:val>
                                        </p:tav>
                                        <p:tav tm="100000">
                                          <p:val>
                                            <p:strVal val="#ppt_x"/>
                                          </p:val>
                                        </p:tav>
                                      </p:tavLst>
                                    </p:anim>
                                    <p:anim calcmode="lin" valueType="num">
                                      <p:cBhvr additive="base">
                                        <p:cTn id="96" dur="500" fill="hold"/>
                                        <p:tgtEl>
                                          <p:spTgt spid="70"/>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71"/>
                                        </p:tgtEl>
                                        <p:attrNameLst>
                                          <p:attrName>style.visibility</p:attrName>
                                        </p:attrNameLst>
                                      </p:cBhvr>
                                      <p:to>
                                        <p:strVal val="visible"/>
                                      </p:to>
                                    </p:set>
                                    <p:anim calcmode="lin" valueType="num">
                                      <p:cBhvr additive="base">
                                        <p:cTn id="99" dur="500" fill="hold"/>
                                        <p:tgtEl>
                                          <p:spTgt spid="71"/>
                                        </p:tgtEl>
                                        <p:attrNameLst>
                                          <p:attrName>ppt_x</p:attrName>
                                        </p:attrNameLst>
                                      </p:cBhvr>
                                      <p:tavLst>
                                        <p:tav tm="0">
                                          <p:val>
                                            <p:strVal val="#ppt_x"/>
                                          </p:val>
                                        </p:tav>
                                        <p:tav tm="100000">
                                          <p:val>
                                            <p:strVal val="#ppt_x"/>
                                          </p:val>
                                        </p:tav>
                                      </p:tavLst>
                                    </p:anim>
                                    <p:anim calcmode="lin" valueType="num">
                                      <p:cBhvr additive="base">
                                        <p:cTn id="100" dur="500" fill="hold"/>
                                        <p:tgtEl>
                                          <p:spTgt spid="71"/>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72"/>
                                        </p:tgtEl>
                                        <p:attrNameLst>
                                          <p:attrName>style.visibility</p:attrName>
                                        </p:attrNameLst>
                                      </p:cBhvr>
                                      <p:to>
                                        <p:strVal val="visible"/>
                                      </p:to>
                                    </p:set>
                                    <p:anim calcmode="lin" valueType="num">
                                      <p:cBhvr additive="base">
                                        <p:cTn id="103" dur="500" fill="hold"/>
                                        <p:tgtEl>
                                          <p:spTgt spid="72"/>
                                        </p:tgtEl>
                                        <p:attrNameLst>
                                          <p:attrName>ppt_x</p:attrName>
                                        </p:attrNameLst>
                                      </p:cBhvr>
                                      <p:tavLst>
                                        <p:tav tm="0">
                                          <p:val>
                                            <p:strVal val="#ppt_x"/>
                                          </p:val>
                                        </p:tav>
                                        <p:tav tm="100000">
                                          <p:val>
                                            <p:strVal val="#ppt_x"/>
                                          </p:val>
                                        </p:tav>
                                      </p:tavLst>
                                    </p:anim>
                                    <p:anim calcmode="lin" valueType="num">
                                      <p:cBhvr additive="base">
                                        <p:cTn id="104" dur="500" fill="hold"/>
                                        <p:tgtEl>
                                          <p:spTgt spid="72"/>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73"/>
                                        </p:tgtEl>
                                        <p:attrNameLst>
                                          <p:attrName>style.visibility</p:attrName>
                                        </p:attrNameLst>
                                      </p:cBhvr>
                                      <p:to>
                                        <p:strVal val="visible"/>
                                      </p:to>
                                    </p:set>
                                    <p:anim calcmode="lin" valueType="num">
                                      <p:cBhvr additive="base">
                                        <p:cTn id="107" dur="500" fill="hold"/>
                                        <p:tgtEl>
                                          <p:spTgt spid="73"/>
                                        </p:tgtEl>
                                        <p:attrNameLst>
                                          <p:attrName>ppt_x</p:attrName>
                                        </p:attrNameLst>
                                      </p:cBhvr>
                                      <p:tavLst>
                                        <p:tav tm="0">
                                          <p:val>
                                            <p:strVal val="#ppt_x"/>
                                          </p:val>
                                        </p:tav>
                                        <p:tav tm="100000">
                                          <p:val>
                                            <p:strVal val="#ppt_x"/>
                                          </p:val>
                                        </p:tav>
                                      </p:tavLst>
                                    </p:anim>
                                    <p:anim calcmode="lin" valueType="num">
                                      <p:cBhvr additive="base">
                                        <p:cTn id="108" dur="500" fill="hold"/>
                                        <p:tgtEl>
                                          <p:spTgt spid="73"/>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74"/>
                                        </p:tgtEl>
                                        <p:attrNameLst>
                                          <p:attrName>style.visibility</p:attrName>
                                        </p:attrNameLst>
                                      </p:cBhvr>
                                      <p:to>
                                        <p:strVal val="visible"/>
                                      </p:to>
                                    </p:set>
                                    <p:anim calcmode="lin" valueType="num">
                                      <p:cBhvr additive="base">
                                        <p:cTn id="111" dur="500" fill="hold"/>
                                        <p:tgtEl>
                                          <p:spTgt spid="74"/>
                                        </p:tgtEl>
                                        <p:attrNameLst>
                                          <p:attrName>ppt_x</p:attrName>
                                        </p:attrNameLst>
                                      </p:cBhvr>
                                      <p:tavLst>
                                        <p:tav tm="0">
                                          <p:val>
                                            <p:strVal val="#ppt_x"/>
                                          </p:val>
                                        </p:tav>
                                        <p:tav tm="100000">
                                          <p:val>
                                            <p:strVal val="#ppt_x"/>
                                          </p:val>
                                        </p:tav>
                                      </p:tavLst>
                                    </p:anim>
                                    <p:anim calcmode="lin" valueType="num">
                                      <p:cBhvr additive="base">
                                        <p:cTn id="112" dur="500" fill="hold"/>
                                        <p:tgtEl>
                                          <p:spTgt spid="74"/>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75"/>
                                        </p:tgtEl>
                                        <p:attrNameLst>
                                          <p:attrName>style.visibility</p:attrName>
                                        </p:attrNameLst>
                                      </p:cBhvr>
                                      <p:to>
                                        <p:strVal val="visible"/>
                                      </p:to>
                                    </p:set>
                                    <p:anim calcmode="lin" valueType="num">
                                      <p:cBhvr additive="base">
                                        <p:cTn id="115" dur="500" fill="hold"/>
                                        <p:tgtEl>
                                          <p:spTgt spid="75"/>
                                        </p:tgtEl>
                                        <p:attrNameLst>
                                          <p:attrName>ppt_x</p:attrName>
                                        </p:attrNameLst>
                                      </p:cBhvr>
                                      <p:tavLst>
                                        <p:tav tm="0">
                                          <p:val>
                                            <p:strVal val="#ppt_x"/>
                                          </p:val>
                                        </p:tav>
                                        <p:tav tm="100000">
                                          <p:val>
                                            <p:strVal val="#ppt_x"/>
                                          </p:val>
                                        </p:tav>
                                      </p:tavLst>
                                    </p:anim>
                                    <p:anim calcmode="lin" valueType="num">
                                      <p:cBhvr additive="base">
                                        <p:cTn id="116" dur="500" fill="hold"/>
                                        <p:tgtEl>
                                          <p:spTgt spid="75"/>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76"/>
                                        </p:tgtEl>
                                        <p:attrNameLst>
                                          <p:attrName>style.visibility</p:attrName>
                                        </p:attrNameLst>
                                      </p:cBhvr>
                                      <p:to>
                                        <p:strVal val="visible"/>
                                      </p:to>
                                    </p:set>
                                    <p:anim calcmode="lin" valueType="num">
                                      <p:cBhvr additive="base">
                                        <p:cTn id="119" dur="500" fill="hold"/>
                                        <p:tgtEl>
                                          <p:spTgt spid="76"/>
                                        </p:tgtEl>
                                        <p:attrNameLst>
                                          <p:attrName>ppt_x</p:attrName>
                                        </p:attrNameLst>
                                      </p:cBhvr>
                                      <p:tavLst>
                                        <p:tav tm="0">
                                          <p:val>
                                            <p:strVal val="#ppt_x"/>
                                          </p:val>
                                        </p:tav>
                                        <p:tav tm="100000">
                                          <p:val>
                                            <p:strVal val="#ppt_x"/>
                                          </p:val>
                                        </p:tav>
                                      </p:tavLst>
                                    </p:anim>
                                    <p:anim calcmode="lin" valueType="num">
                                      <p:cBhvr additive="base">
                                        <p:cTn id="120" dur="500" fill="hold"/>
                                        <p:tgtEl>
                                          <p:spTgt spid="76"/>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77"/>
                                        </p:tgtEl>
                                        <p:attrNameLst>
                                          <p:attrName>style.visibility</p:attrName>
                                        </p:attrNameLst>
                                      </p:cBhvr>
                                      <p:to>
                                        <p:strVal val="visible"/>
                                      </p:to>
                                    </p:set>
                                    <p:anim calcmode="lin" valueType="num">
                                      <p:cBhvr additive="base">
                                        <p:cTn id="123" dur="500" fill="hold"/>
                                        <p:tgtEl>
                                          <p:spTgt spid="77"/>
                                        </p:tgtEl>
                                        <p:attrNameLst>
                                          <p:attrName>ppt_x</p:attrName>
                                        </p:attrNameLst>
                                      </p:cBhvr>
                                      <p:tavLst>
                                        <p:tav tm="0">
                                          <p:val>
                                            <p:strVal val="#ppt_x"/>
                                          </p:val>
                                        </p:tav>
                                        <p:tav tm="100000">
                                          <p:val>
                                            <p:strVal val="#ppt_x"/>
                                          </p:val>
                                        </p:tav>
                                      </p:tavLst>
                                    </p:anim>
                                    <p:anim calcmode="lin" valueType="num">
                                      <p:cBhvr additive="base">
                                        <p:cTn id="124" dur="500" fill="hold"/>
                                        <p:tgtEl>
                                          <p:spTgt spid="77"/>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78"/>
                                        </p:tgtEl>
                                        <p:attrNameLst>
                                          <p:attrName>style.visibility</p:attrName>
                                        </p:attrNameLst>
                                      </p:cBhvr>
                                      <p:to>
                                        <p:strVal val="visible"/>
                                      </p:to>
                                    </p:set>
                                    <p:anim calcmode="lin" valueType="num">
                                      <p:cBhvr additive="base">
                                        <p:cTn id="127" dur="500" fill="hold"/>
                                        <p:tgtEl>
                                          <p:spTgt spid="78"/>
                                        </p:tgtEl>
                                        <p:attrNameLst>
                                          <p:attrName>ppt_x</p:attrName>
                                        </p:attrNameLst>
                                      </p:cBhvr>
                                      <p:tavLst>
                                        <p:tav tm="0">
                                          <p:val>
                                            <p:strVal val="#ppt_x"/>
                                          </p:val>
                                        </p:tav>
                                        <p:tav tm="100000">
                                          <p:val>
                                            <p:strVal val="#ppt_x"/>
                                          </p:val>
                                        </p:tav>
                                      </p:tavLst>
                                    </p:anim>
                                    <p:anim calcmode="lin" valueType="num">
                                      <p:cBhvr additive="base">
                                        <p:cTn id="128" dur="500" fill="hold"/>
                                        <p:tgtEl>
                                          <p:spTgt spid="78"/>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79"/>
                                        </p:tgtEl>
                                        <p:attrNameLst>
                                          <p:attrName>style.visibility</p:attrName>
                                        </p:attrNameLst>
                                      </p:cBhvr>
                                      <p:to>
                                        <p:strVal val="visible"/>
                                      </p:to>
                                    </p:set>
                                    <p:anim calcmode="lin" valueType="num">
                                      <p:cBhvr additive="base">
                                        <p:cTn id="131" dur="500" fill="hold"/>
                                        <p:tgtEl>
                                          <p:spTgt spid="79"/>
                                        </p:tgtEl>
                                        <p:attrNameLst>
                                          <p:attrName>ppt_x</p:attrName>
                                        </p:attrNameLst>
                                      </p:cBhvr>
                                      <p:tavLst>
                                        <p:tav tm="0">
                                          <p:val>
                                            <p:strVal val="#ppt_x"/>
                                          </p:val>
                                        </p:tav>
                                        <p:tav tm="100000">
                                          <p:val>
                                            <p:strVal val="#ppt_x"/>
                                          </p:val>
                                        </p:tav>
                                      </p:tavLst>
                                    </p:anim>
                                    <p:anim calcmode="lin" valueType="num">
                                      <p:cBhvr additive="base">
                                        <p:cTn id="132" dur="500" fill="hold"/>
                                        <p:tgtEl>
                                          <p:spTgt spid="79"/>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80"/>
                                        </p:tgtEl>
                                        <p:attrNameLst>
                                          <p:attrName>style.visibility</p:attrName>
                                        </p:attrNameLst>
                                      </p:cBhvr>
                                      <p:to>
                                        <p:strVal val="visible"/>
                                      </p:to>
                                    </p:set>
                                    <p:anim calcmode="lin" valueType="num">
                                      <p:cBhvr additive="base">
                                        <p:cTn id="135" dur="500" fill="hold"/>
                                        <p:tgtEl>
                                          <p:spTgt spid="80"/>
                                        </p:tgtEl>
                                        <p:attrNameLst>
                                          <p:attrName>ppt_x</p:attrName>
                                        </p:attrNameLst>
                                      </p:cBhvr>
                                      <p:tavLst>
                                        <p:tav tm="0">
                                          <p:val>
                                            <p:strVal val="#ppt_x"/>
                                          </p:val>
                                        </p:tav>
                                        <p:tav tm="100000">
                                          <p:val>
                                            <p:strVal val="#ppt_x"/>
                                          </p:val>
                                        </p:tav>
                                      </p:tavLst>
                                    </p:anim>
                                    <p:anim calcmode="lin" valueType="num">
                                      <p:cBhvr additive="base">
                                        <p:cTn id="136" dur="500" fill="hold"/>
                                        <p:tgtEl>
                                          <p:spTgt spid="80"/>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81"/>
                                        </p:tgtEl>
                                        <p:attrNameLst>
                                          <p:attrName>style.visibility</p:attrName>
                                        </p:attrNameLst>
                                      </p:cBhvr>
                                      <p:to>
                                        <p:strVal val="visible"/>
                                      </p:to>
                                    </p:set>
                                    <p:anim calcmode="lin" valueType="num">
                                      <p:cBhvr additive="base">
                                        <p:cTn id="139" dur="500" fill="hold"/>
                                        <p:tgtEl>
                                          <p:spTgt spid="81"/>
                                        </p:tgtEl>
                                        <p:attrNameLst>
                                          <p:attrName>ppt_x</p:attrName>
                                        </p:attrNameLst>
                                      </p:cBhvr>
                                      <p:tavLst>
                                        <p:tav tm="0">
                                          <p:val>
                                            <p:strVal val="#ppt_x"/>
                                          </p:val>
                                        </p:tav>
                                        <p:tav tm="100000">
                                          <p:val>
                                            <p:strVal val="#ppt_x"/>
                                          </p:val>
                                        </p:tav>
                                      </p:tavLst>
                                    </p:anim>
                                    <p:anim calcmode="lin" valueType="num">
                                      <p:cBhvr additive="base">
                                        <p:cTn id="140" dur="500" fill="hold"/>
                                        <p:tgtEl>
                                          <p:spTgt spid="81"/>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82"/>
                                        </p:tgtEl>
                                        <p:attrNameLst>
                                          <p:attrName>style.visibility</p:attrName>
                                        </p:attrNameLst>
                                      </p:cBhvr>
                                      <p:to>
                                        <p:strVal val="visible"/>
                                      </p:to>
                                    </p:set>
                                    <p:anim calcmode="lin" valueType="num">
                                      <p:cBhvr additive="base">
                                        <p:cTn id="143" dur="500" fill="hold"/>
                                        <p:tgtEl>
                                          <p:spTgt spid="82"/>
                                        </p:tgtEl>
                                        <p:attrNameLst>
                                          <p:attrName>ppt_x</p:attrName>
                                        </p:attrNameLst>
                                      </p:cBhvr>
                                      <p:tavLst>
                                        <p:tav tm="0">
                                          <p:val>
                                            <p:strVal val="#ppt_x"/>
                                          </p:val>
                                        </p:tav>
                                        <p:tav tm="100000">
                                          <p:val>
                                            <p:strVal val="#ppt_x"/>
                                          </p:val>
                                        </p:tav>
                                      </p:tavLst>
                                    </p:anim>
                                    <p:anim calcmode="lin" valueType="num">
                                      <p:cBhvr additive="base">
                                        <p:cTn id="144" dur="500" fill="hold"/>
                                        <p:tgtEl>
                                          <p:spTgt spid="82"/>
                                        </p:tgtEl>
                                        <p:attrNameLst>
                                          <p:attrName>ppt_y</p:attrName>
                                        </p:attrNameLst>
                                      </p:cBhvr>
                                      <p:tavLst>
                                        <p:tav tm="0">
                                          <p:val>
                                            <p:strVal val="1+#ppt_h/2"/>
                                          </p:val>
                                        </p:tav>
                                        <p:tav tm="100000">
                                          <p:val>
                                            <p:strVal val="#ppt_y"/>
                                          </p:val>
                                        </p:tav>
                                      </p:tavLst>
                                    </p:anim>
                                  </p:childTnLst>
                                </p:cTn>
                              </p:par>
                              <p:par>
                                <p:cTn id="145" presetID="2" presetClass="entr" presetSubtype="4" fill="hold" nodeType="withEffect">
                                  <p:stCondLst>
                                    <p:cond delay="0"/>
                                  </p:stCondLst>
                                  <p:childTnLst>
                                    <p:set>
                                      <p:cBhvr>
                                        <p:cTn id="146" dur="1" fill="hold">
                                          <p:stCondLst>
                                            <p:cond delay="0"/>
                                          </p:stCondLst>
                                        </p:cTn>
                                        <p:tgtEl>
                                          <p:spTgt spid="83"/>
                                        </p:tgtEl>
                                        <p:attrNameLst>
                                          <p:attrName>style.visibility</p:attrName>
                                        </p:attrNameLst>
                                      </p:cBhvr>
                                      <p:to>
                                        <p:strVal val="visible"/>
                                      </p:to>
                                    </p:set>
                                    <p:anim calcmode="lin" valueType="num">
                                      <p:cBhvr additive="base">
                                        <p:cTn id="147" dur="500" fill="hold"/>
                                        <p:tgtEl>
                                          <p:spTgt spid="83"/>
                                        </p:tgtEl>
                                        <p:attrNameLst>
                                          <p:attrName>ppt_x</p:attrName>
                                        </p:attrNameLst>
                                      </p:cBhvr>
                                      <p:tavLst>
                                        <p:tav tm="0">
                                          <p:val>
                                            <p:strVal val="#ppt_x"/>
                                          </p:val>
                                        </p:tav>
                                        <p:tav tm="100000">
                                          <p:val>
                                            <p:strVal val="#ppt_x"/>
                                          </p:val>
                                        </p:tav>
                                      </p:tavLst>
                                    </p:anim>
                                    <p:anim calcmode="lin" valueType="num">
                                      <p:cBhvr additive="base">
                                        <p:cTn id="148" dur="500" fill="hold"/>
                                        <p:tgtEl>
                                          <p:spTgt spid="83"/>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84"/>
                                        </p:tgtEl>
                                        <p:attrNameLst>
                                          <p:attrName>style.visibility</p:attrName>
                                        </p:attrNameLst>
                                      </p:cBhvr>
                                      <p:to>
                                        <p:strVal val="visible"/>
                                      </p:to>
                                    </p:set>
                                    <p:anim calcmode="lin" valueType="num">
                                      <p:cBhvr additive="base">
                                        <p:cTn id="151" dur="500" fill="hold"/>
                                        <p:tgtEl>
                                          <p:spTgt spid="84"/>
                                        </p:tgtEl>
                                        <p:attrNameLst>
                                          <p:attrName>ppt_x</p:attrName>
                                        </p:attrNameLst>
                                      </p:cBhvr>
                                      <p:tavLst>
                                        <p:tav tm="0">
                                          <p:val>
                                            <p:strVal val="#ppt_x"/>
                                          </p:val>
                                        </p:tav>
                                        <p:tav tm="100000">
                                          <p:val>
                                            <p:strVal val="#ppt_x"/>
                                          </p:val>
                                        </p:tav>
                                      </p:tavLst>
                                    </p:anim>
                                    <p:anim calcmode="lin" valueType="num">
                                      <p:cBhvr additive="base">
                                        <p:cTn id="152" dur="500" fill="hold"/>
                                        <p:tgtEl>
                                          <p:spTgt spid="84"/>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85"/>
                                        </p:tgtEl>
                                        <p:attrNameLst>
                                          <p:attrName>style.visibility</p:attrName>
                                        </p:attrNameLst>
                                      </p:cBhvr>
                                      <p:to>
                                        <p:strVal val="visible"/>
                                      </p:to>
                                    </p:set>
                                    <p:anim calcmode="lin" valueType="num">
                                      <p:cBhvr additive="base">
                                        <p:cTn id="155" dur="500" fill="hold"/>
                                        <p:tgtEl>
                                          <p:spTgt spid="85"/>
                                        </p:tgtEl>
                                        <p:attrNameLst>
                                          <p:attrName>ppt_x</p:attrName>
                                        </p:attrNameLst>
                                      </p:cBhvr>
                                      <p:tavLst>
                                        <p:tav tm="0">
                                          <p:val>
                                            <p:strVal val="#ppt_x"/>
                                          </p:val>
                                        </p:tav>
                                        <p:tav tm="100000">
                                          <p:val>
                                            <p:strVal val="#ppt_x"/>
                                          </p:val>
                                        </p:tav>
                                      </p:tavLst>
                                    </p:anim>
                                    <p:anim calcmode="lin" valueType="num">
                                      <p:cBhvr additive="base">
                                        <p:cTn id="156" dur="500" fill="hold"/>
                                        <p:tgtEl>
                                          <p:spTgt spid="85"/>
                                        </p:tgtEl>
                                        <p:attrNameLst>
                                          <p:attrName>ppt_y</p:attrName>
                                        </p:attrNameLst>
                                      </p:cBhvr>
                                      <p:tavLst>
                                        <p:tav tm="0">
                                          <p:val>
                                            <p:strVal val="1+#ppt_h/2"/>
                                          </p:val>
                                        </p:tav>
                                        <p:tav tm="100000">
                                          <p:val>
                                            <p:strVal val="#ppt_y"/>
                                          </p:val>
                                        </p:tav>
                                      </p:tavLst>
                                    </p:anim>
                                  </p:childTnLst>
                                </p:cTn>
                              </p:par>
                              <p:par>
                                <p:cTn id="157" presetID="2" presetClass="entr" presetSubtype="4" fill="hold" nodeType="withEffect">
                                  <p:stCondLst>
                                    <p:cond delay="0"/>
                                  </p:stCondLst>
                                  <p:childTnLst>
                                    <p:set>
                                      <p:cBhvr>
                                        <p:cTn id="158" dur="1" fill="hold">
                                          <p:stCondLst>
                                            <p:cond delay="0"/>
                                          </p:stCondLst>
                                        </p:cTn>
                                        <p:tgtEl>
                                          <p:spTgt spid="86"/>
                                        </p:tgtEl>
                                        <p:attrNameLst>
                                          <p:attrName>style.visibility</p:attrName>
                                        </p:attrNameLst>
                                      </p:cBhvr>
                                      <p:to>
                                        <p:strVal val="visible"/>
                                      </p:to>
                                    </p:set>
                                    <p:anim calcmode="lin" valueType="num">
                                      <p:cBhvr additive="base">
                                        <p:cTn id="159" dur="500" fill="hold"/>
                                        <p:tgtEl>
                                          <p:spTgt spid="86"/>
                                        </p:tgtEl>
                                        <p:attrNameLst>
                                          <p:attrName>ppt_x</p:attrName>
                                        </p:attrNameLst>
                                      </p:cBhvr>
                                      <p:tavLst>
                                        <p:tav tm="0">
                                          <p:val>
                                            <p:strVal val="#ppt_x"/>
                                          </p:val>
                                        </p:tav>
                                        <p:tav tm="100000">
                                          <p:val>
                                            <p:strVal val="#ppt_x"/>
                                          </p:val>
                                        </p:tav>
                                      </p:tavLst>
                                    </p:anim>
                                    <p:anim calcmode="lin" valueType="num">
                                      <p:cBhvr additive="base">
                                        <p:cTn id="160" dur="500" fill="hold"/>
                                        <p:tgtEl>
                                          <p:spTgt spid="86"/>
                                        </p:tgtEl>
                                        <p:attrNameLst>
                                          <p:attrName>ppt_y</p:attrName>
                                        </p:attrNameLst>
                                      </p:cBhvr>
                                      <p:tavLst>
                                        <p:tav tm="0">
                                          <p:val>
                                            <p:strVal val="1+#ppt_h/2"/>
                                          </p:val>
                                        </p:tav>
                                        <p:tav tm="100000">
                                          <p:val>
                                            <p:strVal val="#ppt_y"/>
                                          </p:val>
                                        </p:tav>
                                      </p:tavLst>
                                    </p:anim>
                                  </p:childTnLst>
                                </p:cTn>
                              </p:par>
                              <p:par>
                                <p:cTn id="161" presetID="2" presetClass="entr" presetSubtype="4" fill="hold" grpId="0" nodeType="withEffect">
                                  <p:stCondLst>
                                    <p:cond delay="0"/>
                                  </p:stCondLst>
                                  <p:childTnLst>
                                    <p:set>
                                      <p:cBhvr>
                                        <p:cTn id="162" dur="1" fill="hold">
                                          <p:stCondLst>
                                            <p:cond delay="0"/>
                                          </p:stCondLst>
                                        </p:cTn>
                                        <p:tgtEl>
                                          <p:spTgt spid="87"/>
                                        </p:tgtEl>
                                        <p:attrNameLst>
                                          <p:attrName>style.visibility</p:attrName>
                                        </p:attrNameLst>
                                      </p:cBhvr>
                                      <p:to>
                                        <p:strVal val="visible"/>
                                      </p:to>
                                    </p:set>
                                    <p:anim calcmode="lin" valueType="num">
                                      <p:cBhvr additive="base">
                                        <p:cTn id="163" dur="500" fill="hold"/>
                                        <p:tgtEl>
                                          <p:spTgt spid="87"/>
                                        </p:tgtEl>
                                        <p:attrNameLst>
                                          <p:attrName>ppt_x</p:attrName>
                                        </p:attrNameLst>
                                      </p:cBhvr>
                                      <p:tavLst>
                                        <p:tav tm="0">
                                          <p:val>
                                            <p:strVal val="#ppt_x"/>
                                          </p:val>
                                        </p:tav>
                                        <p:tav tm="100000">
                                          <p:val>
                                            <p:strVal val="#ppt_x"/>
                                          </p:val>
                                        </p:tav>
                                      </p:tavLst>
                                    </p:anim>
                                    <p:anim calcmode="lin" valueType="num">
                                      <p:cBhvr additive="base">
                                        <p:cTn id="164" dur="500" fill="hold"/>
                                        <p:tgtEl>
                                          <p:spTgt spid="87"/>
                                        </p:tgtEl>
                                        <p:attrNameLst>
                                          <p:attrName>ppt_y</p:attrName>
                                        </p:attrNameLst>
                                      </p:cBhvr>
                                      <p:tavLst>
                                        <p:tav tm="0">
                                          <p:val>
                                            <p:strVal val="1+#ppt_h/2"/>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88"/>
                                        </p:tgtEl>
                                        <p:attrNameLst>
                                          <p:attrName>style.visibility</p:attrName>
                                        </p:attrNameLst>
                                      </p:cBhvr>
                                      <p:to>
                                        <p:strVal val="visible"/>
                                      </p:to>
                                    </p:set>
                                    <p:anim calcmode="lin" valueType="num">
                                      <p:cBhvr additive="base">
                                        <p:cTn id="167" dur="500" fill="hold"/>
                                        <p:tgtEl>
                                          <p:spTgt spid="88"/>
                                        </p:tgtEl>
                                        <p:attrNameLst>
                                          <p:attrName>ppt_x</p:attrName>
                                        </p:attrNameLst>
                                      </p:cBhvr>
                                      <p:tavLst>
                                        <p:tav tm="0">
                                          <p:val>
                                            <p:strVal val="#ppt_x"/>
                                          </p:val>
                                        </p:tav>
                                        <p:tav tm="100000">
                                          <p:val>
                                            <p:strVal val="#ppt_x"/>
                                          </p:val>
                                        </p:tav>
                                      </p:tavLst>
                                    </p:anim>
                                    <p:anim calcmode="lin" valueType="num">
                                      <p:cBhvr additive="base">
                                        <p:cTn id="168"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P spid="13" grpId="0"/>
      <p:bldP spid="14" grpId="0"/>
      <p:bldP spid="17" grpId="0"/>
      <p:bldP spid="18" grpId="0"/>
      <p:bldP spid="21" grpId="0"/>
      <p:bldP spid="22" grpId="0"/>
      <p:bldP spid="24" grpId="0"/>
      <p:bldP spid="68" grpId="0"/>
      <p:bldP spid="69" grpId="0"/>
      <p:bldP spid="70" grpId="0"/>
      <p:bldP spid="71" grpId="0"/>
      <p:bldP spid="72" grpId="0"/>
      <p:bldP spid="73" grpId="0"/>
      <p:bldP spid="74" grpId="0"/>
      <p:bldP spid="75" grpId="0"/>
      <p:bldP spid="78" grpId="0"/>
      <p:bldP spid="79" grpId="0"/>
      <p:bldP spid="81" grpId="0"/>
      <p:bldP spid="82" grpId="0"/>
      <p:bldP spid="84" grpId="0"/>
      <p:bldP spid="85" grpId="0"/>
      <p:bldP spid="87" grpId="0"/>
      <p:bldP spid="8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02920" y="502920"/>
            <a:ext cx="1737360" cy="475488"/>
          </a:xfrm>
          <a:prstGeom prst="roundRect">
            <a:avLst>
              <a:gd name="adj" fmla="val 50000"/>
            </a:avLst>
          </a:prstGeom>
          <a:solidFill>
            <a:srgbClr val="14532D"/>
          </a:solidFill>
          <a:effectLst>
            <a:outerShdw blurRad="2147483647" dist="2147483647" dir="1" algn="bl" rotWithShape="0">
              <a:srgbClr val="1B4633">
                <a:alpha val="2"/>
              </a:srgbClr>
            </a:outerShdw>
          </a:effectLst>
        </p:spPr>
        <p:txBody>
          <a:bodyPr/>
          <a:p/>
        </p:txBody>
      </p:sp>
      <p:sp>
        <p:nvSpPr>
          <p:cNvPr id="4" name="Text 2"/>
          <p:cNvSpPr/>
          <p:nvPr/>
        </p:nvSpPr>
        <p:spPr>
          <a:xfrm>
            <a:off x="502920" y="502920"/>
            <a:ext cx="1737360" cy="475488"/>
          </a:xfrm>
          <a:prstGeom prst="rect">
            <a:avLst/>
          </a:prstGeom>
          <a:noFill/>
        </p:spPr>
        <p:txBody>
          <a:bodyPr wrap="square" lIns="0" tIns="0" rIns="0" bIns="0" rtlCol="0" anchor="ctr"/>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模型 二</a:t>
            </a:r>
            <a:endParaRPr lang="en-US" sz="1500" dirty="0"/>
          </a:p>
        </p:txBody>
      </p:sp>
      <p:sp>
        <p:nvSpPr>
          <p:cNvPr id="5" name="Text 3"/>
          <p:cNvSpPr/>
          <p:nvPr/>
        </p:nvSpPr>
        <p:spPr>
          <a:xfrm>
            <a:off x="2487168" y="365760"/>
            <a:ext cx="9052560" cy="777240"/>
          </a:xfrm>
          <a:prstGeom prst="rect">
            <a:avLst/>
          </a:prstGeom>
          <a:noFill/>
        </p:spPr>
        <p:txBody>
          <a:bodyPr wrap="square" lIns="0" tIns="0" rIns="0" bIns="0" rtlCol="0" anchor="ctr"/>
          <a:lstStyle/>
          <a:p>
            <a:pPr marL="0" indent="0">
              <a:buNone/>
            </a:pPr>
            <a:r>
              <a:rPr lang="en-US" sz="2700" b="1" dirty="0">
                <a:solidFill>
                  <a:srgbClr val="14301F"/>
                </a:solidFill>
                <a:latin typeface="微软雅黑" pitchFamily="34" charset="0"/>
                <a:ea typeface="微软雅黑" pitchFamily="34" charset="-122"/>
                <a:cs typeface="微软雅黑" pitchFamily="34" charset="-120"/>
              </a:rPr>
              <a:t>村级发展指数 </a:t>
            </a:r>
            <a:r>
              <a:rPr lang="zh-CN" altLang="en-US" sz="2700" b="1" dirty="0">
                <a:solidFill>
                  <a:srgbClr val="14301F"/>
                </a:solidFill>
                <a:latin typeface="微软雅黑" pitchFamily="34" charset="0"/>
                <a:ea typeface="微软雅黑" pitchFamily="34" charset="-122"/>
                <a:cs typeface="微软雅黑" pitchFamily="34" charset="-120"/>
              </a:rPr>
              <a:t>测算结果</a:t>
            </a:r>
            <a:r>
              <a:rPr lang="zh-CN" altLang="en-US" sz="2700" b="1" dirty="0">
                <a:solidFill>
                  <a:srgbClr val="14301F"/>
                </a:solidFill>
                <a:latin typeface="微软雅黑" pitchFamily="34" charset="0"/>
                <a:ea typeface="微软雅黑" pitchFamily="34" charset="-122"/>
                <a:cs typeface="微软雅黑" pitchFamily="34" charset="-120"/>
              </a:rPr>
              <a:t>校验</a:t>
            </a:r>
            <a:endParaRPr lang="zh-CN" altLang="en-US" sz="2700" b="1" dirty="0">
              <a:solidFill>
                <a:srgbClr val="14301F"/>
              </a:solidFill>
              <a:latin typeface="微软雅黑" pitchFamily="34" charset="0"/>
              <a:ea typeface="微软雅黑" pitchFamily="34" charset="-122"/>
              <a:cs typeface="微软雅黑" pitchFamily="34" charset="-120"/>
            </a:endParaRPr>
          </a:p>
        </p:txBody>
      </p:sp>
      <p:pic>
        <p:nvPicPr>
          <p:cNvPr id="2" name="图片 1" descr="截屏2026-09-10 12.09.47"/>
          <p:cNvPicPr>
            <a:picLocks noChangeAspect="1"/>
          </p:cNvPicPr>
          <p:nvPr/>
        </p:nvPicPr>
        <p:blipFill>
          <a:blip r:embed="rId1"/>
          <a:stretch>
            <a:fillRect/>
          </a:stretch>
        </p:blipFill>
        <p:spPr>
          <a:xfrm>
            <a:off x="0" y="1644650"/>
            <a:ext cx="6096000" cy="3568700"/>
          </a:xfrm>
          <a:prstGeom prst="rect">
            <a:avLst/>
          </a:prstGeom>
        </p:spPr>
      </p:pic>
      <p:pic>
        <p:nvPicPr>
          <p:cNvPr id="6" name="图片 5"/>
          <p:cNvPicPr>
            <a:picLocks noChangeAspect="1"/>
          </p:cNvPicPr>
          <p:nvPr/>
        </p:nvPicPr>
        <p:blipFill>
          <a:blip r:embed="rId2"/>
          <a:stretch>
            <a:fillRect/>
          </a:stretch>
        </p:blipFill>
        <p:spPr>
          <a:xfrm>
            <a:off x="6096000" y="1744345"/>
            <a:ext cx="7027545" cy="375793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抢修服务队_职责体系.drawio"/>
          <p:cNvPicPr>
            <a:picLocks noChangeAspect="1"/>
          </p:cNvPicPr>
          <p:nvPr/>
        </p:nvPicPr>
        <p:blipFill>
          <a:blip r:embed="rId1"/>
          <a:stretch>
            <a:fillRect/>
          </a:stretch>
        </p:blipFill>
        <p:spPr>
          <a:xfrm>
            <a:off x="1078865" y="160020"/>
            <a:ext cx="10033635" cy="571881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2461</Words>
  <Application>WPS 演示</Application>
  <PresentationFormat>On-screen Show (16:9)</PresentationFormat>
  <Paragraphs>277</Paragraphs>
  <Slides>8</Slides>
  <Notes>14</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8</vt:i4>
      </vt:variant>
    </vt:vector>
  </HeadingPairs>
  <TitlesOfParts>
    <vt:vector size="27" baseType="lpstr">
      <vt:lpstr>Arial</vt:lpstr>
      <vt:lpstr>宋体</vt:lpstr>
      <vt:lpstr>Wingdings</vt:lpstr>
      <vt:lpstr>微软雅黑</vt:lpstr>
      <vt:lpstr>汉仪旗黑</vt:lpstr>
      <vt:lpstr>微软雅黑</vt:lpstr>
      <vt:lpstr>微软雅黑</vt:lpstr>
      <vt:lpstr>Calibri</vt:lpstr>
      <vt:lpstr>Helvetica Neue</vt:lpstr>
      <vt:lpstr>宋体</vt:lpstr>
      <vt:lpstr>Arial Unicode MS</vt:lpstr>
      <vt:lpstr>等线</vt:lpstr>
      <vt:lpstr>汉仪中等线KW</vt:lpstr>
      <vt:lpstr>汉仪书宋二KW</vt:lpstr>
      <vt:lpstr>MS PGothic</vt:lpstr>
      <vt:lpstr>苹方-简</vt:lpstr>
      <vt:lpstr>Arial</vt:lpstr>
      <vt:lpstr>宋体</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创客大赛</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宜昌市烟草专卖局（公司）</dc:creator>
  <dc:subject>PptxGenJS Presentation</dc:subject>
  <cp:lastModifiedBy>上善若水</cp:lastModifiedBy>
  <cp:revision>376</cp:revision>
  <dcterms:created xsi:type="dcterms:W3CDTF">2026-09-10T09:52:35Z</dcterms:created>
  <dcterms:modified xsi:type="dcterms:W3CDTF">2026-09-10T09:52:35Z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CCAB874DCE7C0A3F402DA26AD2949088_43</vt:lpwstr>
  </property>
  <property fmtid="{D5CDD505-2E9C-101B-9397-08002B2CF9AE}" pid="3" name="KSOProductBuildVer">
    <vt:lpwstr>2052-12.1.25869.25869</vt:lpwstr>
  </property>
</Properties>
</file>