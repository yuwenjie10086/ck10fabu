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18" r:id="rId5"/>
    <p:sldId id="270" r:id="rId6"/>
    <p:sldId id="295" r:id="rId7"/>
    <p:sldId id="337" r:id="rId8"/>
    <p:sldId id="286" r:id="rId9"/>
    <p:sldId id="288" r:id="rId10"/>
    <p:sldId id="324" r:id="rId11"/>
    <p:sldId id="319" r:id="rId12"/>
    <p:sldId id="314" r:id="rId13"/>
    <p:sldId id="325" r:id="rId14"/>
    <p:sldId id="312" r:id="rId15"/>
    <p:sldId id="320" r:id="rId16"/>
    <p:sldId id="334" r:id="rId17"/>
    <p:sldId id="321" r:id="rId18"/>
    <p:sldId id="327" r:id="rId19"/>
    <p:sldId id="328" r:id="rId20"/>
    <p:sldId id="330" r:id="rId21"/>
    <p:sldId id="329" r:id="rId22"/>
    <p:sldId id="331" r:id="rId23"/>
    <p:sldId id="333" r:id="rId24"/>
    <p:sldId id="323" r:id="rId25"/>
    <p:sldId id="343" r:id="rId26"/>
    <p:sldId id="338" r:id="rId27"/>
    <p:sldId id="339" r:id="rId28"/>
    <p:sldId id="340" r:id="rId29"/>
    <p:sldId id="341" r:id="rId30"/>
    <p:sldId id="342" r:id="rId31"/>
    <p:sldId id="292" r:id="rId32"/>
    <p:sldId id="322" r:id="rId33"/>
    <p:sldId id="335" r:id="rId34"/>
    <p:sldId id="345" r:id="rId35"/>
    <p:sldId id="336" r:id="rId36"/>
    <p:sldId id="293" r:id="rId37"/>
    <p:sldId id="260" r:id="rId38"/>
    <p:sldId id="268" r:id="rId3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满意度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66534"/>
              </a:solidFill>
              <a:effectLst/>
            </c:spPr>
          </c:dPt>
          <c:dPt>
            <c:idx val="1"/>
            <c:bubble3D val="0"/>
            <c:spPr>
              <a:solidFill>
                <a:srgbClr val="9CC6B1"/>
              </a:solidFill>
              <a:effectLst/>
            </c:spPr>
          </c:dPt>
          <c:dPt>
            <c:idx val="2"/>
            <c:bubble3D val="0"/>
            <c:spPr>
              <a:solidFill>
                <a:srgbClr val="CDE0D5"/>
              </a:solidFill>
              <a:effectLst/>
            </c:spPr>
          </c:dPt>
          <c:dLbls>
            <c:dLbl>
              <c:idx val="0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16311F"/>
                      </a:solidFill>
                      <a:latin typeface="微软雅黑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16311F"/>
                      </a:solidFill>
                      <a:latin typeface="微软雅黑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16311F"/>
                      </a:solidFill>
                      <a:latin typeface="微软雅黑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满意</c:v>
                </c:pt>
                <c:pt idx="1">
                  <c:v>一般</c:v>
                </c:pt>
                <c:pt idx="2">
                  <c:v>不满意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28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8e95904-eb0c-426b-b658-bac5ffec167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大家好</a:t>
            </a:r>
            <a:r>
              <a:rPr lang="zh-CN" altLang="en-US" dirty="0"/>
              <a:t>！我们是来自宜昌市局的 “智同道合” 小组</a:t>
            </a:r>
            <a:r>
              <a:rPr lang="en-US" altLang="zh-CN" dirty="0"/>
              <a:t>，</a:t>
            </a:r>
            <a:r>
              <a:rPr lang="zh-CN" altLang="en-US" dirty="0"/>
              <a:t>今天带来</a:t>
            </a:r>
            <a:r>
              <a:rPr lang="en-US" altLang="zh-CN" dirty="0"/>
              <a:t>我们的</a:t>
            </a:r>
            <a:r>
              <a:rPr lang="zh-CN" altLang="en-US" dirty="0"/>
              <a:t>项目**智烤管家，基于健康评估的烤房用投管平台，</a:t>
            </a:r>
            <a:r>
              <a:rPr lang="en-US" altLang="zh-CN" dirty="0"/>
              <a:t>我们的口号是</a:t>
            </a:r>
            <a:r>
              <a:rPr lang="zh-CN" altLang="en-US" dirty="0"/>
              <a:t>聚数成方，一脉致远，让烤房更鲜活！</a:t>
            </a:r>
            <a:r>
              <a:rPr lang="en-US" altLang="zh-CN" dirty="0"/>
              <a:t>大家先观看一段视频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这是当前</a:t>
            </a:r>
            <a:r>
              <a:rPr lang="zh-CN" altLang="en-US" dirty="0"/>
              <a:t>烟农使用烤房的</a:t>
            </a:r>
            <a:r>
              <a:rPr lang="zh-CN" altLang="en-US" dirty="0"/>
              <a:t>现状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烤房是</a:t>
            </a:r>
            <a:r>
              <a:rPr lang="en-US" altLang="zh-CN" dirty="0"/>
              <a:t>烘烤季</a:t>
            </a:r>
            <a:r>
              <a:rPr lang="zh-CN" altLang="en-US" dirty="0"/>
              <a:t>最重要的生产设施。</a:t>
            </a:r>
            <a:r>
              <a:rPr lang="en-US" altLang="zh-CN" dirty="0"/>
              <a:t>我们面向烟农调研烤房的情况</a:t>
            </a:r>
            <a:r>
              <a:rPr lang="zh-CN" altLang="en-US" dirty="0"/>
              <a:t>，回收 700 余份问卷，真切看到烟农</a:t>
            </a:r>
            <a:r>
              <a:rPr lang="en-US" altLang="zh-CN" dirty="0"/>
              <a:t>的</a:t>
            </a:r>
            <a:r>
              <a:rPr lang="zh-CN" altLang="en-US" dirty="0"/>
              <a:t>“</a:t>
            </a:r>
            <a:r>
              <a:rPr lang="en-US" altLang="zh-CN" dirty="0"/>
              <a:t>忧愁</a:t>
            </a:r>
            <a:r>
              <a:rPr lang="zh-CN" altLang="en-US" dirty="0"/>
              <a:t>”：</a:t>
            </a:r>
            <a:endParaRPr lang="zh-CN" altLang="en-US" dirty="0"/>
          </a:p>
          <a:p>
            <a:r>
              <a:rPr lang="zh-CN" altLang="en-US" dirty="0"/>
              <a:t>第一是**用房愁**，烘烤旺季烤房紧张，闲置烤房找不到渠道调剂；</a:t>
            </a:r>
            <a:endParaRPr lang="zh-CN" altLang="en-US" dirty="0"/>
          </a:p>
          <a:p>
            <a:r>
              <a:rPr lang="zh-CN" altLang="en-US" dirty="0"/>
              <a:t>第二是**报修愁**，设备坏了找人难、抢修慢，一旦耽误烘烤，直接影响烟农收入；</a:t>
            </a:r>
            <a:endParaRPr lang="zh-CN" altLang="en-US" dirty="0"/>
          </a:p>
          <a:p>
            <a:r>
              <a:rPr lang="zh-CN" altLang="en-US" dirty="0"/>
              <a:t>第三是**管护愁**，烤房建好之后没人好好管，越用损耗越快。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这背后反映了</a:t>
            </a:r>
            <a:r>
              <a:rPr lang="zh-CN" altLang="en-US" dirty="0"/>
              <a:t>行业</a:t>
            </a:r>
            <a:r>
              <a:rPr lang="en-US" altLang="zh-CN" dirty="0"/>
              <a:t>内烤房管理的</a:t>
            </a:r>
            <a:r>
              <a:rPr lang="zh-CN" altLang="en-US" dirty="0"/>
              <a:t>三大痛点：</a:t>
            </a:r>
            <a:endParaRPr lang="zh-CN" altLang="en-US" dirty="0"/>
          </a:p>
          <a:p>
            <a:r>
              <a:rPr lang="zh-CN" altLang="en-US" dirty="0"/>
              <a:t>一是资源调度缺少数字支撑，烤房闲置与紧张同时存在；</a:t>
            </a:r>
            <a:endParaRPr lang="zh-CN" altLang="en-US" dirty="0"/>
          </a:p>
          <a:p>
            <a:r>
              <a:rPr lang="zh-CN" altLang="en-US" dirty="0"/>
              <a:t>二是基建投入缺少量化依据，烤房新建、</a:t>
            </a:r>
            <a:r>
              <a:rPr lang="en-US" altLang="zh-CN" dirty="0"/>
              <a:t>维修</a:t>
            </a:r>
            <a:r>
              <a:rPr lang="zh-CN" altLang="en-US" dirty="0"/>
              <a:t>凭经验拍板；</a:t>
            </a:r>
            <a:endParaRPr lang="zh-CN" altLang="en-US" dirty="0"/>
          </a:p>
          <a:p>
            <a:r>
              <a:rPr lang="zh-CN" altLang="en-US" dirty="0"/>
              <a:t>三是管护运行缺少闭环约束，合作社管护责任悬空，资金、队伍不好管。</a:t>
            </a:r>
            <a:endParaRPr lang="zh-CN" altLang="en-US" dirty="0"/>
          </a:p>
          <a:p>
            <a:r>
              <a:rPr lang="en-US" altLang="zh-CN" dirty="0"/>
              <a:t>这根本原因是，</a:t>
            </a:r>
            <a:r>
              <a:rPr lang="zh-CN" altLang="en-US" dirty="0"/>
              <a:t>缺数据、缺模型、缺平台。</a:t>
            </a:r>
            <a:endParaRPr lang="zh-CN" altLang="en-US" dirty="0"/>
          </a:p>
          <a:p>
            <a:r>
              <a:rPr lang="zh-CN" altLang="en-US" dirty="0"/>
              <a:t>所以我们提出了一个方案： “智烤管家”。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所以我们提出</a:t>
            </a:r>
            <a:r>
              <a:rPr lang="en-US" altLang="zh-CN" dirty="0"/>
              <a:t>解决方案</a:t>
            </a:r>
            <a:r>
              <a:rPr lang="zh-CN" altLang="en-US" dirty="0"/>
              <a:t>： “智烤管家”</a:t>
            </a:r>
            <a:r>
              <a:rPr lang="en-US" altLang="zh-CN" dirty="0"/>
              <a:t>-</a:t>
            </a:r>
            <a:r>
              <a:rPr lang="en-US" altLang="zh-CN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-</a:t>
            </a:r>
            <a:r>
              <a:rPr lang="zh-CN" altLang="en-US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基于健康评估的烤房用投管平台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以</a:t>
            </a:r>
            <a:r>
              <a:rPr lang="zh-CN" altLang="en-US" dirty="0"/>
              <a:t> “一库双模一平台”</a:t>
            </a:r>
            <a:r>
              <a:rPr lang="en-US" altLang="zh-CN" dirty="0"/>
              <a:t>为核心。</a:t>
            </a:r>
            <a:endParaRPr lang="en-US" altLang="zh-CN" dirty="0"/>
          </a:p>
          <a:p>
            <a:r>
              <a:rPr lang="zh-CN" altLang="en-US" dirty="0"/>
              <a:t>“一库” 是底座，烤房基础数据库，2442栋烤房、4大部位、18个部件，一栋一档、精准画像。</a:t>
            </a:r>
            <a:endParaRPr lang="en-US" altLang="zh-CN" dirty="0"/>
          </a:p>
          <a:p>
            <a:r>
              <a:rPr lang="zh-CN" altLang="en-US" dirty="0"/>
              <a:t>“双模” 是大脑，两个核心算法模型——健康评估模型算“这台烤房什么状态”，发展指数模型算“该不该</a:t>
            </a:r>
            <a:r>
              <a:rPr lang="en-US" altLang="zh-CN" dirty="0"/>
              <a:t>新</a:t>
            </a:r>
            <a:r>
              <a:rPr lang="zh-CN" altLang="en-US" dirty="0"/>
              <a:t>建”。</a:t>
            </a:r>
            <a:endParaRPr lang="en-US" altLang="zh-CN" dirty="0"/>
          </a:p>
          <a:p>
            <a:r>
              <a:rPr lang="zh-CN" altLang="en-US" dirty="0"/>
              <a:t>“一平台” 是载体，小程序+后台管理，烟农、合作社、行业部门三方协同。</a:t>
            </a:r>
            <a:endParaRPr lang="zh-CN" altLang="en-US" dirty="0"/>
          </a:p>
          <a:p>
            <a:r>
              <a:rPr lang="zh-CN" altLang="en-US" dirty="0"/>
              <a:t>一句话概括：用数据摸清家底，用模型科学决策，用平台闭环管护。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这个平台能干什么？我们把它归纳为五类。</a:t>
            </a:r>
            <a:endParaRPr lang="zh-CN" altLang="en-US" dirty="0"/>
          </a:p>
          <a:p>
            <a:r>
              <a:rPr lang="zh-CN" altLang="en-US" dirty="0"/>
              <a:t>数据底座类</a:t>
            </a:r>
            <a:r>
              <a:rPr lang="en-US" altLang="zh-CN" dirty="0"/>
              <a:t>，</a:t>
            </a:r>
            <a:r>
              <a:rPr lang="zh-CN" altLang="en-US" dirty="0"/>
              <a:t>烤房数字化建档，摸清家底。</a:t>
            </a:r>
            <a:endParaRPr lang="en-US" altLang="zh-CN" dirty="0"/>
          </a:p>
          <a:p>
            <a:r>
              <a:rPr lang="zh-CN" altLang="en-US" dirty="0"/>
              <a:t>智能研判类</a:t>
            </a:r>
            <a:r>
              <a:rPr lang="en-US" altLang="zh-CN" dirty="0"/>
              <a:t>，</a:t>
            </a:r>
            <a:r>
              <a:rPr lang="zh-CN" altLang="en-US" dirty="0"/>
              <a:t>健康分、发展指数，量化评估。</a:t>
            </a:r>
            <a:endParaRPr lang="zh-CN" altLang="en-US" dirty="0"/>
          </a:p>
          <a:p>
            <a:r>
              <a:rPr lang="zh-CN" altLang="en-US" dirty="0"/>
              <a:t>“智用”，调剂+报修，解决实操难题。</a:t>
            </a:r>
            <a:endParaRPr lang="en-US" altLang="zh-CN" dirty="0"/>
          </a:p>
          <a:p>
            <a:r>
              <a:rPr lang="zh-CN" altLang="en-US" dirty="0"/>
              <a:t>“智投”，新建+修复，用数据支撑投入。</a:t>
            </a:r>
            <a:endParaRPr lang="zh-CN" altLang="en-US" dirty="0"/>
          </a:p>
          <a:p>
            <a:r>
              <a:rPr lang="zh-CN" altLang="en-US" dirty="0"/>
              <a:t>“智管”，专业管家+集中养护，标准化管护。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从0到1，我们分了四步走：</a:t>
            </a:r>
            <a:endParaRPr lang="zh-CN" altLang="en-US" dirty="0"/>
          </a:p>
          <a:p>
            <a:r>
              <a:rPr lang="zh-CN" altLang="en-US" dirty="0"/>
              <a:t>第一步，搭数据库——摸清家底；</a:t>
            </a:r>
            <a:endParaRPr lang="zh-CN" altLang="en-US" dirty="0"/>
          </a:p>
          <a:p>
            <a:r>
              <a:rPr lang="zh-CN" altLang="en-US" dirty="0"/>
              <a:t>第二步，建模型</a:t>
            </a:r>
            <a:r>
              <a:rPr lang="en-US" altLang="zh-CN" dirty="0"/>
              <a:t>，</a:t>
            </a:r>
            <a:r>
              <a:rPr lang="zh-CN" altLang="en-US" dirty="0"/>
              <a:t>研发算力；</a:t>
            </a:r>
            <a:endParaRPr lang="zh-CN" altLang="en-US" dirty="0"/>
          </a:p>
          <a:p>
            <a:r>
              <a:rPr lang="zh-CN" altLang="en-US" dirty="0"/>
              <a:t>第三步，搭平台</a:t>
            </a:r>
            <a:r>
              <a:rPr lang="en-US" altLang="zh-CN" dirty="0"/>
              <a:t>，</a:t>
            </a:r>
            <a:r>
              <a:rPr lang="zh-CN" altLang="en-US" dirty="0"/>
              <a:t>载体落地；</a:t>
            </a:r>
            <a:endParaRPr lang="zh-CN" altLang="en-US" dirty="0"/>
          </a:p>
          <a:p>
            <a:r>
              <a:rPr lang="zh-CN" altLang="en-US" dirty="0"/>
              <a:t>第四步，推功能</a:t>
            </a:r>
            <a:r>
              <a:rPr lang="en-US" altLang="zh-CN" dirty="0"/>
              <a:t>落地，</a:t>
            </a:r>
            <a:r>
              <a:rPr lang="zh-CN" altLang="en-US" dirty="0"/>
              <a:t>三智输出。</a:t>
            </a:r>
            <a:endParaRPr lang="zh-CN" altLang="en-US" dirty="0"/>
          </a:p>
          <a:p>
            <a:r>
              <a:rPr lang="zh-CN" altLang="en-US" dirty="0"/>
              <a:t>一步一步来，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先看第一步</a:t>
            </a:r>
            <a:r>
              <a:rPr lang="en-US" altLang="zh-CN" dirty="0">
                <a:sym typeface="+mn-ea"/>
              </a:rPr>
              <a:t>，我们借助轻流低代码平台将</a:t>
            </a:r>
            <a:r>
              <a:rPr lang="en-US" altLang="zh-CN" dirty="0"/>
              <a:t>烤房纸质台账</a:t>
            </a:r>
            <a:r>
              <a:rPr lang="zh-CN" altLang="en-US" dirty="0"/>
              <a:t>；维修验收记录，</a:t>
            </a:r>
            <a:r>
              <a:rPr lang="en-US" altLang="zh-CN" dirty="0"/>
              <a:t>以及</a:t>
            </a:r>
            <a:r>
              <a:rPr lang="zh-CN" altLang="en-US" dirty="0"/>
              <a:t>涵盖烤房</a:t>
            </a:r>
            <a:r>
              <a:rPr lang="en-US" altLang="zh-CN" dirty="0"/>
              <a:t>部件</a:t>
            </a:r>
            <a:r>
              <a:rPr lang="zh-CN" altLang="en-US" dirty="0"/>
              <a:t>状态等信息</a:t>
            </a:r>
            <a:r>
              <a:rPr lang="en-US" altLang="zh-CN" dirty="0"/>
              <a:t>统一导入</a:t>
            </a:r>
            <a:r>
              <a:rPr lang="zh-CN" altLang="en-US" dirty="0"/>
              <a:t>；并辅以低代码开发的应用对烤房</a:t>
            </a:r>
            <a:r>
              <a:rPr lang="en-US" altLang="zh-CN" dirty="0"/>
              <a:t>档案</a:t>
            </a:r>
            <a:r>
              <a:rPr lang="zh-CN" altLang="en-US" dirty="0"/>
              <a:t>进行补充</a:t>
            </a:r>
            <a:r>
              <a:rPr lang="en-US" altLang="zh-CN" dirty="0"/>
              <a:t>，建立起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烤房数据库</a:t>
            </a:r>
            <a:r>
              <a:rPr lang="en-US" altLang="zh-CN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。</a:t>
            </a:r>
            <a:endParaRPr lang="en-US" altLang="zh-CN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4大部位、18个核心部件</a:t>
            </a:r>
            <a:r>
              <a:rPr lang="en-US" altLang="zh-CN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，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建设年份、部件状态、维修历史、使用状态</a:t>
            </a:r>
            <a:r>
              <a:rPr lang="en-US" altLang="zh-CN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，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逐一核查，</a:t>
            </a:r>
            <a:r>
              <a:rPr lang="en-US" altLang="zh-CN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识别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状态</a:t>
            </a:r>
            <a:r>
              <a:rPr lang="en-US" altLang="zh-CN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，补充图片等，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全部</a:t>
            </a:r>
            <a:r>
              <a:rPr lang="en-US" altLang="zh-CN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入库</a:t>
            </a:r>
            <a:r>
              <a:rPr lang="en-US" altLang="zh-CN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。目前已完成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秭归县2442栋烤房的全量建档</a:t>
            </a:r>
            <a:endParaRPr lang="zh-CN" altLang="en-US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让每栋烤房有了自己的“身份证”和“体检</a:t>
            </a:r>
            <a:r>
              <a:rPr lang="en-US" altLang="zh-CN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单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”。</a:t>
            </a:r>
            <a:endParaRPr lang="zh-CN" altLang="en-US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  <a:p>
            <a:endParaRPr lang="zh-CN" altLang="en-US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第一个模型是烤房健康评估模型。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健康分</a:t>
            </a:r>
            <a:r>
              <a:rPr lang="en-US" altLang="zh-CN" dirty="0"/>
              <a:t>是怎么算的呢，80%</a:t>
            </a:r>
            <a:r>
              <a:rPr lang="zh-CN" altLang="en-US" dirty="0"/>
              <a:t>的部件分 10%的管护分10%的人工评价。管护分和人工评价相对固定，核心在部件分。</a:t>
            </a:r>
            <a:endParaRPr lang="zh-CN" altLang="en-US" dirty="0"/>
          </a:p>
          <a:p>
            <a:r>
              <a:rPr lang="zh-CN" altLang="en-US" dirty="0"/>
              <a:t>部件分怎么来？</a:t>
            </a:r>
            <a:r>
              <a:rPr lang="en-US" altLang="zh-CN" dirty="0"/>
              <a:t>每</a:t>
            </a:r>
            <a:r>
              <a:rPr lang="zh-CN" altLang="en-US" dirty="0"/>
              <a:t>个部件都有自己的权重</a:t>
            </a:r>
            <a:r>
              <a:rPr lang="en-US" altLang="zh-CN" dirty="0"/>
              <a:t>W</a:t>
            </a:r>
            <a:r>
              <a:rPr lang="en-US" altLang="en-US" dirty="0"/>
              <a:t>ᵢ</a:t>
            </a:r>
            <a:r>
              <a:rPr lang="zh-CN" altLang="en-US" dirty="0"/>
              <a:t>和得分</a:t>
            </a:r>
            <a:r>
              <a:rPr lang="en-US" altLang="zh-CN" dirty="0"/>
              <a:t>score</a:t>
            </a:r>
            <a:r>
              <a:rPr lang="en-US" altLang="en-US" dirty="0"/>
              <a:t>ᵢ。</a:t>
            </a:r>
            <a:r>
              <a:rPr lang="zh-CN" altLang="en-US" dirty="0"/>
              <a:t>权重是固定的——加热器15分、主板8分、屋顶10分，加起来总共80分。得分</a:t>
            </a:r>
            <a:r>
              <a:rPr lang="en-US" altLang="zh-CN" dirty="0"/>
              <a:t>score</a:t>
            </a:r>
            <a:r>
              <a:rPr lang="en-US" altLang="en-US" dirty="0"/>
              <a:t>ᵢ</a:t>
            </a:r>
            <a:r>
              <a:rPr lang="zh-CN" altLang="en-US" dirty="0"/>
              <a:t>由三个子因子构成：50%看当前状态——正常1.0、一般0.7、损坏0.3；35%看剩余寿命比——还能用几年除以指导寿命；15%看人工评价——好1.0、差0.5。</a:t>
            </a:r>
            <a:endParaRPr lang="zh-CN" altLang="en-US" dirty="0"/>
          </a:p>
          <a:p>
            <a:r>
              <a:rPr lang="zh-CN" altLang="en-US" dirty="0"/>
              <a:t>算完</a:t>
            </a:r>
            <a:r>
              <a:rPr lang="en-US" altLang="zh-CN" dirty="0"/>
              <a:t>所有</a:t>
            </a:r>
            <a:r>
              <a:rPr lang="zh-CN" altLang="en-US" dirty="0"/>
              <a:t>部件的权重贡献之和，除以总权重80，再乘以100，就是部件分。</a:t>
            </a:r>
            <a:endParaRPr lang="en-US" altLang="zh-CN" dirty="0"/>
          </a:p>
          <a:p>
            <a:r>
              <a:rPr lang="zh-CN" altLang="en-US" dirty="0"/>
              <a:t>（手指真实算例）</a:t>
            </a:r>
            <a:endParaRPr lang="en-US" altLang="zh-CN" dirty="0"/>
          </a:p>
          <a:p>
            <a:r>
              <a:rPr lang="en-US" altLang="zh-CN" dirty="0"/>
              <a:t>78.2</a:t>
            </a:r>
            <a:r>
              <a:rPr lang="zh-CN" altLang="en-US" dirty="0"/>
              <a:t>分，等级良好，风险</a:t>
            </a:r>
            <a:r>
              <a:rPr lang="en-US" altLang="zh-CN" dirty="0"/>
              <a:t>Top3</a:t>
            </a:r>
            <a:r>
              <a:rPr lang="zh-CN" altLang="en-US" dirty="0"/>
              <a:t>是加热器、主板、大门。</a:t>
            </a:r>
            <a:endParaRPr lang="zh-CN" altLang="en-US" dirty="0"/>
          </a:p>
          <a:p>
            <a:r>
              <a:rPr lang="zh-CN" altLang="en-US" dirty="0"/>
              <a:t>核心就一句话：每个部件有它自己的权重和得分，加权汇总得到整栋烤房的健康评分，同时自动输出风险排序。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健康分告诉“现在怎么样”，剩余寿命告诉“还能用多久”。</a:t>
            </a:r>
            <a:r>
              <a:rPr lang="en-US" altLang="zh-CN" dirty="0">
                <a:sym typeface="+mn-ea"/>
              </a:rPr>
              <a:t>clamp(</a:t>
            </a:r>
            <a:r>
              <a:rPr lang="zh-CN" altLang="en-US" dirty="0">
                <a:sym typeface="+mn-ea"/>
              </a:rPr>
              <a:t>待限制数值,下限,上限)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结构性部件定“生死上限”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功能性部件按重要度加权平均，定“运行质量”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维修复衰。 修的次数越多，折寿越多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健康校准。 健康分越高寿命越长</a:t>
            </a:r>
            <a:r>
              <a:rPr lang="en-US" altLang="zh-CN" dirty="0">
                <a:sym typeface="+mn-ea"/>
              </a:rPr>
              <a:t>  H=100</a:t>
            </a:r>
            <a:r>
              <a:rPr lang="zh-CN" altLang="en-US" dirty="0">
                <a:sym typeface="+mn-ea"/>
              </a:rPr>
              <a:t>时乘1.0，</a:t>
            </a:r>
            <a:r>
              <a:rPr lang="en-US" altLang="zh-CN" dirty="0">
                <a:sym typeface="+mn-ea"/>
              </a:rPr>
              <a:t>H=40</a:t>
            </a:r>
            <a:r>
              <a:rPr lang="zh-CN" altLang="en-US" dirty="0">
                <a:sym typeface="+mn-ea"/>
              </a:rPr>
              <a:t>时乘0.82，健康差加速老化。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年限收缩。 老房即使全换新设备，也不可能回春。房龄越长，上限越低。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五层乘起来，再钳制到年限上限内，输出剩余年数，分四级预警</a:t>
            </a:r>
            <a:endParaRPr lang="zh-CN" altLang="en-US" dirty="0">
              <a:sym typeface="+mn-ea"/>
            </a:endParaRPr>
          </a:p>
          <a:p>
            <a:r>
              <a:rPr lang="en-US" dirty="0"/>
              <a:t>右侧是示例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第二个模型</a:t>
            </a:r>
            <a:r>
              <a:rPr lang="en-US" altLang="zh-CN" dirty="0"/>
              <a:t>，</a:t>
            </a:r>
            <a:r>
              <a:rPr lang="zh-CN" altLang="en-US" dirty="0"/>
              <a:t>村级发展指数，回答哪里建、建几栋</a:t>
            </a:r>
            <a:r>
              <a:rPr lang="en-US" altLang="zh-CN" dirty="0"/>
              <a:t>等辅助新建烤房决策</a:t>
            </a:r>
            <a:endParaRPr lang="zh-CN" altLang="en-US" dirty="0"/>
          </a:p>
          <a:p>
            <a:r>
              <a:rPr lang="zh-CN" altLang="en-US" dirty="0"/>
              <a:t>公式</a:t>
            </a:r>
            <a:r>
              <a:rPr lang="en-US" altLang="zh-CN" dirty="0"/>
              <a:t>V = 50%×</a:t>
            </a:r>
            <a:r>
              <a:rPr lang="zh-CN" altLang="en-US" dirty="0"/>
              <a:t>有效烤能指数 + 30%×承载匹配指数 + 20%×发展因子指数。</a:t>
            </a:r>
            <a:endParaRPr lang="zh-CN" altLang="en-US" dirty="0"/>
          </a:p>
          <a:p>
            <a:r>
              <a:rPr lang="zh-CN" altLang="en-US" dirty="0"/>
              <a:t>有效烤能指数</a:t>
            </a:r>
            <a:r>
              <a:rPr lang="en-US" altLang="zh-CN" dirty="0"/>
              <a:t>Hc——</a:t>
            </a:r>
            <a:r>
              <a:rPr lang="zh-CN" altLang="en-US" dirty="0"/>
              <a:t>每栋烤房的有效烤能=健康分/100×容量×状态系数（在用1.0、闲置0.4、待修0.1）。</a:t>
            </a:r>
            <a:endParaRPr lang="zh-CN" altLang="en-US" dirty="0"/>
          </a:p>
          <a:p>
            <a:r>
              <a:rPr lang="zh-CN" altLang="en-US" dirty="0"/>
              <a:t>村的总有效烤能</a:t>
            </a:r>
            <a:r>
              <a:rPr lang="en-US" altLang="zh-CN" dirty="0"/>
              <a:t>Q=0.7×</a:t>
            </a:r>
            <a:r>
              <a:rPr lang="zh-CN" altLang="en-US" dirty="0"/>
              <a:t>在用</a:t>
            </a:r>
            <a:r>
              <a:rPr lang="en-US" altLang="zh-CN" dirty="0"/>
              <a:t>ΣE + 0.2×</a:t>
            </a:r>
            <a:r>
              <a:rPr lang="zh-CN" altLang="en-US" dirty="0"/>
              <a:t>闲置</a:t>
            </a:r>
            <a:r>
              <a:rPr lang="en-US" altLang="zh-CN" dirty="0"/>
              <a:t>ΣE + 0.3×</a:t>
            </a:r>
            <a:r>
              <a:rPr lang="zh-CN" altLang="en-US" dirty="0"/>
              <a:t>待修</a:t>
            </a:r>
            <a:r>
              <a:rPr lang="en-US" altLang="zh-CN" dirty="0"/>
              <a:t>ΣE，</a:t>
            </a:r>
            <a:r>
              <a:rPr lang="zh-CN" altLang="en-US" dirty="0"/>
              <a:t>除以理论需求</a:t>
            </a:r>
            <a:r>
              <a:rPr lang="en-US" altLang="zh-CN" dirty="0"/>
              <a:t>D</a:t>
            </a:r>
            <a:r>
              <a:rPr lang="zh-CN" altLang="en-US" dirty="0"/>
              <a:t>再乘以100，就是这个村的有效烤能指数。值越低，供给越不足。</a:t>
            </a:r>
            <a:endParaRPr lang="en-US" altLang="zh-CN" dirty="0"/>
          </a:p>
          <a:p>
            <a:r>
              <a:rPr lang="zh-CN" altLang="en-US" dirty="0"/>
              <a:t>承载匹配指数</a:t>
            </a:r>
            <a:r>
              <a:rPr lang="en-US" altLang="zh-CN" dirty="0"/>
              <a:t>Lc——</a:t>
            </a:r>
            <a:r>
              <a:rPr lang="zh-CN" altLang="en-US" dirty="0"/>
              <a:t>压力</a:t>
            </a:r>
            <a:r>
              <a:rPr lang="en-US" altLang="zh-CN" dirty="0"/>
              <a:t>P=</a:t>
            </a:r>
            <a:r>
              <a:rPr lang="zh-CN" altLang="en-US" dirty="0"/>
              <a:t>理论需求</a:t>
            </a:r>
            <a:r>
              <a:rPr lang="en-US" altLang="zh-CN" dirty="0"/>
              <a:t>D÷</a:t>
            </a:r>
            <a:r>
              <a:rPr lang="zh-CN" altLang="en-US" dirty="0"/>
              <a:t>有效烤能</a:t>
            </a:r>
            <a:r>
              <a:rPr lang="en-US" altLang="zh-CN" dirty="0"/>
              <a:t>Q。P≤0.85</a:t>
            </a:r>
            <a:r>
              <a:rPr lang="zh-CN" altLang="en-US" dirty="0"/>
              <a:t>得100分、≤1得85、≤1.2得70、≤1.5得50、&gt;1.5得30。压力越大，分越低，缺口越大。</a:t>
            </a:r>
            <a:endParaRPr lang="en-US" altLang="zh-CN" dirty="0"/>
          </a:p>
          <a:p>
            <a:r>
              <a:rPr lang="zh-CN" altLang="en-US" dirty="0"/>
              <a:t>发展因子指数</a:t>
            </a:r>
            <a:r>
              <a:rPr lang="en-US" altLang="zh-CN" dirty="0"/>
              <a:t>Dc——</a:t>
            </a:r>
            <a:r>
              <a:rPr lang="zh-CN" altLang="en-US" dirty="0"/>
              <a:t>规模增长、管护缴费、政策争取、服务能力、扩张韧性五维均值。</a:t>
            </a:r>
            <a:endParaRPr lang="en-US" altLang="zh-CN" dirty="0"/>
          </a:p>
          <a:p>
            <a:r>
              <a:rPr lang="zh-CN" altLang="en-US" dirty="0"/>
              <a:t>核心就是：三维度量化出一个村的烤房缺口，</a:t>
            </a:r>
            <a:r>
              <a:rPr lang="en-US" altLang="zh-CN" dirty="0"/>
              <a:t>N</a:t>
            </a:r>
            <a:r>
              <a:rPr lang="zh-CN" altLang="en-US" dirty="0"/>
              <a:t>越高越优先建，选点再用</a:t>
            </a:r>
            <a:r>
              <a:rPr lang="en-US" altLang="zh-CN" dirty="0"/>
              <a:t>TOPSIS</a:t>
            </a:r>
            <a:r>
              <a:rPr lang="zh-CN" altLang="en-US" dirty="0"/>
              <a:t>排序。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两个模型</a:t>
            </a:r>
            <a:r>
              <a:rPr lang="en-US" altLang="zh-CN" dirty="0"/>
              <a:t>驱动“三智”，</a:t>
            </a:r>
            <a:r>
              <a:rPr lang="zh-CN" altLang="en-US" dirty="0"/>
              <a:t>服务三类对象。数据库和模型跑出来的健康分、风险预警、新建推荐，直接落到“智用、智投、智管”三个模块里。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>
            <a:alpha val="9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678420" y="-1280160"/>
            <a:ext cx="6400800" cy="6400800"/>
          </a:xfrm>
          <a:prstGeom prst="ellipse">
            <a:avLst/>
          </a:prstGeom>
          <a:solidFill>
            <a:srgbClr val="1E6E43"/>
          </a:solidFill>
        </p:spPr>
      </p:sp>
      <p:sp>
        <p:nvSpPr>
          <p:cNvPr id="4" name="Shape 2"/>
          <p:cNvSpPr/>
          <p:nvPr/>
        </p:nvSpPr>
        <p:spPr>
          <a:xfrm>
            <a:off x="8808085" y="-323215"/>
            <a:ext cx="3840480" cy="3840480"/>
          </a:xfrm>
          <a:prstGeom prst="ellipse">
            <a:avLst/>
          </a:prstGeom>
          <a:solidFill>
            <a:srgbClr val="1C5E3A"/>
          </a:solidFill>
        </p:spPr>
      </p:sp>
      <p:sp>
        <p:nvSpPr>
          <p:cNvPr id="5" name="Shape 3"/>
          <p:cNvSpPr/>
          <p:nvPr/>
        </p:nvSpPr>
        <p:spPr>
          <a:xfrm>
            <a:off x="0" y="5081270"/>
            <a:ext cx="12191695" cy="640080"/>
          </a:xfrm>
          <a:prstGeom prst="rect">
            <a:avLst/>
          </a:prstGeom>
          <a:solidFill>
            <a:srgbClr val="0F3D24"/>
          </a:solidFill>
        </p:spPr>
      </p:sp>
      <p:sp>
        <p:nvSpPr>
          <p:cNvPr id="7" name="Text 5"/>
          <p:cNvSpPr/>
          <p:nvPr/>
        </p:nvSpPr>
        <p:spPr>
          <a:xfrm>
            <a:off x="504190" y="1600200"/>
            <a:ext cx="11292205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智烤管家</a:t>
            </a:r>
            <a:endParaRPr lang="zh-CN" altLang="en-US" sz="60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buNone/>
            </a:pPr>
            <a:r>
              <a:rPr lang="zh-CN" alt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-</a:t>
            </a:r>
            <a:r>
              <a:rPr lang="zh-CN" alt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基于健康评估的烤房用投管平台</a:t>
            </a:r>
            <a:endParaRPr lang="zh-CN" altLang="en-US" sz="60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0285" y="457835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26615" y="412115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CC6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 </a:t>
            </a:r>
            <a:r>
              <a:rPr lang="zh-CN" altLang="en-US" sz="1700" dirty="0">
                <a:solidFill>
                  <a:srgbClr val="9CC6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聚数成方，一脉致远，让烤房更鲜活！</a:t>
            </a:r>
            <a:r>
              <a:rPr lang="en-US" sz="1700" dirty="0">
                <a:solidFill>
                  <a:srgbClr val="9CC6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——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14450" y="529158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DE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　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“智同道合”小组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  </a:t>
            </a:r>
            <a:r>
              <a:rPr lang="en-US" sz="2000" dirty="0">
                <a:solidFill>
                  <a:srgbClr val="CDE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127000" dist="50800" dir="2700000" algn="bl" rotWithShape="0">
              <a:srgbClr val="1B4633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忧愁</a:t>
            </a:r>
            <a:endParaRPr lang="zh-CN" altLang="en-US" sz="15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377440" y="36576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</a:t>
            </a:r>
            <a:r>
              <a:rPr lang="zh-CN" alt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对烤房的</a:t>
            </a:r>
            <a:r>
              <a:rPr 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</a:t>
            </a:r>
            <a:r>
              <a:rPr lang="zh-CN" altLang="en-US" sz="29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忧愁</a:t>
            </a:r>
            <a:endParaRPr lang="zh-CN" altLang="en-US" sz="2900" b="1" dirty="0">
              <a:solidFill>
                <a:srgbClr val="1430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95728" y="11155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2025年烤房满意度及建议匿名问卷 · 40道题 · 三大困扰统计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05405" y="181864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道题目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299835" y="2928620"/>
            <a:ext cx="3312795" cy="777875"/>
          </a:xfrm>
          <a:prstGeom prst="roundRect">
            <a:avLst>
              <a:gd name="adj" fmla="val 12174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2" name="Text 10"/>
          <p:cNvSpPr/>
          <p:nvPr/>
        </p:nvSpPr>
        <p:spPr>
          <a:xfrm>
            <a:off x="6708140" y="2928620"/>
            <a:ext cx="255651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</a:t>
            </a:r>
            <a:r>
              <a:rPr lang="en-US" altLang="zh-CN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  <a:r>
              <a:rPr 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</a:t>
            </a:r>
            <a:r>
              <a:rPr lang="zh-CN" alt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忧愁</a:t>
            </a:r>
            <a:endParaRPr lang="zh-CN" altLang="en-US" sz="1500" dirty="0">
              <a:solidFill>
                <a:srgbClr val="1430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262755" y="3983990"/>
            <a:ext cx="2212975" cy="835025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4262882" y="3972560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2E8B6A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62882" y="4384040"/>
            <a:ext cx="2212848" cy="411480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0" name="Text 17"/>
          <p:cNvSpPr/>
          <p:nvPr/>
        </p:nvSpPr>
        <p:spPr>
          <a:xfrm>
            <a:off x="4262882" y="413258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1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用房愁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262882" y="4393184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04000" y="3983990"/>
            <a:ext cx="2212975" cy="82296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603746" y="3972560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C77E1B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603746" y="4384040"/>
            <a:ext cx="2212848" cy="41148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1" name="Text 28"/>
          <p:cNvSpPr/>
          <p:nvPr/>
        </p:nvSpPr>
        <p:spPr>
          <a:xfrm>
            <a:off x="6603746" y="413258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报修愁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603746" y="4393184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944610" y="3983990"/>
            <a:ext cx="2212975" cy="835025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944610" y="3972560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B23A24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944610" y="4384040"/>
            <a:ext cx="2212848" cy="411480"/>
          </a:xfrm>
          <a:prstGeom prst="rect">
            <a:avLst/>
          </a:prstGeom>
          <a:solidFill>
            <a:srgbClr val="B23A24"/>
          </a:solidFill>
        </p:spPr>
      </p:sp>
      <p:sp>
        <p:nvSpPr>
          <p:cNvPr id="42" name="Text 39"/>
          <p:cNvSpPr/>
          <p:nvPr/>
        </p:nvSpPr>
        <p:spPr>
          <a:xfrm>
            <a:off x="8944610" y="413258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管护愁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8944610" y="4393184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3" name="Text 5"/>
          <p:cNvSpPr/>
          <p:nvPr/>
        </p:nvSpPr>
        <p:spPr>
          <a:xfrm>
            <a:off x="502920" y="16002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700+</a:t>
            </a:r>
            <a:endParaRPr lang="en-US" sz="56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份问卷</a:t>
            </a:r>
            <a:endParaRPr lang="en-US" sz="5600" dirty="0"/>
          </a:p>
        </p:txBody>
      </p:sp>
      <p:sp>
        <p:nvSpPr>
          <p:cNvPr id="54" name="Text 6"/>
          <p:cNvSpPr/>
          <p:nvPr/>
        </p:nvSpPr>
        <p:spPr>
          <a:xfrm>
            <a:off x="502920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覆盖宜昌烟区 匿名调研</a:t>
            </a:r>
            <a:endParaRPr lang="en-US" sz="1400" dirty="0"/>
          </a:p>
        </p:txBody>
      </p:sp>
      <p:sp>
        <p:nvSpPr>
          <p:cNvPr id="55" name="Text 7"/>
          <p:cNvSpPr/>
          <p:nvPr/>
        </p:nvSpPr>
        <p:spPr>
          <a:xfrm>
            <a:off x="502920" y="319151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烟农满意度构成</a:t>
            </a:r>
            <a:endParaRPr lang="en-US" sz="1150" dirty="0"/>
          </a:p>
        </p:txBody>
      </p:sp>
      <p:graphicFrame>
        <p:nvGraphicFramePr>
          <p:cNvPr id="56" name="Chart 0"/>
          <p:cNvGraphicFramePr/>
          <p:nvPr/>
        </p:nvGraphicFramePr>
        <p:xfrm>
          <a:off x="502920" y="3364992"/>
          <a:ext cx="3063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53" grpId="0"/>
      <p:bldP spid="54" grpId="0"/>
      <p:bldP spid="55" grpId="0"/>
      <p:bldP spid="10" grpId="0"/>
      <p:bldP spid="11" grpId="0" animBg="1"/>
      <p:bldP spid="12" grpId="0"/>
      <p:bldP spid="17" grpId="0" animBg="1"/>
      <p:bldP spid="20" grpId="0"/>
      <p:bldP spid="21" grpId="0"/>
      <p:bldP spid="31" grpId="0"/>
      <p:bldP spid="32" grpId="0"/>
      <p:bldP spid="42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127000" dist="50800" dir="2700000" algn="bl" rotWithShape="0">
              <a:srgbClr val="1B4633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</a:t>
            </a:r>
            <a:endParaRPr lang="zh-CN" altLang="en-US" sz="15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39285" y="1221105"/>
            <a:ext cx="3312795" cy="777875"/>
          </a:xfrm>
          <a:prstGeom prst="roundRect">
            <a:avLst>
              <a:gd name="adj" fmla="val 12174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7590" y="1221105"/>
            <a:ext cx="255651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</a:t>
            </a:r>
            <a:r>
              <a:rPr lang="en-US" altLang="zh-CN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  <a:r>
              <a:rPr 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</a:t>
            </a:r>
            <a:r>
              <a:rPr lang="zh-CN" alt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忧愁</a:t>
            </a:r>
            <a:endParaRPr lang="zh-CN" altLang="en-US" sz="1500" dirty="0">
              <a:solidFill>
                <a:srgbClr val="1430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402205" y="2276475"/>
            <a:ext cx="2212975" cy="835025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2402332" y="2265045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2E8B6A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402332" y="2425065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用房愁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402332" y="2685669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43450" y="2276475"/>
            <a:ext cx="2212975" cy="82296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43196" y="2265045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C77E1B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43196" y="2676525"/>
            <a:ext cx="2212848" cy="411480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1" name="Text 28"/>
          <p:cNvSpPr/>
          <p:nvPr/>
        </p:nvSpPr>
        <p:spPr>
          <a:xfrm>
            <a:off x="4743196" y="2425065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报修愁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7084060" y="2276475"/>
            <a:ext cx="2212975" cy="835025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084060" y="2265045"/>
            <a:ext cx="2212848" cy="822960"/>
          </a:xfrm>
          <a:prstGeom prst="roundRect">
            <a:avLst>
              <a:gd name="adj" fmla="val 15556"/>
            </a:avLst>
          </a:prstGeom>
          <a:solidFill>
            <a:srgbClr val="B23A24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7084060" y="2425065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</a:t>
            </a: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管护愁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084060" y="2685669"/>
            <a:ext cx="22128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85950" y="4733290"/>
            <a:ext cx="2529205" cy="835660"/>
          </a:xfrm>
          <a:prstGeom prst="roundRect">
            <a:avLst>
              <a:gd name="adj" fmla="val 9091"/>
            </a:avLst>
          </a:prstGeom>
          <a:solidFill>
            <a:srgbClr val="2E8B6A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  <p:txBody>
          <a:bodyPr anchor="ctr" anchorCtr="0"/>
          <a:p>
            <a:pPr algn="ctr"/>
            <a:r>
              <a:rPr lang="en-US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资源调度缺少数字支撑</a:t>
            </a:r>
            <a:endParaRPr lang="en-US" altLang="en-US" b="1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7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烟农三愁 -&gt; 行业三痛</a:t>
            </a:r>
            <a:endParaRPr lang="en-US" sz="2800" dirty="0"/>
          </a:p>
        </p:txBody>
      </p:sp>
      <p:sp>
        <p:nvSpPr>
          <p:cNvPr id="13" name="Shape 7"/>
          <p:cNvSpPr/>
          <p:nvPr/>
        </p:nvSpPr>
        <p:spPr>
          <a:xfrm>
            <a:off x="4719320" y="4733290"/>
            <a:ext cx="2529205" cy="835660"/>
          </a:xfrm>
          <a:prstGeom prst="roundRect">
            <a:avLst>
              <a:gd name="adj" fmla="val 9091"/>
            </a:avLst>
          </a:prstGeom>
          <a:solidFill>
            <a:srgbClr val="C77E1B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  <p:txBody>
          <a:bodyPr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en-US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基建投入缺少量化依据</a:t>
            </a:r>
            <a:endParaRPr lang="en-US" b="1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7444105" y="4733290"/>
            <a:ext cx="2529205" cy="835660"/>
          </a:xfrm>
          <a:prstGeom prst="roundRect">
            <a:avLst>
              <a:gd name="adj" fmla="val 9091"/>
            </a:avLst>
          </a:prstGeom>
          <a:solidFill>
            <a:srgbClr val="B23A24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  <p:txBody>
          <a:bodyPr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en-US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管护运行缺少闭环约束</a:t>
            </a:r>
            <a:endParaRPr lang="en-US" b="1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4439285" y="3585845"/>
            <a:ext cx="3312795" cy="777875"/>
          </a:xfrm>
          <a:prstGeom prst="roundRect">
            <a:avLst>
              <a:gd name="adj" fmla="val 12174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4847590" y="3585845"/>
            <a:ext cx="255651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</a:t>
            </a:r>
            <a:r>
              <a:rPr lang="en-US" altLang="zh-CN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  <a:r>
              <a:rPr lang="en-US" sz="38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r>
              <a:rPr 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zh-CN" alt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</a:t>
            </a:r>
            <a:r>
              <a:rPr lang="zh-CN" altLang="en-US" sz="15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</a:t>
            </a:r>
            <a:endParaRPr lang="zh-CN" altLang="en-US" sz="1500" dirty="0">
              <a:solidFill>
                <a:srgbClr val="14301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下箭头 21"/>
          <p:cNvSpPr/>
          <p:nvPr/>
        </p:nvSpPr>
        <p:spPr>
          <a:xfrm>
            <a:off x="5795010" y="3111500"/>
            <a:ext cx="153035" cy="382905"/>
          </a:xfrm>
          <a:prstGeom prst="downArrow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7" grpId="0" animBg="1"/>
      <p:bldP spid="20" grpId="0"/>
      <p:bldP spid="21" grpId="0"/>
      <p:bldP spid="31" grpId="0"/>
      <p:bldP spid="42" grpId="0"/>
      <p:bldP spid="43" grpId="0"/>
      <p:bldP spid="16" grpId="0"/>
      <p:bldP spid="9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8965" y="284607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</a:t>
            </a: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、</a:t>
            </a: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</a:t>
            </a: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介绍</a:t>
            </a:r>
            <a:endParaRPr lang="zh-CN" altLang="en-US" sz="4400" b="1" dirty="0">
              <a:solidFill>
                <a:srgbClr val="16653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38303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</a:t>
            </a: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烤管家</a:t>
            </a:r>
            <a:endParaRPr lang="zh-CN" altLang="en-US" sz="4400" b="1" dirty="0">
              <a:solidFill>
                <a:srgbClr val="16653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29743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36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</a:t>
            </a:r>
            <a:r>
              <a:rPr lang="zh-CN" altLang="en-US" sz="36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基于健康评估的烤房用投管平台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858770" y="3394710"/>
            <a:ext cx="6852285" cy="1097280"/>
          </a:xfrm>
          <a:prstGeom prst="roundRect">
            <a:avLst>
              <a:gd name="adj" fmla="val 11667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127000" dist="50800" dir="2700000" algn="bl" rotWithShape="0">
              <a:srgbClr val="1B4633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57759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1库 · 2模型 · 1平台</a:t>
            </a:r>
            <a:endParaRPr lang="en-US" sz="2200" dirty="0">
              <a:solidFill>
                <a:srgbClr val="14532D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buNone/>
            </a:pPr>
            <a:r>
              <a:rPr lang="en-US" sz="2200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小程序使用 </a:t>
            </a:r>
            <a:r>
              <a:rPr lang="en-US" sz="2200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·</a:t>
            </a:r>
            <a:r>
              <a:rPr lang="en-US" sz="2200" dirty="0">
                <a:solidFill>
                  <a:srgbClr val="1453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后台网页管理平台 </a:t>
            </a:r>
            <a:endParaRPr lang="en-US" sz="2200" dirty="0">
              <a:solidFill>
                <a:srgbClr val="14532D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4" grpId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一库两模型一平台_总体架构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9070" y="80645"/>
            <a:ext cx="8410575" cy="6555740"/>
          </a:xfrm>
          <a:prstGeom prst="rect">
            <a:avLst/>
          </a:prstGeom>
        </p:spPr>
      </p:pic>
      <p:sp>
        <p:nvSpPr>
          <p:cNvPr id="25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26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总体架构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8965" y="284607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二、应用</a:t>
            </a: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类型</a:t>
            </a:r>
            <a:endParaRPr lang="zh-CN" altLang="en-US" sz="4400" b="1" dirty="0">
              <a:solidFill>
                <a:srgbClr val="16653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应用类型</a:t>
            </a:r>
            <a:endParaRPr lang="en-US" sz="1500" dirty="0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91870" y="1370330"/>
          <a:ext cx="10488930" cy="390144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440815"/>
                <a:gridCol w="1989455"/>
                <a:gridCol w="2854325"/>
                <a:gridCol w="1067435"/>
                <a:gridCol w="3136900"/>
              </a:tblGrid>
              <a:tr h="430530"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0"/>
                        </a:rPr>
                        <a:t>应用类型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微软雅黑" pitchFamily="34" charset="0"/>
                        <a:ea typeface="微软雅黑" pitchFamily="34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0"/>
                        </a:rPr>
                        <a:t>核心能力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微软雅黑" pitchFamily="34" charset="0"/>
                        <a:ea typeface="微软雅黑" pitchFamily="34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0"/>
                        </a:rPr>
                        <a:t>对应成果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微软雅黑" pitchFamily="34" charset="0"/>
                        <a:ea typeface="微软雅黑" pitchFamily="34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0"/>
                        </a:rPr>
                        <a:t>应用对象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微软雅黑" pitchFamily="34" charset="0"/>
                        <a:ea typeface="微软雅黑" pitchFamily="34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0"/>
                        </a:rPr>
                        <a:t>核心价值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微软雅黑" pitchFamily="34" charset="0"/>
                        <a:ea typeface="微软雅黑" pitchFamily="34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666115"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数据底座类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资产数字化建档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600">
                          <a:latin typeface="宋体" charset="0"/>
                          <a:ea typeface="宋体" charset="0"/>
                          <a:cs typeface="宋体" charset="0"/>
                        </a:rPr>
                        <a:t>2440 </a:t>
                      </a:r>
                      <a:r>
                        <a:rPr lang="zh-CN" altLang="en-US" sz="1600">
                          <a:latin typeface="宋体" charset="0"/>
                          <a:ea typeface="宋体" charset="0"/>
                          <a:cs typeface="宋体" charset="0"/>
                        </a:rPr>
                        <a:t>栋烤房数据库，一栋一档</a:t>
                      </a:r>
                      <a:endParaRPr lang="zh-CN" altLang="en-US" sz="160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101917" marR="101917" marT="101917" marB="101917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管理</a:t>
                      </a: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部门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摸清设施家底，统一数据底座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/>
                </a:tc>
              </a:tr>
              <a:tr h="666115"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智能研判类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算法量化分析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烤房健康分、村级发展指数模型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管理</a:t>
                      </a:r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部门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设施状态、产区潜力量化评估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/>
                </a:tc>
              </a:tr>
              <a:tr h="664845"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宋体" charset="0"/>
                          <a:ea typeface="宋体" charset="0"/>
                        </a:rPr>
                        <a:t>烟农服务类（智用）</a:t>
                      </a:r>
                      <a:endParaRPr lang="zh-CN" altLang="en-US" sz="1600" b="1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烟农线上业务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烤房调剂、报修服务平台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烟农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线上申请、智能调度、全程监管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20395"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宋体" charset="0"/>
                          <a:ea typeface="宋体" charset="0"/>
                        </a:rPr>
                        <a:t>投资决策类（智投）</a:t>
                      </a:r>
                      <a:endParaRPr lang="zh-CN" altLang="en-US" sz="1600" b="1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项目投入辅助决策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新建选址、修缮资金测算工具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管理部门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数据支撑投入，避免盲目建设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68020"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宋体" charset="0"/>
                          <a:ea typeface="宋体" charset="0"/>
                        </a:rPr>
                        <a:t>运维管理类（智管）</a:t>
                      </a:r>
                      <a:endParaRPr lang="zh-CN" altLang="en-US" sz="1600" b="1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管护体系数字化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专业管家、常态化养护模块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合作社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>
                          <a:latin typeface="宋体" charset="0"/>
                          <a:ea typeface="宋体" charset="0"/>
                        </a:rPr>
                        <a:t>管护流程标准化，降本增效</a:t>
                      </a:r>
                      <a:endParaRPr lang="zh-CN" altLang="en-US" sz="1600">
                        <a:latin typeface="宋体" charset="0"/>
                        <a:ea typeface="宋体" charset="0"/>
                      </a:endParaRPr>
                    </a:p>
                  </a:txBody>
                  <a:tcPr marL="101917" marR="101917" marT="101917" marB="101917"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应用类型</a:t>
            </a:r>
            <a:endParaRPr lang="en-US" sz="1500" dirty="0"/>
          </a:p>
        </p:txBody>
      </p:sp>
      <p:pic>
        <p:nvPicPr>
          <p:cNvPr id="39" name="图片 38" descr="1-智用智投智管_协同关系图_含两个模型(2)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164465"/>
            <a:ext cx="9646285" cy="6693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8965" y="284607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三、搭建步骤及实操</a:t>
            </a: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演示</a:t>
            </a:r>
            <a:endParaRPr lang="zh-CN" altLang="en-US" sz="4400" b="1" dirty="0">
              <a:solidFill>
                <a:srgbClr val="16653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搭建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</a:t>
            </a:r>
            <a:endParaRPr lang="zh-CN" altLang="en-US" sz="15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1280795" y="1210945"/>
            <a:ext cx="7201535" cy="960120"/>
          </a:xfrm>
          <a:prstGeom prst="roundRect">
            <a:avLst>
              <a:gd name="adj" fmla="val 11429"/>
            </a:avLst>
          </a:prstGeom>
          <a:solidFill>
            <a:srgbClr val="14532D"/>
          </a:solidFill>
        </p:spPr>
        <p:txBody>
          <a:bodyPr/>
          <a:p>
            <a:pPr algn="ctr">
              <a:lnSpc>
                <a:spcPct val="17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步骤一：全量烤房数据库搭建（基础支撑）</a:t>
            </a:r>
            <a:endParaRPr lang="zh-CN" altLang="en-US"/>
          </a:p>
        </p:txBody>
      </p:sp>
      <p:sp>
        <p:nvSpPr>
          <p:cNvPr id="28" name="Shape 7"/>
          <p:cNvSpPr/>
          <p:nvPr/>
        </p:nvSpPr>
        <p:spPr>
          <a:xfrm>
            <a:off x="1281113" y="2402840"/>
            <a:ext cx="7200900" cy="960120"/>
          </a:xfrm>
          <a:prstGeom prst="roundRect">
            <a:avLst>
              <a:gd name="adj" fmla="val 11429"/>
            </a:avLst>
          </a:prstGeom>
          <a:solidFill>
            <a:srgbClr val="166534"/>
          </a:solidFill>
        </p:spPr>
        <p:txBody>
          <a:bodyPr/>
          <a:p>
            <a:pPr algn="ctr">
              <a:lnSpc>
                <a:spcPct val="17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步骤二：两大智能数据模型研发（核心算力）</a:t>
            </a: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　</a:t>
            </a:r>
            <a:endParaRPr lang="zh-CN" altLang="en-US"/>
          </a:p>
        </p:txBody>
      </p:sp>
      <p:sp>
        <p:nvSpPr>
          <p:cNvPr id="35" name="Shape 9"/>
          <p:cNvSpPr/>
          <p:nvPr/>
        </p:nvSpPr>
        <p:spPr>
          <a:xfrm>
            <a:off x="1281113" y="3500120"/>
            <a:ext cx="7200900" cy="960120"/>
          </a:xfrm>
          <a:prstGeom prst="roundRect">
            <a:avLst>
              <a:gd name="adj" fmla="val 11429"/>
            </a:avLst>
          </a:prstGeom>
          <a:solidFill>
            <a:srgbClr val="2E8B6A"/>
          </a:solidFill>
        </p:spPr>
        <p:txBody>
          <a:bodyPr/>
          <a:p>
            <a:pPr algn="ctr">
              <a:lnSpc>
                <a:spcPct val="18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步骤三：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“三智”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协同平台搭建（载体终端）</a:t>
            </a: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　</a:t>
            </a:r>
            <a:endParaRPr lang="zh-CN" altLang="en-US"/>
          </a:p>
        </p:txBody>
      </p:sp>
      <p:sp>
        <p:nvSpPr>
          <p:cNvPr id="37" name="Shape 11"/>
          <p:cNvSpPr/>
          <p:nvPr/>
        </p:nvSpPr>
        <p:spPr>
          <a:xfrm>
            <a:off x="1281430" y="4597400"/>
            <a:ext cx="7200265" cy="960120"/>
          </a:xfrm>
          <a:prstGeom prst="roundRect">
            <a:avLst>
              <a:gd name="adj" fmla="val 11429"/>
            </a:avLst>
          </a:prstGeom>
          <a:solidFill>
            <a:srgbClr val="4FA884"/>
          </a:solidFill>
        </p:spPr>
        <p:txBody>
          <a:bodyPr/>
          <a:p>
            <a:pPr algn="ctr">
              <a:lnSpc>
                <a:spcPct val="170000"/>
              </a:lnSpc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 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步骤四：功能体系落地（应用输出）</a:t>
            </a: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　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6" grpId="0" animBg="1"/>
      <p:bldP spid="28" grpId="0" animBg="1"/>
      <p:bldP spid="35" grpId="0" animBg="1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搭建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</a:t>
            </a:r>
            <a:endParaRPr lang="zh-CN" altLang="en-US" sz="15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1280795" y="1210945"/>
            <a:ext cx="7201535" cy="960120"/>
          </a:xfrm>
          <a:prstGeom prst="roundRect">
            <a:avLst>
              <a:gd name="adj" fmla="val 11429"/>
            </a:avLst>
          </a:prstGeom>
          <a:solidFill>
            <a:srgbClr val="14532D"/>
          </a:solidFill>
        </p:spPr>
        <p:txBody>
          <a:bodyPr/>
          <a:p>
            <a:pPr algn="ctr">
              <a:lnSpc>
                <a:spcPct val="17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步骤一：全量烤房数据库搭建（基础支撑）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搭建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</a:t>
            </a:r>
            <a:endParaRPr lang="zh-CN" altLang="en-US" sz="15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搭建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</a:t>
            </a:r>
            <a:endParaRPr lang="zh-CN" altLang="en-US" sz="15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1280795" y="1210945"/>
            <a:ext cx="7201535" cy="960120"/>
          </a:xfrm>
          <a:prstGeom prst="roundRect">
            <a:avLst>
              <a:gd name="adj" fmla="val 11429"/>
            </a:avLst>
          </a:prstGeom>
          <a:solidFill>
            <a:srgbClr val="14532D"/>
          </a:solidFill>
        </p:spPr>
        <p:txBody>
          <a:bodyPr/>
          <a:p>
            <a:pPr algn="ctr">
              <a:lnSpc>
                <a:spcPct val="17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步骤一：全量烤房数据库搭建（基础支撑）</a:t>
            </a:r>
            <a:endParaRPr lang="zh-CN" altLang="en-US"/>
          </a:p>
        </p:txBody>
      </p:sp>
      <p:sp>
        <p:nvSpPr>
          <p:cNvPr id="28" name="Shape 7"/>
          <p:cNvSpPr/>
          <p:nvPr/>
        </p:nvSpPr>
        <p:spPr>
          <a:xfrm>
            <a:off x="1281113" y="2402840"/>
            <a:ext cx="7200900" cy="960120"/>
          </a:xfrm>
          <a:prstGeom prst="roundRect">
            <a:avLst>
              <a:gd name="adj" fmla="val 11429"/>
            </a:avLst>
          </a:prstGeom>
          <a:solidFill>
            <a:srgbClr val="166534"/>
          </a:solidFill>
        </p:spPr>
        <p:txBody>
          <a:bodyPr/>
          <a:p>
            <a:pPr algn="ctr">
              <a:lnSpc>
                <a:spcPct val="17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步骤二：两大智能数据模型研发（核心算力）</a:t>
            </a: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　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87020" y="215900"/>
            <a:ext cx="1737360" cy="475615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87020" y="21590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模型一</a:t>
            </a:r>
            <a:endParaRPr lang="en-US" sz="1500" dirty="0"/>
          </a:p>
        </p:txBody>
      </p:sp>
      <p:pic>
        <p:nvPicPr>
          <p:cNvPr id="2" name="图片 1" descr="1-烤房健康评估模型_健康分与剩余寿命_一页图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830" y="215900"/>
            <a:ext cx="11519535" cy="6642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127000" dist="50800" dir="2700000" algn="bl" rotWithShape="0">
              <a:srgbClr val="1B4633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健康评估 -计算及实例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48920" y="1572895"/>
            <a:ext cx="7112000" cy="3877945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1612900000" dist="645160000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7040" y="1627505"/>
            <a:ext cx="6629400" cy="567055"/>
          </a:xfrm>
          <a:prstGeom prst="roundRect">
            <a:avLst>
              <a:gd name="adj" fmla="val 9677"/>
            </a:avLst>
          </a:prstGeom>
          <a:solidFill>
            <a:srgbClr val="14532D"/>
          </a:solidFill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285" y="1627505"/>
            <a:ext cx="6630035" cy="567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0.80·P</a:t>
            </a:r>
            <a:r>
              <a:rPr lang="zh-CN" alt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</a:t>
            </a: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部件分</a:t>
            </a: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+ 0.10·M</a:t>
            </a: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管护分</a:t>
            </a: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+ 0.10·E</a:t>
            </a: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人工分</a:t>
            </a:r>
            <a:r>
              <a:rPr lang="en-US" sz="11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（0~100）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8540" y="2350135"/>
            <a:ext cx="5642610" cy="365760"/>
          </a:xfrm>
          <a:prstGeom prst="roundRect">
            <a:avLst>
              <a:gd name="adj" fmla="val 10000"/>
            </a:avLst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1117600" y="2350135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</a:t>
            </a:r>
            <a:r>
              <a:rPr lang="zh-CN" alt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</a:t>
            </a: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部件分 </a:t>
            </a:r>
            <a:r>
              <a:rPr lang="en-US" altLang="zh-CN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= Σ( W</a:t>
            </a:r>
            <a:r>
              <a:rPr lang="en-US" alt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ᵢ × </a:t>
            </a:r>
            <a:r>
              <a:rPr lang="en-US" altLang="zh-CN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score</a:t>
            </a:r>
            <a:r>
              <a:rPr lang="en-US" alt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ᵢ ) / </a:t>
            </a:r>
            <a:r>
              <a:rPr lang="en-US" altLang="zh-CN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ΣW</a:t>
            </a:r>
            <a:r>
              <a:rPr lang="en-US" alt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ᵢ × 100</a:t>
            </a: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</a:t>
            </a:r>
            <a:r>
              <a:rPr lang="en-US" sz="10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（</a:t>
            </a:r>
            <a:r>
              <a:rPr lang="en-US" altLang="zh-CN" sz="10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ΣW</a:t>
            </a:r>
            <a:r>
              <a:rPr lang="en-US" altLang="en-US" sz="10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ᵢ = 80</a:t>
            </a:r>
            <a:r>
              <a:rPr lang="en-US" sz="10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63625" y="2853055"/>
            <a:ext cx="5446395" cy="402590"/>
          </a:xfrm>
          <a:prstGeom prst="roundRect">
            <a:avLst>
              <a:gd name="adj" fmla="val 9091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8235" y="2853055"/>
            <a:ext cx="5392420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每个部件 </a:t>
            </a:r>
            <a:r>
              <a:rPr lang="en-US" altLang="zh-CN" sz="1200" dirty="0"/>
              <a:t>score</a:t>
            </a:r>
            <a:r>
              <a:rPr lang="en-US" altLang="en-US" sz="1200" dirty="0"/>
              <a:t>ᵢ = 100 × ( 0.50×</a:t>
            </a:r>
            <a:r>
              <a:rPr lang="en-US" altLang="zh-CN" sz="1200" dirty="0"/>
              <a:t>S_status + 0.35×R_remain + 0.15×C_eval )</a:t>
            </a:r>
            <a:endParaRPr lang="en-US" altLang="zh-CN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328670"/>
            <a:ext cx="3749675" cy="38417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284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50" dirty="0">
                <a:sym typeface="+mn-ea"/>
              </a:rPr>
              <a:t>S_status</a:t>
            </a: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状态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032000" y="3328670"/>
            <a:ext cx="250063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正常1.0 ·</a:t>
            </a:r>
            <a:r>
              <a:rPr lang="zh-CN" alt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</a:t>
            </a:r>
            <a:r>
              <a:rPr lang="zh-CN" alt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一般</a:t>
            </a: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0.7 · 损坏0.3 · 缺失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31060" y="3785870"/>
            <a:ext cx="4004310" cy="38417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22500" y="3785616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50" dirty="0">
                <a:sym typeface="+mn-ea"/>
              </a:rPr>
              <a:t>R_remain </a:t>
            </a: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寿命比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39160" y="3785235"/>
            <a:ext cx="271208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剩余年限 ÷ 指导寿命（修复年→回春归零）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795" y="3328670"/>
            <a:ext cx="2516505" cy="38417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9015" y="3339465"/>
            <a:ext cx="162814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50" dirty="0">
                <a:sym typeface="+mn-ea"/>
              </a:rPr>
              <a:t>C_eval</a:t>
            </a:r>
            <a:r>
              <a:rPr lang="en-US" sz="11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评价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41975" y="3328670"/>
            <a:ext cx="1627505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好1.0 · 差0.5 · 缺省0.8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398010"/>
            <a:ext cx="3291840" cy="475488"/>
          </a:xfrm>
          <a:prstGeom prst="roundRect">
            <a:avLst>
              <a:gd name="adj" fmla="val 11538"/>
            </a:avLst>
          </a:prstGeom>
          <a:solidFill>
            <a:srgbClr val="C77E1B"/>
          </a:solidFill>
        </p:spPr>
      </p:sp>
      <p:sp>
        <p:nvSpPr>
          <p:cNvPr id="29" name="Text 27"/>
          <p:cNvSpPr/>
          <p:nvPr/>
        </p:nvSpPr>
        <p:spPr>
          <a:xfrm>
            <a:off x="640080" y="439801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管护分 M ×0.10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4635754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集中100 · 分户80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69080" y="4398010"/>
            <a:ext cx="3063240" cy="475615"/>
          </a:xfrm>
          <a:prstGeom prst="roundRect">
            <a:avLst>
              <a:gd name="adj" fmla="val 11538"/>
            </a:avLst>
          </a:prstGeom>
          <a:solidFill>
            <a:srgbClr val="B8922A"/>
          </a:solidFill>
        </p:spPr>
      </p:sp>
      <p:sp>
        <p:nvSpPr>
          <p:cNvPr id="32" name="Text 30"/>
          <p:cNvSpPr/>
          <p:nvPr/>
        </p:nvSpPr>
        <p:spPr>
          <a:xfrm>
            <a:off x="4069080" y="4398010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人工分 E ×0.10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069080" y="4635754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好100 · 中80 · 差50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992370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贡献 Cᵢ = Wᵢ×scoreᵢ÷100　　健康状况五档：≥90优良 / ≥75良好 / ≥60一般 / ≥40预警 / &lt;40危险</a:t>
            </a:r>
            <a:endParaRPr lang="en-US" sz="950" dirty="0"/>
          </a:p>
        </p:txBody>
      </p:sp>
      <p:sp>
        <p:nvSpPr>
          <p:cNvPr id="70" name="Shape 33"/>
          <p:cNvSpPr/>
          <p:nvPr/>
        </p:nvSpPr>
        <p:spPr>
          <a:xfrm>
            <a:off x="7543800" y="1572768"/>
            <a:ext cx="4142232" cy="475488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-1" algn="bl" rotWithShape="0">
              <a:srgbClr val="1B4633">
                <a:alpha val="2147483647"/>
              </a:srgbClr>
            </a:outerShdw>
          </a:effectLst>
        </p:spPr>
      </p:sp>
      <p:sp>
        <p:nvSpPr>
          <p:cNvPr id="71" name="Text 34"/>
          <p:cNvSpPr/>
          <p:nvPr/>
        </p:nvSpPr>
        <p:spPr>
          <a:xfrm>
            <a:off x="7772400" y="1627632"/>
            <a:ext cx="3794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真实算例 · 10-420527KF00308</a:t>
            </a: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（秭归·磨坪·磨坪 · 2010建）</a:t>
            </a:r>
            <a:endParaRPr lang="en-US" sz="1300" dirty="0"/>
          </a:p>
        </p:txBody>
      </p:sp>
      <p:sp>
        <p:nvSpPr>
          <p:cNvPr id="72" name="Text 35"/>
          <p:cNvSpPr/>
          <p:nvPr/>
        </p:nvSpPr>
        <p:spPr>
          <a:xfrm>
            <a:off x="7772400" y="1947672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逐部件 score → 权重贡献 Cᵢ：</a:t>
            </a:r>
            <a:endParaRPr lang="en-US" sz="950" dirty="0"/>
          </a:p>
        </p:txBody>
      </p:sp>
      <p:sp>
        <p:nvSpPr>
          <p:cNvPr id="73" name="Text 36"/>
          <p:cNvSpPr/>
          <p:nvPr/>
        </p:nvSpPr>
        <p:spPr>
          <a:xfrm>
            <a:off x="7772400" y="2176272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加热器</a:t>
            </a:r>
            <a:endParaRPr lang="en-US" sz="850" dirty="0"/>
          </a:p>
        </p:txBody>
      </p:sp>
      <p:sp>
        <p:nvSpPr>
          <p:cNvPr id="74" name="Text 37"/>
          <p:cNvSpPr/>
          <p:nvPr/>
        </p:nvSpPr>
        <p:spPr>
          <a:xfrm>
            <a:off x="9646920" y="2176272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15·74.3→11.2</a:t>
            </a:r>
            <a:endParaRPr lang="en-US" sz="850" dirty="0"/>
          </a:p>
        </p:txBody>
      </p:sp>
      <p:sp>
        <p:nvSpPr>
          <p:cNvPr id="75" name="Text 38"/>
          <p:cNvSpPr/>
          <p:nvPr/>
        </p:nvSpPr>
        <p:spPr>
          <a:xfrm>
            <a:off x="7772400" y="2355494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自控仪主板</a:t>
            </a:r>
            <a:endParaRPr lang="en-US" sz="850" dirty="0"/>
          </a:p>
        </p:txBody>
      </p:sp>
      <p:sp>
        <p:nvSpPr>
          <p:cNvPr id="76" name="Text 39"/>
          <p:cNvSpPr/>
          <p:nvPr/>
        </p:nvSpPr>
        <p:spPr>
          <a:xfrm>
            <a:off x="9646920" y="2355494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8·66.8→5.3</a:t>
            </a:r>
            <a:endParaRPr lang="en-US" sz="850" dirty="0"/>
          </a:p>
        </p:txBody>
      </p:sp>
      <p:sp>
        <p:nvSpPr>
          <p:cNvPr id="77" name="Text 40"/>
          <p:cNvSpPr/>
          <p:nvPr/>
        </p:nvSpPr>
        <p:spPr>
          <a:xfrm>
            <a:off x="7772400" y="2534717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屋顶/墙体</a:t>
            </a:r>
            <a:endParaRPr lang="en-US" sz="850" dirty="0"/>
          </a:p>
        </p:txBody>
      </p:sp>
      <p:sp>
        <p:nvSpPr>
          <p:cNvPr id="78" name="Text 41"/>
          <p:cNvSpPr/>
          <p:nvPr/>
        </p:nvSpPr>
        <p:spPr>
          <a:xfrm>
            <a:off x="9646920" y="2534717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10·83.7→8.4</a:t>
            </a:r>
            <a:endParaRPr lang="en-US" sz="850" dirty="0"/>
          </a:p>
        </p:txBody>
      </p:sp>
      <p:sp>
        <p:nvSpPr>
          <p:cNvPr id="79" name="Text 42"/>
          <p:cNvSpPr/>
          <p:nvPr/>
        </p:nvSpPr>
        <p:spPr>
          <a:xfrm>
            <a:off x="7772400" y="2713939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大门</a:t>
            </a:r>
            <a:endParaRPr lang="en-US" sz="850" dirty="0"/>
          </a:p>
        </p:txBody>
      </p:sp>
      <p:sp>
        <p:nvSpPr>
          <p:cNvPr id="80" name="Text 43"/>
          <p:cNvSpPr/>
          <p:nvPr/>
        </p:nvSpPr>
        <p:spPr>
          <a:xfrm>
            <a:off x="9646920" y="2713939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10·73.4→7.3</a:t>
            </a:r>
            <a:endParaRPr lang="en-US" sz="850" dirty="0"/>
          </a:p>
        </p:txBody>
      </p:sp>
      <p:sp>
        <p:nvSpPr>
          <p:cNvPr id="81" name="Text 44"/>
          <p:cNvSpPr/>
          <p:nvPr/>
        </p:nvSpPr>
        <p:spPr>
          <a:xfrm>
            <a:off x="7772400" y="2893162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温湿度探头</a:t>
            </a:r>
            <a:endParaRPr lang="en-US" sz="850" dirty="0"/>
          </a:p>
        </p:txBody>
      </p:sp>
      <p:sp>
        <p:nvSpPr>
          <p:cNvPr id="82" name="Text 45"/>
          <p:cNvSpPr/>
          <p:nvPr/>
        </p:nvSpPr>
        <p:spPr>
          <a:xfrm>
            <a:off x="9646920" y="2893162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6·66.8→4.0</a:t>
            </a:r>
            <a:endParaRPr lang="en-US" sz="850" dirty="0"/>
          </a:p>
        </p:txBody>
      </p:sp>
      <p:sp>
        <p:nvSpPr>
          <p:cNvPr id="83" name="Text 46"/>
          <p:cNvSpPr/>
          <p:nvPr/>
        </p:nvSpPr>
        <p:spPr>
          <a:xfrm>
            <a:off x="7772400" y="3072384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循环风机</a:t>
            </a:r>
            <a:endParaRPr lang="en-US" sz="850" dirty="0"/>
          </a:p>
        </p:txBody>
      </p:sp>
      <p:sp>
        <p:nvSpPr>
          <p:cNvPr id="84" name="Text 47"/>
          <p:cNvSpPr/>
          <p:nvPr/>
        </p:nvSpPr>
        <p:spPr>
          <a:xfrm>
            <a:off x="9646920" y="3072384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5·69.2→3.5</a:t>
            </a:r>
            <a:endParaRPr lang="en-US" sz="850" dirty="0"/>
          </a:p>
        </p:txBody>
      </p:sp>
      <p:sp>
        <p:nvSpPr>
          <p:cNvPr id="85" name="Text 48"/>
          <p:cNvSpPr/>
          <p:nvPr/>
        </p:nvSpPr>
        <p:spPr>
          <a:xfrm>
            <a:off x="7772400" y="3251606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水壶/传感</a:t>
            </a:r>
            <a:endParaRPr lang="en-US" sz="850" dirty="0"/>
          </a:p>
        </p:txBody>
      </p:sp>
      <p:sp>
        <p:nvSpPr>
          <p:cNvPr id="86" name="Text 49"/>
          <p:cNvSpPr/>
          <p:nvPr/>
        </p:nvSpPr>
        <p:spPr>
          <a:xfrm>
            <a:off x="9646920" y="3251606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6·66.8→4.0</a:t>
            </a:r>
            <a:endParaRPr lang="en-US" sz="850" dirty="0"/>
          </a:p>
        </p:txBody>
      </p:sp>
      <p:sp>
        <p:nvSpPr>
          <p:cNvPr id="87" name="Text 50"/>
          <p:cNvSpPr/>
          <p:nvPr/>
        </p:nvSpPr>
        <p:spPr>
          <a:xfrm>
            <a:off x="7772400" y="3430829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散热管</a:t>
            </a:r>
            <a:endParaRPr lang="en-US" sz="850" dirty="0"/>
          </a:p>
        </p:txBody>
      </p:sp>
      <p:sp>
        <p:nvSpPr>
          <p:cNvPr id="88" name="Text 51"/>
          <p:cNvSpPr/>
          <p:nvPr/>
        </p:nvSpPr>
        <p:spPr>
          <a:xfrm>
            <a:off x="9646920" y="3430829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4·74.3→3.0</a:t>
            </a:r>
            <a:endParaRPr lang="en-US" sz="850" dirty="0"/>
          </a:p>
        </p:txBody>
      </p:sp>
      <p:sp>
        <p:nvSpPr>
          <p:cNvPr id="89" name="Text 52"/>
          <p:cNvSpPr/>
          <p:nvPr/>
        </p:nvSpPr>
        <p:spPr>
          <a:xfrm>
            <a:off x="7772400" y="3610051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烟囱</a:t>
            </a:r>
            <a:endParaRPr lang="en-US" sz="850" dirty="0"/>
          </a:p>
        </p:txBody>
      </p:sp>
      <p:sp>
        <p:nvSpPr>
          <p:cNvPr id="90" name="Text 53"/>
          <p:cNvSpPr/>
          <p:nvPr/>
        </p:nvSpPr>
        <p:spPr>
          <a:xfrm>
            <a:off x="9646920" y="3610051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4·74.3→3.0</a:t>
            </a:r>
            <a:endParaRPr lang="en-US" sz="850" dirty="0"/>
          </a:p>
        </p:txBody>
      </p:sp>
      <p:sp>
        <p:nvSpPr>
          <p:cNvPr id="91" name="Text 54"/>
          <p:cNvSpPr/>
          <p:nvPr/>
        </p:nvSpPr>
        <p:spPr>
          <a:xfrm>
            <a:off x="7772400" y="3789274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炉膛</a:t>
            </a:r>
            <a:endParaRPr lang="en-US" sz="850" dirty="0"/>
          </a:p>
        </p:txBody>
      </p:sp>
      <p:sp>
        <p:nvSpPr>
          <p:cNvPr id="92" name="Text 55"/>
          <p:cNvSpPr/>
          <p:nvPr/>
        </p:nvSpPr>
        <p:spPr>
          <a:xfrm>
            <a:off x="9646920" y="3789274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4·74.3→3.0</a:t>
            </a:r>
            <a:endParaRPr lang="en-US" sz="850" dirty="0"/>
          </a:p>
        </p:txBody>
      </p:sp>
      <p:sp>
        <p:nvSpPr>
          <p:cNvPr id="93" name="Text 56"/>
          <p:cNvSpPr/>
          <p:nvPr/>
        </p:nvSpPr>
        <p:spPr>
          <a:xfrm>
            <a:off x="7772400" y="3968496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挂烟梁柱</a:t>
            </a:r>
            <a:endParaRPr lang="en-US" sz="850" dirty="0"/>
          </a:p>
        </p:txBody>
      </p:sp>
      <p:sp>
        <p:nvSpPr>
          <p:cNvPr id="94" name="Text 57"/>
          <p:cNvSpPr/>
          <p:nvPr/>
        </p:nvSpPr>
        <p:spPr>
          <a:xfrm>
            <a:off x="9646920" y="3968496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5·66.8→3.3</a:t>
            </a:r>
            <a:endParaRPr lang="en-US" sz="850" dirty="0"/>
          </a:p>
        </p:txBody>
      </p:sp>
      <p:sp>
        <p:nvSpPr>
          <p:cNvPr id="95" name="Text 58"/>
          <p:cNvSpPr/>
          <p:nvPr/>
        </p:nvSpPr>
        <p:spPr>
          <a:xfrm>
            <a:off x="7772400" y="4147718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清灰门</a:t>
            </a:r>
            <a:endParaRPr lang="en-US" sz="850" dirty="0"/>
          </a:p>
        </p:txBody>
      </p:sp>
      <p:sp>
        <p:nvSpPr>
          <p:cNvPr id="96" name="Text 59"/>
          <p:cNvSpPr/>
          <p:nvPr/>
        </p:nvSpPr>
        <p:spPr>
          <a:xfrm>
            <a:off x="9646920" y="4147718"/>
            <a:ext cx="187452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3·74.3→2.2</a:t>
            </a:r>
            <a:endParaRPr lang="en-US" sz="850" dirty="0"/>
          </a:p>
        </p:txBody>
      </p:sp>
      <p:sp>
        <p:nvSpPr>
          <p:cNvPr id="97" name="Shape 60"/>
          <p:cNvSpPr/>
          <p:nvPr/>
        </p:nvSpPr>
        <p:spPr>
          <a:xfrm>
            <a:off x="7772400" y="4326941"/>
            <a:ext cx="3749040" cy="274320"/>
          </a:xfrm>
          <a:prstGeom prst="roundRect">
            <a:avLst>
              <a:gd name="adj" fmla="val 13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98" name="Text 61"/>
          <p:cNvSpPr/>
          <p:nvPr/>
        </p:nvSpPr>
        <p:spPr>
          <a:xfrm>
            <a:off x="7772400" y="4326941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ΣW=80 · ΣC=58.2 → P_norm = 72.7</a:t>
            </a:r>
            <a:endParaRPr lang="en-US" sz="1000" dirty="0"/>
          </a:p>
        </p:txBody>
      </p:sp>
      <p:sp>
        <p:nvSpPr>
          <p:cNvPr id="99" name="Text 62"/>
          <p:cNvSpPr/>
          <p:nvPr/>
        </p:nvSpPr>
        <p:spPr>
          <a:xfrm>
            <a:off x="7772400" y="4619549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M=100(集中管护) · E=100(评价好)</a:t>
            </a:r>
            <a:endParaRPr lang="en-US" sz="900" dirty="0"/>
          </a:p>
        </p:txBody>
      </p:sp>
      <p:sp>
        <p:nvSpPr>
          <p:cNvPr id="100" name="Shape 63"/>
          <p:cNvSpPr/>
          <p:nvPr/>
        </p:nvSpPr>
        <p:spPr>
          <a:xfrm>
            <a:off x="7772400" y="4839005"/>
            <a:ext cx="3749040" cy="731520"/>
          </a:xfrm>
          <a:prstGeom prst="roundRect">
            <a:avLst>
              <a:gd name="adj" fmla="val 7500"/>
            </a:avLst>
          </a:prstGeom>
          <a:solidFill>
            <a:srgbClr val="14532D"/>
          </a:solidFill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101" name="Text 64"/>
          <p:cNvSpPr/>
          <p:nvPr/>
        </p:nvSpPr>
        <p:spPr>
          <a:xfrm>
            <a:off x="7772400" y="4839005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0.8×72.7 + 0.1×100 + 0.1×100 = 78.2
</a:t>
            </a:r>
            <a:r>
              <a:rPr lang="en-US" sz="9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前端显示【良好】· 风险Top3：加热器/主板/大门</a:t>
            </a:r>
            <a:endParaRPr lang="en-US" sz="1050" dirty="0"/>
          </a:p>
        </p:txBody>
      </p:sp>
      <p:sp>
        <p:nvSpPr>
          <p:cNvPr id="10" name="Shape 14"/>
          <p:cNvSpPr/>
          <p:nvPr/>
        </p:nvSpPr>
        <p:spPr>
          <a:xfrm>
            <a:off x="248920" y="5669280"/>
            <a:ext cx="821055" cy="1097280"/>
          </a:xfrm>
          <a:prstGeom prst="roundRect">
            <a:avLst>
              <a:gd name="adj" fmla="val 6667"/>
            </a:avLst>
          </a:prstGeom>
          <a:solidFill>
            <a:srgbClr val="2E8B6A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3" name="Text 15"/>
          <p:cNvSpPr/>
          <p:nvPr/>
        </p:nvSpPr>
        <p:spPr>
          <a:xfrm>
            <a:off x="-393065" y="5806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优良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-393065" y="6217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85-100分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1525270" y="5669280"/>
            <a:ext cx="820420" cy="1097280"/>
          </a:xfrm>
          <a:prstGeom prst="roundRect">
            <a:avLst>
              <a:gd name="adj" fmla="val 6667"/>
            </a:avLst>
          </a:prstGeom>
          <a:solidFill>
            <a:srgbClr val="5FB292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27" name="Text 18"/>
          <p:cNvSpPr/>
          <p:nvPr/>
        </p:nvSpPr>
        <p:spPr>
          <a:xfrm>
            <a:off x="857758" y="5806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良好</a:t>
            </a:r>
            <a:endParaRPr lang="en-US" sz="1600" dirty="0"/>
          </a:p>
        </p:txBody>
      </p:sp>
      <p:sp>
        <p:nvSpPr>
          <p:cNvPr id="35" name="Text 19"/>
          <p:cNvSpPr/>
          <p:nvPr/>
        </p:nvSpPr>
        <p:spPr>
          <a:xfrm>
            <a:off x="857758" y="6217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70-85分</a:t>
            </a:r>
            <a:endParaRPr lang="en-US" sz="1200" dirty="0"/>
          </a:p>
        </p:txBody>
      </p:sp>
      <p:sp>
        <p:nvSpPr>
          <p:cNvPr id="36" name="Shape 20"/>
          <p:cNvSpPr/>
          <p:nvPr/>
        </p:nvSpPr>
        <p:spPr>
          <a:xfrm>
            <a:off x="3007360" y="5669280"/>
            <a:ext cx="821055" cy="1097280"/>
          </a:xfrm>
          <a:prstGeom prst="roundRect">
            <a:avLst>
              <a:gd name="adj" fmla="val 6667"/>
            </a:avLst>
          </a:prstGeom>
          <a:solidFill>
            <a:srgbClr val="F39C12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37" name="Text 21"/>
          <p:cNvSpPr/>
          <p:nvPr/>
        </p:nvSpPr>
        <p:spPr>
          <a:xfrm>
            <a:off x="2345436" y="5806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</a:t>
            </a:r>
            <a:endParaRPr lang="en-US" sz="1600" dirty="0"/>
          </a:p>
        </p:txBody>
      </p:sp>
      <p:sp>
        <p:nvSpPr>
          <p:cNvPr id="38" name="Text 22"/>
          <p:cNvSpPr/>
          <p:nvPr/>
        </p:nvSpPr>
        <p:spPr>
          <a:xfrm>
            <a:off x="2345436" y="6217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60-70分</a:t>
            </a:r>
            <a:endParaRPr lang="en-US" sz="1200" dirty="0"/>
          </a:p>
        </p:txBody>
      </p:sp>
      <p:sp>
        <p:nvSpPr>
          <p:cNvPr id="39" name="Shape 23"/>
          <p:cNvSpPr/>
          <p:nvPr/>
        </p:nvSpPr>
        <p:spPr>
          <a:xfrm>
            <a:off x="4448810" y="5669280"/>
            <a:ext cx="840105" cy="1097280"/>
          </a:xfrm>
          <a:prstGeom prst="roundRect">
            <a:avLst>
              <a:gd name="adj" fmla="val 6667"/>
            </a:avLst>
          </a:prstGeom>
          <a:solidFill>
            <a:srgbClr val="C77E1B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0" name="Text 24"/>
          <p:cNvSpPr/>
          <p:nvPr/>
        </p:nvSpPr>
        <p:spPr>
          <a:xfrm>
            <a:off x="3810889" y="57607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</a:t>
            </a:r>
            <a:endParaRPr lang="en-US" sz="1600" dirty="0"/>
          </a:p>
        </p:txBody>
      </p:sp>
      <p:sp>
        <p:nvSpPr>
          <p:cNvPr id="41" name="Text 25"/>
          <p:cNvSpPr/>
          <p:nvPr/>
        </p:nvSpPr>
        <p:spPr>
          <a:xfrm>
            <a:off x="3810889" y="61722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45-60分</a:t>
            </a:r>
            <a:endParaRPr lang="en-US" sz="1200" dirty="0"/>
          </a:p>
        </p:txBody>
      </p:sp>
      <p:sp>
        <p:nvSpPr>
          <p:cNvPr id="42" name="Shape 26"/>
          <p:cNvSpPr/>
          <p:nvPr/>
        </p:nvSpPr>
        <p:spPr>
          <a:xfrm>
            <a:off x="5836285" y="5669280"/>
            <a:ext cx="840740" cy="1097280"/>
          </a:xfrm>
          <a:prstGeom prst="roundRect">
            <a:avLst>
              <a:gd name="adj" fmla="val 6667"/>
            </a:avLst>
          </a:prstGeom>
          <a:solidFill>
            <a:srgbClr val="B23A24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3" name="Text 27"/>
          <p:cNvSpPr/>
          <p:nvPr/>
        </p:nvSpPr>
        <p:spPr>
          <a:xfrm>
            <a:off x="5257927" y="5806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</a:t>
            </a:r>
            <a:endParaRPr lang="en-US" sz="1600" dirty="0"/>
          </a:p>
        </p:txBody>
      </p:sp>
      <p:sp>
        <p:nvSpPr>
          <p:cNvPr id="44" name="Text 28"/>
          <p:cNvSpPr/>
          <p:nvPr/>
        </p:nvSpPr>
        <p:spPr>
          <a:xfrm>
            <a:off x="5257927" y="6217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&lt;45分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 -计算及实例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68580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27632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14532D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27632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 = clamp限制函数( life_raw , 0 , year_cap 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931920" y="2194560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04288"/>
            <a:ext cx="6400800" cy="384048"/>
          </a:xfrm>
          <a:prstGeom prst="roundRect">
            <a:avLst>
              <a:gd name="adj" fmla="val 9524"/>
            </a:avLst>
          </a:prstGeom>
          <a:solidFill>
            <a:srgbClr val="2E8B6A"/>
          </a:solidFill>
        </p:spPr>
      </p:sp>
      <p:sp>
        <p:nvSpPr>
          <p:cNvPr id="12" name="Text 10"/>
          <p:cNvSpPr/>
          <p:nvPr/>
        </p:nvSpPr>
        <p:spPr>
          <a:xfrm>
            <a:off x="822960" y="2304288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life_raw = ( hard_limit×0.6 + soft_avg×0.4 )×repair_decay×health_factor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83464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A类 硬上限　</a:t>
            </a:r>
            <a:r>
              <a:rPr lang="en-US" sz="1000" b="1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×0.6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51760" y="283464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hard_limit = min(屋顶, 大门, 挂烟梁) 最短寿命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32120" y="28346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结构性定“生死上限”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3493008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49300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B类 软平均　</a:t>
            </a:r>
            <a:r>
              <a:rPr lang="en-US" sz="10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×0.4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651760" y="3493008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soft_avg = Σ(寿命×重要度) ÷ Σ重要度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32120" y="3493008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功能性定“运行质量”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4151376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151376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维修 复衰　</a:t>
            </a:r>
            <a:r>
              <a:rPr lang="en-US" sz="10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e^衰减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651760" y="4151376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repair_decay = e^(−0.08×维修次数)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32120" y="4151376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修1次0.92 · 修3次0.79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" y="4809744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80974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 校准　</a:t>
            </a:r>
            <a:r>
              <a:rPr lang="en-US" sz="10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加速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651760" y="4809744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health_factor = 0.70 + 0.30×(H/100)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32120" y="4809744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H=100→1.00 · H=40→0.82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" y="5522976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C77E1B"/>
          </a:solidFill>
        </p:spPr>
      </p:sp>
      <p:sp>
        <p:nvSpPr>
          <p:cNvPr id="34" name="Text 32"/>
          <p:cNvSpPr/>
          <p:nvPr/>
        </p:nvSpPr>
        <p:spPr>
          <a:xfrm>
            <a:off x="731520" y="5522976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L5 年限收缩+钳制：year_cap = max(0, 15−房龄×0.55)，老房不虚高、新+2.65封顶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7240" y="6035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四级预警：≤0紧急 · 1~4建议维修 · 4~7需关注 · &gt;7正常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543800" y="1572768"/>
            <a:ext cx="4142232" cy="475488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72400" y="1664208"/>
            <a:ext cx="3749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单栋算例 · 2009老房</a:t>
            </a:r>
            <a:r>
              <a:rPr lang="en-US" sz="9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（2022换自控·2024修散热, H=71）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772400" y="210312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82128" y="21031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硬上限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98280" y="21031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屋顶最弱 → hard_limit = 2.5年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72400" y="2624328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82128" y="262432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L2 软平均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098280" y="262432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soft_avg = 5.0 年（9功能件加权均值）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772400" y="3145536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82128" y="3145536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 维修复衰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098280" y="3145536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修2次 → e^(−0.16) = 0.852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772400" y="3666744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82128" y="3666744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L4 健康校准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098280" y="3666744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H=71 → 0.70+0.30×0.71 = 0.913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772400" y="4187952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82128" y="4187952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life_raw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098280" y="418795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(2.5×0.65+5×0.35)×0.852×0.913 = 2.63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772400" y="470916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82128" y="47091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L5 年限收缩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098280" y="470916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year_cap = 15−17×0.55 = 5.65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772400" y="5257800"/>
            <a:ext cx="3749040" cy="731520"/>
          </a:xfrm>
          <a:prstGeom prst="roundRect">
            <a:avLst>
              <a:gd name="adj" fmla="val 7500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772400" y="5257800"/>
            <a:ext cx="3749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 = clamp(2.63, 0, 5.65) = 2.6 年
</a:t>
            </a: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建议维修（1~4年）· 退役年≈2029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772400" y="605332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B23A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维修能续命但不能回春：老房即使换新设备，也被年限收缩约束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2" grpId="0"/>
      <p:bldP spid="15" grpId="0"/>
      <p:bldP spid="16" grpId="0"/>
      <p:bldP spid="17" grpId="0"/>
      <p:bldP spid="20" grpId="0"/>
      <p:bldP spid="21" grpId="0"/>
      <p:bldP spid="22" grpId="0"/>
      <p:bldP spid="25" grpId="0"/>
      <p:bldP spid="26" grpId="0"/>
      <p:bldP spid="27" grpId="0"/>
      <p:bldP spid="30" grpId="0"/>
      <p:bldP spid="31" grpId="0"/>
      <p:bldP spid="32" grpId="0"/>
      <p:bldP spid="34" grpId="0"/>
      <p:bldP spid="35" grpId="0"/>
      <p:bldP spid="37" grpId="0"/>
      <p:bldP spid="39" grpId="0"/>
      <p:bldP spid="40" grpId="0"/>
      <p:bldP spid="42" grpId="0"/>
      <p:bldP spid="43" grpId="0"/>
      <p:bldP spid="45" grpId="0"/>
      <p:bldP spid="46" grpId="0"/>
      <p:bldP spid="48" grpId="0"/>
      <p:bldP spid="49" grpId="0"/>
      <p:bldP spid="51" grpId="0"/>
      <p:bldP spid="52" grpId="0"/>
      <p:bldP spid="54" grpId="0"/>
      <p:bldP spid="55" grpId="0"/>
      <p:bldP spid="57" grpId="0"/>
      <p:bldP spid="5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剩余寿命预测 - 四级预警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710" y="1115695"/>
            <a:ext cx="612584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把剩余寿命换算成“多紧急”，直接驱动维修排程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845310" y="1554480"/>
            <a:ext cx="6720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19630" y="1737360"/>
            <a:ext cx="6126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剩余寿命 · 四级预警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11963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B23A24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1963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紧急维修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1963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≤0年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1963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立即处置 · 停用待修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7411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C77E1B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7411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建议维修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7411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1-4年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7411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纳入当年维修计划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2859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D99E2B"/>
          </a:solidFill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2859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需关注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2859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4-7年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2859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跟踪监测 · 提前备件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83070" y="2212848"/>
            <a:ext cx="1444752" cy="822960"/>
          </a:xfrm>
          <a:prstGeom prst="roundRect">
            <a:avLst>
              <a:gd name="adj" fmla="val 8889"/>
            </a:avLst>
          </a:prstGeom>
          <a:solidFill>
            <a:srgbClr val="2E8B6A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83070" y="2249424"/>
            <a:ext cx="1444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83070" y="259689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&gt;7年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83070" y="3054096"/>
            <a:ext cx="144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按周期巡检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19630" y="3474720"/>
            <a:ext cx="612648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28" name="Shape 26"/>
          <p:cNvSpPr/>
          <p:nvPr/>
        </p:nvSpPr>
        <p:spPr>
          <a:xfrm>
            <a:off x="2119630" y="4572000"/>
            <a:ext cx="6126480" cy="914400"/>
          </a:xfrm>
          <a:prstGeom prst="roundRect">
            <a:avLst>
              <a:gd name="adj" fmla="val 10000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02510" y="4663440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输出：剩余年数 + 风险部位 Top3 + 预警等级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302510" y="5010912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“修哪里、何时修、多急” → 智投·抢修排程，让维修台账与寿命联动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918335" y="3822065"/>
            <a:ext cx="618109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短板约束 + 重要度 + 维修衰减 + 健康加速 + 年限收缩 —— 五层递进可复核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10" grpId="0"/>
      <p:bldP spid="11" grpId="0"/>
      <p:bldP spid="12" grpId="0"/>
      <p:bldP spid="14" grpId="0"/>
      <p:bldP spid="15" grpId="0"/>
      <p:bldP spid="16" grpId="0"/>
      <p:bldP spid="18" grpId="0"/>
      <p:bldP spid="19" grpId="0"/>
      <p:bldP spid="20" grpId="0"/>
      <p:bldP spid="22" grpId="0"/>
      <p:bldP spid="23" grpId="0"/>
      <p:bldP spid="24" grpId="0"/>
      <p:bldP spid="29" grpId="0"/>
      <p:bldP spid="30" grpId="0"/>
      <p:bldP spid="49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87020" y="215900"/>
            <a:ext cx="1737360" cy="475615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87020" y="21590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endParaRPr lang="zh-CN" altLang="en-US" sz="15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pic>
        <p:nvPicPr>
          <p:cNvPr id="6" name="图片 5" descr="1-烤房新建选址模型_需求判断与候选点排序_一页图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580" y="0"/>
            <a:ext cx="1154557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村级发展指数 —</a:t>
            </a:r>
            <a:r>
              <a:rPr lang="en-US" sz="27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科学回答：哪里建、建几栋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572895"/>
            <a:ext cx="6858000" cy="4500245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27632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27632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0.50·Hc + 0.30·Lc + 0.20·Dc　</a:t>
            </a:r>
            <a:r>
              <a:rPr lang="en-US" sz="1250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新建需求分 N = 100 − V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2286000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87168"/>
            <a:ext cx="6400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42032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有效烤能指数 ×0.50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2871216"/>
            <a:ext cx="61722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 E=健康分/100×容量×状态(在用1.0·闲置0.4·待修0.1)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A=在用ΣE ， B=闲置ΣE×0.4 ， C=待修ΣE×0.1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Q=0.7A+0.2B+0.1C ， Hc=min(100, Q/D×100)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6400800" cy="9334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95344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 承载匹配指数 ×0.30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4224655"/>
            <a:ext cx="6172200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压力 P = D ÷ Q · 分档：≤0.85→100 · ≤1→85 · ≤1.2→70 · ≤1.5→50 · &gt;1.5→30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010785"/>
            <a:ext cx="6400800" cy="78613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248656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发展因子指数 ×0.20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" y="5412105"/>
            <a:ext cx="6172200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五维各0.2：规模增长 · 管护缴费 · 政策争取 · 服务能力 · 扩张韧性 → Dc=五维均值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6108192"/>
            <a:ext cx="6400800" cy="493776"/>
          </a:xfrm>
          <a:prstGeom prst="roundRect">
            <a:avLst>
              <a:gd name="adj" fmla="val 11111"/>
            </a:avLst>
          </a:prstGeom>
          <a:solidFill>
            <a:srgbClr val="C77E1B"/>
          </a:solidFill>
        </p:spPr>
      </p:sp>
      <p:sp>
        <p:nvSpPr>
          <p:cNvPr id="24" name="Text 22"/>
          <p:cNvSpPr/>
          <p:nvPr/>
        </p:nvSpPr>
        <p:spPr>
          <a:xfrm>
            <a:off x="731520" y="6181217"/>
            <a:ext cx="64008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决策：V越低→烤能缺口越大→新建越迫切　N越高→优先级越高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772400" y="6181344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建议优先配建约5座 · 新增后再算 ΔV 检验是否值得建</a:t>
            </a:r>
            <a:endParaRPr lang="en-US" sz="1000" dirty="0"/>
          </a:p>
        </p:txBody>
      </p:sp>
      <p:sp>
        <p:nvSpPr>
          <p:cNvPr id="67" name="Shape 23"/>
          <p:cNvSpPr/>
          <p:nvPr/>
        </p:nvSpPr>
        <p:spPr>
          <a:xfrm>
            <a:off x="7543800" y="1572768"/>
            <a:ext cx="4142232" cy="475488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68" name="Text 24"/>
          <p:cNvSpPr/>
          <p:nvPr/>
        </p:nvSpPr>
        <p:spPr>
          <a:xfrm>
            <a:off x="7772400" y="1627632"/>
            <a:ext cx="3794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真实算例 · 磨坪·三墩岩村</a:t>
            </a:r>
            <a:endParaRPr lang="en-US" sz="1300" b="1" dirty="0">
              <a:solidFill>
                <a:srgbClr val="16653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（28栋 在用17/闲置3/待修8 · 2026）</a:t>
            </a:r>
            <a:endParaRPr lang="en-US" sz="1300" dirty="0"/>
          </a:p>
        </p:txBody>
      </p:sp>
      <p:sp>
        <p:nvSpPr>
          <p:cNvPr id="69" name="Text 25"/>
          <p:cNvSpPr/>
          <p:nvPr/>
        </p:nvSpPr>
        <p:spPr>
          <a:xfrm>
            <a:off x="7772400" y="195681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基础数据（取自决策统计表）：</a:t>
            </a:r>
            <a:endParaRPr lang="en-US" sz="950" dirty="0"/>
          </a:p>
        </p:txBody>
      </p:sp>
      <p:sp>
        <p:nvSpPr>
          <p:cNvPr id="70" name="Text 26"/>
          <p:cNvSpPr/>
          <p:nvPr/>
        </p:nvSpPr>
        <p:spPr>
          <a:xfrm>
            <a:off x="7772400" y="21945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在用/闲置/待修</a:t>
            </a:r>
            <a:endParaRPr lang="en-US" sz="1000" dirty="0"/>
          </a:p>
        </p:txBody>
      </p:sp>
      <p:sp>
        <p:nvSpPr>
          <p:cNvPr id="71" name="Text 27"/>
          <p:cNvSpPr/>
          <p:nvPr/>
        </p:nvSpPr>
        <p:spPr>
          <a:xfrm>
            <a:off x="9601200" y="219456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3 / 8 座</a:t>
            </a:r>
            <a:endParaRPr lang="en-US" sz="950" dirty="0"/>
          </a:p>
        </p:txBody>
      </p:sp>
      <p:sp>
        <p:nvSpPr>
          <p:cNvPr id="72" name="Text 28"/>
          <p:cNvSpPr/>
          <p:nvPr/>
        </p:nvSpPr>
        <p:spPr>
          <a:xfrm>
            <a:off x="7772400" y="259689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加权烤能 Q</a:t>
            </a:r>
            <a:endParaRPr lang="en-US" sz="1000" dirty="0"/>
          </a:p>
        </p:txBody>
      </p:sp>
      <p:sp>
        <p:nvSpPr>
          <p:cNvPr id="73" name="Text 29"/>
          <p:cNvSpPr/>
          <p:nvPr/>
        </p:nvSpPr>
        <p:spPr>
          <a:xfrm>
            <a:off x="9601200" y="259689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9705 kg · 有效烤能 14790 kg</a:t>
            </a:r>
            <a:endParaRPr lang="en-US" sz="950" dirty="0"/>
          </a:p>
        </p:txBody>
      </p:sp>
      <p:sp>
        <p:nvSpPr>
          <p:cNvPr id="74" name="Text 30"/>
          <p:cNvSpPr/>
          <p:nvPr/>
        </p:nvSpPr>
        <p:spPr>
          <a:xfrm>
            <a:off x="7772400" y="299923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收购需求 D</a:t>
            </a:r>
            <a:endParaRPr lang="en-US" sz="1000" dirty="0"/>
          </a:p>
        </p:txBody>
      </p:sp>
      <p:sp>
        <p:nvSpPr>
          <p:cNvPr id="75" name="Text 31"/>
          <p:cNvSpPr/>
          <p:nvPr/>
        </p:nvSpPr>
        <p:spPr>
          <a:xfrm>
            <a:off x="9601200" y="299923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56420 kg（D=收购量）</a:t>
            </a:r>
            <a:endParaRPr lang="en-US" sz="950" dirty="0"/>
          </a:p>
        </p:txBody>
      </p:sp>
      <p:sp>
        <p:nvSpPr>
          <p:cNvPr id="76" name="Shape 32"/>
          <p:cNvSpPr/>
          <p:nvPr/>
        </p:nvSpPr>
        <p:spPr>
          <a:xfrm>
            <a:off x="7772400" y="3374136"/>
            <a:ext cx="3749040" cy="18288"/>
          </a:xfrm>
          <a:prstGeom prst="rect">
            <a:avLst/>
          </a:prstGeom>
          <a:solidFill>
            <a:srgbClr val="D6E3DA"/>
          </a:solidFill>
        </p:spPr>
      </p:sp>
      <p:sp>
        <p:nvSpPr>
          <p:cNvPr id="77" name="Shape 33"/>
          <p:cNvSpPr/>
          <p:nvPr/>
        </p:nvSpPr>
        <p:spPr>
          <a:xfrm>
            <a:off x="7772400" y="3456432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78" name="Text 34"/>
          <p:cNvSpPr/>
          <p:nvPr/>
        </p:nvSpPr>
        <p:spPr>
          <a:xfrm>
            <a:off x="7882128" y="3456432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</a:t>
            </a:r>
            <a:endParaRPr lang="en-US" sz="1100" dirty="0"/>
          </a:p>
        </p:txBody>
      </p:sp>
      <p:sp>
        <p:nvSpPr>
          <p:cNvPr id="79" name="Text 35"/>
          <p:cNvSpPr/>
          <p:nvPr/>
        </p:nvSpPr>
        <p:spPr>
          <a:xfrm>
            <a:off x="8549640" y="345643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Q÷D×100 = </a:t>
            </a: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14790 </a:t>
            </a: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÷56420×100 = 26.2</a:t>
            </a:r>
            <a:endParaRPr lang="en-US" sz="850" dirty="0"/>
          </a:p>
        </p:txBody>
      </p:sp>
      <p:sp>
        <p:nvSpPr>
          <p:cNvPr id="80" name="Shape 36"/>
          <p:cNvSpPr/>
          <p:nvPr/>
        </p:nvSpPr>
        <p:spPr>
          <a:xfrm>
            <a:off x="7772400" y="3968496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81" name="Text 37"/>
          <p:cNvSpPr/>
          <p:nvPr/>
        </p:nvSpPr>
        <p:spPr>
          <a:xfrm>
            <a:off x="7882128" y="3968496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</a:t>
            </a:r>
            <a:endParaRPr lang="en-US" sz="1100" dirty="0"/>
          </a:p>
        </p:txBody>
      </p:sp>
      <p:sp>
        <p:nvSpPr>
          <p:cNvPr id="82" name="Text 38"/>
          <p:cNvSpPr/>
          <p:nvPr/>
        </p:nvSpPr>
        <p:spPr>
          <a:xfrm>
            <a:off x="8549640" y="3968496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D÷Q = 56420÷9705 = 5.81 → Lc=30</a:t>
            </a:r>
            <a:endParaRPr lang="en-US" sz="850" dirty="0"/>
          </a:p>
        </p:txBody>
      </p:sp>
      <p:sp>
        <p:nvSpPr>
          <p:cNvPr id="83" name="Shape 39"/>
          <p:cNvSpPr/>
          <p:nvPr/>
        </p:nvSpPr>
        <p:spPr>
          <a:xfrm>
            <a:off x="7772400" y="4480560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84" name="Text 40"/>
          <p:cNvSpPr/>
          <p:nvPr/>
        </p:nvSpPr>
        <p:spPr>
          <a:xfrm>
            <a:off x="7882128" y="4480560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</a:t>
            </a:r>
            <a:endParaRPr lang="en-US" sz="1100" dirty="0"/>
          </a:p>
        </p:txBody>
      </p:sp>
      <p:sp>
        <p:nvSpPr>
          <p:cNvPr id="85" name="Text 41"/>
          <p:cNvSpPr/>
          <p:nvPr/>
        </p:nvSpPr>
        <p:spPr>
          <a:xfrm>
            <a:off x="8549640" y="4480560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五维均值 = 59.1</a:t>
            </a:r>
            <a:endParaRPr lang="en-US" sz="850" dirty="0"/>
          </a:p>
        </p:txBody>
      </p:sp>
      <p:sp>
        <p:nvSpPr>
          <p:cNvPr id="86" name="Shape 42"/>
          <p:cNvSpPr/>
          <p:nvPr/>
        </p:nvSpPr>
        <p:spPr>
          <a:xfrm>
            <a:off x="7772400" y="5029200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87" name="Text 43"/>
          <p:cNvSpPr/>
          <p:nvPr/>
        </p:nvSpPr>
        <p:spPr>
          <a:xfrm>
            <a:off x="7772400" y="5029200"/>
            <a:ext cx="37490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0.5×26.2 + 0.3×30 + 0.2×59.1 = 33.9
</a:t>
            </a: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N = 66.08 </a:t>
            </a:r>
            <a:endParaRPr lang="en-US" sz="1050" dirty="0"/>
          </a:p>
        </p:txBody>
      </p:sp>
      <p:sp>
        <p:nvSpPr>
          <p:cNvPr id="88" name="Text 44"/>
          <p:cNvSpPr/>
          <p:nvPr/>
        </p:nvSpPr>
        <p:spPr>
          <a:xfrm>
            <a:off x="7772400" y="5815584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决策库同值：开发指数 29.4 / 需求分 70.6 → 优先新建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3" grpId="0"/>
      <p:bldP spid="14" grpId="0"/>
      <p:bldP spid="17" grpId="0"/>
      <p:bldP spid="18" grpId="0"/>
      <p:bldP spid="21" grpId="0"/>
      <p:bldP spid="22" grpId="0"/>
      <p:bldP spid="24" grpId="0"/>
      <p:bldP spid="48" grpId="0"/>
      <p:bldP spid="48" grpId="1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8" grpId="0"/>
      <p:bldP spid="79" grpId="0"/>
      <p:bldP spid="81" grpId="0"/>
      <p:bldP spid="82" grpId="0"/>
      <p:bldP spid="84" grpId="0"/>
      <p:bldP spid="85" grpId="0"/>
      <p:bldP spid="87" grpId="0"/>
      <p:bldP spid="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搭建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</a:t>
            </a:r>
            <a:endParaRPr lang="zh-CN" altLang="en-US" sz="15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1280795" y="1210945"/>
            <a:ext cx="7201535" cy="960120"/>
          </a:xfrm>
          <a:prstGeom prst="roundRect">
            <a:avLst>
              <a:gd name="adj" fmla="val 11429"/>
            </a:avLst>
          </a:prstGeom>
          <a:solidFill>
            <a:srgbClr val="14532D"/>
          </a:solidFill>
        </p:spPr>
        <p:txBody>
          <a:bodyPr/>
          <a:p>
            <a:pPr algn="ctr">
              <a:lnSpc>
                <a:spcPct val="17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步骤一：全量烤房数据库搭建（基础支撑）</a:t>
            </a:r>
            <a:endParaRPr lang="zh-CN" altLang="en-US"/>
          </a:p>
        </p:txBody>
      </p:sp>
      <p:sp>
        <p:nvSpPr>
          <p:cNvPr id="28" name="Shape 7"/>
          <p:cNvSpPr/>
          <p:nvPr/>
        </p:nvSpPr>
        <p:spPr>
          <a:xfrm>
            <a:off x="1281113" y="2402840"/>
            <a:ext cx="7200900" cy="960120"/>
          </a:xfrm>
          <a:prstGeom prst="roundRect">
            <a:avLst>
              <a:gd name="adj" fmla="val 11429"/>
            </a:avLst>
          </a:prstGeom>
          <a:solidFill>
            <a:srgbClr val="166534"/>
          </a:solidFill>
        </p:spPr>
        <p:txBody>
          <a:bodyPr/>
          <a:p>
            <a:pPr algn="ctr">
              <a:lnSpc>
                <a:spcPct val="17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步骤二：两大智能数据模型研发（核心算力）</a:t>
            </a: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　</a:t>
            </a:r>
            <a:endParaRPr lang="zh-CN" altLang="en-US"/>
          </a:p>
        </p:txBody>
      </p:sp>
      <p:sp>
        <p:nvSpPr>
          <p:cNvPr id="35" name="Shape 9"/>
          <p:cNvSpPr/>
          <p:nvPr/>
        </p:nvSpPr>
        <p:spPr>
          <a:xfrm>
            <a:off x="1281113" y="3500120"/>
            <a:ext cx="7200900" cy="960120"/>
          </a:xfrm>
          <a:prstGeom prst="roundRect">
            <a:avLst>
              <a:gd name="adj" fmla="val 11429"/>
            </a:avLst>
          </a:prstGeom>
          <a:solidFill>
            <a:srgbClr val="2E8B6A"/>
          </a:solidFill>
        </p:spPr>
        <p:txBody>
          <a:bodyPr/>
          <a:p>
            <a:pPr algn="ctr">
              <a:lnSpc>
                <a:spcPct val="18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步骤三：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“三智”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协同平台搭建（载体终端）</a:t>
            </a: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　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 descr="1-智用智投智管_协同关系图_含两个模型(2)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164465"/>
            <a:ext cx="9646285" cy="6693535"/>
          </a:xfrm>
          <a:prstGeom prst="rect">
            <a:avLst/>
          </a:prstGeom>
        </p:spPr>
      </p:pic>
      <p:sp>
        <p:nvSpPr>
          <p:cNvPr id="2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搭建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</a:t>
            </a:r>
            <a:endParaRPr lang="zh-CN" altLang="en-US" sz="15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协同平台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三智融合 · 全链条数智化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一端数据，三路业务，服务三类对象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11880" cy="397764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3611880" cy="1143000"/>
          </a:xfrm>
          <a:prstGeom prst="roundRect">
            <a:avLst>
              <a:gd name="adj" fmla="val 12800"/>
            </a:avLst>
          </a:prstGeom>
          <a:solidFill>
            <a:srgbClr val="166534"/>
          </a:solidFill>
        </p:spPr>
      </p:sp>
      <p:sp>
        <p:nvSpPr>
          <p:cNvPr id="9" name="Shape 7"/>
          <p:cNvSpPr/>
          <p:nvPr/>
        </p:nvSpPr>
        <p:spPr>
          <a:xfrm>
            <a:off x="548640" y="2404872"/>
            <a:ext cx="3611880" cy="566928"/>
          </a:xfrm>
          <a:prstGeom prst="rect">
            <a:avLst/>
          </a:prstGeom>
          <a:solidFill>
            <a:srgbClr val="166534"/>
          </a:solidFill>
        </p:spPr>
      </p:sp>
      <p:sp>
        <p:nvSpPr>
          <p:cNvPr id="10" name="Text 8"/>
          <p:cNvSpPr/>
          <p:nvPr/>
        </p:nvSpPr>
        <p:spPr>
          <a:xfrm>
            <a:off x="548640" y="182880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</a:t>
            </a: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Schedule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把资源“用好”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服务烟农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" y="3703320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4" name="Text 12"/>
          <p:cNvSpPr/>
          <p:nvPr/>
        </p:nvSpPr>
        <p:spPr>
          <a:xfrm>
            <a:off x="1097280" y="359359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烤房调剂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4270248"/>
            <a:ext cx="118872" cy="118872"/>
          </a:xfrm>
          <a:prstGeom prst="ellipse">
            <a:avLst/>
          </a:prstGeom>
          <a:solidFill>
            <a:srgbClr val="166534"/>
          </a:solidFill>
        </p:spPr>
      </p:sp>
      <p:sp>
        <p:nvSpPr>
          <p:cNvPr id="16" name="Text 14"/>
          <p:cNvSpPr/>
          <p:nvPr/>
        </p:nvSpPr>
        <p:spPr>
          <a:xfrm>
            <a:off x="1097280" y="4160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一键报修 · 极速抢修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325112" y="1828800"/>
            <a:ext cx="3611880" cy="397764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5112" y="1828800"/>
            <a:ext cx="3611880" cy="1143000"/>
          </a:xfrm>
          <a:prstGeom prst="roundRect">
            <a:avLst>
              <a:gd name="adj" fmla="val 12800"/>
            </a:avLst>
          </a:prstGeom>
          <a:solidFill>
            <a:srgbClr val="2E8B6A"/>
          </a:solidFill>
        </p:spPr>
      </p:sp>
      <p:sp>
        <p:nvSpPr>
          <p:cNvPr id="19" name="Shape 17"/>
          <p:cNvSpPr/>
          <p:nvPr/>
        </p:nvSpPr>
        <p:spPr>
          <a:xfrm>
            <a:off x="4325112" y="2404872"/>
            <a:ext cx="3611880" cy="566928"/>
          </a:xfrm>
          <a:prstGeom prst="rect">
            <a:avLst/>
          </a:prstGeom>
          <a:solidFill>
            <a:srgbClr val="2E8B6A"/>
          </a:solidFill>
        </p:spPr>
      </p:sp>
      <p:sp>
        <p:nvSpPr>
          <p:cNvPr id="20" name="Text 18"/>
          <p:cNvSpPr/>
          <p:nvPr/>
        </p:nvSpPr>
        <p:spPr>
          <a:xfrm>
            <a:off x="4325112" y="182880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智投 </a:t>
            </a: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Selection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325112" y="245059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把投入“投准”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45152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赋能决策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72584" y="3703320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4" name="Text 22"/>
          <p:cNvSpPr/>
          <p:nvPr/>
        </p:nvSpPr>
        <p:spPr>
          <a:xfrm>
            <a:off x="4873752" y="359359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新建决策辅助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672584" y="4270248"/>
            <a:ext cx="118872" cy="118872"/>
          </a:xfrm>
          <a:prstGeom prst="ellipse">
            <a:avLst/>
          </a:prstGeom>
          <a:solidFill>
            <a:srgbClr val="2E8B6A"/>
          </a:solidFill>
        </p:spPr>
      </p:sp>
      <p:sp>
        <p:nvSpPr>
          <p:cNvPr id="26" name="Text 24"/>
          <p:cNvSpPr/>
          <p:nvPr/>
        </p:nvSpPr>
        <p:spPr>
          <a:xfrm>
            <a:off x="4873752" y="4160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修复决策辅助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101584" y="1828800"/>
            <a:ext cx="3611880" cy="397764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01584" y="1828800"/>
            <a:ext cx="3611880" cy="1143000"/>
          </a:xfrm>
          <a:prstGeom prst="roundRect">
            <a:avLst>
              <a:gd name="adj" fmla="val 12800"/>
            </a:avLst>
          </a:prstGeom>
          <a:solidFill>
            <a:srgbClr val="C77E1B"/>
          </a:solidFill>
        </p:spPr>
      </p:sp>
      <p:sp>
        <p:nvSpPr>
          <p:cNvPr id="29" name="Shape 27"/>
          <p:cNvSpPr/>
          <p:nvPr/>
        </p:nvSpPr>
        <p:spPr>
          <a:xfrm>
            <a:off x="8101584" y="2404872"/>
            <a:ext cx="3611880" cy="566928"/>
          </a:xfrm>
          <a:prstGeom prst="rect">
            <a:avLst/>
          </a:prstGeom>
          <a:solidFill>
            <a:srgbClr val="C77E1B"/>
          </a:solidFill>
        </p:spPr>
      </p:sp>
      <p:sp>
        <p:nvSpPr>
          <p:cNvPr id="30" name="Text 28"/>
          <p:cNvSpPr/>
          <p:nvPr/>
        </p:nvSpPr>
        <p:spPr>
          <a:xfrm>
            <a:off x="8101584" y="182880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智管 </a:t>
            </a: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Sustain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101584" y="245059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把过程“管住”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21624" y="32004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协同合作社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49056" y="3703320"/>
            <a:ext cx="118872" cy="118872"/>
          </a:xfrm>
          <a:prstGeom prst="ellipse">
            <a:avLst/>
          </a:prstGeom>
          <a:solidFill>
            <a:srgbClr val="C77E1B"/>
          </a:solidFill>
        </p:spPr>
      </p:sp>
      <p:sp>
        <p:nvSpPr>
          <p:cNvPr id="34" name="Text 32"/>
          <p:cNvSpPr/>
          <p:nvPr/>
        </p:nvSpPr>
        <p:spPr>
          <a:xfrm>
            <a:off x="8650224" y="359359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用管协同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449056" y="4270248"/>
            <a:ext cx="118872" cy="118872"/>
          </a:xfrm>
          <a:prstGeom prst="ellipse">
            <a:avLst/>
          </a:prstGeom>
          <a:solidFill>
            <a:srgbClr val="C77E1B"/>
          </a:solidFill>
        </p:spPr>
      </p:sp>
      <p:sp>
        <p:nvSpPr>
          <p:cNvPr id="36" name="Text 34"/>
          <p:cNvSpPr/>
          <p:nvPr/>
        </p:nvSpPr>
        <p:spPr>
          <a:xfrm>
            <a:off x="8650224" y="4160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统筹集中养护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48640" y="5989320"/>
            <a:ext cx="11109960" cy="640080"/>
          </a:xfrm>
          <a:prstGeom prst="roundRect">
            <a:avLst>
              <a:gd name="adj" fmla="val 14286"/>
            </a:avLst>
          </a:prstGeom>
          <a:solidFill>
            <a:srgbClr val="14532D"/>
          </a:solidFill>
        </p:spPr>
      </p:sp>
      <p:sp>
        <p:nvSpPr>
          <p:cNvPr id="38" name="Text 36"/>
          <p:cNvSpPr/>
          <p:nvPr/>
        </p:nvSpPr>
        <p:spPr>
          <a:xfrm>
            <a:off x="548640" y="5989320"/>
            <a:ext cx="11109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用好数据库 → 投准每一分钱 → 管住全过程，构建全链条数字化解决方案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烤房调剂 · 把闲置资源盘活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在线申请 → 智能预测匹配 → 监督实施 → 在线归还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在线申请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00200" y="2633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35808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3580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智能预测匹配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600200" y="38404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242816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42816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监督实施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50474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449824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449824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在线归还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" y="55321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自控仪在线数据 → 预测完成时间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20440" y="1828800"/>
            <a:ext cx="818388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2286000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240</a:t>
            </a:r>
            <a:endParaRPr lang="en-US" sz="96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担</a:t>
            </a:r>
            <a:endParaRPr lang="en-US" sz="9600" dirty="0"/>
          </a:p>
        </p:txBody>
      </p:sp>
      <p:sp>
        <p:nvSpPr>
          <p:cNvPr id="21" name="Text 19"/>
          <p:cNvSpPr/>
          <p:nvPr/>
        </p:nvSpPr>
        <p:spPr>
          <a:xfrm>
            <a:off x="3977640" y="35204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磨坪站烤房群（50栋）烤能提升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23774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供需智能撮合 → 缩短单炕周期 · 加快烘烤周转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0" y="28346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烤季空置周期缩短 · 集群周转烤次提升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06640" y="32918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让“抢不到·借不到”成为过去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977640" y="5394960"/>
            <a:ext cx="7452360" cy="640080"/>
          </a:xfrm>
          <a:prstGeom prst="roundRect">
            <a:avLst>
              <a:gd name="adj" fmla="val 14286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5394960"/>
            <a:ext cx="7452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大大缓解“无房用、无人管”之忧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短暂调剂，让每一座烤房都“转”起来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智用 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极速抢修 · 3小时化解雷击故障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2026-08-16 磨坪三墩岩 烟农曾平 · 雷击报修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一键报修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手机发起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42032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79776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9776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智慧健康排查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71216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对照健康风险排序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73168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10912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在线诊断排除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02352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自控仪主板/送料电机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04304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42048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配件匹配配送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33488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红岩6km·15min / 磨坪1km·2min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21488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73184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73184" y="19568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就近取货集中抢修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564624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技术员+抢修人分工配送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108960"/>
            <a:ext cx="557784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42900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小时</a:t>
            </a:r>
            <a:endParaRPr lang="en-US" sz="11000" dirty="0"/>
          </a:p>
        </p:txBody>
      </p:sp>
      <p:sp>
        <p:nvSpPr>
          <p:cNvPr id="28" name="Text 26"/>
          <p:cNvSpPr/>
          <p:nvPr/>
        </p:nvSpPr>
        <p:spPr>
          <a:xfrm>
            <a:off x="914400" y="46634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抢修对传统缩短近 2 小时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3108960"/>
            <a:ext cx="5303520" cy="3017520"/>
          </a:xfrm>
          <a:prstGeom prst="roundRect">
            <a:avLst>
              <a:gd name="adj" fmla="val 4848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2918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处理对比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37947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在线闭环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09760" y="37947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小时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75120" y="45262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传统现场+二次上门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09760" y="45262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≈5 小时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675120" y="53492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农户距烟草路程 1小时15分，全程仍控制在 3 小时内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智慧排查+就近配货+分工配送，把烘烤风险降到最低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智投 · 投入聚能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新建有数 · 修复有据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为烟草公司投入决策提供量化支撑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4068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修复决策辅助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150</a:t>
            </a:r>
            <a:endParaRPr lang="en-US" sz="76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年靶向修复（预警设备 210 栋）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3484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44348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修复靠关系 · 盲目修复 · 过程无监督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493776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按健康分定位“该修的烤房与部位”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5440680" cy="3977640"/>
          </a:xfrm>
          <a:prstGeom prst="roundRect">
            <a:avLst>
              <a:gd name="adj" fmla="val 3678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57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新建决策辅助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76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</a:t>
            </a:r>
            <a:endParaRPr lang="en-US" sz="7600" dirty="0"/>
          </a:p>
        </p:txBody>
      </p:sp>
      <p:sp>
        <p:nvSpPr>
          <p:cNvPr id="18" name="Text 16"/>
          <p:cNvSpPr/>
          <p:nvPr/>
        </p:nvSpPr>
        <p:spPr>
          <a:xfrm>
            <a:off x="6492240" y="39776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年全县落地新建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43484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点位：荒口坪 +10　·　三台寺 +12（2026—2028）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93776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以千亩村发展指数为依据，“该建才建”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修复精准、新建科学，杜绝资金错配与投入不公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智管 · 合作社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专业管家队伍 + 集中养护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把管护责任、资金、作业“管到位”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9" name="Text 7"/>
          <p:cNvSpPr/>
          <p:nvPr/>
        </p:nvSpPr>
        <p:spPr>
          <a:xfrm>
            <a:off x="841248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调制技术队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1248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统一技术服务 · 烤得好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01568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14" name="Text 12"/>
          <p:cNvSpPr/>
          <p:nvPr/>
        </p:nvSpPr>
        <p:spPr>
          <a:xfrm>
            <a:off x="3694176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紧急抢修队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94176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94176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应急抢修调剂 · 无风险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54496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19" name="Text 17"/>
          <p:cNvSpPr/>
          <p:nvPr/>
        </p:nvSpPr>
        <p:spPr>
          <a:xfrm>
            <a:off x="6547104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综合管理队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47104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4人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47104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统一规划养护 · 款专用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07424" y="1828800"/>
            <a:ext cx="2697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07424" y="1828800"/>
            <a:ext cx="118872" cy="1554480"/>
          </a:xfrm>
          <a:prstGeom prst="roundRect">
            <a:avLst>
              <a:gd name="adj" fmla="val 53846"/>
            </a:avLst>
          </a:prstGeom>
          <a:solidFill>
            <a:srgbClr val="166534"/>
          </a:solidFill>
        </p:spPr>
      </p:sp>
      <p:sp>
        <p:nvSpPr>
          <p:cNvPr id="24" name="Text 22"/>
          <p:cNvSpPr/>
          <p:nvPr/>
        </p:nvSpPr>
        <p:spPr>
          <a:xfrm>
            <a:off x="9400032" y="193852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日常管护队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400032" y="230428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轮值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00032" y="2834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标准化养护作业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611880"/>
            <a:ext cx="1110996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7947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集中养护 · 收支两条线 · 柔性用工 · 打卡验收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82296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2026收取养护费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47472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182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347472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2026账面结余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2648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296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612648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历年累计管护基金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78240" y="434340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8778240" y="5074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单栋养护 50→40元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" y="5532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柔性用工：养护支出 6—10 元/栋 · 预计全年省 6,000 元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管护从“概念责任”走向“数字闭环”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落地成效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试点落地 · 实践成效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05456" y="111556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秭归烟区全量覆盖，数据说话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1183112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8288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2E8B6A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116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覆盖烤房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2442</a:t>
            </a: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栋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秭归全县全覆盖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66160" y="18288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C77E1B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抢修响应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37744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0.38</a:t>
            </a: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小时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平均响应时间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8288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5FB292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20116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烟农满意度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37744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96.84</a:t>
            </a: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%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355080" y="3200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超95%预设目标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0" y="18288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0" y="20116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管护资金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237744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296.13</a:t>
            </a: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万元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144000" y="3200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闭环可追溯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4023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分项成效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7240" y="452628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526280"/>
            <a:ext cx="10104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▎智用　</a:t>
            </a:r>
            <a:r>
              <a:rPr lang="en-US" sz="13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盘活闲置烤房资源，抢修响应效率提升，烟农满意度显著提高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" y="512064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120640"/>
            <a:ext cx="10104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▎智投　</a:t>
            </a:r>
            <a:r>
              <a:rPr lang="en-US" sz="13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2026年靶向修复 150 栋烤房，科学规划新建 29 栋，投入更精准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77240" y="571500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715000"/>
            <a:ext cx="10104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▎智管　</a:t>
            </a:r>
            <a:r>
              <a:rPr lang="en-US" sz="13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单栋烤房养护成本下降 6-10 元，实现养护资金闭环管控、滚动发展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6446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实实在在提升设施利用效率、烟农服务质量、合作社管理质效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6446520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湖北省烟草公司宜昌市公司</a:t>
            </a:r>
            <a:endParaRPr lang="en-US" sz="1100" dirty="0"/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搭建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</a:t>
            </a:r>
            <a:endParaRPr lang="zh-CN" altLang="en-US" sz="15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1280795" y="1210945"/>
            <a:ext cx="7201535" cy="960120"/>
          </a:xfrm>
          <a:prstGeom prst="roundRect">
            <a:avLst>
              <a:gd name="adj" fmla="val 11429"/>
            </a:avLst>
          </a:prstGeom>
          <a:solidFill>
            <a:srgbClr val="14532D"/>
          </a:solidFill>
        </p:spPr>
        <p:txBody>
          <a:bodyPr/>
          <a:p>
            <a:pPr algn="ctr">
              <a:lnSpc>
                <a:spcPct val="17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</a:t>
            </a:r>
            <a:r>
              <a:rPr lang="en-US" altLang="zh-CN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x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骤一：全量烤房数据库搭建（基础支撑）</a:t>
            </a:r>
            <a:endParaRPr lang="zh-CN" altLang="en-US"/>
          </a:p>
        </p:txBody>
      </p:sp>
      <p:sp>
        <p:nvSpPr>
          <p:cNvPr id="28" name="Shape 7"/>
          <p:cNvSpPr/>
          <p:nvPr/>
        </p:nvSpPr>
        <p:spPr>
          <a:xfrm>
            <a:off x="1281113" y="2402840"/>
            <a:ext cx="7200900" cy="960120"/>
          </a:xfrm>
          <a:prstGeom prst="roundRect">
            <a:avLst>
              <a:gd name="adj" fmla="val 11429"/>
            </a:avLst>
          </a:prstGeom>
          <a:solidFill>
            <a:srgbClr val="166534"/>
          </a:solidFill>
        </p:spPr>
        <p:txBody>
          <a:bodyPr/>
          <a:p>
            <a:pPr algn="ctr">
              <a:lnSpc>
                <a:spcPct val="17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步骤二：两大智能数据模型研发（核心算力）</a:t>
            </a: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　</a:t>
            </a:r>
            <a:endParaRPr lang="zh-CN" altLang="en-US"/>
          </a:p>
        </p:txBody>
      </p:sp>
      <p:sp>
        <p:nvSpPr>
          <p:cNvPr id="35" name="Shape 9"/>
          <p:cNvSpPr/>
          <p:nvPr/>
        </p:nvSpPr>
        <p:spPr>
          <a:xfrm>
            <a:off x="1281113" y="3500120"/>
            <a:ext cx="7200900" cy="960120"/>
          </a:xfrm>
          <a:prstGeom prst="roundRect">
            <a:avLst>
              <a:gd name="adj" fmla="val 11429"/>
            </a:avLst>
          </a:prstGeom>
          <a:solidFill>
            <a:srgbClr val="2E8B6A"/>
          </a:solidFill>
        </p:spPr>
        <p:txBody>
          <a:bodyPr/>
          <a:p>
            <a:pPr algn="ctr">
              <a:lnSpc>
                <a:spcPct val="180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步骤三：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“三智”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协同平台搭建（载体终端）</a:t>
            </a: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　</a:t>
            </a:r>
            <a:endParaRPr lang="zh-CN" altLang="en-US"/>
          </a:p>
        </p:txBody>
      </p:sp>
      <p:sp>
        <p:nvSpPr>
          <p:cNvPr id="37" name="Shape 11"/>
          <p:cNvSpPr/>
          <p:nvPr/>
        </p:nvSpPr>
        <p:spPr>
          <a:xfrm>
            <a:off x="1281430" y="4597400"/>
            <a:ext cx="7200265" cy="960120"/>
          </a:xfrm>
          <a:prstGeom prst="roundRect">
            <a:avLst>
              <a:gd name="adj" fmla="val 11429"/>
            </a:avLst>
          </a:prstGeom>
          <a:solidFill>
            <a:srgbClr val="4FA884"/>
          </a:solidFill>
        </p:spPr>
        <p:txBody>
          <a:bodyPr/>
          <a:p>
            <a:pPr algn="ctr">
              <a:lnSpc>
                <a:spcPct val="170000"/>
              </a:lnSpc>
            </a:pP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 </a:t>
            </a:r>
            <a:r>
              <a:rPr lang="zh-CN" alt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步骤四：功能体系落地（应用输出）</a:t>
            </a:r>
            <a:r>
              <a:rPr lang="en-US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　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8965" y="284607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四、技术要点</a:t>
            </a:r>
            <a:endParaRPr lang="zh-CN" altLang="en-US" sz="4400" b="1" dirty="0">
              <a:solidFill>
                <a:srgbClr val="16653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8965" y="284607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五、总结和</a:t>
            </a:r>
            <a:r>
              <a:rPr lang="zh-CN" altLang="en-US" sz="4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展望</a:t>
            </a:r>
            <a:endParaRPr lang="zh-CN" altLang="en-US" sz="4400" b="1" dirty="0">
              <a:solidFill>
                <a:srgbClr val="16653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6" algn="bl" rotWithShape="0">
              <a:srgbClr val="1B4633">
                <a:alpha val="2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项目创新总结与未来展望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3112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28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三大创新点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450592"/>
            <a:ext cx="365760" cy="548640"/>
          </a:xfrm>
          <a:prstGeom prst="roundRect">
            <a:avLst>
              <a:gd name="adj" fmla="val 50000"/>
            </a:avLst>
          </a:prstGeom>
          <a:solidFill>
            <a:srgbClr val="2E8B6A"/>
          </a:solidFill>
        </p:spPr>
      </p:sp>
      <p:sp>
        <p:nvSpPr>
          <p:cNvPr id="10" name="Text 8"/>
          <p:cNvSpPr/>
          <p:nvPr/>
        </p:nvSpPr>
        <p:spPr>
          <a:xfrm>
            <a:off x="914400" y="2450592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423160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管理创新：</a:t>
            </a:r>
            <a:r>
              <a:rPr lang="en-US" sz="13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烤房管理由经验判断转变为量化数据驱动，从"模糊定性"到"精准定量"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29184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456432"/>
            <a:ext cx="365760" cy="548640"/>
          </a:xfrm>
          <a:prstGeom prst="roundRect">
            <a:avLst>
              <a:gd name="adj" fmla="val 50000"/>
            </a:avLst>
          </a:prstGeom>
          <a:solidFill>
            <a:srgbClr val="C77E1B"/>
          </a:solidFill>
        </p:spPr>
      </p:sp>
      <p:sp>
        <p:nvSpPr>
          <p:cNvPr id="14" name="Text 12"/>
          <p:cNvSpPr/>
          <p:nvPr/>
        </p:nvSpPr>
        <p:spPr>
          <a:xfrm>
            <a:off x="914400" y="3456432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29000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技术创新：</a:t>
            </a:r>
            <a:r>
              <a:rPr lang="en-US" sz="13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部件拆解双模型，实现评估-决策-执行-反馈全业务闭环，“智用-智投-智管”协同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429768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7" algn="bl" rotWithShape="0">
              <a:srgbClr val="1B4633">
                <a:alpha val="2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462272"/>
            <a:ext cx="365760" cy="548640"/>
          </a:xfrm>
          <a:prstGeom prst="roundRect">
            <a:avLst>
              <a:gd name="adj" fmla="val 50000"/>
            </a:avLst>
          </a:prstGeom>
          <a:solidFill>
            <a:srgbClr val="166534"/>
          </a:solidFill>
        </p:spPr>
      </p:sp>
      <p:sp>
        <p:nvSpPr>
          <p:cNvPr id="18" name="Text 16"/>
          <p:cNvSpPr/>
          <p:nvPr/>
        </p:nvSpPr>
        <p:spPr>
          <a:xfrm>
            <a:off x="914400" y="4462272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434840"/>
            <a:ext cx="9692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模式创新：</a:t>
            </a:r>
            <a:r>
              <a:rPr lang="en-US" sz="130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探索多投共建、管家自理的管护新模式，形成可持续发展机制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566928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14532D"/>
          </a:solidFill>
          <a:effectLst>
            <a:outerShdw blurRad="2147483647" dist="2147483647" dir="4" algn="bl" rotWithShape="0">
              <a:srgbClr val="1B4633">
                <a:alpha val="2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66928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展望：后续持续优化模型参数，完善平台功能，向更多产烟区复制推广</a:t>
            </a:r>
            <a:endParaRPr lang="en-US" sz="1600" dirty="0"/>
          </a:p>
        </p:txBody>
      </p:sp>
      <p:sp>
        <p:nvSpPr>
          <p:cNvPr id="2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486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数据库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94560" y="420624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全域数据底座 · 一栋一档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12848" y="10789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从“纸质台账”到“一栋一档电子化”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42062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2442</a:t>
            </a:r>
            <a:r>
              <a:rPr lang="en-US" sz="22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秭归烤房全覆盖核验建档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20040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200400"/>
            <a:ext cx="1325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 1,690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48256" y="320040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3200400"/>
            <a:ext cx="1325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A8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闲置 409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9584" y="3200400"/>
            <a:ext cx="1325880" cy="713232"/>
          </a:xfrm>
          <a:prstGeom prst="roundRect">
            <a:avLst>
              <a:gd name="adj" fmla="val 12821"/>
            </a:avLst>
          </a:prstGeom>
          <a:solidFill>
            <a:srgbClr val="DCEBE2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3200400"/>
            <a:ext cx="1325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7E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待修 369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0" y="1737360"/>
            <a:ext cx="667512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96596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大部位 × 18 类部件　逐项核验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349240" y="26060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6060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加热系统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9900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燃烧机 / 炉膛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26060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加热系统　燃烧机 / 炉膛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49240" y="35204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5204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散热系统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9044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换热器 / 风道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60920" y="35204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散热系统　换热器 / 风道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49240" y="44348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44348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自控系统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48188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自控仪 / 传感器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60920" y="44348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自控系统　自控仪 / 传感器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49240" y="5349240"/>
            <a:ext cx="1828800" cy="786384"/>
          </a:xfrm>
          <a:prstGeom prst="roundRect">
            <a:avLst>
              <a:gd name="adj" fmla="val 11628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534924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附属设施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573328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装烟室 / 外墙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5349240"/>
            <a:ext cx="41148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附属设施　装烟室 / 外墙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069330"/>
            <a:ext cx="11109960" cy="640080"/>
          </a:xfrm>
          <a:prstGeom prst="roundRect">
            <a:avLst>
              <a:gd name="adj" fmla="val 14286"/>
            </a:avLst>
          </a:prstGeom>
          <a:solidFill>
            <a:srgbClr val="EDF5F0"/>
          </a:solidFill>
          <a:ln w="12700">
            <a:solidFill>
              <a:srgbClr val="CDE0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955030"/>
            <a:ext cx="11109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31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数据源：实体档案 + 维修记录 + 低代码录入 + 烤房自控仪物联网数据（温度 / 时间）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底数清、状态明，数字底座支撑后续“慧算”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863840" y="6473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宜昌市烟草专卖局（公司）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922A"/>
          </a:solidFill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全维度成效 · 数据看板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D8C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验证“1库2模型1平台”落地成果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份问卷·覆盖宜昌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6432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2442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93592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栋烤房·一栋一档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6432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9944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A8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47104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担·50栋烤能提升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9944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63456" y="169164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198424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AA3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3h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500616" y="28346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雷击极速抢修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63456" y="34472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抢修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9897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栋·2026科学新建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56432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150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3593592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栋·靶向修复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56432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9944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A8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182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6547104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万·账面结余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9944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363456" y="4069080"/>
            <a:ext cx="2743200" cy="2103120"/>
          </a:xfrm>
          <a:prstGeom prst="roundRect">
            <a:avLst>
              <a:gd name="adj" fmla="val 6957"/>
            </a:avLst>
          </a:prstGeom>
          <a:solidFill>
            <a:srgbClr val="1C5E3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63456" y="4361688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9500616" y="52120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 单栋养护成本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63456" y="582472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降本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926080" y="6355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烟农省心 · 企业增效 · 行业提质</a:t>
            </a:r>
            <a:endParaRPr lang="en-US" sz="15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5*384"/>
  <p:tag name="TABLE_ENDDRAG_RECT" val="104*121*595*38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5338</Words>
  <Application>WPS 文字</Application>
  <PresentationFormat>On-screen Show (16:9)</PresentationFormat>
  <Paragraphs>860</Paragraphs>
  <Slides>36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宋体</vt:lpstr>
      <vt:lpstr>汉仪书宋二KW</vt:lpstr>
      <vt:lpstr>微软雅黑</vt:lpstr>
      <vt:lpstr>宋体</vt:lpstr>
      <vt:lpstr>Calibri</vt:lpstr>
      <vt:lpstr>Helvetica Neue</vt:lpstr>
      <vt:lpstr>等线</vt:lpstr>
      <vt:lpstr>汉仪中等线KW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创客大赛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宜昌市烟草专卖局（公司）</dc:creator>
  <dc:subject>PptxGenJS Presentation</dc:subject>
  <cp:lastModifiedBy>上善若水</cp:lastModifiedBy>
  <cp:revision>350</cp:revision>
  <dcterms:created xsi:type="dcterms:W3CDTF">2026-10-10T06:32:35Z</dcterms:created>
  <dcterms:modified xsi:type="dcterms:W3CDTF">2026-10-10T06:32:35Z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12CBE54809C748B18422A06A43DF78C6_42</vt:lpwstr>
  </property>
  <property fmtid="{D5CDD505-2E9C-101B-9397-08002B2CF9AE}" pid="3" name="KSOProductBuildVer">
    <vt:lpwstr>2052-12.1.25869.25869</vt:lpwstr>
  </property>
</Properties>
</file>