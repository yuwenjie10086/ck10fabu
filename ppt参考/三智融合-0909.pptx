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0" r:id="rId5"/>
    <p:sldId id="279" r:id="rId6"/>
    <p:sldId id="285" r:id="rId7"/>
    <p:sldId id="280" r:id="rId8"/>
    <p:sldId id="281" r:id="rId9"/>
    <p:sldId id="282" r:id="rId10"/>
    <p:sldId id="283" r:id="rId11"/>
    <p:sldId id="284" r:id="rId12"/>
    <p:sldId id="275" r:id="rId13"/>
    <p:sldId id="276" r:id="rId14"/>
    <p:sldId id="277" r:id="rId15"/>
    <p:sldId id="278" r:id="rId16"/>
    <p:sldId id="271" r:id="rId17"/>
    <p:sldId id="272" r:id="rId18"/>
    <p:sldId id="273" r:id="rId19"/>
    <p:sldId id="274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满意度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66534"/>
              </a:solidFill>
              <a:effectLst/>
            </c:spPr>
          </c:dPt>
          <c:dPt>
            <c:idx val="1"/>
            <c:bubble3D val="0"/>
            <c:spPr>
              <a:solidFill>
                <a:srgbClr val="9CC6B1"/>
              </a:solidFill>
              <a:effectLst/>
            </c:spPr>
          </c:dPt>
          <c:dPt>
            <c:idx val="2"/>
            <c:bubble3D val="0"/>
            <c:spPr>
              <a:solidFill>
                <a:srgbClr val="CDE0D5"/>
              </a:solidFill>
              <a:effectLst/>
            </c:spPr>
          </c:dPt>
          <c:dLbls>
            <c:dLbl>
              <c:idx val="0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满意</c:v>
                </c:pt>
                <c:pt idx="1">
                  <c:v>一般</c:v>
                </c:pt>
                <c:pt idx="2">
                  <c:v>不满意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8e95904-eb0c-426b-b658-bac5ffec167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满意度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66534"/>
              </a:solidFill>
              <a:effectLst/>
            </c:spPr>
          </c:dPt>
          <c:dPt>
            <c:idx val="1"/>
            <c:bubble3D val="0"/>
            <c:spPr>
              <a:solidFill>
                <a:srgbClr val="9CC6B1"/>
              </a:solidFill>
              <a:effectLst/>
            </c:spPr>
          </c:dPt>
          <c:dPt>
            <c:idx val="2"/>
            <c:bubble3D val="0"/>
            <c:spPr>
              <a:solidFill>
                <a:srgbClr val="CDE0D5"/>
              </a:solidFill>
              <a:effectLst/>
            </c:spPr>
          </c:dPt>
          <c:dLbls>
            <c:dLbl>
              <c:idx val="0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满意</c:v>
                </c:pt>
                <c:pt idx="1">
                  <c:v>一般</c:v>
                </c:pt>
                <c:pt idx="2">
                  <c:v>不满意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8e95904-eb0c-426b-b658-bac5ffec167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8922A"/>
          </a:solidFill>
        </p:spPr>
      </p:sp>
      <p:sp>
        <p:nvSpPr>
          <p:cNvPr id="3" name="Shape 1"/>
          <p:cNvSpPr/>
          <p:nvPr/>
        </p:nvSpPr>
        <p:spPr>
          <a:xfrm>
            <a:off x="7678420" y="-1280160"/>
            <a:ext cx="6400800" cy="6400800"/>
          </a:xfrm>
          <a:prstGeom prst="ellipse">
            <a:avLst/>
          </a:prstGeom>
          <a:solidFill>
            <a:srgbClr val="1E6E43"/>
          </a:solidFill>
        </p:spPr>
      </p:sp>
      <p:sp>
        <p:nvSpPr>
          <p:cNvPr id="4" name="Shape 2"/>
          <p:cNvSpPr/>
          <p:nvPr/>
        </p:nvSpPr>
        <p:spPr>
          <a:xfrm>
            <a:off x="8808085" y="-323215"/>
            <a:ext cx="3840480" cy="3840480"/>
          </a:xfrm>
          <a:prstGeom prst="ellipse">
            <a:avLst/>
          </a:prstGeom>
          <a:solidFill>
            <a:srgbClr val="1C5E3A"/>
          </a:solidFill>
        </p:spPr>
      </p:sp>
      <p:sp>
        <p:nvSpPr>
          <p:cNvPr id="5" name="Shape 3"/>
          <p:cNvSpPr/>
          <p:nvPr/>
        </p:nvSpPr>
        <p:spPr>
          <a:xfrm>
            <a:off x="0" y="5394960"/>
            <a:ext cx="12191695" cy="640080"/>
          </a:xfrm>
          <a:prstGeom prst="rect">
            <a:avLst/>
          </a:prstGeom>
          <a:solidFill>
            <a:srgbClr val="0F3D24"/>
          </a:solidFill>
        </p:spPr>
      </p:sp>
      <p:sp>
        <p:nvSpPr>
          <p:cNvPr id="6" name="Text 4"/>
          <p:cNvSpPr/>
          <p:nvPr/>
        </p:nvSpPr>
        <p:spPr>
          <a:xfrm>
            <a:off x="822960" y="9601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8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湖北省烟草商业系统 创客大赛 · 数智应用类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一脉致远，</a:t>
            </a:r>
            <a:r>
              <a:rPr lang="en-US" sz="40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“三智”融合</a:t>
            </a: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的烤房专业管家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E0D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烤房全周期数字化解忧方案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41248" y="3383280"/>
            <a:ext cx="2194560" cy="658368"/>
          </a:xfrm>
          <a:prstGeom prst="roundRect">
            <a:avLst>
              <a:gd name="adj" fmla="val 50000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83280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一个数据库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36976" y="3383280"/>
            <a:ext cx="2194560" cy="658368"/>
          </a:xfrm>
          <a:prstGeom prst="roundRect">
            <a:avLst>
              <a:gd name="adj" fmla="val 50000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3383280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两个模型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32704" y="3383280"/>
            <a:ext cx="2194560" cy="658368"/>
          </a:xfrm>
          <a:prstGeom prst="roundRect">
            <a:avLst>
              <a:gd name="adj" fmla="val 50000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3383280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一个协同平台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C6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让每一座烤房都在线 ——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56052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E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汇报单位：宜昌市烟草专卖局（公司）　|　汇报人：余文杰　|　2026.09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 · 问卷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对烤房的</a:t>
            </a: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2900" b="1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2025年烤房满意度及建议匿名问卷 · 40道题 · 三大困扰统计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05405" y="18186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道题目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299835" y="2928620"/>
            <a:ext cx="3312795" cy="777875"/>
          </a:xfrm>
          <a:prstGeom prst="roundRect">
            <a:avLst>
              <a:gd name="adj" fmla="val 12174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8140" y="2928620"/>
            <a:ext cx="255651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</a:t>
            </a:r>
            <a:r>
              <a:rPr lang="en-US" altLang="zh-CN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1500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62755" y="3983990"/>
            <a:ext cx="2212975" cy="835025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262882" y="397256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62882" y="4384040"/>
            <a:ext cx="2212848" cy="41148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7"/>
          <p:cNvSpPr/>
          <p:nvPr/>
        </p:nvSpPr>
        <p:spPr>
          <a:xfrm>
            <a:off x="4262882" y="41325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用房愁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62882" y="439318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04000" y="3983990"/>
            <a:ext cx="2212975" cy="82296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603746" y="397256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C77E1B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603746" y="4384040"/>
            <a:ext cx="2212848" cy="41148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1" name="Text 28"/>
          <p:cNvSpPr/>
          <p:nvPr/>
        </p:nvSpPr>
        <p:spPr>
          <a:xfrm>
            <a:off x="6603746" y="41325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报修愁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603746" y="439318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944610" y="3983990"/>
            <a:ext cx="2212975" cy="835025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944610" y="397256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B23A24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944610" y="4384040"/>
            <a:ext cx="2212848" cy="41148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42" name="Text 39"/>
          <p:cNvSpPr/>
          <p:nvPr/>
        </p:nvSpPr>
        <p:spPr>
          <a:xfrm>
            <a:off x="8944610" y="41325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管护愁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8944610" y="439318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3" name="Text 5"/>
          <p:cNvSpPr/>
          <p:nvPr/>
        </p:nvSpPr>
        <p:spPr>
          <a:xfrm>
            <a:off x="502920" y="1600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700+</a:t>
            </a:r>
            <a:endParaRPr lang="en-US" sz="5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份问卷</a:t>
            </a:r>
            <a:endParaRPr lang="en-US" sz="5600" dirty="0"/>
          </a:p>
        </p:txBody>
      </p:sp>
      <p:sp>
        <p:nvSpPr>
          <p:cNvPr id="54" name="Text 6"/>
          <p:cNvSpPr/>
          <p:nvPr/>
        </p:nvSpPr>
        <p:spPr>
          <a:xfrm>
            <a:off x="502920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覆盖宜昌烟区 匿名调研</a:t>
            </a:r>
            <a:endParaRPr lang="en-US" sz="1400" dirty="0"/>
          </a:p>
        </p:txBody>
      </p:sp>
      <p:sp>
        <p:nvSpPr>
          <p:cNvPr id="55" name="Text 7"/>
          <p:cNvSpPr/>
          <p:nvPr/>
        </p:nvSpPr>
        <p:spPr>
          <a:xfrm>
            <a:off x="502920" y="319151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烟农满意度构成</a:t>
            </a:r>
            <a:endParaRPr lang="en-US" sz="1150" dirty="0"/>
          </a:p>
        </p:txBody>
      </p:sp>
      <p:graphicFrame>
        <p:nvGraphicFramePr>
          <p:cNvPr id="56" name="Chart 0"/>
          <p:cNvGraphicFramePr/>
          <p:nvPr/>
        </p:nvGraphicFramePr>
        <p:xfrm>
          <a:off x="502920" y="3364992"/>
          <a:ext cx="3063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总分式拆解与单栋算例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左：H 树状拆解（怎么算）　右：一栋烤房 12 部件逐项得分算到底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1612900000" dist="645160000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9344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14532D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09344"/>
            <a:ext cx="6172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0.80×P_norm　+　0.10×M　+　0.10×E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858768" y="219456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04288"/>
            <a:ext cx="6172200" cy="329184"/>
          </a:xfrm>
          <a:prstGeom prst="roundRect">
            <a:avLst>
              <a:gd name="adj" fmla="val 16667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868680" y="2304288"/>
            <a:ext cx="6035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部件归一化分 P_norm ×0.80　</a:t>
            </a:r>
            <a:r>
              <a:rPr lang="en-US" sz="11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（12 部件 · 合计权重 ΣW = 80）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724912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24912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5" name="Text 13"/>
          <p:cNvSpPr/>
          <p:nvPr/>
        </p:nvSpPr>
        <p:spPr>
          <a:xfrm>
            <a:off x="941832" y="2779776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类·定生死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832" y="3145536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 10 · 大门 10 · 挂烟梁柱 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77640" y="2724912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2724912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9" name="Text 17"/>
          <p:cNvSpPr/>
          <p:nvPr/>
        </p:nvSpPr>
        <p:spPr>
          <a:xfrm>
            <a:off x="4142232" y="2779776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类·定质量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15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42232" y="3145536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加热器/燃烧机 15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858768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858768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3" name="Text 21"/>
          <p:cNvSpPr/>
          <p:nvPr/>
        </p:nvSpPr>
        <p:spPr>
          <a:xfrm>
            <a:off x="941832" y="3913632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类·定质量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15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832" y="4279392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散热管 4 · 炉膛 4 · 清灰门 3 · 烟囱 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3858768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3858768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7" name="Text 25"/>
          <p:cNvSpPr/>
          <p:nvPr/>
        </p:nvSpPr>
        <p:spPr>
          <a:xfrm>
            <a:off x="4142232" y="3913632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类·定质量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25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42232" y="4279392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自控主板 8 · 探头 6 · 水壶 6 · 循环风机 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58768" y="3401568"/>
            <a:ext cx="10973" cy="47548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992624"/>
            <a:ext cx="6172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992624"/>
            <a:ext cx="5989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每个部件 score = 100×(0.50 状态 + 0.35 寿命比 + 0.15 评价)　　P_norm = Σ(W×score)/ΣW×100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58768" y="5376672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4864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C77E1B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552297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管护分 M ×0.10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78815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 100 · 分户 80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931920" y="54864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C77E1B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931920" y="552297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人工分 E ×0.10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31920" y="578815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 100 · 中 80 · 差 50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240" y="6053328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状态1.0/0.7/0.3 · 寿命比=剩余/指导寿命 · 评价1.0/0.5/0.8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35240" y="166420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单栋算例 · 老房 KF018</a:t>
            </a: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（2009 建 · 示意）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635240" y="199339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部件：权重 · 得分 → 贡献 C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35240" y="2249424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01200" y="2249424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10·88→8.80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35240" y="2450592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大门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601200" y="2450592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10·90→9.00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35240" y="2651760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挂烟梁柱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0" y="2651760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5·92→4.60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35240" y="2852928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加热器/燃烧机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601200" y="2852928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15·86→12.9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635240" y="3054096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散热管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601200" y="3054096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4·80→3.20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635240" y="3255264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炉膛/燃烧室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601200" y="3255264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4·82→3.28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635240" y="3456432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清灰门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601200" y="3456432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3·78→2.34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635240" y="3657600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烟囱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601200" y="3657600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4·84→3.36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635240" y="3858768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自控仪主板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601200" y="3858768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8·70→5.60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635240" y="4059936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温湿度探头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601200" y="4059936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6·66→3.96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635240" y="4261104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水壶/压力传感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601200" y="4261104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6·68→4.08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635240" y="4462272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循环风机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601200" y="4462272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5·88→4.40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35240" y="4681728"/>
            <a:ext cx="3840480" cy="292608"/>
          </a:xfrm>
          <a:prstGeom prst="roundRect">
            <a:avLst>
              <a:gd name="adj" fmla="val 1875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35240" y="468172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ΣW = 80 · ΣC = 65.52 → P_norm = 81.9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635240" y="50292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 M = 100（集中）　人工 E = 100（好）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635240" y="5321808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635240" y="5321808"/>
            <a:ext cx="3840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0.8×81.9 + 0.1×100 + 0.1×100 = 85.5 分
</a:t>
            </a: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健康等级【优良】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总分式拆解：H → 部件（12部件权重×得分归一化）＋ 管护 ＋ 人工 —— 每一步都可复核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7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 · 问卷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700份问卷——烟农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对烤房的</a:t>
            </a: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2900" b="1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2025年烤房满意度及建议匿名问卷 · 40道题 · 三大困扰统计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87955" y="172466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道题目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172200" y="1724660"/>
            <a:ext cx="3312795" cy="777875"/>
          </a:xfrm>
          <a:prstGeom prst="roundRect">
            <a:avLst>
              <a:gd name="adj" fmla="val 12174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0505" y="1724660"/>
            <a:ext cx="255651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</a:t>
            </a:r>
            <a:r>
              <a:rPr lang="en-US" altLang="zh-CN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1500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35247" y="2780030"/>
            <a:ext cx="2212848" cy="306324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35247" y="276860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35247" y="3180080"/>
            <a:ext cx="2212848" cy="41148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7"/>
          <p:cNvSpPr/>
          <p:nvPr/>
        </p:nvSpPr>
        <p:spPr>
          <a:xfrm>
            <a:off x="4135247" y="29286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用房愁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135247" y="318922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36415" y="3923030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3" name="Text 20"/>
          <p:cNvSpPr/>
          <p:nvPr/>
        </p:nvSpPr>
        <p:spPr>
          <a:xfrm>
            <a:off x="4546727" y="380415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高峰排不上号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336415" y="4526534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5" name="Text 22"/>
          <p:cNvSpPr/>
          <p:nvPr/>
        </p:nvSpPr>
        <p:spPr>
          <a:xfrm>
            <a:off x="4546727" y="440766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跨区调剂难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36415" y="5130038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7" name="Text 24"/>
          <p:cNvSpPr/>
          <p:nvPr/>
        </p:nvSpPr>
        <p:spPr>
          <a:xfrm>
            <a:off x="4546727" y="501116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时间耽误损耗</a:t>
            </a: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烟叶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76111" y="2780030"/>
            <a:ext cx="2212848" cy="306324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476111" y="276860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C77E1B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76111" y="3180080"/>
            <a:ext cx="2212848" cy="41148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1" name="Text 28"/>
          <p:cNvSpPr/>
          <p:nvPr/>
        </p:nvSpPr>
        <p:spPr>
          <a:xfrm>
            <a:off x="6476111" y="29286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报修愁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76111" y="318922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677279" y="3923030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4" name="Text 31"/>
          <p:cNvSpPr/>
          <p:nvPr/>
        </p:nvSpPr>
        <p:spPr>
          <a:xfrm>
            <a:off x="6887591" y="380415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到场慢  诊断难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677279" y="4526534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6" name="Text 33"/>
          <p:cNvSpPr/>
          <p:nvPr/>
        </p:nvSpPr>
        <p:spPr>
          <a:xfrm>
            <a:off x="6887591" y="440766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</a:t>
            </a: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配件</a:t>
            </a:r>
            <a:r>
              <a:rPr lang="zh-CN" alt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</a:t>
            </a:r>
            <a:r>
              <a:rPr lang="zh-CN" alt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不及时</a:t>
            </a:r>
            <a:endParaRPr lang="zh-CN" altLang="en-US" sz="1400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677279" y="5130038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8" name="Text 35"/>
          <p:cNvSpPr/>
          <p:nvPr/>
        </p:nvSpPr>
        <p:spPr>
          <a:xfrm>
            <a:off x="6887591" y="501116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</a:t>
            </a:r>
            <a:r>
              <a:rPr lang="zh-CN" alt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</a:t>
            </a: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不定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816975" y="2780030"/>
            <a:ext cx="2212848" cy="306324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816975" y="276860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B23A24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816975" y="3180080"/>
            <a:ext cx="2212848" cy="41148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42" name="Text 39"/>
          <p:cNvSpPr/>
          <p:nvPr/>
        </p:nvSpPr>
        <p:spPr>
          <a:xfrm>
            <a:off x="8816975" y="29286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管护愁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8816975" y="318922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9018143" y="3923030"/>
            <a:ext cx="118872" cy="118872"/>
          </a:xfrm>
          <a:prstGeom prst="ellipse">
            <a:avLst/>
          </a:prstGeom>
          <a:solidFill>
            <a:srgbClr val="B23A24"/>
          </a:solidFill>
        </p:spPr>
      </p:sp>
      <p:sp>
        <p:nvSpPr>
          <p:cNvPr id="45" name="Text 42"/>
          <p:cNvSpPr/>
          <p:nvPr/>
        </p:nvSpPr>
        <p:spPr>
          <a:xfrm>
            <a:off x="9228455" y="380415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收取</a:t>
            </a:r>
            <a:r>
              <a:rPr lang="zh-CN" alt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支出</a:t>
            </a: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不透明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9018143" y="4526534"/>
            <a:ext cx="118872" cy="118872"/>
          </a:xfrm>
          <a:prstGeom prst="ellipse">
            <a:avLst/>
          </a:prstGeom>
          <a:solidFill>
            <a:srgbClr val="B23A24"/>
          </a:solidFill>
        </p:spPr>
      </p:sp>
      <p:sp>
        <p:nvSpPr>
          <p:cNvPr id="47" name="Text 44"/>
          <p:cNvSpPr/>
          <p:nvPr/>
        </p:nvSpPr>
        <p:spPr>
          <a:xfrm>
            <a:off x="9228455" y="440766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标准不一职责落空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9018143" y="5130038"/>
            <a:ext cx="118872" cy="118872"/>
          </a:xfrm>
          <a:prstGeom prst="ellipse">
            <a:avLst/>
          </a:prstGeom>
          <a:solidFill>
            <a:srgbClr val="B23A24"/>
          </a:solidFill>
        </p:spPr>
      </p:sp>
      <p:sp>
        <p:nvSpPr>
          <p:cNvPr id="49" name="Text 46"/>
          <p:cNvSpPr/>
          <p:nvPr/>
        </p:nvSpPr>
        <p:spPr>
          <a:xfrm>
            <a:off x="9228455" y="501116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资金去向存疑虑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502920" y="6053328"/>
            <a:ext cx="11228832" cy="566928"/>
          </a:xfrm>
          <a:prstGeom prst="roundRect">
            <a:avLst>
              <a:gd name="adj" fmla="val 16129"/>
            </a:avLst>
          </a:prstGeom>
          <a:solidFill>
            <a:srgbClr val="14532D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502920" y="6053328"/>
            <a:ext cx="112288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三链交织：</a:t>
            </a: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格局失衡 · 修缮不畅 · 资金不明　⇒　烟农困扰集中、满意度偏低</a:t>
            </a:r>
            <a:endParaRPr lang="en-US" sz="1500" dirty="0"/>
          </a:p>
        </p:txBody>
      </p:sp>
      <p:sp>
        <p:nvSpPr>
          <p:cNvPr id="53" name="Text 5"/>
          <p:cNvSpPr/>
          <p:nvPr/>
        </p:nvSpPr>
        <p:spPr>
          <a:xfrm>
            <a:off x="502920" y="1600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700+</a:t>
            </a:r>
            <a:endParaRPr lang="en-US" sz="5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份问卷</a:t>
            </a:r>
            <a:endParaRPr lang="en-US" sz="5600" dirty="0"/>
          </a:p>
        </p:txBody>
      </p:sp>
      <p:sp>
        <p:nvSpPr>
          <p:cNvPr id="54" name="Text 6"/>
          <p:cNvSpPr/>
          <p:nvPr/>
        </p:nvSpPr>
        <p:spPr>
          <a:xfrm>
            <a:off x="502920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覆盖宜昌烟区 匿名调研</a:t>
            </a:r>
            <a:endParaRPr lang="en-US" sz="1400" dirty="0"/>
          </a:p>
        </p:txBody>
      </p:sp>
      <p:sp>
        <p:nvSpPr>
          <p:cNvPr id="55" name="Text 7"/>
          <p:cNvSpPr/>
          <p:nvPr/>
        </p:nvSpPr>
        <p:spPr>
          <a:xfrm>
            <a:off x="502920" y="319151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烟农满意度构成</a:t>
            </a:r>
            <a:endParaRPr lang="en-US" sz="1150" dirty="0"/>
          </a:p>
        </p:txBody>
      </p:sp>
      <p:graphicFrame>
        <p:nvGraphicFramePr>
          <p:cNvPr id="56" name="Chart 0"/>
          <p:cNvGraphicFramePr/>
          <p:nvPr/>
        </p:nvGraphicFramePr>
        <p:xfrm>
          <a:off x="502920" y="3364992"/>
          <a:ext cx="3063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预警层级与公共方法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健康分定“当前状态·该修哪”，并输出风险部位排序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健康分 · 五级分档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2E8B6A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5FB29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9968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29968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70-85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82696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F39C12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82696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82696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60-70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35424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C77E1B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35424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45-60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88152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B23A24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88152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88152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298094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导出：风险部位 Top3（谁最拖累健康分）　·　健康分直供“剩余寿命”模型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401568"/>
            <a:ext cx="6126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26" name="Text 24"/>
          <p:cNvSpPr/>
          <p:nvPr/>
        </p:nvSpPr>
        <p:spPr>
          <a:xfrm>
            <a:off x="777240" y="3511296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三大系数（单部件得分公式）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3950208"/>
            <a:ext cx="6126480" cy="457200"/>
          </a:xfrm>
          <a:prstGeom prst="roundRect">
            <a:avLst>
              <a:gd name="adj" fmla="val 16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95020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0.50 状态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51760" y="395020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正常1.0 · 异常0.7 · 损坏0.3 · 缺失0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498848"/>
            <a:ext cx="6126480" cy="457200"/>
          </a:xfrm>
          <a:prstGeom prst="roundRect">
            <a:avLst>
              <a:gd name="adj" fmla="val 16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4988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0.35 寿命比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51760" y="449884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剩余年限 / 指导寿命（对接寿命模型）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047488"/>
            <a:ext cx="6126480" cy="457200"/>
          </a:xfrm>
          <a:prstGeom prst="roundRect">
            <a:avLst>
              <a:gd name="adj" fmla="val 16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04748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0.15 评价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51760" y="504748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优良/好1.0 · 差0.5 · 缺省0.8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561441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得分权重：A类结构性(主体25) 定生死　＋　B类功能性(55) 定质量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5943600"/>
            <a:ext cx="61264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943600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分数越高越健康：A/B类部件得分统一量纲，跨栋可比较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232257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A/B 双类加权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3840" y="265176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A类结构性25 · 定生死；B类功能性55 · 定质量；ΣW=80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33649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三系数综合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863840" y="3694176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score = 100×(0.50状态 + 0.35寿命比 + 0.15评价)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1" name="Text 49"/>
          <p:cNvSpPr/>
          <p:nvPr/>
        </p:nvSpPr>
        <p:spPr>
          <a:xfrm>
            <a:off x="7863840" y="440740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归一化加权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863840" y="473659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P_norm = Σ(Wᵢ×scoreᵢ) / ΣWᵢ × 100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5" name="Text 53"/>
          <p:cNvSpPr/>
          <p:nvPr/>
        </p:nvSpPr>
        <p:spPr>
          <a:xfrm>
            <a:off x="7863840" y="544982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全链衔接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863840" y="5779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部件寿命比直供寿命预测；风险Top3指导修复优先序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专家权重表 + 三系数合成 + 归一化 —— 保证可解释、可复核、可衔接寿命模型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剩余寿命预测 —— 五层递进与单栋算例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左：五层递进公式树（怎么算）　右：老房保养算例（维修续命·不能回春）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9344"/>
            <a:ext cx="6172200" cy="640080"/>
          </a:xfrm>
          <a:prstGeom prst="roundRect">
            <a:avLst>
              <a:gd name="adj" fmla="val 11429"/>
            </a:avLst>
          </a:prstGeom>
          <a:solidFill>
            <a:srgbClr val="14532D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09344"/>
            <a:ext cx="6172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 = clamp( life_raw , 0, year_cap 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858768" y="2267712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77440"/>
            <a:ext cx="6172200" cy="420624"/>
          </a:xfrm>
          <a:prstGeom prst="roundRect">
            <a:avLst>
              <a:gd name="adj" fmla="val 13043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868680" y="2377440"/>
            <a:ext cx="5989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life_raw = ( hard_limit×0.65 + soft_avg×0.35 ) × repair_decay × health_factor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926080"/>
            <a:ext cx="109728" cy="566928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15" name="Text 13"/>
          <p:cNvSpPr/>
          <p:nvPr/>
        </p:nvSpPr>
        <p:spPr>
          <a:xfrm>
            <a:off x="1005840" y="2926080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A类硬上限　</a:t>
            </a:r>
            <a:r>
              <a:rPr lang="en-US" sz="110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×0.65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92608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hard_limit = min(屋顶, 大门, 挂烟梁)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2926080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结构性 · 定“生死上限”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602736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02736"/>
            <a:ext cx="109728" cy="566928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8"/>
          <p:cNvSpPr/>
          <p:nvPr/>
        </p:nvSpPr>
        <p:spPr>
          <a:xfrm>
            <a:off x="1005840" y="360273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B类软平均　</a:t>
            </a:r>
            <a:r>
              <a:rPr lang="en-US" sz="11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×0.35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60273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soft_avg = Σ(B类寿命×重要度)/Σ重要度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0" y="3602736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功能性 · 定“运行质量”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7240" y="4279392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279392"/>
            <a:ext cx="109728" cy="566928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25" name="Text 23"/>
          <p:cNvSpPr/>
          <p:nvPr/>
        </p:nvSpPr>
        <p:spPr>
          <a:xfrm>
            <a:off x="1005840" y="4279392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维修复衰　</a:t>
            </a:r>
            <a:r>
              <a:rPr lang="en-US" sz="11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4279392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repair_decay = e^(−0.08×维修次数)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4279392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修1次0.92 · 修3次0.79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" y="4956048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956048"/>
            <a:ext cx="109728" cy="566928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0" name="Text 28"/>
          <p:cNvSpPr/>
          <p:nvPr/>
        </p:nvSpPr>
        <p:spPr>
          <a:xfrm>
            <a:off x="1005840" y="4956048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健康校准　</a:t>
            </a:r>
            <a:r>
              <a:rPr lang="en-US" sz="11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34640" y="495604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health_factor = 0.70 + 0.30×(H/100)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4956048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H=100→1.00 · H=40→0.82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" y="5669280"/>
            <a:ext cx="6172200" cy="493776"/>
          </a:xfrm>
          <a:prstGeom prst="roundRect">
            <a:avLst>
              <a:gd name="adj" fmla="val 14815"/>
            </a:avLst>
          </a:prstGeom>
          <a:solidFill>
            <a:srgbClr val="C77E1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5669280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L5 年限收缩 + 钳制：year_cap = max(0, 15−房龄×0.55)，老房不虚高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35240" y="1664208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单栋算例 · 2009年老房</a:t>
            </a: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（2022换自控·2024修散热）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35240" y="2121408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212140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A类硬上限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06840" y="21214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hard_limit = 2.5 年（屋顶最弱）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35240" y="2651760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6517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B类软平均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0684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soft_avg = 5.0 年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35240" y="3182112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318211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维修复衰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06840" y="318211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修2次 → e^(−0.16) = 0.852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635240" y="3712464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371246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健康校准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06840" y="371246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H=71 → 0.70+0.30×0.71 = 0.913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35240" y="4242816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0" y="424281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life_raw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06840" y="424281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(2.5×0.65+5.0×0.35)×0.852×0.913 = 2.63年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35240" y="4773168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477316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年限收缩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006840" y="47731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year_cap = 15−17×0.55 = 5.65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635240" y="5340096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4532D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635240" y="5340096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 = clamp(2.63, 0, 5.65) = 2.6 年
</a:t>
            </a: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建议维修（1-4年）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635240" y="614476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维修能续命但不能回春：老房即使换了新设备，也被年限收缩约束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五层递进：硬上限 ＋ 软平均 → 维修 → 健康 → 年限 —— 把“物理老化”算成服务年数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剩余寿命预测 —— 四级预警与公共方法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把剩余寿命换算成“多紧急”，直接驱动维修排程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 · 四级预警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B23A24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紧急维修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≤0年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立即处置 · 停用待修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C77E1B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建议维修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1-4年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纳入当年维修计划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8620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D99E2B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8620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4-7年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跟踪监测 · 提前备件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068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068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&gt;7年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按周期巡检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" y="3474720"/>
            <a:ext cx="6126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26" name="Text 24"/>
          <p:cNvSpPr/>
          <p:nvPr/>
        </p:nvSpPr>
        <p:spPr>
          <a:xfrm>
            <a:off x="777240" y="365760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A/B 双类语义：A类结构性定“生死上限”、B类功能性定“运行质量”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023360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屋顶/大门/挂烟梁 任一生质量损坏 → 整栋报废（硬上限接管寿命）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4572000"/>
            <a:ext cx="6126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663440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输出：剩余年数 + 风险部位 Top3 + 预警等级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5010912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“修哪里、何时修、多急” → 智投·抢修排程，让维修台账与寿命联动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5" name="Text 33"/>
          <p:cNvSpPr/>
          <p:nvPr/>
        </p:nvSpPr>
        <p:spPr>
          <a:xfrm>
            <a:off x="7863840" y="232257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短板约束 min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63840" y="265176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A类取最短寿命为“硬上限”，唯一决定能否续命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9" name="Text 37"/>
          <p:cNvSpPr/>
          <p:nvPr/>
        </p:nvSpPr>
        <p:spPr>
          <a:xfrm>
            <a:off x="7863840" y="33649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重要度加权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863840" y="3694176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B类按重要度系数（自控1.25~风机1.00）加权平均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440740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指数维修复衰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3840" y="473659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exp(−0.08×维修次数)，越修越不靠谱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544982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健康加速因子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863840" y="5779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health=0.70+0.30×H/100，健康差则寿命指数缩水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短板约束 + 重要度 + 维修衰减 + 健康加速 + 年限收缩 —— 五层递进可复核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总公式与单村算例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左：三维度算法结构（怎么算）　右：给一个千亩村算到底（算给评委看）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3736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6172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0.50×Hc + 0.30×Lc + 0.20×Dc　　</a:t>
            </a:r>
            <a:r>
              <a:rPr lang="en-US" sz="150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V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78608"/>
            <a:ext cx="109728" cy="118872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005840" y="2651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</a:t>
            </a:r>
            <a:r>
              <a:rPr lang="en-US" sz="15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E = 健康分/100 × 容量 × 状态（在用1.0·闲置0.4·待修0.1）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 Q = 在用70% + 闲置20% + 待修10%　Hc = min(100, Q/D×100)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895344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109728" cy="118872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16" name="Text 14"/>
          <p:cNvSpPr/>
          <p:nvPr/>
        </p:nvSpPr>
        <p:spPr>
          <a:xfrm>
            <a:off x="1005840" y="396849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</a:t>
            </a:r>
            <a:r>
              <a:rPr lang="en-US" sz="15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30%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334256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压力比 P = 需求 / 实际承载，按五档映射得分（见右页）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5212080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12080"/>
            <a:ext cx="109728" cy="118872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20" name="Text 18"/>
          <p:cNvSpPr/>
          <p:nvPr/>
        </p:nvSpPr>
        <p:spPr>
          <a:xfrm>
            <a:off x="1005840" y="52852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</a:t>
            </a:r>
            <a:r>
              <a:rPr lang="en-US" sz="150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20%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650992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五维等权：规模 / 管护缴费 / 政策 / 服务 / 扩张韧性　Dc = 均值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614416"/>
            <a:ext cx="6172200" cy="530352"/>
          </a:xfrm>
          <a:prstGeom prst="roundRect">
            <a:avLst>
              <a:gd name="adj" fmla="val 13793"/>
            </a:avLst>
          </a:prstGeom>
          <a:solidFill>
            <a:srgbClr val="C77E1B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614416"/>
            <a:ext cx="6172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决策规则：V 越低 → 越需新建补建 ｜ N 越高 → 新建优先级越高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7007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单村算例（10 座烤房）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35240" y="210312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7座·均80分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7×80%×50 = 280 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35240" y="252374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2座·均65分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252374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2×65%×50×0.4 = 26 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35240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1座·均45分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46920" y="29443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= 1×45%×50×0.1 = 2.25 担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3346704"/>
            <a:ext cx="3840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33" name="Text 31"/>
          <p:cNvSpPr/>
          <p:nvPr/>
        </p:nvSpPr>
        <p:spPr>
          <a:xfrm>
            <a:off x="7635240" y="343814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= 0.70×280+0.20×26+0.10×2.25 = 201.43 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391363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理论需求 D = 450 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4389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= min(100, 201.43/450×100) = 44.8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4864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450/201.43 = 2.23（&gt;1.5）→ Lc = 30 · 严重不足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53400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= (85+80+70+75+40)/5 = 70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35240" y="5861304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35240" y="5861304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0.50×44.8+0.30×30+0.20×70 = 45.4
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N = 100−45.4 = 54.6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635240" y="670255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≈ 450−201 = 249 担 → 建议优先配建（约建5座）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三层递进：有效烤能 ⊙ 承载匹配 ⊙ 发展潜力 —— 从“数据”直接走到“建几座”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判定层级与公共方法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承载匹配五档把“紧不紧张”量化成可比较的分数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 Lc · 五档判定层级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2E8B6A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12848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≤ 0.85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40280" y="2212848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分 · 烤能富余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21284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80944"/>
            <a:ext cx="5146243" cy="658368"/>
          </a:xfrm>
          <a:prstGeom prst="roundRect">
            <a:avLst>
              <a:gd name="adj" fmla="val 11111"/>
            </a:avLst>
          </a:prstGeom>
          <a:solidFill>
            <a:srgbClr val="5FB29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80944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0.85-1.0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0280" y="2980944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 分 · 供需匹配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980944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动态平衡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4166006" cy="658368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74904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1.0-1.2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40280" y="374904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分 · 略紧张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74904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择机扩建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517136"/>
            <a:ext cx="3185770" cy="658368"/>
          </a:xfrm>
          <a:prstGeom prst="roundRect">
            <a:avLst>
              <a:gd name="adj" fmla="val 11111"/>
            </a:avLst>
          </a:prstGeom>
          <a:solidFill>
            <a:srgbClr val="C77E1B"/>
          </a:solidFill>
          <a:effectLst>
            <a:outerShdw blurRad="2147483647" dist="2147483647" dir="6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517136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1.2-1.5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40280" y="4517136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分 · 明显紧张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4517136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启动新建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285232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B23A24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28523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 1.5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40280" y="5285232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分 · 严重不足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5285232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紧急建设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650992"/>
            <a:ext cx="6126480" cy="512064"/>
          </a:xfrm>
          <a:prstGeom prst="roundRect">
            <a:avLst>
              <a:gd name="adj" fmla="val 14286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650992"/>
            <a:ext cx="6126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越靠右越“紧张” → 越该优先新建；Lc 越低 → 拖低 V → 抬高 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5" name="Text 33"/>
          <p:cNvSpPr/>
          <p:nvPr/>
        </p:nvSpPr>
        <p:spPr>
          <a:xfrm>
            <a:off x="7863840" y="234086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熵权法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863840" y="268833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从数据客观求权重，减少人为拍板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9" name="Text 37"/>
          <p:cNvSpPr/>
          <p:nvPr/>
        </p:nvSpPr>
        <p:spPr>
          <a:xfrm>
            <a:off x="7863840" y="338328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863840" y="373075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专家主观校正，主客观权重融合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442569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TOPSIS 排序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863840" y="47731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候选村点位多目标比选，逼近理想解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546811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发展因子五维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863840" y="58155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 / 管护缴费 / 政策 / 服务 / 扩张韧性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35240" y="5614416"/>
            <a:ext cx="3840480" cy="512064"/>
          </a:xfrm>
          <a:prstGeom prst="roundRect">
            <a:avLst>
              <a:gd name="adj" fmla="val 14286"/>
            </a:avLst>
          </a:prstGeom>
          <a:solidFill>
            <a:srgbClr val="E7F2E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5614416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衔接：模型③直接复用模型①②的健康分与寿命作为输入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三大模型串成闭环：健康分 → 剩余寿命 → 新建/修复决策 —— 从经验拍板走向数据驱动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总公式与单栋算例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左：算法分层结构（怎么算）　右：给一栋老房算到底（算给评委看）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1612900000" dist="645160000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37360"/>
            <a:ext cx="6172200" cy="54864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6172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0.80×部件分 + 0.10×管护分 + 0.10×人工分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340864"/>
            <a:ext cx="6172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 = ΣCᵢ / ΣWᵢ × 100　（Cᵢ = 部件权重×健康得分 ÷ 100）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779776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79776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3" name="Text 11"/>
          <p:cNvSpPr/>
          <p:nvPr/>
        </p:nvSpPr>
        <p:spPr>
          <a:xfrm>
            <a:off x="960120" y="287121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JR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×0.30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3697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加热器/燃烧机 · 送料电机/风机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694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2779776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779776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8" name="Text 16"/>
          <p:cNvSpPr/>
          <p:nvPr/>
        </p:nvSpPr>
        <p:spPr>
          <a:xfrm>
            <a:off x="4160520" y="287121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60520" y="323697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散热管 · 炉膛/燃烧室 · 清灰门 · 烟囱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60520" y="3694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4133088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33088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3" name="Text 21"/>
          <p:cNvSpPr/>
          <p:nvPr/>
        </p:nvSpPr>
        <p:spPr>
          <a:xfrm>
            <a:off x="960120" y="42245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ZK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×0.26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59028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自控仪/主板 · 温湿度探头 · 压力传感 · 循环风机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0474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77640" y="4133088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4133088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8" name="Text 26"/>
          <p:cNvSpPr/>
          <p:nvPr/>
        </p:nvSpPr>
        <p:spPr>
          <a:xfrm>
            <a:off x="4160520" y="42245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ZT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×0.18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60520" y="459028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 · 挂烟梁 · 大门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60520" y="50474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5541264"/>
            <a:ext cx="6172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41264"/>
            <a:ext cx="6172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管护分 ×0.10：</a:t>
            </a:r>
            <a:r>
              <a:rPr lang="en-US" sz="11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集中100 · 分户80　　</a:t>
            </a:r>
            <a:r>
              <a:rPr lang="en-US" sz="12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人工分 ×0.10：</a:t>
            </a:r>
            <a:r>
              <a:rPr lang="en-US" sz="11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好100 · 中80 · 差50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6089904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退化按 CDCI 三段式曲线 · 维修台账完工后重置该部件退化年龄 · 缺数据兜底5分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35240" y="17007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单栋算例 · 老房 K0818</a:t>
            </a: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（2009 建 · 示意）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35240" y="204825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逐部件贡献分 Cᵢ（总权重 W=80）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2322576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75520" y="2322576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35240" y="2569464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散热器(4项)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75520" y="2569464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13.07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635240" y="2816352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875520" y="2816352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2.40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35240" y="3063240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温湿度探头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75520" y="3063240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1.80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35240" y="3310128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水壶/压力传感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75520" y="3310128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1.80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635240" y="3557016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循环风机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0" y="3557016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635240" y="3803904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875520" y="3803904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4.70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35240" y="4050792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挂烟梁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875520" y="4050792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2.00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635240" y="4297680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大门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75520" y="4297680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10.00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635240" y="4562856"/>
            <a:ext cx="3840480" cy="310896"/>
          </a:xfrm>
          <a:prstGeom prst="roundRect">
            <a:avLst>
              <a:gd name="adj" fmla="val 17647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456285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ΣW = 80　ΣC = 49.12 → 部件分 P = 61.4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635240" y="492861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 M = 100（集中）　人工 E = 100（好）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635240" y="525780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14532D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635240" y="5257800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0.8×61.4 + 0.1×100 + 0.1×100
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49.12 + 10 + 10 = 69.12 分 → 健康等级【一般】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635240" y="6007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短板=自控仪(6年) → 风险缺口直指自控，与实物“自控最易坏”吻合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“部件分=归一化得分·四个部位内部再细分” —— 讲清每一步谁贡献了多少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6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预警层级与公共方法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健康分定“该修哪”，寿命预测定“何时修”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健康分 · 五级分档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2E8B6A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5FB292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9968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29968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70-85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82696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F39C12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82696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82696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60-70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35424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C77E1B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35424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45-60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88152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B23A24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88152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88152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3108960"/>
            <a:ext cx="6126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25" name="Text 23"/>
          <p:cNvSpPr/>
          <p:nvPr/>
        </p:nvSpPr>
        <p:spPr>
          <a:xfrm>
            <a:off x="777240" y="3255264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剩余寿命 · 四级预警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B23A24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紧急维修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≤0年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立即处置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C77E1B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33172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建议维修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3172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0-4年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3172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纳入当年维修计划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8620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D99E2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8620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8620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4-7年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8620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跟踪监测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4068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4068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&gt;7年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4068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按周期巡检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77240" y="4754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 = (0.60×短板寿命 + 0.40×部位均值) × 健康校准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" y="5138928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“短板约束优先 + 部位均值平滑 + 健康分校准” → 剩余服役年数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77240" y="55778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" y="5577840"/>
            <a:ext cx="6126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联动：</a:t>
            </a: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健康分【该修哪】＋ 寿命【何时修】＋ 维修台账【回弹】 → 智投·修复决策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0" name="Text 48"/>
          <p:cNvSpPr/>
          <p:nvPr/>
        </p:nvSpPr>
        <p:spPr>
          <a:xfrm>
            <a:off x="7863840" y="232257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863840" y="265176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四部位权重打分（0.30/0.26/0.26/0.18），专家经验量化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4" name="Text 52"/>
          <p:cNvSpPr/>
          <p:nvPr/>
        </p:nvSpPr>
        <p:spPr>
          <a:xfrm>
            <a:off x="7863840" y="33649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CDCI 三段退化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863840" y="3694176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部件损耗曲线拟合，维修台账完工后重置退化年龄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8" name="Text 56"/>
          <p:cNvSpPr/>
          <p:nvPr/>
        </p:nvSpPr>
        <p:spPr>
          <a:xfrm>
            <a:off x="7863840" y="440740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随机森林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863840" y="473659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 → 分级预警 + 关键部件归因（谁拖累最多）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62" name="Text 60"/>
          <p:cNvSpPr/>
          <p:nvPr/>
        </p:nvSpPr>
        <p:spPr>
          <a:xfrm>
            <a:off x="7863840" y="544982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决策融合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863840" y="5779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机制模型 × 数据驱动（LSTM）双轮 → 校准预测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一套“专家权重 + 退化拟合 + 数据驱动”的方法组合，保证可解释、可复核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6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总公式与单村算例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左：三维度算法结构（怎么算）　右：给一个千亩村算到底（算给评委看）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3736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6172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0.50×Hc + 0.30×Lc + 0.20×Dc　　</a:t>
            </a:r>
            <a:endParaRPr lang="en-US" sz="19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V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78608"/>
            <a:ext cx="109728" cy="118872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005840" y="2651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</a:t>
            </a:r>
            <a:r>
              <a:rPr lang="en-US" sz="15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E = 健康分/100 × 容量 × 状态折算（在用1.0·闲置0.4·待修0.1）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 Q = 在用的70% + 闲置B的20% + 待修C的10%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= min(100, Q / D × 100)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895344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109728" cy="118872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16" name="Text 14"/>
          <p:cNvSpPr/>
          <p:nvPr/>
        </p:nvSpPr>
        <p:spPr>
          <a:xfrm>
            <a:off x="1005840" y="396849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</a:t>
            </a:r>
            <a:r>
              <a:rPr lang="en-US" sz="15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30%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334256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压力比 P = 需求设备 / 实际承载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P 值五档映射得分（见右页判定层级）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5212080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12080"/>
            <a:ext cx="109728" cy="118872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20" name="Text 18"/>
          <p:cNvSpPr/>
          <p:nvPr/>
        </p:nvSpPr>
        <p:spPr>
          <a:xfrm>
            <a:off x="1005840" y="52852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</a:t>
            </a:r>
            <a:r>
              <a:rPr lang="en-US" sz="150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20%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650992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五维等权：规模 / 管护缴费 / 政策 / 服务 / 扩张韧性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= Σ五维得分 ÷ 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614416"/>
            <a:ext cx="6172200" cy="530352"/>
          </a:xfrm>
          <a:prstGeom prst="roundRect">
            <a:avLst>
              <a:gd name="adj" fmla="val 13793"/>
            </a:avLst>
          </a:prstGeom>
          <a:solidFill>
            <a:srgbClr val="C77E1B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614416"/>
            <a:ext cx="6172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决策规则：V 越低 → 越需新建补建 ｜ N 越高 → 新建优先级越高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7007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单村算例（10 座烤房）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35240" y="210312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7座·均80分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7×80%×50 = 280 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35240" y="252374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2座·均65分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252374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2×65%×50×0.4 = 26 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35240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1座·均45分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46920" y="29443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= 1×45%×50×0.1 = 2.25 担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3346704"/>
            <a:ext cx="3840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33" name="Text 31"/>
          <p:cNvSpPr/>
          <p:nvPr/>
        </p:nvSpPr>
        <p:spPr>
          <a:xfrm>
            <a:off x="7635240" y="343814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= 0.70×280+0.20×26+0.10×2.25 = 201.43 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391363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理论需求 D = 450 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4389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= min(100, 201.43/450×100) = 44.8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4864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压力比 P = 450/201.43 = 2.23（&gt;1.5）→ Lc = 30 · 严重不足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53400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= 五维均值 = (85+80+70+75+40)/5 = 70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35240" y="5861304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35240" y="5861304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0.50×44.8 + 0.30×30 + 0.20×70
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22.4 + 9 + 14 = 45.4　→　N = 100−45.4 = 54.6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070725" y="6576695"/>
            <a:ext cx="440499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≈ 450−201 = 249 担 → 建议优先配建（≈50担/座 → 约建5座）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三层递进：有效烤能 ⊙ 承载匹配 ⊙ 发展潜力 —— 从“数据”直接走到“要不要建、建几座”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判定层级与公共方法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承载匹配五档把“紧不紧张”量化成可比较的分数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 Lc · 五档判定层级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12848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≤ 0.85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86000" y="221284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分 · 烤能富余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212848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存量优化，无需新建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980944"/>
            <a:ext cx="5207508" cy="658368"/>
          </a:xfrm>
          <a:prstGeom prst="roundRect">
            <a:avLst>
              <a:gd name="adj" fmla="val 11111"/>
            </a:avLst>
          </a:prstGeom>
          <a:solidFill>
            <a:srgbClr val="5FB292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80944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0.85 - 1.0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86000" y="2980944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 分 · 供需匹配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980944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动态平衡，预防性维护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4288536" cy="658368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74904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1.0 - 1.2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分 · 略紧张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374904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关注瓶颈，择机扩建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517136"/>
            <a:ext cx="3369564" cy="658368"/>
          </a:xfrm>
          <a:prstGeom prst="roundRect">
            <a:avLst>
              <a:gd name="adj" fmla="val 11111"/>
            </a:avLst>
          </a:prstGeom>
          <a:solidFill>
            <a:srgbClr val="C77E1B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517136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1.2 - 1.5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86000" y="4517136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分 · 明显紧张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517136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优先安排，启动新建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5285232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B23A24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28523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 1.5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86000" y="5285232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分 · 严重不足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528523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紧急建设，突破供给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5650992"/>
            <a:ext cx="6126480" cy="512064"/>
          </a:xfrm>
          <a:prstGeom prst="roundRect">
            <a:avLst>
              <a:gd name="adj" fmla="val 14286"/>
            </a:avLst>
          </a:prstGeom>
          <a:solidFill>
            <a:srgbClr val="14532D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650992"/>
            <a:ext cx="6126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越靠右越“紧张” → 越该优先新建；Lc 越低，拖低 V → 抬高 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5" name="Text 33"/>
          <p:cNvSpPr/>
          <p:nvPr/>
        </p:nvSpPr>
        <p:spPr>
          <a:xfrm>
            <a:off x="7863840" y="234086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熵权法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863840" y="268833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从数据客观求权重，减少人为拍板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9" name="Text 37"/>
          <p:cNvSpPr/>
          <p:nvPr/>
        </p:nvSpPr>
        <p:spPr>
          <a:xfrm>
            <a:off x="7863840" y="338328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863840" y="373075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专家主观校正，主客观权重融合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442569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TOPSIS 排序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863840" y="47731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候选村点位多目标比选，逼近理想解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546811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发展因子五维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863840" y="58155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 / 管护缴费 / 政策 / 服务 / 扩张韧性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635240" y="5614416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衔接：模型②直接复用模型①的健康分作为输入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两模型“算得清” → 新建与修复决策“有据可依” —— 从经验拍板走向数据驱动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 量化“该不该修·修哪里</a:t>
            </a: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·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什么时候修</a:t>
            </a: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核心解“智投·修复决策”缺量化依据之痛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6235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4708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47088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 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</a:t>
            </a:r>
            <a:r>
              <a:rPr lang="en-US" sz="2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部件分×0.80 + 管护分×0.10 + 人工分×0.10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99923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 P：加热/散热/自控/主体 12项，增强BMHI + CDCI三段式退化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40156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按「状态 + 剩余寿命占比 + 维修记录」融合打分 → 0—100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2E8B6A"/>
          </a:solidFill>
        </p:spPr>
      </p:sp>
      <p:sp>
        <p:nvSpPr>
          <p:cNvPr id="14" name="Text 12"/>
          <p:cNvSpPr/>
          <p:nvPr/>
        </p:nvSpPr>
        <p:spPr>
          <a:xfrm>
            <a:off x="777240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100-85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56232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5FB292"/>
          </a:solidFill>
        </p:spPr>
      </p:sp>
      <p:sp>
        <p:nvSpPr>
          <p:cNvPr id="17" name="Text 15"/>
          <p:cNvSpPr/>
          <p:nvPr/>
        </p:nvSpPr>
        <p:spPr>
          <a:xfrm>
            <a:off x="1856232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56232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85-70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35224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F39C12"/>
          </a:solidFill>
        </p:spPr>
      </p:sp>
      <p:sp>
        <p:nvSpPr>
          <p:cNvPr id="20" name="Text 18"/>
          <p:cNvSpPr/>
          <p:nvPr/>
        </p:nvSpPr>
        <p:spPr>
          <a:xfrm>
            <a:off x="2935224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35224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70-60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14216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C77E1B"/>
          </a:solidFill>
        </p:spPr>
      </p:sp>
      <p:sp>
        <p:nvSpPr>
          <p:cNvPr id="23" name="Text 21"/>
          <p:cNvSpPr/>
          <p:nvPr/>
        </p:nvSpPr>
        <p:spPr>
          <a:xfrm>
            <a:off x="4014216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14216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60-45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93208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B23A24"/>
          </a:solidFill>
        </p:spPr>
      </p:sp>
      <p:sp>
        <p:nvSpPr>
          <p:cNvPr id="26" name="Text 24"/>
          <p:cNvSpPr/>
          <p:nvPr/>
        </p:nvSpPr>
        <p:spPr>
          <a:xfrm>
            <a:off x="5093208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93208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3708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（五级分档 · 阈值以规则库为准）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691640"/>
            <a:ext cx="53949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184708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37960" y="1847088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37960" y="23957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 = (0.60×短板寿命 + 0.40×部位均值)×健康校准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537960" y="312724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“短板约束 + 部位均值 + 健康分校准”的剩余服役年数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B23A24"/>
          </a:solidFill>
        </p:spPr>
      </p:sp>
      <p:sp>
        <p:nvSpPr>
          <p:cNvPr id="35" name="Text 33"/>
          <p:cNvSpPr/>
          <p:nvPr/>
        </p:nvSpPr>
        <p:spPr>
          <a:xfrm>
            <a:off x="653796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紧急维修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≤0年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86384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C77E1B"/>
          </a:solidFill>
        </p:spPr>
      </p:sp>
      <p:sp>
        <p:nvSpPr>
          <p:cNvPr id="38" name="Text 36"/>
          <p:cNvSpPr/>
          <p:nvPr/>
        </p:nvSpPr>
        <p:spPr>
          <a:xfrm>
            <a:off x="786384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建议维修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0-4年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8972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99E2B"/>
          </a:solidFill>
        </p:spPr>
      </p:sp>
      <p:sp>
        <p:nvSpPr>
          <p:cNvPr id="41" name="Text 39"/>
          <p:cNvSpPr/>
          <p:nvPr/>
        </p:nvSpPr>
        <p:spPr>
          <a:xfrm>
            <a:off x="918972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8972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4-7年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51560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66534"/>
          </a:solidFill>
        </p:spPr>
      </p:sp>
      <p:sp>
        <p:nvSpPr>
          <p:cNvPr id="44" name="Text 42"/>
          <p:cNvSpPr/>
          <p:nvPr/>
        </p:nvSpPr>
        <p:spPr>
          <a:xfrm>
            <a:off x="1051560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1560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&gt;7年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40782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（四级预警）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31520" y="504748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C77E1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1520" y="504748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2377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部件权重打分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4663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CDCI 三段退化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损耗曲线 · 台账重置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6949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随机森林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健康分级预警归因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9235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决策融合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机制+数据 LSTM 双轮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502920" y="644652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健康分定位“该修哪”，寿命预测定位“何时修” —— 智投修复的量化依据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412480" y="64465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50" dirty="0"/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 · 算例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给一栋烤房“算一遍”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示例算法：单栋烤房 → 健康分 + 剩余寿命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6576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37360"/>
            <a:ext cx="3657600" cy="12801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9" name="Shape 7"/>
          <p:cNvSpPr/>
          <p:nvPr/>
        </p:nvSpPr>
        <p:spPr>
          <a:xfrm>
            <a:off x="822960" y="19659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6596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部件打分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4部位12项状态采集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结合维修记录与CDCI退化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单栋部件分 P = 82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9377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37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部件分：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P=82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36576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737360"/>
            <a:ext cx="3657600" cy="128016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16" name="Shape 14"/>
          <p:cNvSpPr/>
          <p:nvPr/>
        </p:nvSpPr>
        <p:spPr>
          <a:xfrm>
            <a:off x="4617720" y="19659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96596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融合健康分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82×0.80+90×0.10+75×0.10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65.6 + 9 + 7.5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82.1 分 → 【良好】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49377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937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结果：</a:t>
            </a:r>
            <a:r>
              <a:rPr lang="en-US" sz="16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82.1 · 良好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737360"/>
            <a:ext cx="36576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1737360"/>
            <a:ext cx="3657600" cy="128016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23" name="Shape 21"/>
          <p:cNvSpPr/>
          <p:nvPr/>
        </p:nvSpPr>
        <p:spPr>
          <a:xfrm>
            <a:off x="8412480" y="19659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77E1B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196596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推寿命预警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25146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 =(0.60×2.6+0.40×4.9)×0.85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=3.0 年 → 【建议维修】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(修复重点：散热换热器)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458200" y="49377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C77E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937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建议：</a:t>
            </a:r>
            <a:r>
              <a:rPr lang="en-US" sz="16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散热检查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6172200"/>
            <a:ext cx="11228832" cy="54864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6172200"/>
            <a:ext cx="112288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结论：一栋烤房 → 一份评分 → 一条预警 → 一项修复，全程有据可依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本页数字为算法示例，供演示</a:t>
            </a:r>
            <a:endParaRPr lang="en-US" sz="1000" dirty="0"/>
          </a:p>
        </p:txBody>
      </p:sp>
      <p:sp>
        <p:nvSpPr>
          <p:cNvPr id="3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量化“该在哪新建 · 建多少”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核心解“智投·新建决策”依赖经验之痛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62356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4708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47088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发展指数 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0.50×Hc + 0.30×Lc + 0.20×Dc</a:t>
            </a:r>
            <a:r>
              <a:rPr lang="en-US" sz="15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新建需求分 N = 100 − V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3310128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10128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10128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96512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4096512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882896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82896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882896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138928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: Eᵢ = 健康分/100 × 容量 × 状态折算(在用1.0/闲置0.4/待修0.1)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 : Q = 0.70×在用A + 0.20×闲置B + 0.10×待修C　； Hc = min(100, Q/D×100)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539496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184708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1847088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 Lc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23957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P=≤0.85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0" y="23957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100分 · 富余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28529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P=0.85-1.0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0" y="28529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85分 · 匹配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3101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P=1.0-1.2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33101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70分 · 略紧张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37673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P=1.2-1.5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37673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50分 · 明显紧张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42245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P=&gt;1.5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0" y="42245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30分 · 严重不足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4754880"/>
            <a:ext cx="493776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35" name="Text 33"/>
          <p:cNvSpPr/>
          <p:nvPr/>
        </p:nvSpPr>
        <p:spPr>
          <a:xfrm>
            <a:off x="6537960" y="484632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26680" y="484632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69680" y="48463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100（发展越好）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37960" y="5486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越低 → 越需要新建补建；N 越高 → 新建优先级越高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5989320"/>
            <a:ext cx="11201400" cy="749808"/>
          </a:xfrm>
          <a:prstGeom prst="roundRect">
            <a:avLst>
              <a:gd name="adj" fmla="val 12195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5989320"/>
            <a:ext cx="11201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公共方法：</a:t>
            </a:r>
            <a:r>
              <a:rPr lang="en-US" sz="14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熵权法定权 + AHP层次分析 + TOPSIS 候选点位排序　|　发展因子五维（规模/管护缴费/政策/服务/扩张韧性）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以千亩村为单位推荐新建意见，解决“质与量、长远与眼前、发展与投入”的平衡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412480" y="64465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50" dirty="0"/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 · 算例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给一个千亩村“算一遍”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示例算法：10座烤房 → 发展指数 V → 新建需求分 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2880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要素汇总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7座</a:t>
            </a: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平均80分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108960" y="23317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7×80%×50 = 280担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2座</a:t>
            </a: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平均65分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108960" y="28986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2×65%×50×0.4 = 26担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46557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1座</a:t>
            </a: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平均45分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08960" y="346557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= 1×45%×50×0.1 = 2.25担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114800"/>
            <a:ext cx="493776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17" name="Text 15"/>
          <p:cNvSpPr/>
          <p:nvPr/>
        </p:nvSpPr>
        <p:spPr>
          <a:xfrm>
            <a:off x="868680" y="42245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村级有效烤能 Q = 0.70×280 + 0.20×26 + 0.10×2.25 = 201.43 担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理论需求烤能 D = 450 担　→　Hc = min(100, 201.43/450×100) = 44.8分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04748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承载压力 P = 450/201.43 = 2.23（&gt;1.5）→ Lc = 30分 · 严重不足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38581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发展因子 Dc = 0.2×85+0.2×80+0.2×70+0.2×75+0.2×40 = 70分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074920" cy="4434840"/>
          </a:xfrm>
          <a:prstGeom prst="roundRect">
            <a:avLst>
              <a:gd name="adj" fmla="val 2887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18288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发展指数 V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237744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0.50×44.8 + 0.30×30 + 0.20×70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22.4 + 9 + 14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45.4 分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92240" y="4206240"/>
            <a:ext cx="4617720" cy="18288"/>
          </a:xfrm>
          <a:prstGeom prst="rect">
            <a:avLst/>
          </a:prstGeom>
          <a:solidFill>
            <a:srgbClr val="3D7A59"/>
          </a:solidFill>
        </p:spPr>
      </p:sp>
      <p:sp>
        <p:nvSpPr>
          <p:cNvPr id="26" name="Text 24"/>
          <p:cNvSpPr/>
          <p:nvPr/>
        </p:nvSpPr>
        <p:spPr>
          <a:xfrm>
            <a:off x="6492240" y="4315968"/>
            <a:ext cx="46177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100 − 45.4 = 54.6</a:t>
            </a:r>
            <a:endParaRPr lang="en-US" sz="2200" dirty="0"/>
          </a:p>
          <a:p>
            <a:pPr marL="0" indent="0">
              <a:buNone/>
            </a:pPr>
            <a:r>
              <a:rPr lang="en-US" sz="15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烤能缺口 ≈ 450 − 201 = 249 担</a:t>
            </a:r>
            <a:endParaRPr lang="en-US" sz="2200" dirty="0"/>
          </a:p>
          <a:p>
            <a:pPr marL="0" indent="0">
              <a:buNone/>
            </a:pPr>
            <a:r>
              <a:rPr lang="en-US" sz="1250" dirty="0">
                <a:solidFill>
                  <a:srgbClr val="9CC6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（约 50担/座 → 建议配建 5 座）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02920" y="6263640"/>
            <a:ext cx="11228832" cy="548640"/>
          </a:xfrm>
          <a:prstGeom prst="roundRect">
            <a:avLst>
              <a:gd name="adj" fmla="val 16667"/>
            </a:avLst>
          </a:prstGeom>
          <a:solidFill>
            <a:srgbClr val="C77E1B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6263640"/>
            <a:ext cx="112288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结论：该村“有效健康烤能”明显低于烟叶需求 → 新建需求分高、优先级高，智能给出配建建议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本页数字取自已发布计算方案示例</a:t>
            </a:r>
            <a:endParaRPr lang="en-US" sz="1000" dirty="0"/>
          </a:p>
        </p:txBody>
      </p:sp>
      <p:sp>
        <p:nvSpPr>
          <p:cNvPr id="3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深层剖析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忧愁之下，是三大管理之“痛”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烟农诉求直指管理短板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356616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166534"/>
          </a:solidFill>
        </p:spPr>
      </p:sp>
      <p:sp>
        <p:nvSpPr>
          <p:cNvPr id="9" name="Text 7"/>
          <p:cNvSpPr/>
          <p:nvPr/>
        </p:nvSpPr>
        <p:spPr>
          <a:xfrm>
            <a:off x="923544" y="205740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· 资源调度缺数字支撑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23544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资产动态台账缺失 · 家底不清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23544" y="3675888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调剂、故障处置缺系统手段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23544" y="433425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闲置资源难以服务生产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6616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82880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2E8B6A"/>
          </a:solidFill>
        </p:spPr>
      </p:sp>
      <p:sp>
        <p:nvSpPr>
          <p:cNvPr id="15" name="Text 13"/>
          <p:cNvSpPr/>
          <p:nvPr/>
        </p:nvSpPr>
        <p:spPr>
          <a:xfrm>
            <a:off x="4654296" y="205740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· 基建投入缺量化依据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54296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无统一健康量化评价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54296" y="3675888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修复 / 新建决策依赖经验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54296" y="433425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资金易浪费与错配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55864" y="1828800"/>
            <a:ext cx="356616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182880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C77E1B"/>
          </a:solidFill>
        </p:spPr>
      </p:sp>
      <p:sp>
        <p:nvSpPr>
          <p:cNvPr id="21" name="Text 19"/>
          <p:cNvSpPr/>
          <p:nvPr/>
        </p:nvSpPr>
        <p:spPr>
          <a:xfrm>
            <a:off x="8385048" y="205740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· 管护运行缺闭环约束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504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“责任明 · 队伍不全 · 工作不力”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85048" y="3675888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队伍 / 资金 / 作业无线上监管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85048" y="433425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“不想管 · 不愿管 · 不服管”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623560"/>
            <a:ext cx="11018520" cy="713232"/>
          </a:xfrm>
          <a:prstGeom prst="roundRect">
            <a:avLst>
              <a:gd name="adj" fmla="val 12821"/>
            </a:avLst>
          </a:prstGeom>
          <a:solidFill>
            <a:srgbClr val="14532D"/>
          </a:solidFill>
        </p:spPr>
      </p:sp>
      <p:sp>
        <p:nvSpPr>
          <p:cNvPr id="26" name="Text 24"/>
          <p:cNvSpPr/>
          <p:nvPr/>
        </p:nvSpPr>
        <p:spPr>
          <a:xfrm>
            <a:off x="594360" y="5623560"/>
            <a:ext cx="11018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衍生：</a:t>
            </a: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调剂无门 · 修复盲目 · 投入不公　　⇒　烟农整体满意度偏低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三大痛点，正是本项目要攻坚的靶心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破题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一个数据库 · 两个模型 · 一个协同平台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总览解决方案架构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4532D"/>
          </a:solidFill>
        </p:spPr>
      </p:sp>
      <p:sp>
        <p:nvSpPr>
          <p:cNvPr id="8" name="Text 6"/>
          <p:cNvSpPr/>
          <p:nvPr/>
        </p:nvSpPr>
        <p:spPr>
          <a:xfrm>
            <a:off x="1280160" y="182880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 · 全域数据底座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2442栋烤房档案 · 4大部位18类部件 · 维修全链路 · 物联网自控数据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05840" y="292608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66534"/>
          </a:solidFill>
        </p:spPr>
      </p:sp>
      <p:sp>
        <p:nvSpPr>
          <p:cNvPr id="10" name="Text 8"/>
          <p:cNvSpPr/>
          <p:nvPr/>
        </p:nvSpPr>
        <p:spPr>
          <a:xfrm>
            <a:off x="1280160" y="292608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两个模型 · 慧算中枢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烤房健康评估模型 / 新建选址模型（AHP+熵权+TOPSIS）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05840" y="402336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280160" y="402336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协同平台 · 三智融合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/ 智投 / 智管　三大数智业务场景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05840" y="512064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4FA884"/>
          </a:solidFill>
        </p:spPr>
      </p:sp>
      <p:sp>
        <p:nvSpPr>
          <p:cNvPr id="14" name="Text 12"/>
          <p:cNvSpPr/>
          <p:nvPr/>
        </p:nvSpPr>
        <p:spPr>
          <a:xfrm>
            <a:off x="1280160" y="512064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服务对象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 · 合作社技术员 · 管理者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614476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→ 算力 → 场景 → 服务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一脉致远，“三智”融合，让传统烤房管理模式实现数智化升级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数据库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全域数据底座 · 一栋一档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从“纸质台账”到“一栋一档电子化”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</a:t>
            </a: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秭归烤房全覆盖核验建档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1,690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48256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409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9584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369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1737360"/>
            <a:ext cx="6675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96596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大部位 × 18 类部件　逐项核验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49240" y="26060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6060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加热系统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9900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燃烧机 / 炉膛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6060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加热系统　燃烧机 / 炉膛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35204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5204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散热系统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9044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换热器 / 风道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35204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散热系统　换热器 / 风道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44348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44348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自控系统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48188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 / 传感器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44348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自控系统　自控仪 / 传感器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49240" y="53492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53492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附属设施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57332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装烟室 / 外墙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53492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附属设施　装烟室 / 外墙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06933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955030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数据源：实体档案 + 维修记录 + 低代码录入 + 烤房自控仪物联网数据（温度 / 时间）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底数清、状态明，数字底座支撑后续“慧算”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模型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· 一房一健康分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评估“该不该修·修哪里·什么时候修”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健康分（0—100）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</a:t>
            </a:r>
            <a:r>
              <a:rPr lang="en-US" sz="15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部件分×0.80 + 管护分×0.10 + 人工分×0.10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部件分：加热/散热/自控/主体 12项 · 增强BMHI + CDCI双段退化函数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(0.60×短板寿命 + 0.40×部位均值寿命) × 健康校准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按当前状态还能正常服役的年数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534924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659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健康分五级分布 · 实测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92640" y="19385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均值 72.6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48716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9520" y="2542032"/>
            <a:ext cx="1042416" cy="27432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9" name="Text 17"/>
          <p:cNvSpPr/>
          <p:nvPr/>
        </p:nvSpPr>
        <p:spPr>
          <a:xfrm>
            <a:off x="10424160" y="248716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20040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3255264"/>
            <a:ext cx="2624328" cy="27432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2" name="Text 20"/>
          <p:cNvSpPr/>
          <p:nvPr/>
        </p:nvSpPr>
        <p:spPr>
          <a:xfrm>
            <a:off x="10424160" y="320040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861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913632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3968496"/>
            <a:ext cx="2328672" cy="274320"/>
          </a:xfrm>
          <a:prstGeom prst="rect">
            <a:avLst/>
          </a:prstGeom>
          <a:solidFill>
            <a:srgbClr val="4FA884"/>
          </a:solidFill>
        </p:spPr>
      </p:sp>
      <p:sp>
        <p:nvSpPr>
          <p:cNvPr id="25" name="Text 23"/>
          <p:cNvSpPr/>
          <p:nvPr/>
        </p:nvSpPr>
        <p:spPr>
          <a:xfrm>
            <a:off x="10424160" y="391363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626864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4681728"/>
            <a:ext cx="1261872" cy="27432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28" name="Text 26"/>
          <p:cNvSpPr/>
          <p:nvPr/>
        </p:nvSpPr>
        <p:spPr>
          <a:xfrm>
            <a:off x="10424160" y="462686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5340096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89520" y="5394960"/>
            <a:ext cx="185928" cy="27432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31" name="Text 29"/>
          <p:cNvSpPr/>
          <p:nvPr/>
        </p:nvSpPr>
        <p:spPr>
          <a:xfrm>
            <a:off x="10424160" y="534009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61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5532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寿命四级预警：紧急维修≤0年 · 建议维修≤4年 · 需关注≤7年 · 正常&gt;7年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健康评分 + 寿命预测，成为“智投”修复决策的量化依据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模型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新建选址 · 千亩村发展指数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建哪里、建多少，用数据说话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V（0—100）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5029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r>
              <a:rPr lang="en-US" sz="15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Hc×0.50 + Lc×0.30 + Dc×0.20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 　Lc 承载压力 　Dc 发展因子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5643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指数越低 → 现有资源越紧张 → 新建需求越大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  法：AHP层次 + 熵权定权 + TOPSIS 候选排序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  用：全县 29 个烟叶种植村 · 15 个千亩村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解决“质与量、长远与眼前、发展与投入”之平衡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349240" cy="4206240"/>
          </a:xfrm>
          <a:prstGeom prst="roundRect">
            <a:avLst>
              <a:gd name="adj" fmla="val 347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9659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模型推荐 · 新建点位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0" y="2606040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60604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荒口坪村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2606040"/>
            <a:ext cx="1371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+10 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52560" y="31546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2026—2028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3794760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79476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三台寺村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52560" y="3794760"/>
            <a:ext cx="1371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+12 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52560" y="43434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2026—2028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5029200"/>
            <a:ext cx="4800600" cy="713232"/>
          </a:xfrm>
          <a:prstGeom prst="roundRect">
            <a:avLst>
              <a:gd name="adj" fmla="val 12821"/>
            </a:avLst>
          </a:prstGeom>
          <a:solidFill>
            <a:srgbClr val="14532D"/>
          </a:solidFill>
        </p:spPr>
      </p:sp>
      <p:sp>
        <p:nvSpPr>
          <p:cNvPr id="26" name="Text 24"/>
          <p:cNvSpPr/>
          <p:nvPr/>
        </p:nvSpPr>
        <p:spPr>
          <a:xfrm>
            <a:off x="6583680" y="5029200"/>
            <a:ext cx="4800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年全县落地新建  29 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让新建“该建才建”，避免资金错配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协同平台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三智融合 · 全链条数智化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一端数据，三路业务，服务三类对象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166534"/>
          </a:solidFill>
        </p:spPr>
      </p:sp>
      <p:sp>
        <p:nvSpPr>
          <p:cNvPr id="9" name="Shape 7"/>
          <p:cNvSpPr/>
          <p:nvPr/>
        </p:nvSpPr>
        <p:spPr>
          <a:xfrm>
            <a:off x="548640" y="2404872"/>
            <a:ext cx="3611880" cy="566928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0" name="Text 8"/>
          <p:cNvSpPr/>
          <p:nvPr/>
        </p:nvSpPr>
        <p:spPr>
          <a:xfrm>
            <a:off x="548640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把资源“用好”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服务烟农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" y="3703320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1097280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烤房调剂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4270248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6" name="Text 14"/>
          <p:cNvSpPr/>
          <p:nvPr/>
        </p:nvSpPr>
        <p:spPr>
          <a:xfrm>
            <a:off x="1097280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一键报修 · 极速抢修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325112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2E8B6A"/>
          </a:solidFill>
        </p:spPr>
      </p:sp>
      <p:sp>
        <p:nvSpPr>
          <p:cNvPr id="19" name="Shape 17"/>
          <p:cNvSpPr/>
          <p:nvPr/>
        </p:nvSpPr>
        <p:spPr>
          <a:xfrm>
            <a:off x="4325112" y="2404872"/>
            <a:ext cx="3611880" cy="566928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8"/>
          <p:cNvSpPr/>
          <p:nvPr/>
        </p:nvSpPr>
        <p:spPr>
          <a:xfrm>
            <a:off x="4325112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Selection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325112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把投入“投准”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45152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赋能决策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72584" y="3703320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4" name="Text 22"/>
          <p:cNvSpPr/>
          <p:nvPr/>
        </p:nvSpPr>
        <p:spPr>
          <a:xfrm>
            <a:off x="4873752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新建决策辅助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72584" y="4270248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6" name="Text 24"/>
          <p:cNvSpPr/>
          <p:nvPr/>
        </p:nvSpPr>
        <p:spPr>
          <a:xfrm>
            <a:off x="4873752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修复决策辅助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01584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C77E1B"/>
          </a:solidFill>
        </p:spPr>
      </p:sp>
      <p:sp>
        <p:nvSpPr>
          <p:cNvPr id="29" name="Shape 27"/>
          <p:cNvSpPr/>
          <p:nvPr/>
        </p:nvSpPr>
        <p:spPr>
          <a:xfrm>
            <a:off x="8101584" y="2404872"/>
            <a:ext cx="3611880" cy="566928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0" name="Text 28"/>
          <p:cNvSpPr/>
          <p:nvPr/>
        </p:nvSpPr>
        <p:spPr>
          <a:xfrm>
            <a:off x="8101584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Sustain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01584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把过程“管住”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21624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协同合作社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49056" y="3703320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4" name="Text 32"/>
          <p:cNvSpPr/>
          <p:nvPr/>
        </p:nvSpPr>
        <p:spPr>
          <a:xfrm>
            <a:off x="8650224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用管协同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449056" y="4270248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6" name="Text 34"/>
          <p:cNvSpPr/>
          <p:nvPr/>
        </p:nvSpPr>
        <p:spPr>
          <a:xfrm>
            <a:off x="8650224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统筹集中养护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14532D"/>
          </a:solidFill>
        </p:spPr>
      </p:sp>
      <p:sp>
        <p:nvSpPr>
          <p:cNvPr id="38" name="Text 36"/>
          <p:cNvSpPr/>
          <p:nvPr/>
        </p:nvSpPr>
        <p:spPr>
          <a:xfrm>
            <a:off x="548640" y="5989320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用好数据库 → 投准每一分钱 → 管住全过程，构建全链条数字化解决方案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烤房调剂 · 把闲置资源盘活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在线申请 → 智能预测匹配 → 监督实施 → 在线归还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在线申请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00200" y="2633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35808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3580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智能预测匹配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00200" y="38404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242816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42816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监督实施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50474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449824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449824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在线归还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55321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自控仪在线数据 → 预测完成时间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1828800"/>
            <a:ext cx="81838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28600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</a:t>
            </a:r>
            <a:endParaRPr lang="en-US" sz="9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担</a:t>
            </a:r>
            <a:endParaRPr lang="en-US" sz="9600" dirty="0"/>
          </a:p>
        </p:txBody>
      </p:sp>
      <p:sp>
        <p:nvSpPr>
          <p:cNvPr id="21" name="Text 19"/>
          <p:cNvSpPr/>
          <p:nvPr/>
        </p:nvSpPr>
        <p:spPr>
          <a:xfrm>
            <a:off x="3977640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磨坪站烤房群（50栋）烤能提升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3774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供需智能撮合 → 缩短单炕周期 · 加快烘烤周转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28346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烤季空置周期缩短 · 集群周转烤次提升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06640" y="32918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让“抢不到·借不到”成为过去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977640" y="5394960"/>
            <a:ext cx="7452360" cy="640080"/>
          </a:xfrm>
          <a:prstGeom prst="roundRect">
            <a:avLst>
              <a:gd name="adj" fmla="val 14286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5394960"/>
            <a:ext cx="7452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大大缓解“无房用、无人管”之忧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短暂调剂，让每一座烤房都“转”起来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极速抢修 · 3小时化解雷击故障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2026-08-16 磨坪三墩岩 烟农曾平 · 雷击报修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一键报修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手机发起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2032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9776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智慧健康排查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71216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对照健康风险排序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10912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在线诊断排除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02352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自控仪主板/送料电机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04304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42048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配件匹配配送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33488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红岩6km·15min / 磨坪1km·2min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73184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3184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就近取货集中抢修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64624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技术员+抢修人分工配送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557784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42900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小时</a:t>
            </a:r>
            <a:endParaRPr lang="en-US" sz="11000" dirty="0"/>
          </a:p>
        </p:txBody>
      </p:sp>
      <p:sp>
        <p:nvSpPr>
          <p:cNvPr id="28" name="Text 26"/>
          <p:cNvSpPr/>
          <p:nvPr/>
        </p:nvSpPr>
        <p:spPr>
          <a:xfrm>
            <a:off x="914400" y="4663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抢修对传统缩短近 2 小时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3108960"/>
            <a:ext cx="5303520" cy="3017520"/>
          </a:xfrm>
          <a:prstGeom prst="roundRect">
            <a:avLst>
              <a:gd name="adj" fmla="val 484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2918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处理对比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3794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在线闭环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09760" y="37947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小时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75120" y="45262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传统现场+二次上门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09760" y="45262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≈5 小时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75120" y="53492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农户距烟草路程 1小时15分，全程仍控制在 3 小时内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智慧排查+就近配货+分工配送，把烘烤风险降到最低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· 让投入聚能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新建有数 · 修复有据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为烟草公司投入决策提供量化支撑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修复决策辅助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</a:t>
            </a:r>
            <a:endParaRPr lang="en-US" sz="7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年靶向修复（预警设备 210 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4434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修复靠关系 · 盲目修复 · 过程无监督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49377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按健康分定位“该修的烤房与部位”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40680" cy="3977640"/>
          </a:xfrm>
          <a:prstGeom prst="roundRect">
            <a:avLst>
              <a:gd name="adj" fmla="val 367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57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新建决策辅助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7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18" name="Text 16"/>
          <p:cNvSpPr/>
          <p:nvPr/>
        </p:nvSpPr>
        <p:spPr>
          <a:xfrm>
            <a:off x="6492240" y="3977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年全县落地新建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4348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点位：荒口坪 +10　·　三台寺 +12（2026—2028）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以千亩村发展指数为依据，“该建才建”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修复精准、新建科学，杜绝资金错配与投入不公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· 协同合作社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专业管家队伍 + 集中养护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把管护责任、资金、作业“管到位”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9" name="Text 7"/>
          <p:cNvSpPr/>
          <p:nvPr/>
        </p:nvSpPr>
        <p:spPr>
          <a:xfrm>
            <a:off x="841248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调制技术队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统一技术服务 · 烤得好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01568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3694176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紧急抢修队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94176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94176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应急抢修调剂 · 无风险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19" name="Text 17"/>
          <p:cNvSpPr/>
          <p:nvPr/>
        </p:nvSpPr>
        <p:spPr>
          <a:xfrm>
            <a:off x="6547104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综合管理队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47104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4人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47104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统一规划养护 · 款专用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07424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7424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24" name="Text 22"/>
          <p:cNvSpPr/>
          <p:nvPr/>
        </p:nvSpPr>
        <p:spPr>
          <a:xfrm>
            <a:off x="9400032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日常管护队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00032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轮值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00032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标准化养护作业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1110996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集中养护 · 收支两条线 · 柔性用工 · 打卡验收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2296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2026收取养护费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7472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182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347472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2026账面结余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2648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296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12648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历年累计管护基金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824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877824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单栋养护 50→40元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柔性用工：养护支出 6—10 元/栋 · 预计全年省 6,000 元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管护从“概念责任”走向“数字闭环”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922A"/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全维度成效 · 数据看板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D8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验证“1库2模型1平台”落地成果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份问卷·覆盖宜昌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93592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栋烤房·一栋一档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6432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47104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担·50栋烤能提升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9944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63456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AA3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3h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500616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雷击极速抢修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63456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989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栋·2026科学新建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56432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593592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栋·靶向修复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9944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182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6547104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万·账面结余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9944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63456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63456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500616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 单栋养护成本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63456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926080" y="6355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烟农省心 · 企业增效 · 行业提质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多投共建 · 管家自理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从“行业主导”走向“产区自治”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40680" cy="7315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</p:spPr>
      </p:sp>
      <p:sp>
        <p:nvSpPr>
          <p:cNvPr id="9" name="Shape 7"/>
          <p:cNvSpPr/>
          <p:nvPr/>
        </p:nvSpPr>
        <p:spPr>
          <a:xfrm>
            <a:off x="548640" y="2194560"/>
            <a:ext cx="5440680" cy="36576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0" name="Text 8"/>
          <p:cNvSpPr/>
          <p:nvPr/>
        </p:nvSpPr>
        <p:spPr>
          <a:xfrm>
            <a:off x="548640" y="182880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多投共建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2834640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2" name="Text 10"/>
          <p:cNvSpPr/>
          <p:nvPr/>
        </p:nvSpPr>
        <p:spPr>
          <a:xfrm>
            <a:off x="1234440" y="27249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行业投设备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3346704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1234440" y="323697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政府投土建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3858768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6" name="Text 14"/>
          <p:cNvSpPr/>
          <p:nvPr/>
        </p:nvSpPr>
        <p:spPr>
          <a:xfrm>
            <a:off x="1234440" y="37490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合作社管维护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370832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8" name="Text 16"/>
          <p:cNvSpPr/>
          <p:nvPr/>
        </p:nvSpPr>
        <p:spPr>
          <a:xfrm>
            <a:off x="1234440" y="426110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烟农缴租费 · 村级获收益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544068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28800"/>
            <a:ext cx="5440680" cy="731520"/>
          </a:xfrm>
          <a:prstGeom prst="roundRect">
            <a:avLst>
              <a:gd name="adj" fmla="val 20000"/>
            </a:avLst>
          </a:prstGeom>
          <a:solidFill>
            <a:srgbClr val="2E8B6A"/>
          </a:solidFill>
        </p:spPr>
      </p:sp>
      <p:sp>
        <p:nvSpPr>
          <p:cNvPr id="21" name="Shape 19"/>
          <p:cNvSpPr/>
          <p:nvPr/>
        </p:nvSpPr>
        <p:spPr>
          <a:xfrm>
            <a:off x="6172200" y="2194560"/>
            <a:ext cx="5440680" cy="36576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2" name="Text 20"/>
          <p:cNvSpPr/>
          <p:nvPr/>
        </p:nvSpPr>
        <p:spPr>
          <a:xfrm>
            <a:off x="6172200" y="182880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管家自理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629400" y="2834640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4" name="Text 22"/>
          <p:cNvSpPr/>
          <p:nvPr/>
        </p:nvSpPr>
        <p:spPr>
          <a:xfrm>
            <a:off x="6858000" y="27249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滚动积累管护基金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3346704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6" name="Text 24"/>
          <p:cNvSpPr/>
          <p:nvPr/>
        </p:nvSpPr>
        <p:spPr>
          <a:xfrm>
            <a:off x="6858000" y="323697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自主补齐设施短板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3858768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8" name="Text 26"/>
          <p:cNvSpPr/>
          <p:nvPr/>
        </p:nvSpPr>
        <p:spPr>
          <a:xfrm>
            <a:off x="6858000" y="37490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迭代优化智能算法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12174"/>
            </a:avLst>
          </a:prstGeom>
          <a:solidFill>
            <a:srgbClr val="14532D"/>
          </a:solidFill>
        </p:spPr>
      </p:sp>
      <p:sp>
        <p:nvSpPr>
          <p:cNvPr id="30" name="Text 28"/>
          <p:cNvSpPr/>
          <p:nvPr/>
        </p:nvSpPr>
        <p:spPr>
          <a:xfrm>
            <a:off x="548640" y="5413248"/>
            <a:ext cx="11109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数字赋能烤房管护 · 智创烟叶长效未来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8640" y="5870448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8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让每一座烤房都在线 ——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一脉致远，“三智”融合的烤房专业管家 · 汇报人 余文杰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11241</Words>
  <Application>WPS 文字</Application>
  <PresentationFormat>On-screen Show (16:9)</PresentationFormat>
  <Paragraphs>1542</Paragraphs>
  <Slides>29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宋体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创客大赛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宜昌市烟草专卖局（公司）</dc:creator>
  <dc:subject>PptxGenJS Presentation</dc:subject>
  <cp:lastModifiedBy>上善若水</cp:lastModifiedBy>
  <cp:revision>42</cp:revision>
  <dcterms:created xsi:type="dcterms:W3CDTF">2026-09-09T02:53:23Z</dcterms:created>
  <dcterms:modified xsi:type="dcterms:W3CDTF">2026-09-09T02:53:23Z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12CBE54809C748B18422A06A43DF78C6_42</vt:lpwstr>
  </property>
  <property fmtid="{D5CDD505-2E9C-101B-9397-08002B2CF9AE}" pid="3" name="KSOProductBuildVer">
    <vt:lpwstr>2052-12.1.25869.25869</vt:lpwstr>
  </property>
</Properties>
</file>