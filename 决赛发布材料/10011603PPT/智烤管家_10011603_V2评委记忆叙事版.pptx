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416" r:id="rId34"/>
    <p:sldId id="417" r:id="rId35"/>
    <p:sldId id="418" r:id="rId36"/>
    <p:sldId id="419" r:id="rId37"/>
    <p:sldId id="420" r:id="rId38"/>
  </p:sldIdLst>
  <p:sldSz cx="9144000" cy="5143500" type="screen16x9"/>
  <p:notesSz cx="6858000" cy="9144000"/>
  <p:custDataLst>
    <p:tags r:id="rId25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19" userDrawn="1">
          <p15:clr>
            <a:srgbClr val="A4A3A4"/>
          </p15:clr>
        </p15:guide>
        <p15:guide id="2" pos="3989" userDrawn="1">
          <p15:clr>
            <a:srgbClr val="A4A3A4"/>
          </p15:clr>
        </p15:guide>
        <p15:guide id="3" orient="horz" pos="1670" userDrawn="1">
          <p15:clr>
            <a:srgbClr val="A4A3A4"/>
          </p15:clr>
        </p15:guide>
        <p15:guide id="4" pos="2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1160A6"/>
    <a:srgbClr val="173F2A"/>
    <a:srgbClr val="2F7A4F"/>
    <a:srgbClr val="F1A63A"/>
    <a:srgbClr val="0D366B"/>
    <a:srgbClr val="21598E"/>
    <a:srgbClr val="21AB82"/>
    <a:srgbClr val="0051A1"/>
    <a:srgbClr val="152F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2" autoAdjust="0"/>
    <p:restoredTop sz="89414" autoAdjust="0"/>
  </p:normalViewPr>
  <p:slideViewPr>
    <p:cSldViewPr snapToGrid="0" showGuides="1">
      <p:cViewPr varScale="1">
        <p:scale>
          <a:sx n="187" d="100"/>
          <a:sy n="187" d="100"/>
        </p:scale>
        <p:origin x="696" y="156"/>
      </p:cViewPr>
      <p:guideLst>
        <p:guide orient="horz" pos="719"/>
        <p:guide pos="3989"/>
        <p:guide orient="horz" pos="1670"/>
        <p:guide pos="234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4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tags" Target="tags/tag6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D8D3007C-0BBF-4CAD-B02F-7664B804665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8927DC7C-EA85-41EA-BE8E-3BC04B9579C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microsoft.com/office/2007/relationships/hdphoto" Target="../media/image6.wdp"/><Relationship Id="rId4" Type="http://schemas.openxmlformats.org/officeDocument/2006/relationships/image" Target="../media/image7.png"/><Relationship Id="rId5" Type="http://schemas.microsoft.com/office/2007/relationships/hdphoto" Target="../media/image8.wdp"/><Relationship Id="rId6" Type="http://schemas.openxmlformats.org/officeDocument/2006/relationships/image" Target="../media/image9.png"/><Relationship Id="rId7" Type="http://schemas.microsoft.com/office/2007/relationships/hdphoto" Target="../media/image10.wdp"/><Relationship Id="rId8" Type="http://schemas.openxmlformats.org/officeDocument/2006/relationships/image" Target="../media/image11.png"/><Relationship Id="rId9" Type="http://schemas.microsoft.com/office/2007/relationships/hdphoto" Target="../media/image12.wdp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eg"/><Relationship Id="rId3" Type="http://schemas.openxmlformats.org/officeDocument/2006/relationships/image" Target="../media/image1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63438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1652" y="0"/>
            <a:ext cx="9145652" cy="5163438"/>
          </a:xfrm>
          <a:prstGeom prst="rect">
            <a:avLst/>
          </a:prstGeom>
          <a:solidFill>
            <a:srgbClr val="152F4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14163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868"/>
            <a:ext cx="9142346" cy="5141632"/>
          </a:xfrm>
          <a:prstGeom prst="rect">
            <a:avLst/>
          </a:prstGeom>
          <a:solidFill>
            <a:srgbClr val="152F4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16530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868"/>
            <a:ext cx="9142346" cy="5163438"/>
          </a:xfrm>
          <a:prstGeom prst="rect">
            <a:avLst/>
          </a:prstGeom>
          <a:solidFill>
            <a:srgbClr val="152F4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9144000" cy="5143500"/>
          </a:xfrm>
          <a:custGeom>
            <a:avLst/>
            <a:gdLst>
              <a:gd name="connsiteX0" fmla="*/ 0 w 12191998"/>
              <a:gd name="connsiteY0" fmla="*/ 0 h 6858000"/>
              <a:gd name="connsiteX1" fmla="*/ 12191998 w 12191998"/>
              <a:gd name="connsiteY1" fmla="*/ 0 h 6858000"/>
              <a:gd name="connsiteX2" fmla="*/ 12191998 w 12191998"/>
              <a:gd name="connsiteY2" fmla="*/ 6858000 h 6858000"/>
              <a:gd name="connsiteX3" fmla="*/ 0 w 1219199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6858000">
                <a:moveTo>
                  <a:pt x="0" y="0"/>
                </a:moveTo>
                <a:lnTo>
                  <a:pt x="12191998" y="0"/>
                </a:lnTo>
                <a:lnTo>
                  <a:pt x="1219199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/>
          <p:cNvSpPr/>
          <p:nvPr userDrawn="1"/>
        </p:nvSpPr>
        <p:spPr>
          <a:xfrm flipV="1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48000">
                <a:srgbClr val="002742">
                  <a:alpha val="76000"/>
                </a:srgbClr>
              </a:gs>
              <a:gs pos="0">
                <a:srgbClr val="002A52">
                  <a:alpha val="0"/>
                </a:srgbClr>
              </a:gs>
              <a:gs pos="69000">
                <a:srgbClr val="002742">
                  <a:alpha val="0"/>
                </a:srgb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flipV="1">
            <a:off x="0" y="0"/>
            <a:ext cx="9144000" cy="5181456"/>
          </a:xfrm>
          <a:prstGeom prst="rect">
            <a:avLst/>
          </a:prstGeom>
          <a:gradFill flip="none" rotWithShape="1">
            <a:gsLst>
              <a:gs pos="30000">
                <a:srgbClr val="002742"/>
              </a:gs>
              <a:gs pos="0">
                <a:srgbClr val="002A52"/>
              </a:gs>
              <a:gs pos="100000">
                <a:srgbClr val="002742">
                  <a:alpha val="19000"/>
                </a:srgb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-2175388" y="-2142989"/>
            <a:ext cx="12912212" cy="6300652"/>
          </a:xfrm>
          <a:prstGeom prst="ellipse">
            <a:avLst/>
          </a:prstGeom>
          <a:solidFill>
            <a:srgbClr val="1473CA">
              <a:alpha val="5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760666" y="-1784392"/>
            <a:ext cx="7622669" cy="3683789"/>
          </a:xfrm>
          <a:prstGeom prst="ellipse">
            <a:avLst/>
          </a:prstGeom>
          <a:solidFill>
            <a:srgbClr val="1473CA">
              <a:alpha val="28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-1884106" y="-2002473"/>
            <a:ext cx="12912212" cy="4341557"/>
          </a:xfrm>
          <a:prstGeom prst="ellipse">
            <a:avLst/>
          </a:prstGeom>
          <a:solidFill>
            <a:srgbClr val="1473CA">
              <a:alpha val="14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pic>
        <p:nvPicPr>
          <p:cNvPr id="22" name="图片 21" descr="图片包含 绿色, 大, 灯光, 风筝&#10;&#10;描述已自动生成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4292" y="1802390"/>
            <a:ext cx="7429500" cy="3486150"/>
          </a:xfrm>
          <a:prstGeom prst="rect">
            <a:avLst/>
          </a:prstGeom>
          <a:effectLst>
            <a:softEdge rad="914400"/>
          </a:effectLst>
        </p:spPr>
      </p:pic>
      <p:sp>
        <p:nvSpPr>
          <p:cNvPr id="2" name="矩形 1"/>
          <p:cNvSpPr/>
          <p:nvPr userDrawn="1"/>
        </p:nvSpPr>
        <p:spPr>
          <a:xfrm>
            <a:off x="0" y="3019922"/>
            <a:ext cx="9144001" cy="2123578"/>
          </a:xfrm>
          <a:prstGeom prst="rect">
            <a:avLst/>
          </a:prstGeom>
          <a:gradFill>
            <a:gsLst>
              <a:gs pos="0">
                <a:srgbClr val="031E3B">
                  <a:alpha val="0"/>
                </a:srgbClr>
              </a:gs>
              <a:gs pos="63000">
                <a:srgbClr val="011225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pic>
        <p:nvPicPr>
          <p:cNvPr id="3" name="图片 2" descr="背景图案&#10;&#10;中度可信度描述已自动生成"/>
          <p:cNvPicPr>
            <a:picLocks noChangeAspect="1"/>
          </p:cNvPicPr>
          <p:nvPr userDrawn="1"/>
        </p:nvPicPr>
        <p:blipFill>
          <a:blip r:embed="rId4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20768342">
            <a:off x="5746277" y="464137"/>
            <a:ext cx="4048894" cy="4944077"/>
          </a:xfrm>
          <a:custGeom>
            <a:avLst/>
            <a:gdLst>
              <a:gd name="connsiteX0" fmla="*/ 5398525 w 5398525"/>
              <a:gd name="connsiteY0" fmla="*/ 0 h 6592103"/>
              <a:gd name="connsiteX1" fmla="*/ 3771909 w 5398525"/>
              <a:gd name="connsiteY1" fmla="*/ 6592103 h 6592103"/>
              <a:gd name="connsiteX2" fmla="*/ 0 w 5398525"/>
              <a:gd name="connsiteY2" fmla="*/ 5661377 h 6592103"/>
              <a:gd name="connsiteX3" fmla="*/ 0 w 5398525"/>
              <a:gd name="connsiteY3" fmla="*/ 0 h 6592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8525" h="6592102">
                <a:moveTo>
                  <a:pt x="5398525" y="0"/>
                </a:moveTo>
                <a:lnTo>
                  <a:pt x="3771909" y="6592103"/>
                </a:lnTo>
                <a:lnTo>
                  <a:pt x="0" y="566137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" name="图片 3" descr="背景图案&#10;&#10;中度可信度描述已自动生成"/>
          <p:cNvPicPr>
            <a:picLocks noChangeAspect="1"/>
          </p:cNvPicPr>
          <p:nvPr userDrawn="1"/>
        </p:nvPicPr>
        <p:blipFill>
          <a:blip r:embed="rId6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271206" flipH="1">
            <a:off x="-180046" y="829144"/>
            <a:ext cx="3494095" cy="4431323"/>
          </a:xfrm>
          <a:custGeom>
            <a:avLst/>
            <a:gdLst>
              <a:gd name="connsiteX0" fmla="*/ 4658793 w 4658793"/>
              <a:gd name="connsiteY0" fmla="*/ 0 h 5908430"/>
              <a:gd name="connsiteX1" fmla="*/ 0 w 4658793"/>
              <a:gd name="connsiteY1" fmla="*/ 0 h 5908430"/>
              <a:gd name="connsiteX2" fmla="*/ 0 w 4658793"/>
              <a:gd name="connsiteY2" fmla="*/ 5577056 h 5908430"/>
              <a:gd name="connsiteX3" fmla="*/ 4191704 w 4658793"/>
              <a:gd name="connsiteY3" fmla="*/ 5908430 h 590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58793" h="5908430">
                <a:moveTo>
                  <a:pt x="4658793" y="0"/>
                </a:moveTo>
                <a:lnTo>
                  <a:pt x="0" y="0"/>
                </a:lnTo>
                <a:lnTo>
                  <a:pt x="0" y="5577056"/>
                </a:lnTo>
                <a:lnTo>
                  <a:pt x="4191704" y="5908430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8" cstate="email">
            <a:alphaModFix amt="79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1" y="0"/>
            <a:ext cx="9144001" cy="959455"/>
          </a:xfrm>
          <a:prstGeom prst="rect">
            <a:avLst/>
          </a:prstGeom>
          <a:effectLst>
            <a:softEdge rad="228600"/>
          </a:effectLst>
        </p:spPr>
      </p:pic>
      <p:sp>
        <p:nvSpPr>
          <p:cNvPr id="14" name="图形 46"/>
          <p:cNvSpPr/>
          <p:nvPr userDrawn="1"/>
        </p:nvSpPr>
        <p:spPr>
          <a:xfrm>
            <a:off x="112569" y="352311"/>
            <a:ext cx="368612" cy="421271"/>
          </a:xfrm>
          <a:custGeom>
            <a:avLst/>
            <a:gdLst>
              <a:gd name="connsiteX0" fmla="*/ 885899 w 1666875"/>
              <a:gd name="connsiteY0" fmla="*/ 454670 h 1905000"/>
              <a:gd name="connsiteX1" fmla="*/ 780976 w 1666875"/>
              <a:gd name="connsiteY1" fmla="*/ 454670 h 1905000"/>
              <a:gd name="connsiteX2" fmla="*/ 930 w 1666875"/>
              <a:gd name="connsiteY2" fmla="*/ 1905000 h 1905000"/>
              <a:gd name="connsiteX3" fmla="*/ 110877 w 1666875"/>
              <a:gd name="connsiteY3" fmla="*/ 1905000 h 1905000"/>
              <a:gd name="connsiteX4" fmla="*/ 164083 w 1666875"/>
              <a:gd name="connsiteY4" fmla="*/ 1872072 h 1905000"/>
              <a:gd name="connsiteX5" fmla="*/ 296168 w 1666875"/>
              <a:gd name="connsiteY5" fmla="*/ 1607344 h 1905000"/>
              <a:gd name="connsiteX6" fmla="*/ 1370707 w 1666875"/>
              <a:gd name="connsiteY6" fmla="*/ 1607344 h 1905000"/>
              <a:gd name="connsiteX7" fmla="*/ 1502792 w 1666875"/>
              <a:gd name="connsiteY7" fmla="*/ 1872072 h 1905000"/>
              <a:gd name="connsiteX8" fmla="*/ 1555998 w 1666875"/>
              <a:gd name="connsiteY8" fmla="*/ 1905000 h 1905000"/>
              <a:gd name="connsiteX9" fmla="*/ 1665945 w 1666875"/>
              <a:gd name="connsiteY9" fmla="*/ 1905000 h 1905000"/>
              <a:gd name="connsiteX10" fmla="*/ 885899 w 1666875"/>
              <a:gd name="connsiteY10" fmla="*/ 454670 h 1905000"/>
              <a:gd name="connsiteX11" fmla="*/ 807207 w 1666875"/>
              <a:gd name="connsiteY11" fmla="*/ 657262 h 1905000"/>
              <a:gd name="connsiteX12" fmla="*/ 859668 w 1666875"/>
              <a:gd name="connsiteY12" fmla="*/ 657262 h 1905000"/>
              <a:gd name="connsiteX13" fmla="*/ 1050541 w 1666875"/>
              <a:gd name="connsiteY13" fmla="*/ 1012031 h 1905000"/>
              <a:gd name="connsiteX14" fmla="*/ 616334 w 1666875"/>
              <a:gd name="connsiteY14" fmla="*/ 1012031 h 1905000"/>
              <a:gd name="connsiteX15" fmla="*/ 807207 w 1666875"/>
              <a:gd name="connsiteY15" fmla="*/ 657262 h 1905000"/>
              <a:gd name="connsiteX16" fmla="*/ 552338 w 1666875"/>
              <a:gd name="connsiteY16" fmla="*/ 1131094 h 1905000"/>
              <a:gd name="connsiteX17" fmla="*/ 868970 w 1666875"/>
              <a:gd name="connsiteY17" fmla="*/ 1131094 h 1905000"/>
              <a:gd name="connsiteX18" fmla="*/ 409649 w 1666875"/>
              <a:gd name="connsiteY18" fmla="*/ 1396194 h 1905000"/>
              <a:gd name="connsiteX19" fmla="*/ 552338 w 1666875"/>
              <a:gd name="connsiteY19" fmla="*/ 1131094 h 1905000"/>
              <a:gd name="connsiteX20" fmla="*/ 488342 w 1666875"/>
              <a:gd name="connsiteY20" fmla="*/ 1488281 h 1905000"/>
              <a:gd name="connsiteX21" fmla="*/ 1106909 w 1666875"/>
              <a:gd name="connsiteY21" fmla="*/ 1131094 h 1905000"/>
              <a:gd name="connsiteX22" fmla="*/ 1112676 w 1666875"/>
              <a:gd name="connsiteY22" fmla="*/ 1127745 h 1905000"/>
              <a:gd name="connsiteX23" fmla="*/ 1114351 w 1666875"/>
              <a:gd name="connsiteY23" fmla="*/ 1131094 h 1905000"/>
              <a:gd name="connsiteX24" fmla="*/ 1306525 w 1666875"/>
              <a:gd name="connsiteY24" fmla="*/ 1488281 h 1905000"/>
              <a:gd name="connsiteX25" fmla="*/ 488342 w 1666875"/>
              <a:gd name="connsiteY25" fmla="*/ 1488281 h 1905000"/>
              <a:gd name="connsiteX26" fmla="*/ 1127187 w 1666875"/>
              <a:gd name="connsiteY26" fmla="*/ 272914 h 1905000"/>
              <a:gd name="connsiteX27" fmla="*/ 1029333 w 1666875"/>
              <a:gd name="connsiteY27" fmla="*/ 340630 h 1905000"/>
              <a:gd name="connsiteX28" fmla="*/ 1071563 w 1666875"/>
              <a:gd name="connsiteY28" fmla="*/ 476250 h 1905000"/>
              <a:gd name="connsiteX29" fmla="*/ 1029333 w 1666875"/>
              <a:gd name="connsiteY29" fmla="*/ 611870 h 1905000"/>
              <a:gd name="connsiteX30" fmla="*/ 1127187 w 1666875"/>
              <a:gd name="connsiteY30" fmla="*/ 679586 h 1905000"/>
              <a:gd name="connsiteX31" fmla="*/ 1190625 w 1666875"/>
              <a:gd name="connsiteY31" fmla="*/ 476250 h 1905000"/>
              <a:gd name="connsiteX32" fmla="*/ 1127187 w 1666875"/>
              <a:gd name="connsiteY32" fmla="*/ 272914 h 1905000"/>
              <a:gd name="connsiteX33" fmla="*/ 539688 w 1666875"/>
              <a:gd name="connsiteY33" fmla="*/ 272914 h 1905000"/>
              <a:gd name="connsiteX34" fmla="*/ 476250 w 1666875"/>
              <a:gd name="connsiteY34" fmla="*/ 476250 h 1905000"/>
              <a:gd name="connsiteX35" fmla="*/ 539688 w 1666875"/>
              <a:gd name="connsiteY35" fmla="*/ 679586 h 1905000"/>
              <a:gd name="connsiteX36" fmla="*/ 637543 w 1666875"/>
              <a:gd name="connsiteY36" fmla="*/ 611870 h 1905000"/>
              <a:gd name="connsiteX37" fmla="*/ 595313 w 1666875"/>
              <a:gd name="connsiteY37" fmla="*/ 476250 h 1905000"/>
              <a:gd name="connsiteX38" fmla="*/ 637543 w 1666875"/>
              <a:gd name="connsiteY38" fmla="*/ 340630 h 1905000"/>
              <a:gd name="connsiteX39" fmla="*/ 539688 w 1666875"/>
              <a:gd name="connsiteY39" fmla="*/ 272914 h 1905000"/>
              <a:gd name="connsiteX40" fmla="*/ 1299270 w 1666875"/>
              <a:gd name="connsiteY40" fmla="*/ 153665 h 1905000"/>
              <a:gd name="connsiteX41" fmla="*/ 1201415 w 1666875"/>
              <a:gd name="connsiteY41" fmla="*/ 221382 h 1905000"/>
              <a:gd name="connsiteX42" fmla="*/ 1244389 w 1666875"/>
              <a:gd name="connsiteY42" fmla="*/ 300261 h 1905000"/>
              <a:gd name="connsiteX43" fmla="*/ 1279922 w 1666875"/>
              <a:gd name="connsiteY43" fmla="*/ 476250 h 1905000"/>
              <a:gd name="connsiteX44" fmla="*/ 1244389 w 1666875"/>
              <a:gd name="connsiteY44" fmla="*/ 652239 h 1905000"/>
              <a:gd name="connsiteX45" fmla="*/ 1201415 w 1666875"/>
              <a:gd name="connsiteY45" fmla="*/ 731118 h 1905000"/>
              <a:gd name="connsiteX46" fmla="*/ 1299270 w 1666875"/>
              <a:gd name="connsiteY46" fmla="*/ 798835 h 1905000"/>
              <a:gd name="connsiteX47" fmla="*/ 1398984 w 1666875"/>
              <a:gd name="connsiteY47" fmla="*/ 476250 h 1905000"/>
              <a:gd name="connsiteX48" fmla="*/ 1299270 w 1666875"/>
              <a:gd name="connsiteY48" fmla="*/ 153665 h 1905000"/>
              <a:gd name="connsiteX49" fmla="*/ 458019 w 1666875"/>
              <a:gd name="connsiteY49" fmla="*/ 216359 h 1905000"/>
              <a:gd name="connsiteX50" fmla="*/ 360164 w 1666875"/>
              <a:gd name="connsiteY50" fmla="*/ 148642 h 1905000"/>
              <a:gd name="connsiteX51" fmla="*/ 256729 w 1666875"/>
              <a:gd name="connsiteY51" fmla="*/ 476250 h 1905000"/>
              <a:gd name="connsiteX52" fmla="*/ 359978 w 1666875"/>
              <a:gd name="connsiteY52" fmla="*/ 804044 h 1905000"/>
              <a:gd name="connsiteX53" fmla="*/ 457833 w 1666875"/>
              <a:gd name="connsiteY53" fmla="*/ 736327 h 1905000"/>
              <a:gd name="connsiteX54" fmla="*/ 411138 w 1666875"/>
              <a:gd name="connsiteY54" fmla="*/ 652239 h 1905000"/>
              <a:gd name="connsiteX55" fmla="*/ 375791 w 1666875"/>
              <a:gd name="connsiteY55" fmla="*/ 476250 h 1905000"/>
              <a:gd name="connsiteX56" fmla="*/ 411324 w 1666875"/>
              <a:gd name="connsiteY56" fmla="*/ 300261 h 1905000"/>
              <a:gd name="connsiteX57" fmla="*/ 458019 w 1666875"/>
              <a:gd name="connsiteY57" fmla="*/ 216359 h 1905000"/>
              <a:gd name="connsiteX58" fmla="*/ 1521396 w 1666875"/>
              <a:gd name="connsiteY58" fmla="*/ 0 h 1905000"/>
              <a:gd name="connsiteX59" fmla="*/ 1423541 w 1666875"/>
              <a:gd name="connsiteY59" fmla="*/ 67717 h 1905000"/>
              <a:gd name="connsiteX60" fmla="*/ 1491816 w 1666875"/>
              <a:gd name="connsiteY60" fmla="*/ 192546 h 1905000"/>
              <a:gd name="connsiteX61" fmla="*/ 1547999 w 1666875"/>
              <a:gd name="connsiteY61" fmla="*/ 470669 h 1905000"/>
              <a:gd name="connsiteX62" fmla="*/ 1491816 w 1666875"/>
              <a:gd name="connsiteY62" fmla="*/ 748792 h 1905000"/>
              <a:gd name="connsiteX63" fmla="*/ 1418332 w 1666875"/>
              <a:gd name="connsiteY63" fmla="*/ 881249 h 1905000"/>
              <a:gd name="connsiteX64" fmla="*/ 1516187 w 1666875"/>
              <a:gd name="connsiteY64" fmla="*/ 948779 h 1905000"/>
              <a:gd name="connsiteX65" fmla="*/ 1666875 w 1666875"/>
              <a:gd name="connsiteY65" fmla="*/ 470669 h 1905000"/>
              <a:gd name="connsiteX66" fmla="*/ 1521396 w 1666875"/>
              <a:gd name="connsiteY66" fmla="*/ 0 h 1905000"/>
              <a:gd name="connsiteX67" fmla="*/ 119063 w 1666875"/>
              <a:gd name="connsiteY67" fmla="*/ 470669 h 1905000"/>
              <a:gd name="connsiteX68" fmla="*/ 175245 w 1666875"/>
              <a:gd name="connsiteY68" fmla="*/ 192546 h 1905000"/>
              <a:gd name="connsiteX69" fmla="*/ 243520 w 1666875"/>
              <a:gd name="connsiteY69" fmla="*/ 67717 h 1905000"/>
              <a:gd name="connsiteX70" fmla="*/ 145479 w 1666875"/>
              <a:gd name="connsiteY70" fmla="*/ 0 h 1905000"/>
              <a:gd name="connsiteX71" fmla="*/ 0 w 1666875"/>
              <a:gd name="connsiteY71" fmla="*/ 470669 h 1905000"/>
              <a:gd name="connsiteX72" fmla="*/ 150688 w 1666875"/>
              <a:gd name="connsiteY72" fmla="*/ 948779 h 1905000"/>
              <a:gd name="connsiteX73" fmla="*/ 248543 w 1666875"/>
              <a:gd name="connsiteY73" fmla="*/ 881063 h 1905000"/>
              <a:gd name="connsiteX74" fmla="*/ 175059 w 1666875"/>
              <a:gd name="connsiteY74" fmla="*/ 748605 h 1905000"/>
              <a:gd name="connsiteX75" fmla="*/ 119063 w 1666875"/>
              <a:gd name="connsiteY75" fmla="*/ 470669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1666875" h="1905000">
                <a:moveTo>
                  <a:pt x="885899" y="454670"/>
                </a:moveTo>
                <a:cubicBezTo>
                  <a:pt x="863389" y="412812"/>
                  <a:pt x="803486" y="412812"/>
                  <a:pt x="780976" y="454670"/>
                </a:cubicBezTo>
                <a:lnTo>
                  <a:pt x="930" y="1905000"/>
                </a:lnTo>
                <a:lnTo>
                  <a:pt x="110877" y="1905000"/>
                </a:lnTo>
                <a:cubicBezTo>
                  <a:pt x="133387" y="1905000"/>
                  <a:pt x="154037" y="1892164"/>
                  <a:pt x="164083" y="1872072"/>
                </a:cubicBezTo>
                <a:lnTo>
                  <a:pt x="296168" y="1607344"/>
                </a:lnTo>
                <a:lnTo>
                  <a:pt x="1370707" y="1607344"/>
                </a:lnTo>
                <a:lnTo>
                  <a:pt x="1502792" y="1872072"/>
                </a:lnTo>
                <a:cubicBezTo>
                  <a:pt x="1512838" y="1892350"/>
                  <a:pt x="1533488" y="1905000"/>
                  <a:pt x="1555998" y="1905000"/>
                </a:cubicBezTo>
                <a:lnTo>
                  <a:pt x="1665945" y="1905000"/>
                </a:lnTo>
                <a:lnTo>
                  <a:pt x="885899" y="454670"/>
                </a:lnTo>
                <a:close/>
                <a:moveTo>
                  <a:pt x="807207" y="657262"/>
                </a:moveTo>
                <a:cubicBezTo>
                  <a:pt x="818369" y="636426"/>
                  <a:pt x="848320" y="636426"/>
                  <a:pt x="859668" y="657262"/>
                </a:cubicBezTo>
                <a:lnTo>
                  <a:pt x="1050541" y="1012031"/>
                </a:lnTo>
                <a:lnTo>
                  <a:pt x="616334" y="1012031"/>
                </a:lnTo>
                <a:lnTo>
                  <a:pt x="807207" y="657262"/>
                </a:lnTo>
                <a:close/>
                <a:moveTo>
                  <a:pt x="552338" y="1131094"/>
                </a:moveTo>
                <a:lnTo>
                  <a:pt x="868970" y="1131094"/>
                </a:lnTo>
                <a:lnTo>
                  <a:pt x="409649" y="1396194"/>
                </a:lnTo>
                <a:lnTo>
                  <a:pt x="552338" y="1131094"/>
                </a:lnTo>
                <a:close/>
                <a:moveTo>
                  <a:pt x="488342" y="1488281"/>
                </a:moveTo>
                <a:lnTo>
                  <a:pt x="1106909" y="1131094"/>
                </a:lnTo>
                <a:lnTo>
                  <a:pt x="1112676" y="1127745"/>
                </a:lnTo>
                <a:lnTo>
                  <a:pt x="1114351" y="1131094"/>
                </a:lnTo>
                <a:lnTo>
                  <a:pt x="1306525" y="1488281"/>
                </a:lnTo>
                <a:lnTo>
                  <a:pt x="488342" y="1488281"/>
                </a:lnTo>
                <a:close/>
                <a:moveTo>
                  <a:pt x="1127187" y="272914"/>
                </a:moveTo>
                <a:lnTo>
                  <a:pt x="1029333" y="340630"/>
                </a:lnTo>
                <a:cubicBezTo>
                  <a:pt x="1056680" y="380256"/>
                  <a:pt x="1071563" y="427137"/>
                  <a:pt x="1071563" y="476250"/>
                </a:cubicBezTo>
                <a:cubicBezTo>
                  <a:pt x="1071563" y="525363"/>
                  <a:pt x="1056680" y="572244"/>
                  <a:pt x="1029333" y="611870"/>
                </a:cubicBezTo>
                <a:lnTo>
                  <a:pt x="1127187" y="679586"/>
                </a:lnTo>
                <a:cubicBezTo>
                  <a:pt x="1167185" y="621916"/>
                  <a:pt x="1190625" y="551780"/>
                  <a:pt x="1190625" y="476250"/>
                </a:cubicBezTo>
                <a:cubicBezTo>
                  <a:pt x="1190625" y="400720"/>
                  <a:pt x="1167185" y="330584"/>
                  <a:pt x="1127187" y="272914"/>
                </a:cubicBezTo>
                <a:close/>
                <a:moveTo>
                  <a:pt x="539688" y="272914"/>
                </a:moveTo>
                <a:cubicBezTo>
                  <a:pt x="499690" y="330584"/>
                  <a:pt x="476250" y="400720"/>
                  <a:pt x="476250" y="476250"/>
                </a:cubicBezTo>
                <a:cubicBezTo>
                  <a:pt x="476250" y="551780"/>
                  <a:pt x="499690" y="621916"/>
                  <a:pt x="539688" y="679586"/>
                </a:cubicBezTo>
                <a:lnTo>
                  <a:pt x="637543" y="611870"/>
                </a:lnTo>
                <a:cubicBezTo>
                  <a:pt x="610195" y="572244"/>
                  <a:pt x="595313" y="525363"/>
                  <a:pt x="595313" y="476250"/>
                </a:cubicBezTo>
                <a:cubicBezTo>
                  <a:pt x="595313" y="427137"/>
                  <a:pt x="610195" y="380256"/>
                  <a:pt x="637543" y="340630"/>
                </a:cubicBezTo>
                <a:lnTo>
                  <a:pt x="539688" y="272914"/>
                </a:lnTo>
                <a:close/>
                <a:moveTo>
                  <a:pt x="1299270" y="153665"/>
                </a:moveTo>
                <a:lnTo>
                  <a:pt x="1201415" y="221382"/>
                </a:lnTo>
                <a:cubicBezTo>
                  <a:pt x="1218344" y="246125"/>
                  <a:pt x="1232669" y="272355"/>
                  <a:pt x="1244389" y="300261"/>
                </a:cubicBezTo>
                <a:cubicBezTo>
                  <a:pt x="1268016" y="355885"/>
                  <a:pt x="1279922" y="415044"/>
                  <a:pt x="1279922" y="476250"/>
                </a:cubicBezTo>
                <a:cubicBezTo>
                  <a:pt x="1279922" y="537270"/>
                  <a:pt x="1268016" y="596429"/>
                  <a:pt x="1244389" y="652239"/>
                </a:cubicBezTo>
                <a:cubicBezTo>
                  <a:pt x="1232669" y="679959"/>
                  <a:pt x="1218344" y="706376"/>
                  <a:pt x="1201415" y="731118"/>
                </a:cubicBezTo>
                <a:lnTo>
                  <a:pt x="1299270" y="798835"/>
                </a:lnTo>
                <a:cubicBezTo>
                  <a:pt x="1362149" y="706934"/>
                  <a:pt x="1398984" y="595871"/>
                  <a:pt x="1398984" y="476250"/>
                </a:cubicBezTo>
                <a:cubicBezTo>
                  <a:pt x="1398984" y="356629"/>
                  <a:pt x="1362149" y="245566"/>
                  <a:pt x="1299270" y="153665"/>
                </a:cubicBezTo>
                <a:close/>
                <a:moveTo>
                  <a:pt x="458019" y="216359"/>
                </a:moveTo>
                <a:lnTo>
                  <a:pt x="360164" y="148642"/>
                </a:lnTo>
                <a:cubicBezTo>
                  <a:pt x="294866" y="241288"/>
                  <a:pt x="256729" y="354397"/>
                  <a:pt x="256729" y="476250"/>
                </a:cubicBezTo>
                <a:cubicBezTo>
                  <a:pt x="256729" y="598103"/>
                  <a:pt x="294866" y="711212"/>
                  <a:pt x="359978" y="804044"/>
                </a:cubicBezTo>
                <a:lnTo>
                  <a:pt x="457833" y="736327"/>
                </a:lnTo>
                <a:cubicBezTo>
                  <a:pt x="439415" y="710096"/>
                  <a:pt x="423788" y="682005"/>
                  <a:pt x="411138" y="652239"/>
                </a:cubicBezTo>
                <a:cubicBezTo>
                  <a:pt x="387697" y="596429"/>
                  <a:pt x="375791" y="537270"/>
                  <a:pt x="375791" y="476250"/>
                </a:cubicBezTo>
                <a:cubicBezTo>
                  <a:pt x="375791" y="415230"/>
                  <a:pt x="387697" y="355885"/>
                  <a:pt x="411324" y="300261"/>
                </a:cubicBezTo>
                <a:cubicBezTo>
                  <a:pt x="423788" y="270495"/>
                  <a:pt x="439415" y="242404"/>
                  <a:pt x="458019" y="216359"/>
                </a:cubicBezTo>
                <a:close/>
                <a:moveTo>
                  <a:pt x="1521396" y="0"/>
                </a:moveTo>
                <a:lnTo>
                  <a:pt x="1423541" y="67717"/>
                </a:lnTo>
                <a:cubicBezTo>
                  <a:pt x="1450330" y="106784"/>
                  <a:pt x="1473213" y="148642"/>
                  <a:pt x="1491816" y="192546"/>
                </a:cubicBezTo>
                <a:cubicBezTo>
                  <a:pt x="1529023" y="280541"/>
                  <a:pt x="1547999" y="374117"/>
                  <a:pt x="1547999" y="470669"/>
                </a:cubicBezTo>
                <a:cubicBezTo>
                  <a:pt x="1547999" y="567221"/>
                  <a:pt x="1529209" y="660611"/>
                  <a:pt x="1491816" y="748792"/>
                </a:cubicBezTo>
                <a:cubicBezTo>
                  <a:pt x="1471910" y="795672"/>
                  <a:pt x="1447354" y="839949"/>
                  <a:pt x="1418332" y="881249"/>
                </a:cubicBezTo>
                <a:lnTo>
                  <a:pt x="1516187" y="948779"/>
                </a:lnTo>
                <a:cubicBezTo>
                  <a:pt x="1611251" y="813346"/>
                  <a:pt x="1666875" y="648519"/>
                  <a:pt x="1666875" y="470669"/>
                </a:cubicBezTo>
                <a:cubicBezTo>
                  <a:pt x="1666875" y="295982"/>
                  <a:pt x="1613111" y="133945"/>
                  <a:pt x="1521396" y="0"/>
                </a:cubicBezTo>
                <a:close/>
                <a:moveTo>
                  <a:pt x="119063" y="470669"/>
                </a:moveTo>
                <a:cubicBezTo>
                  <a:pt x="119063" y="374117"/>
                  <a:pt x="137852" y="280541"/>
                  <a:pt x="175245" y="192546"/>
                </a:cubicBezTo>
                <a:cubicBezTo>
                  <a:pt x="193849" y="148456"/>
                  <a:pt x="216731" y="106784"/>
                  <a:pt x="243520" y="67717"/>
                </a:cubicBezTo>
                <a:lnTo>
                  <a:pt x="145479" y="0"/>
                </a:lnTo>
                <a:cubicBezTo>
                  <a:pt x="53764" y="133945"/>
                  <a:pt x="0" y="295982"/>
                  <a:pt x="0" y="470669"/>
                </a:cubicBezTo>
                <a:cubicBezTo>
                  <a:pt x="0" y="648519"/>
                  <a:pt x="55811" y="813532"/>
                  <a:pt x="150688" y="948779"/>
                </a:cubicBezTo>
                <a:lnTo>
                  <a:pt x="248543" y="881063"/>
                </a:lnTo>
                <a:cubicBezTo>
                  <a:pt x="219521" y="839763"/>
                  <a:pt x="194965" y="795486"/>
                  <a:pt x="175059" y="748605"/>
                </a:cubicBezTo>
                <a:cubicBezTo>
                  <a:pt x="137852" y="660611"/>
                  <a:pt x="119063" y="567221"/>
                  <a:pt x="119063" y="470669"/>
                </a:cubicBezTo>
                <a:close/>
              </a:path>
            </a:pathLst>
          </a:custGeom>
          <a:gradFill flip="none" rotWithShape="1">
            <a:gsLst>
              <a:gs pos="0">
                <a:srgbClr val="E6F7FE"/>
              </a:gs>
              <a:gs pos="82000">
                <a:srgbClr val="5ECDF6"/>
              </a:gs>
            </a:gsLst>
            <a:lin ang="5400000" scaled="1"/>
          </a:gra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竖排文字占位符 9"/>
          <p:cNvSpPr>
            <a:spLocks noGrp="1"/>
          </p:cNvSpPr>
          <p:nvPr>
            <p:ph type="body" orient="vert" sz="quarter" idx="15" hasCustomPrompt="1"/>
          </p:nvPr>
        </p:nvSpPr>
        <p:spPr>
          <a:xfrm flipH="1">
            <a:off x="2284256" y="2237286"/>
            <a:ext cx="4575489" cy="42982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buNone/>
              <a:defRPr lang="zh-CN" altLang="en-US" sz="1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5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494110" y="1215798"/>
            <a:ext cx="8155781" cy="800645"/>
          </a:xfrm>
        </p:spPr>
        <p:txBody>
          <a:bodyPr anchor="ctr">
            <a:noAutofit/>
          </a:bodyPr>
          <a:lstStyle>
            <a:lvl1pPr marL="0" indent="0" algn="ctr">
              <a:spcBef>
                <a:spcPct val="0"/>
              </a:spcBef>
              <a:buNone/>
              <a:defRPr lang="zh-CN" altLang="en-US" sz="4950" b="0" kern="1200" spc="0" baseline="0" smtClean="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alpha val="60000"/>
                      </a:schemeClr>
                    </a:gs>
                  </a:gsLst>
                  <a:lin ang="5400000" scaled="1"/>
                </a:gradFill>
                <a:effectLst/>
                <a:latin typeface="+mj-ea"/>
                <a:ea typeface="+mj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zh-CN" altLang="en-US"/>
              <a:t>标题文字</a:t>
            </a:r>
            <a:endParaRPr lang="en-US" altLang="zh-CN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7" hasCustomPrompt="1"/>
          </p:nvPr>
        </p:nvSpPr>
        <p:spPr>
          <a:xfrm flipH="1">
            <a:off x="3636596" y="2934557"/>
            <a:ext cx="1870808" cy="429823"/>
          </a:xfrm>
          <a:prstGeom prst="rect">
            <a:avLst/>
          </a:prstGeom>
          <a:noFill/>
          <a:ln>
            <a:gradFill flip="none" rotWithShape="1">
              <a:gsLst>
                <a:gs pos="60500">
                  <a:srgbClr val="2EBDFA"/>
                </a:gs>
                <a:gs pos="0">
                  <a:schemeClr val="accent4">
                    <a:alpha val="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16200000" scaled="1"/>
            </a:gra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ct val="0"/>
              </a:spcBef>
              <a:buNone/>
              <a:defRPr lang="zh-CN" altLang="en-US" sz="135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2C5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51667" y="-830628"/>
            <a:ext cx="5240666" cy="2947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0" y="-476"/>
            <a:ext cx="9144000" cy="5144929"/>
            <a:chOff x="0" y="-1"/>
            <a:chExt cx="19200" cy="10803"/>
          </a:xfrm>
        </p:grpSpPr>
        <p:pic>
          <p:nvPicPr>
            <p:cNvPr id="3" name="图片 2" descr="微信图片_20250718163043_3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19200" cy="10802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0" y="0"/>
              <a:ext cx="19200" cy="10802"/>
            </a:xfrm>
            <a:prstGeom prst="rect">
              <a:avLst/>
            </a:prstGeom>
            <a:solidFill>
              <a:srgbClr val="000000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32.xml"/><Relationship Id="rId20" Type="http://schemas.openxmlformats.org/officeDocument/2006/relationships/image" Target="../media/image17.png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D812D-BC7E-4A63-8046-08152F57DF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0A57E-7639-4332-A278-621DDC2362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</p:sldLayoutIdLst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8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6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031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rcRect t="12537" b="1253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1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72" y="1078992"/>
            <a:ext cx="3909157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BFF"/>
                </a:solidFill>
                <a:latin typeface="黑体"/>
              </a:rPr>
              <a:t>智烤管家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88" y="1847088"/>
            <a:ext cx="603519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ABCDE0"/>
                </a:solidFill>
                <a:latin typeface="微软雅黑"/>
              </a:rPr>
              <a:t>基于健康评估的烤房 </a:t>
            </a:r>
            <a:r>
              <a:rPr sz="2100" b="1">
                <a:solidFill>
                  <a:srgbClr val="FFC400"/>
                </a:solidFill>
                <a:latin typeface="微软雅黑"/>
              </a:rPr>
              <a:t>用·投·管</a:t>
            </a:r>
            <a:r>
              <a:rPr sz="1800" b="0">
                <a:solidFill>
                  <a:srgbClr val="ABCDE0"/>
                </a:solidFill>
                <a:latin typeface="微软雅黑"/>
              </a:rPr>
              <a:t> 一体化解决方案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88" y="2487168"/>
            <a:ext cx="5486537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D5FF"/>
                </a:solidFill>
                <a:latin typeface="黑体"/>
              </a:rPr>
              <a:t>一库清底  ·  双模决策  ·  三智落地  ·  四队长效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88" y="3090672"/>
            <a:ext cx="2057451" cy="402336"/>
          </a:xfrm>
          <a:prstGeom prst="roundRect">
            <a:avLst/>
          </a:prstGeom>
          <a:solidFill>
            <a:srgbClr val="082C4E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70" y="3136392"/>
            <a:ext cx="192028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V2｜评委记忆叙事版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62" y="3776472"/>
            <a:ext cx="6515262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FBFF"/>
                </a:solidFill>
                <a:latin typeface="微软雅黑"/>
              </a:rPr>
              <a:t>主线：三个难题 → 1234 → 一房体检 → 一村算账 → 双模成链 → 三智案例 → 四队长效 → 成效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62" y="4572000"/>
            <a:ext cx="521221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湖北省烟草公司宜昌市公司｜智同道合创客小组｜2026.10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从一线难题出发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先把“为什么做”讲清楚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0646" y="1417320"/>
            <a:ext cx="246894" cy="329184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646" y="1417320"/>
            <a:ext cx="24689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80" y="1371600"/>
            <a:ext cx="113159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C400"/>
                </a:solidFill>
                <a:latin typeface="黑体"/>
              </a:rPr>
              <a:t>分不到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079" y="1920240"/>
            <a:ext cx="20231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微软雅黑"/>
              </a:rPr>
              <a:t>旺季靠人工协调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079" y="2331720"/>
            <a:ext cx="202316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BCDE0"/>
                </a:solidFill>
                <a:latin typeface="微软雅黑"/>
              </a:rPr>
              <a:t>哪里有空、何时能用不透明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51886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75333" y="1417320"/>
            <a:ext cx="246894" cy="329184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5333" y="1417320"/>
            <a:ext cx="24689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7667" y="1371600"/>
            <a:ext cx="113159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4B4B"/>
                </a:solidFill>
                <a:latin typeface="黑体"/>
              </a:rPr>
              <a:t>修不及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2766" y="1920240"/>
            <a:ext cx="20231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微软雅黑"/>
              </a:rPr>
              <a:t>报修·找人·找配件靠人工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2766" y="2331720"/>
            <a:ext cx="202316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BCDE0"/>
                </a:solidFill>
                <a:latin typeface="微软雅黑"/>
              </a:rPr>
              <a:t>故障停运直接影响烟叶烘烤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26573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50020" y="1417320"/>
            <a:ext cx="246894" cy="329184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0020" y="1417320"/>
            <a:ext cx="24689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黑体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354" y="1371600"/>
            <a:ext cx="113159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8A00"/>
                </a:solidFill>
                <a:latin typeface="黑体"/>
              </a:rPr>
              <a:t>投不准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7452" y="1920240"/>
            <a:ext cx="20231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BFF"/>
                </a:solidFill>
                <a:latin typeface="微软雅黑"/>
              </a:rPr>
              <a:t>维修/新建多凭经验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7452" y="2331720"/>
            <a:ext cx="202316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BCDE0"/>
                </a:solidFill>
                <a:latin typeface="微软雅黑"/>
              </a:rPr>
              <a:t>供需错配，资金使用缺量化依据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98" y="3456432"/>
            <a:ext cx="7612570" cy="841248"/>
          </a:xfrm>
          <a:prstGeom prst="roundRect">
            <a:avLst/>
          </a:prstGeom>
          <a:solidFill>
            <a:srgbClr val="072343"/>
          </a:solidFill>
          <a:ln w="1778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853" y="3639312"/>
            <a:ext cx="857271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3D5FF"/>
                </a:solidFill>
                <a:latin typeface="黑体"/>
              </a:rPr>
              <a:t>深挖本质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48833" y="3547872"/>
            <a:ext cx="613806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BFF"/>
                </a:solidFill>
                <a:latin typeface="微软雅黑"/>
              </a:rPr>
              <a:t>不是三个孤立问题，而是同一条链断了：</a:t>
            </a:r>
            <a:r>
              <a:rPr sz="1800" b="1">
                <a:solidFill>
                  <a:srgbClr val="FFC400"/>
                </a:solidFill>
                <a:latin typeface="微软雅黑"/>
              </a:rPr>
              <a:t> 资源无统筹  ·  投入无量化  ·  管护无闭环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689" y="4370832"/>
            <a:ext cx="754398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2025匿名问卷 + 线下走访：烟农“用房/抢修”愁，烟站“底数/投入”愁，合作社“责任/资金/标准”愁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破题：构建“1234”创新体系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一个平台把数据、模型、业务与机制聚能成环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445781" y="1234440"/>
            <a:ext cx="2016302" cy="71323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930" y="1261872"/>
            <a:ext cx="1934004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1库清底</a:t>
            </a:r>
          </a:p>
        </p:txBody>
      </p:sp>
      <p:sp>
        <p:nvSpPr>
          <p:cNvPr id="22" name="Chevron 21"/>
          <p:cNvSpPr/>
          <p:nvPr/>
        </p:nvSpPr>
        <p:spPr>
          <a:xfrm>
            <a:off x="2516948" y="1234440"/>
            <a:ext cx="2016302" cy="71323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8097" y="1261872"/>
            <a:ext cx="1934004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2模决策</a:t>
            </a:r>
          </a:p>
        </p:txBody>
      </p:sp>
      <p:sp>
        <p:nvSpPr>
          <p:cNvPr id="24" name="Chevron 23"/>
          <p:cNvSpPr/>
          <p:nvPr/>
        </p:nvSpPr>
        <p:spPr>
          <a:xfrm>
            <a:off x="4588116" y="1234440"/>
            <a:ext cx="2016302" cy="71323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9265" y="1261872"/>
            <a:ext cx="1934004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黑体"/>
              </a:rPr>
              <a:t>3智落地</a:t>
            </a:r>
          </a:p>
        </p:txBody>
      </p:sp>
      <p:sp>
        <p:nvSpPr>
          <p:cNvPr id="26" name="Chevron 25"/>
          <p:cNvSpPr/>
          <p:nvPr/>
        </p:nvSpPr>
        <p:spPr>
          <a:xfrm>
            <a:off x="6659284" y="1234440"/>
            <a:ext cx="2016302" cy="71323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0433" y="1261872"/>
            <a:ext cx="1934004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4队长效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35" y="2240280"/>
            <a:ext cx="7852606" cy="932688"/>
          </a:xfrm>
          <a:prstGeom prst="roundRect">
            <a:avLst/>
          </a:prstGeom>
          <a:solidFill>
            <a:srgbClr val="05395C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689" y="2432304"/>
            <a:ext cx="925853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3D5FF"/>
                </a:solidFill>
                <a:latin typeface="黑体"/>
              </a:rPr>
              <a:t>协同平台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8833" y="2395728"/>
            <a:ext cx="6309517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微软雅黑"/>
              </a:rPr>
              <a:t>小程序（烟农）  ⇄  Web管理后台（合作社 / 技术员 / 管理人员）  ⇄  数据库 / 模型服务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88" y="3456432"/>
            <a:ext cx="1714542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86" y="3566160"/>
            <a:ext cx="44578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3D5FF"/>
                </a:solidFill>
                <a:latin typeface="黑体"/>
              </a:rPr>
              <a:t>一库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60" y="3529584"/>
            <a:ext cx="113159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低代码采数 · 一房一档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19" y="4014215"/>
            <a:ext cx="1481365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基础信息 / 部件 / 维修 / 评价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40396" y="3456432"/>
            <a:ext cx="1714542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22694" y="3566160"/>
            <a:ext cx="44578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C400"/>
                </a:solidFill>
                <a:latin typeface="黑体"/>
              </a:rPr>
              <a:t>双模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0468" y="3529584"/>
            <a:ext cx="113159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健康评估 + 发展导引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50126" y="4014215"/>
            <a:ext cx="1481365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存量体检 → 增量推演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87003" y="3456432"/>
            <a:ext cx="1714542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69301" y="3566160"/>
            <a:ext cx="44578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8A00"/>
                </a:solidFill>
                <a:latin typeface="黑体"/>
              </a:rPr>
              <a:t>三智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7075" y="3529584"/>
            <a:ext cx="113159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智用 · 智投 · 智管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6734" y="4014215"/>
            <a:ext cx="1481365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服务烟农 / 技术员 / 管理者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33611" y="3456432"/>
            <a:ext cx="1714542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15909" y="3566160"/>
            <a:ext cx="44578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44B4B"/>
                </a:solidFill>
                <a:latin typeface="黑体"/>
              </a:rPr>
              <a:t>四队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3683" y="3529584"/>
            <a:ext cx="113159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调制 · 抢修 · 养护 · 综合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3342" y="4014215"/>
            <a:ext cx="1481365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机制闭环 · 长效自治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1库见底：低代码采数，形成“一房一档”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1库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先把底数与状态变成可信的数据资产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234440"/>
            <a:ext cx="1714542" cy="1078992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497" y="1371600"/>
            <a:ext cx="3429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3D5FF"/>
                </a:solidFill>
                <a:latin typeface="黑体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689" y="1325880"/>
            <a:ext cx="113159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黑体"/>
              </a:rPr>
              <a:t>现场核验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646" y="1755648"/>
            <a:ext cx="14539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烤房编号 / 位置 / 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9749" y="1472184"/>
            <a:ext cx="26061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34650" y="1234440"/>
            <a:ext cx="1714542" cy="1078992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6948" y="1371600"/>
            <a:ext cx="3429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A2FF"/>
                </a:solidFill>
                <a:latin typeface="黑体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6141" y="1325880"/>
            <a:ext cx="113159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黑体"/>
              </a:rPr>
              <a:t>低代码移动采集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8097" y="1755648"/>
            <a:ext cx="14539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拍照 · 部件 · 维修记录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7200" y="1472184"/>
            <a:ext cx="26061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2102" y="1234440"/>
            <a:ext cx="1714542" cy="1078992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4400" y="1371600"/>
            <a:ext cx="3429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400"/>
                </a:solidFill>
                <a:latin typeface="黑体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3592" y="1325880"/>
            <a:ext cx="113159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黑体"/>
              </a:rPr>
              <a:t>数据治理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5549" y="1755648"/>
            <a:ext cx="14539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去重 · 补缺 · 坐标校验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652" y="1472184"/>
            <a:ext cx="26061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49553" y="1234440"/>
            <a:ext cx="1714542" cy="1078992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1851" y="1371600"/>
            <a:ext cx="34290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8A00"/>
                </a:solidFill>
                <a:latin typeface="黑体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1044" y="1325880"/>
            <a:ext cx="1131598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黑体"/>
              </a:rPr>
              <a:t>一房一档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3000" y="1755648"/>
            <a:ext cx="145393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持续回写 · 全程可溯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4362" y="2788920"/>
            <a:ext cx="1474506" cy="109728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53" y="2862072"/>
            <a:ext cx="1405925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2442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9228" y="3246120"/>
            <a:ext cx="1364776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座烤房全口径入库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60324" y="2788920"/>
            <a:ext cx="1474506" cy="109728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4614" y="2862072"/>
            <a:ext cx="1405925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C400"/>
                </a:solidFill>
                <a:latin typeface="黑体"/>
              </a:rPr>
              <a:t>4大部位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5189" y="3246120"/>
            <a:ext cx="1364776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重点抓取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5189" y="3429000"/>
            <a:ext cx="1364776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BCDE0"/>
                </a:solidFill>
                <a:latin typeface="微软雅黑"/>
              </a:rPr>
              <a:t>关键部件状态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06285" y="2788920"/>
            <a:ext cx="1474506" cy="109728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576" y="2862072"/>
            <a:ext cx="1405925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8A00"/>
                </a:solidFill>
                <a:latin typeface="黑体"/>
              </a:rPr>
              <a:t>低代码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61150" y="3246120"/>
            <a:ext cx="1364776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移动采集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61150" y="3429000"/>
            <a:ext cx="1364776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BCDE0"/>
                </a:solidFill>
                <a:latin typeface="微软雅黑"/>
              </a:rPr>
              <a:t>现场拍照 / 在线归档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52246" y="2788920"/>
            <a:ext cx="1474506" cy="109728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537" y="2862072"/>
            <a:ext cx="1405925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一房一档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07111" y="3246120"/>
            <a:ext cx="1364776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状态可查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7111" y="3429000"/>
            <a:ext cx="1364776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BCDE0"/>
                </a:solidFill>
                <a:latin typeface="微软雅黑"/>
              </a:rPr>
              <a:t>过程可追 / 结果可回写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98207" y="2761488"/>
            <a:ext cx="1543088" cy="1170432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14796" y="2871216"/>
            <a:ext cx="65152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数据来源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01080" y="3182112"/>
            <a:ext cx="1316768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BFF"/>
                </a:solidFill>
                <a:latin typeface="微软雅黑"/>
              </a:rPr>
              <a:t>台账 · 现场核验
维修/养护 · 使用记录
问卷评价 · 平台工单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2944" y="4224528"/>
            <a:ext cx="80240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3D5FF"/>
                </a:solidFill>
                <a:latin typeface="微软雅黑"/>
              </a:rPr>
              <a:t>价值：</a:t>
            </a:r>
            <a:r>
              <a:rPr sz="1400" b="1">
                <a:solidFill>
                  <a:srgbClr val="F5FBFF"/>
                </a:solidFill>
                <a:latin typeface="微软雅黑"/>
              </a:rPr>
              <a:t>从“有多少栋”升级为“每一栋现在什么状态、修过什么、还能怎么用”。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一栋烤房先“体检”：不是打分，而是给维修开处方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2模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单栋视角｜从部件状态到健康、寿命、风险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234440"/>
            <a:ext cx="2263196" cy="2971800"/>
          </a:xfrm>
          <a:prstGeom prst="roundRect">
            <a:avLst/>
          </a:prstGeom>
          <a:solidFill>
            <a:srgbClr val="082C4E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53" y="1426464"/>
            <a:ext cx="1097307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D5FF"/>
                </a:solidFill>
                <a:latin typeface="黑体"/>
              </a:rPr>
              <a:t>一栋烤房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53" y="1901952"/>
            <a:ext cx="1371634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BFF"/>
                </a:solidFill>
                <a:latin typeface="黑体"/>
              </a:rPr>
              <a:t>12个关键部件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53" y="2313432"/>
            <a:ext cx="161167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BCDE0"/>
                </a:solidFill>
                <a:latin typeface="微软雅黑"/>
              </a:rPr>
              <a:t>状态 · 寿命 · 现场评价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8187" y="2697480"/>
            <a:ext cx="480072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70" y="3063240"/>
            <a:ext cx="185170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C400"/>
                </a:solidFill>
                <a:latin typeface="黑体"/>
              </a:rPr>
              <a:t>H = 0.80P + 0.10M + 0.10E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88" y="3547872"/>
            <a:ext cx="200258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AHP定权重｜威布尔拟合寿命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49013" y="1234440"/>
            <a:ext cx="5795154" cy="2971800"/>
          </a:xfrm>
          <a:prstGeom prst="roundRect">
            <a:avLst/>
          </a:prstGeom>
          <a:solidFill>
            <a:srgbClr val="072343"/>
          </a:solidFill>
          <a:ln w="1524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5333" y="1472184"/>
            <a:ext cx="5335657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模型给出的不是“58分”，而是一张维修处方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8205" y="2048256"/>
            <a:ext cx="1522514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3D5FF"/>
                </a:solidFill>
                <a:latin typeface="黑体"/>
              </a:rPr>
              <a:t>① 现在健不健康？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9301" y="2048256"/>
            <a:ext cx="3189049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微软雅黑"/>
              </a:rPr>
              <a:t>健康等级 / 60分预警线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205" y="2670048"/>
            <a:ext cx="1522514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8A00"/>
                </a:solidFill>
                <a:latin typeface="黑体"/>
              </a:rPr>
              <a:t>② 还能稳定用多久？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9301" y="2670048"/>
            <a:ext cx="3189049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微软雅黑"/>
              </a:rPr>
              <a:t>剩余寿命 / 预计退役年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8205" y="3291840"/>
            <a:ext cx="1522514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4B4B"/>
                </a:solidFill>
                <a:latin typeface="黑体"/>
              </a:rPr>
              <a:t>③ 最先该修哪里？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9301" y="3291840"/>
            <a:ext cx="3189049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微软雅黑"/>
              </a:rPr>
              <a:t>风险部件Top / 维修优先序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8205" y="3886200"/>
            <a:ext cx="49035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微软雅黑"/>
              </a:rPr>
              <a:t>技术创新：把静态台账变成“健康—寿命—风险—维修”的动态体检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一个村再“算账”：不是先想建几栋，而是先证明到底缺多少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2模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村级视角｜有效烤能 → 发展指数 → 选址沙盘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425206" y="1280160"/>
            <a:ext cx="1602068" cy="62179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55" y="1307592"/>
            <a:ext cx="151977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健康结果</a:t>
            </a:r>
          </a:p>
        </p:txBody>
      </p:sp>
      <p:sp>
        <p:nvSpPr>
          <p:cNvPr id="22" name="Chevron 21"/>
          <p:cNvSpPr/>
          <p:nvPr/>
        </p:nvSpPr>
        <p:spPr>
          <a:xfrm>
            <a:off x="2082140" y="1280160"/>
            <a:ext cx="1602068" cy="62179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3289" y="1307592"/>
            <a:ext cx="151977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有效烤能</a:t>
            </a:r>
          </a:p>
        </p:txBody>
      </p:sp>
      <p:sp>
        <p:nvSpPr>
          <p:cNvPr id="24" name="Chevron 23"/>
          <p:cNvSpPr/>
          <p:nvPr/>
        </p:nvSpPr>
        <p:spPr>
          <a:xfrm>
            <a:off x="3739075" y="1280160"/>
            <a:ext cx="1602068" cy="62179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0224" y="1307592"/>
            <a:ext cx="151977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黑体"/>
              </a:rPr>
              <a:t>供需缺口</a:t>
            </a:r>
          </a:p>
        </p:txBody>
      </p:sp>
      <p:sp>
        <p:nvSpPr>
          <p:cNvPr id="26" name="Chevron 25"/>
          <p:cNvSpPr/>
          <p:nvPr/>
        </p:nvSpPr>
        <p:spPr>
          <a:xfrm>
            <a:off x="5396009" y="1280160"/>
            <a:ext cx="1602068" cy="62179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7158" y="1307592"/>
            <a:ext cx="151977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选址排名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2943" y="1280160"/>
            <a:ext cx="1602068" cy="621792"/>
          </a:xfrm>
          <a:prstGeom prst="chevron">
            <a:avLst/>
          </a:prstGeom>
          <a:solidFill>
            <a:srgbClr val="072343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4092" y="1307592"/>
            <a:ext cx="151977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沙盘验证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88" y="2240280"/>
            <a:ext cx="2180898" cy="1298448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35" y="2423160"/>
            <a:ext cx="1885997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3D5FF"/>
                </a:solidFill>
                <a:latin typeface="黑体"/>
              </a:rPr>
              <a:t>第一步｜算供给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51" y="2834640"/>
            <a:ext cx="1865422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健康 × 容量 × 状态
把“1栋”折算成“有效烤能”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20468" y="2240280"/>
            <a:ext cx="2180898" cy="1298448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3915" y="2423160"/>
            <a:ext cx="1885997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C400"/>
                </a:solidFill>
                <a:latin typeface="黑体"/>
              </a:rPr>
              <a:t>第二步｜算需求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7631" y="2834640"/>
            <a:ext cx="1865422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Hc 50% + Lc 30% + Dc 20%
AHP + 熵权组合赋权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47147" y="2240280"/>
            <a:ext cx="2180898" cy="1298448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0594" y="2423160"/>
            <a:ext cx="1885997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8A00"/>
                </a:solidFill>
                <a:latin typeface="黑体"/>
              </a:rPr>
              <a:t>第三步｜算投入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84311" y="2834640"/>
            <a:ext cx="1865422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微软雅黑"/>
              </a:rPr>
              <a:t>TOPSIS排候选点
2% / 5% / 10%情景沙盘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8689" y="3840480"/>
            <a:ext cx="7578279" cy="65836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4434" y="4005072"/>
            <a:ext cx="7166789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5FBFF"/>
                </a:solidFill>
                <a:latin typeface="黑体"/>
              </a:rPr>
              <a:t>最终回答四个评委最关心的问题：缺不缺？缺多少？建哪里？建后有没有改善？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双模成链：从“存量体检”到“增量推演”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2模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这是项目最核心的技术创新——两个模型互相喂数据，而不是各算各的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417320"/>
            <a:ext cx="1611670" cy="1234440"/>
          </a:xfrm>
          <a:prstGeom prst="roundRect">
            <a:avLst/>
          </a:prstGeom>
          <a:solidFill>
            <a:srgbClr val="082C4E"/>
          </a:solidFill>
          <a:ln w="1524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646" y="1618488"/>
            <a:ext cx="13373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3D5FF"/>
                </a:solidFill>
                <a:latin typeface="黑体"/>
              </a:rPr>
              <a:t>存量体检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930" y="2066543"/>
            <a:ext cx="137163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健康分 / 寿命 / 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6876" y="1792224"/>
            <a:ext cx="233177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66069" y="1417320"/>
            <a:ext cx="1611670" cy="1234440"/>
          </a:xfrm>
          <a:prstGeom prst="roundRect">
            <a:avLst/>
          </a:prstGeom>
          <a:solidFill>
            <a:srgbClr val="082C4E"/>
          </a:solidFill>
          <a:ln w="1524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9516" y="1618488"/>
            <a:ext cx="13373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C400"/>
                </a:solidFill>
                <a:latin typeface="黑体"/>
              </a:rPr>
              <a:t>有效烤能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75799" y="2066543"/>
            <a:ext cx="137163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健康 × 容量 × 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5746" y="1792224"/>
            <a:ext cx="233177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4938" y="1417320"/>
            <a:ext cx="1611670" cy="1234440"/>
          </a:xfrm>
          <a:prstGeom prst="roundRect">
            <a:avLst/>
          </a:prstGeom>
          <a:solidFill>
            <a:srgbClr val="082C4E"/>
          </a:solidFill>
          <a:ln w="1524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8385" y="1618488"/>
            <a:ext cx="13373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8A00"/>
                </a:solidFill>
                <a:latin typeface="黑体"/>
              </a:rPr>
              <a:t>增量推演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4669" y="2066543"/>
            <a:ext cx="137163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缺口 / 栋数 / 点位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4616" y="1792224"/>
            <a:ext cx="233177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43808" y="1417320"/>
            <a:ext cx="1611670" cy="1234440"/>
          </a:xfrm>
          <a:prstGeom prst="roundRect">
            <a:avLst/>
          </a:prstGeom>
          <a:solidFill>
            <a:srgbClr val="082C4E"/>
          </a:solidFill>
          <a:ln w="1524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7255" y="1618488"/>
            <a:ext cx="1337343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44B4B"/>
                </a:solidFill>
                <a:latin typeface="黑体"/>
              </a:rPr>
              <a:t>投入决策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3539" y="2066543"/>
            <a:ext cx="137163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先调剂 → 再修复 → 后新建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1526" y="3063240"/>
            <a:ext cx="5246501" cy="1033271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64" y="3255264"/>
            <a:ext cx="106301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一句话决策规则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6571" y="3172968"/>
            <a:ext cx="3669121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BFF"/>
                </a:solidFill>
                <a:latin typeface="黑体"/>
              </a:rPr>
              <a:t>好房先盘活，旧房精准修；修复后仍有结构性缺口，才进入新建论证。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17488" y="3063240"/>
            <a:ext cx="2366069" cy="1033271"/>
          </a:xfrm>
          <a:prstGeom prst="roundRect">
            <a:avLst/>
          </a:prstGeom>
          <a:solidFill>
            <a:srgbClr val="05395C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5226" y="3218688"/>
            <a:ext cx="8229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C400"/>
                </a:solidFill>
                <a:latin typeface="黑体"/>
              </a:rPr>
              <a:t>2026建设论证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6483" y="3127248"/>
            <a:ext cx="58980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FFC400"/>
                </a:solidFill>
                <a:latin typeface="黑体"/>
              </a:rPr>
              <a:t>29栋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517" y="3566160"/>
            <a:ext cx="195457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其中肖家坪村 7栋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视频：模型怎么算，平台怎么跑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约1分钟｜从算法判断进入真实业务场景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2944" y="1143000"/>
            <a:ext cx="7989769" cy="3310128"/>
          </a:xfrm>
          <a:prstGeom prst="roundRect">
            <a:avLst/>
          </a:prstGeom>
          <a:solidFill>
            <a:srgbClr val="020C1B"/>
          </a:solidFill>
          <a:ln w="2032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2874" y="1965960"/>
            <a:ext cx="82298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C400"/>
                </a:solidFill>
                <a:latin typeface="黑体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2496" y="2834640"/>
            <a:ext cx="2057451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5FBFF"/>
                </a:solidFill>
                <a:latin typeface="黑体"/>
              </a:rPr>
              <a:t>视频播放区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0216" y="3401568"/>
            <a:ext cx="6240936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BCDE0"/>
                </a:solidFill>
                <a:latin typeface="微软雅黑"/>
              </a:rPr>
              <a:t>建议画面顺序：一房一档 → 健康评分/寿命 → 新建沙盘 → 一键报修/派单 → 工单闭环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34" y="3931920"/>
            <a:ext cx="6378099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微软雅黑"/>
              </a:rPr>
              <a:t>旁白记忆句：先看清存量，再推演增量，让每一次维修和每一笔新建投入都有依据。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3智落地：技术不是“展示”，而是直接进入三类业务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3智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小程序服务烟农，后台服务合作社/技术员/管理人员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53" y="1417320"/>
            <a:ext cx="685817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D5FF"/>
                </a:solidFill>
                <a:latin typeface="黑体"/>
              </a:rPr>
              <a:t>智用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3052" y="1453896"/>
            <a:ext cx="109730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烟农端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53" y="1965960"/>
            <a:ext cx="20231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微软雅黑"/>
              </a:rPr>
              <a:t>查询 · 预约 · 调剂 · 报修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35" y="2606040"/>
            <a:ext cx="188599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把资源“用好”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20468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922" y="1417320"/>
            <a:ext cx="685817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C400"/>
                </a:solidFill>
                <a:latin typeface="黑体"/>
              </a:rPr>
              <a:t>智投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6321" y="1453896"/>
            <a:ext cx="109730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管理端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922" y="1965960"/>
            <a:ext cx="20231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微软雅黑"/>
              </a:rPr>
              <a:t>维修优先序 · 新建论证 · 资金计划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0504" y="2606040"/>
            <a:ext cx="188599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把资金“投准”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63736" y="1234440"/>
            <a:ext cx="2366069" cy="1874519"/>
          </a:xfrm>
          <a:prstGeom prst="roundRect">
            <a:avLst/>
          </a:prstGeom>
          <a:solidFill>
            <a:srgbClr val="082C4E"/>
          </a:solidFill>
          <a:ln w="1651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190" y="1417320"/>
            <a:ext cx="685817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8A00"/>
                </a:solidFill>
                <a:latin typeface="黑体"/>
              </a:rPr>
              <a:t>智管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9589" y="1453896"/>
            <a:ext cx="109730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合作社端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190" y="1965960"/>
            <a:ext cx="20231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微软雅黑"/>
              </a:rPr>
              <a:t>派单 · 验收 · 评价 · 基金 · 队伍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3772" y="2606040"/>
            <a:ext cx="1885997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把设施“管久”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7271" y="3456432"/>
            <a:ext cx="7441116" cy="868680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3016" y="3730752"/>
            <a:ext cx="582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申请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4542" y="3730752"/>
            <a:ext cx="2400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8869" y="373075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黑体"/>
              </a:rPr>
              <a:t>派单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46141" y="3730752"/>
            <a:ext cx="2400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0468" y="373075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黑体"/>
              </a:rPr>
              <a:t>处置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739" y="3730752"/>
            <a:ext cx="2400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2066" y="373075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黑体"/>
              </a:rPr>
              <a:t>验收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9337" y="3730752"/>
            <a:ext cx="2400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3664" y="373075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黑体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0936" y="3730752"/>
            <a:ext cx="24003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5262" y="3730752"/>
            <a:ext cx="7201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BFF"/>
                </a:solidFill>
                <a:latin typeface="黑体"/>
              </a:rPr>
              <a:t>数据回写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09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一个真实场景：磨坪——从调剂到抢修，三智协同跑起来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3智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让评委看到“模型不是演示，平台不是摆设”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0072" y="1600200"/>
            <a:ext cx="329192" cy="438912"/>
          </a:xfrm>
          <a:prstGeom prst="ellipse">
            <a:avLst/>
          </a:prstGeom>
          <a:solidFill>
            <a:srgbClr val="072343"/>
          </a:solidFill>
          <a:ln w="1905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72" y="1600200"/>
            <a:ext cx="32919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3D5FF"/>
                </a:solidFill>
                <a:latin typeface="黑体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617" y="2194560"/>
            <a:ext cx="6721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旺季缺房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9" y="2523744"/>
            <a:ext cx="99443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线上查询 / 调剂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434" y="1636776"/>
            <a:ext cx="480072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2023160" y="1600200"/>
            <a:ext cx="329192" cy="438912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3160" y="1600200"/>
            <a:ext cx="32919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44B4B"/>
                </a:solidFill>
                <a:latin typeface="黑体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1706" y="2194560"/>
            <a:ext cx="6721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雷击故障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3968" y="2523744"/>
            <a:ext cx="99443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一键报修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37523" y="1636776"/>
            <a:ext cx="480072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3566249" y="1600200"/>
            <a:ext cx="329192" cy="438912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249" y="1600200"/>
            <a:ext cx="32919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400"/>
                </a:solidFill>
                <a:latin typeface="黑体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4794" y="2194560"/>
            <a:ext cx="6721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风险定位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7056" y="2523744"/>
            <a:ext cx="99443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匹配人员+配件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0612" y="1636776"/>
            <a:ext cx="480072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5109337" y="1600200"/>
            <a:ext cx="329192" cy="438912"/>
          </a:xfrm>
          <a:prstGeom prst="ellipse">
            <a:avLst/>
          </a:prstGeom>
          <a:solidFill>
            <a:srgbClr val="072343"/>
          </a:solidFill>
          <a:ln w="1905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09337" y="1600200"/>
            <a:ext cx="32919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黑体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883" y="2194560"/>
            <a:ext cx="6721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BFF"/>
                </a:solidFill>
                <a:latin typeface="黑体"/>
              </a:rPr>
              <a:t>3小时复产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34724" y="1115568"/>
            <a:ext cx="1515655" cy="3300984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80145" y="2523744"/>
            <a:ext cx="99443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ABCDE0"/>
                </a:solidFill>
                <a:latin typeface="微软雅黑"/>
              </a:rPr>
              <a:t>结果回写 / 评价</a:t>
            </a:r>
          </a:p>
        </p:txBody>
      </p:sp>
      <p:pic>
        <p:nvPicPr>
          <p:cNvPr id="39" name="Picture 38" descr="image.jpeg"/>
          <p:cNvPicPr>
            <a:picLocks noChangeAspect="1"/>
          </p:cNvPicPr>
          <p:nvPr/>
        </p:nvPicPr>
        <p:blipFill>
          <a:blip r:embed="rId2"/>
          <a:srcRect t="7770" b="7770"/>
          <a:stretch>
            <a:fillRect/>
          </a:stretch>
        </p:blipFill>
        <p:spPr>
          <a:xfrm>
            <a:off x="6755298" y="1143000"/>
            <a:ext cx="1474506" cy="324612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82944" y="3429000"/>
            <a:ext cx="1440216" cy="84124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35" y="3502152"/>
            <a:ext cx="137163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C400"/>
                </a:solidFill>
                <a:latin typeface="黑体"/>
              </a:rPr>
              <a:t>48次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809" y="3886200"/>
            <a:ext cx="1330485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烤房调剂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80898" y="3429000"/>
            <a:ext cx="1440216" cy="84124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15189" y="3502152"/>
            <a:ext cx="137163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44B4B"/>
                </a:solidFill>
                <a:latin typeface="黑体"/>
              </a:rPr>
              <a:t>18次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5763" y="3886200"/>
            <a:ext cx="1330485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突发故障抢修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85710" y="3429000"/>
            <a:ext cx="1440216" cy="84124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20001" y="3502152"/>
            <a:ext cx="137163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8A00"/>
                </a:solidFill>
                <a:latin typeface="黑体"/>
              </a:rPr>
              <a:t>≤3h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576" y="3886200"/>
            <a:ext cx="1330485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全部闭环处置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83664" y="3429000"/>
            <a:ext cx="1220754" cy="84124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17955" y="3502152"/>
            <a:ext cx="115217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≤0.5h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38529" y="3886200"/>
            <a:ext cx="1111023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平均响应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智管 + 4队长效：技术算得准，机制才能跑得久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4队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线上闭环 + 专业队伍 + 管护基金，解决“没人管、没钱管、标准不一”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89696" y="1627632"/>
            <a:ext cx="1563663" cy="2084831"/>
          </a:xfrm>
          <a:prstGeom prst="ellipse">
            <a:avLst/>
          </a:prstGeom>
          <a:solidFill>
            <a:srgbClr val="05395C"/>
          </a:solidFill>
          <a:ln w="1905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4292" y="2011680"/>
            <a:ext cx="123447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3D5FF"/>
                </a:solidFill>
                <a:latin typeface="黑体"/>
              </a:rPr>
              <a:t>管家平台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6321" y="2404872"/>
            <a:ext cx="857271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工单闭环
数据回写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53" y="1234440"/>
            <a:ext cx="1611670" cy="96012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100" y="1408176"/>
            <a:ext cx="1357917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3D5FF"/>
                </a:solidFill>
                <a:latin typeface="黑体"/>
              </a:rPr>
              <a:t>烟叶调制队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689" y="1764792"/>
            <a:ext cx="1111023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烤得好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53" y="3218688"/>
            <a:ext cx="1611670" cy="96012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100" y="3392424"/>
            <a:ext cx="1357917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44B4B"/>
                </a:solidFill>
                <a:latin typeface="黑体"/>
              </a:rPr>
              <a:t>紧急抢修队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689" y="3749039"/>
            <a:ext cx="1111023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修得快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5873" y="1234440"/>
            <a:ext cx="1611670" cy="96012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99320" y="1408176"/>
            <a:ext cx="1357917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C400"/>
                </a:solidFill>
                <a:latin typeface="黑体"/>
              </a:rPr>
              <a:t>日常管护队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5909" y="1764792"/>
            <a:ext cx="1111023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养得久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75873" y="3218688"/>
            <a:ext cx="1611670" cy="960120"/>
          </a:xfrm>
          <a:prstGeom prst="roundRect">
            <a:avLst/>
          </a:prstGeom>
          <a:solidFill>
            <a:srgbClr val="082C4E"/>
          </a:solidFill>
          <a:ln w="1397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99320" y="3392424"/>
            <a:ext cx="1357917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8A00"/>
                </a:solidFill>
                <a:latin typeface="黑体"/>
              </a:rPr>
              <a:t>综合管理队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5909" y="3749039"/>
            <a:ext cx="1111023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微软雅黑"/>
              </a:rPr>
              <a:t>管得顺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66069" y="1883664"/>
            <a:ext cx="685817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4311" y="1883664"/>
            <a:ext cx="685817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66069" y="3401568"/>
            <a:ext cx="685817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84311" y="3401568"/>
            <a:ext cx="685817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400"/>
                </a:solidFill>
                <a:latin typeface="黑体"/>
              </a:rPr>
              <a:t>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03232" y="3895344"/>
            <a:ext cx="1220754" cy="74980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37523" y="3968496"/>
            <a:ext cx="115217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66人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8097" y="4352544"/>
            <a:ext cx="1111023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专业管护团队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09157" y="3895344"/>
            <a:ext cx="1220754" cy="74980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3448" y="3968496"/>
            <a:ext cx="115217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C400"/>
                </a:solidFill>
                <a:latin typeface="黑体"/>
              </a:rPr>
              <a:t>1363栋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4023" y="4352544"/>
            <a:ext cx="1111023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两级合作社统筹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64023" y="4535424"/>
            <a:ext cx="1111023" cy="1280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BCDE0"/>
                </a:solidFill>
                <a:latin typeface="微软雅黑"/>
              </a:rPr>
              <a:t>覆盖81%在用烤房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15082" y="3895344"/>
            <a:ext cx="1405925" cy="74980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9373" y="3968496"/>
            <a:ext cx="1337343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8A00"/>
                </a:solidFill>
                <a:latin typeface="黑体"/>
              </a:rPr>
              <a:t>≈190万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9948" y="4352544"/>
            <a:ext cx="1296194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管护基金滚动积累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40036" y="557784"/>
            <a:ext cx="857271" cy="256032"/>
          </a:xfrm>
          <a:prstGeom prst="roundRect">
            <a:avLst/>
          </a:prstGeom>
          <a:solidFill>
            <a:srgbClr val="05395C"/>
          </a:solidFill>
          <a:ln w="1016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40036" y="164592"/>
            <a:ext cx="3291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D5FF"/>
                </a:solidFill>
                <a:latin typeface="黑体"/>
              </a:rPr>
              <a:t>///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944" y="118872"/>
            <a:ext cx="473213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D5FF"/>
                </a:solidFill>
                <a:latin typeface="黑体"/>
              </a:rPr>
              <a:t>成效：用数据验证“1234”真正跑起来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6" y="576072"/>
            <a:ext cx="857271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5FBFF"/>
                </a:solidFill>
                <a:latin typeface="黑体"/>
              </a:rPr>
              <a:t>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605" y="566928"/>
            <a:ext cx="534937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BCDE0"/>
                </a:solidFill>
                <a:latin typeface="微软雅黑"/>
              </a:rPr>
              <a:t>一个烤季的落地结果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373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373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234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23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1库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2731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2731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2模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229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229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3智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1726" y="128016"/>
            <a:ext cx="425206" cy="256032"/>
          </a:xfrm>
          <a:prstGeom prst="roundRect">
            <a:avLst/>
          </a:prstGeom>
          <a:solidFill>
            <a:srgbClr val="072343"/>
          </a:solidFill>
          <a:ln w="10160">
            <a:solidFill>
              <a:srgbClr val="2E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1726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A2FF"/>
                </a:solidFill>
                <a:latin typeface="黑体"/>
              </a:rPr>
              <a:t>4队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1224" y="128016"/>
            <a:ext cx="425206" cy="256032"/>
          </a:xfrm>
          <a:prstGeom prst="roundRect">
            <a:avLst/>
          </a:prstGeom>
          <a:solidFill>
            <a:srgbClr val="31363D"/>
          </a:solidFill>
          <a:ln w="1016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1224" y="128016"/>
            <a:ext cx="42520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C400"/>
                </a:solidFill>
                <a:latin typeface="黑体"/>
              </a:rPr>
              <a:t>成效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36" y="868680"/>
            <a:ext cx="8641296" cy="18288"/>
          </a:xfrm>
          <a:prstGeom prst="rect">
            <a:avLst/>
          </a:prstGeom>
          <a:solidFill>
            <a:srgbClr val="2E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7199" y="1234440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90" y="1307592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2442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64" y="1691640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座建档+健康评价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941" y="1234440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03232" y="1307592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44B4B"/>
                </a:solidFill>
                <a:latin typeface="黑体"/>
              </a:rPr>
              <a:t>340+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807" y="1691640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栋低于60分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60684" y="1234440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4974" y="1307592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C400"/>
                </a:solidFill>
                <a:latin typeface="黑体"/>
              </a:rPr>
              <a:t>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5549" y="1691640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次烤房调剂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2426" y="1234440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6717" y="1307592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8A00"/>
                </a:solidFill>
                <a:latin typeface="黑体"/>
              </a:rPr>
              <a:t>≤3h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7291" y="1691640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18次抢修闭环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7199" y="2578608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90" y="2651760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13D5FF"/>
                </a:solidFill>
                <a:latin typeface="黑体"/>
              </a:rPr>
              <a:t>≤0.5h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064" y="3035808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工单平均响应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941" y="2578608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03232" y="2651760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C400"/>
                </a:solidFill>
                <a:latin typeface="黑体"/>
              </a:rPr>
              <a:t>95.8%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3807" y="3035808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群众综合满意度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60684" y="2578608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4974" y="2651760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F8A00"/>
                </a:solidFill>
                <a:latin typeface="黑体"/>
              </a:rPr>
              <a:t>81%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5549" y="3035808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在用烤房统筹管护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52426" y="2578608"/>
            <a:ext cx="1748833" cy="102412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F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86717" y="2651760"/>
            <a:ext cx="168025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F44B4B"/>
                </a:solidFill>
                <a:latin typeface="黑体"/>
              </a:rPr>
              <a:t>≈190万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7291" y="3035808"/>
            <a:ext cx="163910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BFF"/>
                </a:solidFill>
                <a:latin typeface="微软雅黑"/>
              </a:rPr>
              <a:t>管护基金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4937" y="3931920"/>
            <a:ext cx="8078925" cy="658368"/>
          </a:xfrm>
          <a:prstGeom prst="roundRect">
            <a:avLst/>
          </a:prstGeom>
          <a:solidFill>
            <a:srgbClr val="072343"/>
          </a:solidFill>
          <a:ln w="12700">
            <a:solidFill>
              <a:srgbClr val="13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8689" y="4059936"/>
            <a:ext cx="7578279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3D5FF"/>
                </a:solidFill>
                <a:latin typeface="微软雅黑"/>
              </a:rPr>
              <a:t>记住一句话：</a:t>
            </a:r>
            <a:r>
              <a:rPr sz="1900" b="1">
                <a:solidFill>
                  <a:srgbClr val="FFC400"/>
                </a:solidFill>
                <a:latin typeface="微软雅黑"/>
              </a:rPr>
              <a:t>好房充分用，旧房精准修，缺口科学建，建后持续管。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2944" y="1051560"/>
            <a:ext cx="3291922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BFF"/>
                </a:solidFill>
                <a:latin typeface="黑体"/>
              </a:rPr>
              <a:t>智烤管家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19" y="1874519"/>
            <a:ext cx="5006465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ABCDE0"/>
                </a:solidFill>
                <a:latin typeface="微软雅黑"/>
              </a:rPr>
              <a:t>从“有多少房”到“</a:t>
            </a:r>
            <a:r>
              <a:rPr sz="2100" b="1">
                <a:solidFill>
                  <a:srgbClr val="FFC400"/>
                </a:solidFill>
                <a:latin typeface="微软雅黑"/>
              </a:rPr>
              <a:t>有多少有效烤能</a:t>
            </a:r>
            <a:r>
              <a:rPr sz="1800" b="0">
                <a:solidFill>
                  <a:srgbClr val="ABCDE0"/>
                </a:solidFill>
                <a:latin typeface="微软雅黑"/>
              </a:rPr>
              <a:t>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19" y="2423160"/>
            <a:ext cx="4594974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ABCDE0"/>
                </a:solidFill>
                <a:latin typeface="微软雅黑"/>
              </a:rPr>
              <a:t>从“坏了再修”到“</a:t>
            </a:r>
            <a:r>
              <a:rPr sz="2100" b="1">
                <a:solidFill>
                  <a:srgbClr val="F44B4B"/>
                </a:solidFill>
                <a:latin typeface="微软雅黑"/>
              </a:rPr>
              <a:t>风险预警</a:t>
            </a:r>
            <a:r>
              <a:rPr sz="1800" b="0">
                <a:solidFill>
                  <a:srgbClr val="ABCDE0"/>
                </a:solidFill>
                <a:latin typeface="微软雅黑"/>
              </a:rP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19" y="2971800"/>
            <a:ext cx="4594974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ABCDE0"/>
                </a:solidFill>
                <a:latin typeface="微软雅黑"/>
              </a:rPr>
              <a:t>从“凭经验投”到“</a:t>
            </a:r>
            <a:r>
              <a:rPr sz="2100" b="1">
                <a:solidFill>
                  <a:srgbClr val="13D5FF"/>
                </a:solidFill>
                <a:latin typeface="微软雅黑"/>
              </a:rPr>
              <a:t>数据推演</a:t>
            </a:r>
            <a:r>
              <a:rPr sz="1800" b="0">
                <a:solidFill>
                  <a:srgbClr val="ABCDE0"/>
                </a:solidFill>
                <a:latin typeface="微软雅黑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35" y="3794760"/>
            <a:ext cx="5383664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BFF"/>
                </a:solidFill>
                <a:latin typeface="黑体"/>
              </a:rPr>
              <a:t>一库清底 · 双模决策 · 三智落地 · 四队长效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972" y="3950208"/>
            <a:ext cx="1783124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C400"/>
                </a:solidFill>
                <a:latin typeface="黑体"/>
              </a:rPr>
              <a:t>谢谢各位评委！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10" y="4818888"/>
            <a:ext cx="3634830" cy="1737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9ABA"/>
                </a:solidFill>
                <a:latin typeface="微软雅黑"/>
              </a:rPr>
              <a:t>湖北烟草数字化转型创客大赛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7005" y="4800600"/>
            <a:ext cx="308617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39ABA"/>
                </a:solidFill>
                <a:latin typeface="黑体"/>
              </a:rPr>
              <a:t>13</a:t>
            </a:r>
          </a:p>
        </p:txBody>
      </p:sp>
    </p:spTree>
  </p:cSld>
  <p:clrMapOvr>
    <a:masterClrMapping/>
  </p:clrMapOvr>
</p:sld>
</file>

<file path=ppt/tags/tag6.xml><?xml version="1.0" encoding="utf-8"?>
<p:tagLst xmlns:p="http://schemas.openxmlformats.org/presentationml/2006/main">
  <p:tag name="OPCH-99A71AD194F49CD88B70F5E7F8D94FA283A5B85718ED1DC830159ABEFDE4C712" val="[{&quot;GradientColorId&quot;:&quot;&quot;,&quot;IsFree&quot;:true,&quot;IsGradient&quot;:false,&quot;ImagePath&quot;:&quot;&quot;,&quot;GradientColor&quot;:null,&quot;SimpleColor&quot;:&quot;#EDEDED&quot;}]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1844</Words>
  <Application>WPS 文字</Application>
  <PresentationFormat>全屏显示(16:9)</PresentationFormat>
  <Paragraphs>591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64" baseType="lpstr">
      <vt:lpstr>Arial</vt:lpstr>
      <vt:lpstr>宋体</vt:lpstr>
      <vt:lpstr>Wingdings</vt:lpstr>
      <vt:lpstr>等线</vt:lpstr>
      <vt:lpstr>微软雅黑</vt:lpstr>
      <vt:lpstr>汉仪旗黑</vt:lpstr>
      <vt:lpstr>微软雅黑</vt:lpstr>
      <vt:lpstr>微软雅黑</vt:lpstr>
      <vt:lpstr>Roboto Regular</vt:lpstr>
      <vt:lpstr>思源宋体 CN Heavy</vt:lpstr>
      <vt:lpstr>汉仪综艺体简</vt:lpstr>
      <vt:lpstr>华文宋体</vt:lpstr>
      <vt:lpstr>阿里巴巴普惠体 B</vt:lpstr>
      <vt:lpstr>苹方-简</vt:lpstr>
      <vt:lpstr>黑体</vt:lpstr>
      <vt:lpstr>微软雅黑 Light</vt:lpstr>
      <vt:lpstr>Arial</vt:lpstr>
      <vt:lpstr>黑体</vt:lpstr>
      <vt:lpstr>阿里巴巴普惠体 Heavy</vt:lpstr>
      <vt:lpstr>阿里巴巴普惠体</vt:lpstr>
      <vt:lpstr>Wingdings</vt:lpstr>
      <vt:lpstr>微软雅黑</vt:lpstr>
      <vt:lpstr>PingFang SC</vt:lpstr>
      <vt:lpstr>宋体</vt:lpstr>
      <vt:lpstr>方正正大黑简体</vt:lpstr>
      <vt:lpstr>Calibri</vt:lpstr>
      <vt:lpstr>Helvetica Neue</vt:lpstr>
      <vt:lpstr>宋体</vt:lpstr>
      <vt:lpstr>Arial Unicode MS</vt:lpstr>
      <vt:lpstr>汉仪书宋二KW</vt:lpstr>
      <vt:lpstr>Calibri Light</vt:lpstr>
      <vt:lpstr>等线 Light</vt:lpstr>
      <vt:lpstr>汉仪中等线KW</vt:lpstr>
      <vt:lpstr>Apple SD Gothic Neo</vt:lpstr>
      <vt:lpstr>汉仪中黑KW</vt:lpstr>
      <vt:lpstr>Thonburi</vt:lpstr>
      <vt:lpstr>Roboto Regular</vt:lpstr>
      <vt:lpstr>微软雅黑 Light</vt:lpstr>
      <vt:lpstr>思源宋体 CN Heavy</vt:lpstr>
      <vt:lpstr>方正正大黑简体</vt:lpstr>
      <vt:lpstr>等线</vt:lpstr>
      <vt:lpstr>阿里巴巴普惠体</vt:lpstr>
      <vt:lpstr>阿里巴巴普惠体 B</vt:lpstr>
      <vt:lpstr>阿里巴巴普惠体 Heavy</vt:lpstr>
      <vt:lpstr>MS PGothic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www.1ppt.com</dc:title>
  <dc:creator>www.1ppt.com</dc:creator>
  <cp:keywords>www.1ppt.com</cp:keywords>
  <cp:lastModifiedBy>上善若水</cp:lastModifiedBy>
  <cp:revision>1089</cp:revision>
  <dcterms:created xsi:type="dcterms:W3CDTF">2026-09-07T04:36:18Z</dcterms:created>
  <dcterms:modified xsi:type="dcterms:W3CDTF">2026-09-07T04:36:18Z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4FC2078A6B84B29A3F608C6A9F642047_42</vt:lpwstr>
  </property>
</Properties>
</file>