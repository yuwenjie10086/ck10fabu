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21792" y="1005840"/>
            <a:ext cx="166420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0080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湖北烟草数字化转型创客大赛 · 决赛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43891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5212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0">
                <a:solidFill>
                  <a:srgbClr val="F5FAFF"/>
                </a:solidFill>
                <a:latin typeface="黑体"/>
              </a:rPr>
              <a:t>基于健康评估的烤房用投管一体化解决方案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4846320" cy="64008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4480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微软雅黑"/>
              </a:rPr>
              <a:t>一库清底  ·  双模决策  ·  三智落地  ·  四队长效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V1 · 母版深蓝技术决赛版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033271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088136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097280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一库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1737360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92224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801368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双模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441448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49631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505456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三智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145536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200400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09544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四队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98848"/>
            <a:ext cx="34747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ABCBE0"/>
                </a:solidFill>
                <a:latin typeface="微软雅黑"/>
              </a:rPr>
              <a:t>宜昌市局 · 智同道合创客小组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背景 / 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三个字，把问题说透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分不到、修不及、投不准——不是三个孤立问题，而是一条管理链没有贯通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分不到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旺季靠人工协调
空闲状态不透明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资源调度
缺少数字支撑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8688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修不及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报修、找人、配件
全部依靠人工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3280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管护运维
缺少闭环工具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34456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投不准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维修新建凭经验
供需长期错配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90488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8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基础设施投入
缺少量化依据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950208"/>
            <a:ext cx="7223760" cy="566928"/>
          </a:xfrm>
          <a:prstGeom prst="roundRect">
            <a:avLst/>
          </a:prstGeom>
          <a:solidFill>
            <a:srgbClr val="051B35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050791"/>
            <a:ext cx="6858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本质：资源无统筹  ·  投入无量化  ·  管护无闭环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总体方案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“1234”创新体系：一库、双模、三智、四队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060704"/>
            <a:ext cx="6217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ABCBE0"/>
                </a:solidFill>
                <a:latin typeface="微软雅黑"/>
              </a:rPr>
              <a:t>不是再做一个系统，而是重构“用—投—管”的决策链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一库清底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低代码采数 · 一房一档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50008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24328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双模决策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9776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07208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健康评估 · 发展导引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43984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18304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三智落地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73752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01184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智用 · 智投 · 智管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37960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12280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四队长效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67728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95160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调制 · 抢修 · 养护 · 综合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36192" y="3840480"/>
            <a:ext cx="6053328" cy="566928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968496"/>
            <a:ext cx="565099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微软雅黑"/>
              </a:rPr>
              <a:t>一个协同平台贯穿始终：烟农端  ↔  合作社  ↔  技术员  ↔  管理人员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1 · 一库清底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一库清底：低代码采数，一房一档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先把家底摸清，再谈智能决策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现场采集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低代码移动端
拍照、坐标、状态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4767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082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统一编号
部件状态校验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7296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6499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一房一档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基础、维修
使用、评价归档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028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8231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动态回写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调剂、工单
验收结果持续更新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353312"/>
            <a:ext cx="2103120" cy="10058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1444752"/>
            <a:ext cx="188366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FFC200"/>
                </a:solidFill>
                <a:latin typeface="黑体"/>
              </a:rPr>
              <a:t>2442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1865376"/>
            <a:ext cx="1920239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座烤房全口径入库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2103120"/>
            <a:ext cx="1920239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>
                <a:solidFill>
                  <a:srgbClr val="ABCBE0"/>
                </a:solidFill>
                <a:latin typeface="微软雅黑"/>
              </a:rPr>
              <a:t>全覆盖健康评价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542032"/>
            <a:ext cx="2103120" cy="1572768"/>
          </a:xfrm>
          <a:prstGeom prst="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epair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615184"/>
            <a:ext cx="1956815" cy="14264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56248" y="3858768"/>
            <a:ext cx="1883663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ABCBE0"/>
                </a:solidFill>
                <a:latin typeface="微软雅黑"/>
              </a:rPr>
              <a:t>低代码/移动端采集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3822191"/>
            <a:ext cx="5230368" cy="585216"/>
          </a:xfrm>
          <a:prstGeom prst="roundRect">
            <a:avLst/>
          </a:prstGeom>
          <a:solidFill>
            <a:srgbClr val="051B35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3931920"/>
            <a:ext cx="4919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低代码不是“做表单”，而是把现场数据变成后续模型可计算、业务可追溯的标准数据资产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2 · 双模决策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双模决策：先看清存量，再算准增量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261872"/>
            <a:ext cx="3703320" cy="3072384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444752"/>
            <a:ext cx="804672" cy="27432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FC200"/>
                </a:solidFill>
                <a:latin typeface="黑体"/>
              </a:rPr>
              <a:t>模型①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01368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F5FAFF"/>
                </a:solidFill>
                <a:latin typeface="黑体"/>
              </a:rPr>
              <a:t>烤房健康评估模型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957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377440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5FAFF"/>
                </a:solidFill>
                <a:latin typeface="微软雅黑"/>
              </a:rPr>
              <a:t>部件状态 · 寿命 · 管护 · 现场评价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79776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61488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5FAFF"/>
                </a:solidFill>
                <a:latin typeface="微软雅黑"/>
              </a:rPr>
              <a:t>AHP综合评分 + 威布尔寿命预测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163824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145536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微软雅黑"/>
              </a:rPr>
              <a:t>健康等级 · 剩余寿命 · 风险部位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3752" y="1261872"/>
            <a:ext cx="3703320" cy="3072384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4920" y="1444752"/>
            <a:ext cx="804672" cy="27432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FC200"/>
                </a:solidFill>
                <a:latin typeface="黑体"/>
              </a:rPr>
              <a:t>模型②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1801368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F5FAFF"/>
                </a:solidFill>
                <a:latin typeface="黑体"/>
              </a:rPr>
              <a:t>千亩村发展导引模型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3957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377440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5FAFF"/>
                </a:solidFill>
                <a:latin typeface="微软雅黑"/>
              </a:rPr>
              <a:t>有效烤能 · 烘烤需求 · 发展条件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779776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算法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2761488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5FAFF"/>
                </a:solidFill>
                <a:latin typeface="微软雅黑"/>
              </a:rPr>
              <a:t>AHP+熵权 · TOPSIS · 情景沙盘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3163824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3145536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微软雅黑"/>
              </a:rPr>
              <a:t>真实缺口 · 建设数量 · 点位优先级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87368" y="2212848"/>
            <a:ext cx="987552" cy="1005840"/>
          </a:xfrm>
          <a:prstGeom prst="roundRect">
            <a:avLst/>
          </a:prstGeom>
          <a:solidFill>
            <a:srgbClr val="08395D"/>
          </a:solidFill>
          <a:ln w="1778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2340864"/>
            <a:ext cx="786384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C200"/>
                </a:solidFill>
                <a:latin typeface="黑体"/>
              </a:rPr>
              <a:t>有效
烤能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39" y="2706624"/>
            <a:ext cx="320041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74920" y="2706624"/>
            <a:ext cx="32004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模型① / 技术创新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模型①：健康评估三步走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评委记住三个问题：健不健康？还能用多久？先修哪里？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部件标准化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12个关键部件
状态、指导寿命、现场评价
统一到可计算口径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AHP综合评分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把专家判断转成权重并校验
H = 0.80×部件 + 0.10×管护 + 0.10×评价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1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威布尔寿命预测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拟合部件寿命分布
叠加房龄、维修、健康校准
输出剩余寿命与风险排序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2359152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2359152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1248" y="3730752"/>
            <a:ext cx="7461504" cy="585216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健康等级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05456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61488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黑体"/>
              </a:rPr>
              <a:t>剩余寿命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79392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35424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风险部位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53328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黑体"/>
              </a:rPr>
              <a:t>维修优先序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模型② / 技术创新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模型②：发展导引三步走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评委记住四个问题：真缺吗？缺多少？建哪里？建后有没有改善？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折算有效烤能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把健康分 × 容量 × 使用状态
折算为“真正能用的烤能”
避免“有房≠有能力”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组合赋权判需求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有效烤能 + 承载匹配 + 发展条件
AHP确定主观权重
熵权法校正客观差异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1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TOPSIS + 沙盘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地形/水电/交通/烟田等多准则排序
切换未来种植情景
重算缺口与拟建数量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2377440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2377440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70432" y="3730752"/>
            <a:ext cx="6821424" cy="585216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3312" y="3858768"/>
            <a:ext cx="6455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输出：村级缺口  →  建设数量  →  候选点排序  →  情景投入效果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双模耦合 / 核心创新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双模耦合：一条连续的投入决策链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存量体检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健康 / 寿命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9424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70048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有效烤能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把“有多少房”变成
“有多少能力”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70832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91456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增量推演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缺口 / 数量 / 点位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92240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12864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5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投入决策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5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维修 / 新建 / 资金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" y="3319272"/>
            <a:ext cx="7260336" cy="71323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3483864"/>
            <a:ext cx="67116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C200"/>
                </a:solidFill>
                <a:latin typeface="黑体"/>
              </a:rPr>
              <a:t>先调剂  →  再修复  →  仍有结构性缺口才新建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160520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创新点：第一模型的健康结果，直接进入第二模型的有效烤能计算；维修与新建不再割裂。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视频 / 约1分钟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从“模型怎么算”到“平台怎么跑”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34440" y="1325880"/>
            <a:ext cx="6675120" cy="2542032"/>
          </a:xfrm>
          <a:prstGeom prst="roundRect">
            <a:avLst/>
          </a:prstGeom>
          <a:solidFill>
            <a:srgbClr val="072A4B"/>
          </a:solidFill>
          <a:ln w="1651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86784" y="1874519"/>
            <a:ext cx="1170432" cy="1170432"/>
          </a:xfrm>
          <a:prstGeom prst="ellipse">
            <a:avLst/>
          </a:prstGeom>
          <a:solidFill>
            <a:srgbClr val="08395D"/>
          </a:solidFill>
          <a:ln w="1778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4407408" y="2185416"/>
            <a:ext cx="384048" cy="384048"/>
          </a:xfrm>
          <a:prstGeom prst="triangl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246120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一库采数  →  双模研判  →  三智执行  →  数据回写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 / 智用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智用：找得到、约得到、修得快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280160"/>
            <a:ext cx="2103120" cy="3246120"/>
          </a:xfrm>
          <a:prstGeom prst="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ni_schedu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53312"/>
            <a:ext cx="1956815" cy="30998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270247"/>
            <a:ext cx="1883663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ABCBE0"/>
                </a:solidFill>
                <a:latin typeface="微软雅黑"/>
              </a:rPr>
              <a:t>烟农端：查询 / 预约 / 调剂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1417320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481328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49047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附近烤房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93008" y="1947672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80944" y="2112264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176272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18541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空闲时段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3008" y="2642616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80944" y="2807208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2871216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880360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一键报修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93008" y="3337560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80944" y="3502152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566160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575304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双向评价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1417320"/>
            <a:ext cx="4233672" cy="205740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1600200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5FAFF"/>
                </a:solidFill>
                <a:latin typeface="黑体"/>
              </a:rPr>
              <a:t>磨坪雷击抢修案例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121408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故障上报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121408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微软雅黑"/>
              </a:rPr>
              <a:t>→ 风险部位辅助定位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514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人员/配件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514600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微软雅黑"/>
              </a:rPr>
              <a:t>→ 平台协同匹配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0779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907792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微软雅黑"/>
              </a:rPr>
              <a:t>→ 3小时内完成抢修复产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5968" y="3685032"/>
            <a:ext cx="4233672" cy="71323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822191"/>
            <a:ext cx="38679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技术不是替代人，而是把“烤房—人员—配件—工单”更快地匹配起来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 / 智投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智投：修哪里、建哪里、钱投哪里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38928" y="1371600"/>
            <a:ext cx="3383280" cy="2121408"/>
          </a:xfrm>
          <a:prstGeom prst="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eb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444752"/>
            <a:ext cx="3236976" cy="19751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48656" y="3236976"/>
            <a:ext cx="316382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ABCBE0"/>
                </a:solidFill>
                <a:latin typeface="微软雅黑"/>
              </a:rPr>
              <a:t>管理端：健康 / 修复 / 建设决策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353312"/>
            <a:ext cx="4160520" cy="7498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499616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463040"/>
            <a:ext cx="107899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黑体"/>
              </a:rPr>
              <a:t>存量维修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1444752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健康分 + 风险部位
生成年度修复优先序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286000"/>
            <a:ext cx="4160520" cy="7498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432304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95728"/>
            <a:ext cx="107899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黑体"/>
              </a:rPr>
              <a:t>增量建设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2377440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有效烤能 + 真实缺口
确定村级建设优先级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18688"/>
            <a:ext cx="4160520" cy="7498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364992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328416"/>
            <a:ext cx="107899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黑体"/>
              </a:rPr>
              <a:t>选址沙盘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310128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TOPSIS排序 + 情景推演
比较“建前 / 建后”效果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3685032"/>
            <a:ext cx="3383280" cy="71323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3840480"/>
            <a:ext cx="296265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微软雅黑"/>
              </a:rPr>
              <a:t>2026建设方案论证：争取新建29栋，其中肖家坪村7栋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 / 智管  +  4 · 四队长效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智管+四队：技术算得准，机制跑得久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5216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烟叶调制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技术指导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5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紧急抢修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故障处置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日常管护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巡检养护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9864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1303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综合管理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1303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政策资金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144475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黑体"/>
              </a:rPr>
              <a:t>线上闭环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84708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申请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209397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79" y="221284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派单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9560" y="245973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79" y="257860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处置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282549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79" y="294436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验收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09560" y="319125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331012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评价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09560" y="355701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79" y="3675887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回写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127248"/>
            <a:ext cx="6382512" cy="98755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328416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C200"/>
                </a:solidFill>
                <a:latin typeface="黑体"/>
              </a:rPr>
              <a:t>长效机制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291840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微软雅黑"/>
              </a:rPr>
              <a:t>管护制度  +  专项基金  +  服务评价  +  数据回写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3749039"/>
            <a:ext cx="56692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BCBE0"/>
                </a:solidFill>
                <a:latin typeface="微软雅黑"/>
              </a:rPr>
              <a:t>让烤房真正做到：有人管 · 有钱管 · 有标准管 · 有机制管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实战成效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实战成效：一个烘烤季，用数字说话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2442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全口径入库+健康评价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340+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低于60分预警/危险烤房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烤房调剂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0.38h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9424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平均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平台工单响应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96.8%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9584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综合满意度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81%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两级合作社统筹管护占比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17320" y="4133087"/>
            <a:ext cx="6309360" cy="45720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7632" y="4224528"/>
            <a:ext cx="58887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微软雅黑"/>
              </a:rPr>
              <a:t>管护基金累计近 190 万元  ·  四支服务队伍与制度标准同步落地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创新 / 收口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创新收口：让评委带走三句话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325880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5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35607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从“台账”到“动态体检”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1417320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一栋烤房：健康、寿命、风险、维修，一次算清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03704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3172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13432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从“两套模型”到“一条决策链”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295144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健康结果进入有效烤能，维修与新建不再割裂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81528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09544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91256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从“凭经验投”到“沙盘推演”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4" y="3172968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先看现状、再看未来、最后验证投入效果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4078224"/>
            <a:ext cx="6986016" cy="53035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187952"/>
            <a:ext cx="65105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好房充分用  ·  旧房精准修  ·  缺口科学建  ·  建后持续管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从“有多少房”到“有多少有效烤能”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