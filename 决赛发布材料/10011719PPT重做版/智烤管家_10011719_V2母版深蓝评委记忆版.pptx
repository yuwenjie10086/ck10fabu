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bg_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621792" y="1005840"/>
            <a:ext cx="1664208" cy="0"/>
          </a:xfrm>
          <a:prstGeom prst="line">
            <a:avLst/>
          </a:prstGeom>
          <a:ln w="2032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640080"/>
            <a:ext cx="420624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30D6FF"/>
                </a:solidFill>
                <a:latin typeface="黑体"/>
              </a:rPr>
              <a:t>湖北烟草数字化转型创客大赛 · 决赛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07008"/>
            <a:ext cx="438912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3400" b="1">
                <a:solidFill>
                  <a:srgbClr val="F5FAFF"/>
                </a:solidFill>
                <a:latin typeface="黑体"/>
              </a:rPr>
              <a:t>智烤管家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521208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900" b="0">
                <a:solidFill>
                  <a:srgbClr val="F5FAFF"/>
                </a:solidFill>
                <a:latin typeface="黑体"/>
              </a:rPr>
              <a:t>基于健康评估的烤房用投管一体化解决方案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542032"/>
            <a:ext cx="4846320" cy="640080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670048"/>
            <a:ext cx="4480560" cy="3017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C200"/>
                </a:solidFill>
                <a:latin typeface="微软雅黑"/>
              </a:rPr>
              <a:t>一库清底  ·  双模决策  ·  三智落地  ·  四队长效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383280"/>
            <a:ext cx="43891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ABCBE0"/>
                </a:solidFill>
                <a:latin typeface="微软雅黑"/>
              </a:rPr>
              <a:t>V2 · 母版深蓝评委记忆版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10528" y="1033271"/>
            <a:ext cx="1700784" cy="493776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088136"/>
            <a:ext cx="36576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FFC200"/>
                </a:solidFill>
                <a:latin typeface="黑体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097280"/>
            <a:ext cx="91440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黑体"/>
              </a:rPr>
              <a:t>一库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1737360"/>
            <a:ext cx="1700784" cy="493776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1792224"/>
            <a:ext cx="36576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FFC200"/>
                </a:solidFill>
                <a:latin typeface="黑体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1801368"/>
            <a:ext cx="91440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黑体"/>
              </a:rPr>
              <a:t>双模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10528" y="2441448"/>
            <a:ext cx="1700784" cy="493776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496312"/>
            <a:ext cx="36576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FFC200"/>
                </a:solidFill>
                <a:latin typeface="黑体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2505456"/>
            <a:ext cx="91440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黑体"/>
              </a:rPr>
              <a:t>三智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10528" y="3145536"/>
            <a:ext cx="1700784" cy="493776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3200400"/>
            <a:ext cx="36576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FFC200"/>
                </a:solidFill>
                <a:latin typeface="黑体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209544"/>
            <a:ext cx="91440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黑体"/>
              </a:rPr>
              <a:t>四队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498848"/>
            <a:ext cx="347472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900" b="0">
                <a:solidFill>
                  <a:srgbClr val="ABCBE0"/>
                </a:solidFill>
                <a:latin typeface="微软雅黑"/>
              </a:rPr>
              <a:t>宜昌市局 · 智同道合创客小组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bg_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146304"/>
            <a:ext cx="42062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C200"/>
                </a:solidFill>
                <a:latin typeface="黑体"/>
              </a:rPr>
              <a:t>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96112" y="256032"/>
            <a:ext cx="329184" cy="0"/>
          </a:xfrm>
          <a:prstGeom prst="line">
            <a:avLst/>
          </a:prstGeom>
          <a:ln w="1778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298448" y="118872"/>
            <a:ext cx="11430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30D6FF"/>
                </a:solidFill>
                <a:latin typeface="黑体"/>
              </a:rPr>
              <a:t>背景 / 痛点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9768"/>
            <a:ext cx="8183879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500" b="1">
                <a:solidFill>
                  <a:srgbClr val="F5FAFF"/>
                </a:solidFill>
                <a:latin typeface="黑体"/>
              </a:rPr>
              <a:t>三个字，把问题说透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841248"/>
            <a:ext cx="81381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ABCBE0"/>
                </a:solidFill>
                <a:latin typeface="微软雅黑"/>
              </a:rPr>
              <a:t>分不到、修不及、投不准——不是三个孤立问题，而是一条管理链没有贯通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156448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321040" y="219456"/>
            <a:ext cx="100584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485632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2920" y="1335024"/>
            <a:ext cx="2267712" cy="2350008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1499616"/>
            <a:ext cx="197510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500" b="1">
                <a:solidFill>
                  <a:srgbClr val="E23D3D"/>
                </a:solidFill>
                <a:latin typeface="黑体"/>
              </a:rPr>
              <a:t>分不到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057400"/>
            <a:ext cx="1865376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F5FAFF"/>
                </a:solidFill>
                <a:latin typeface="微软雅黑"/>
              </a:rPr>
              <a:t>旺季靠人工协调
空闲状态不透明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58952" y="2852928"/>
            <a:ext cx="1755648" cy="0"/>
          </a:xfrm>
          <a:prstGeom prst="line">
            <a:avLst/>
          </a:prstGeom>
          <a:ln w="1016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67512" y="2980944"/>
            <a:ext cx="1938528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30D6FF"/>
                </a:solidFill>
                <a:latin typeface="微软雅黑"/>
              </a:rPr>
              <a:t>资源调度
缺少数字支撑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18688" y="1335024"/>
            <a:ext cx="2267712" cy="2350008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64992" y="1499616"/>
            <a:ext cx="197510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500" b="1">
                <a:solidFill>
                  <a:srgbClr val="E23D3D"/>
                </a:solidFill>
                <a:latin typeface="黑体"/>
              </a:rPr>
              <a:t>修不及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9856" y="2057400"/>
            <a:ext cx="1865376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F5FAFF"/>
                </a:solidFill>
                <a:latin typeface="微软雅黑"/>
              </a:rPr>
              <a:t>报修、找人、配件
全部依靠人工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474720" y="2852928"/>
            <a:ext cx="1755648" cy="0"/>
          </a:xfrm>
          <a:prstGeom prst="line">
            <a:avLst/>
          </a:prstGeom>
          <a:ln w="1016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83280" y="2980944"/>
            <a:ext cx="1938528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30D6FF"/>
                </a:solidFill>
                <a:latin typeface="微软雅黑"/>
              </a:rPr>
              <a:t>管护运维
缺少闭环工具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34456" y="1335024"/>
            <a:ext cx="2267712" cy="2350008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1499616"/>
            <a:ext cx="1975104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500" b="1">
                <a:solidFill>
                  <a:srgbClr val="FFC200"/>
                </a:solidFill>
                <a:latin typeface="黑体"/>
              </a:rPr>
              <a:t>投不准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35624" y="2057400"/>
            <a:ext cx="1865376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F5FAFF"/>
                </a:solidFill>
                <a:latin typeface="微软雅黑"/>
              </a:rPr>
              <a:t>维修新建凭经验
供需长期错配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190488" y="2852928"/>
            <a:ext cx="1755648" cy="0"/>
          </a:xfrm>
          <a:prstGeom prst="line">
            <a:avLst/>
          </a:prstGeom>
          <a:ln w="1016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099048" y="2980944"/>
            <a:ext cx="1938528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30D6FF"/>
                </a:solidFill>
                <a:latin typeface="微软雅黑"/>
              </a:rPr>
              <a:t>基础设施投入
缺少量化依据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" y="3950208"/>
            <a:ext cx="7223760" cy="566928"/>
          </a:xfrm>
          <a:prstGeom prst="roundRect">
            <a:avLst/>
          </a:prstGeom>
          <a:solidFill>
            <a:srgbClr val="051B35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4050791"/>
            <a:ext cx="68580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C200"/>
                </a:solidFill>
                <a:latin typeface="黑体"/>
              </a:rPr>
              <a:t>本质：资源无统筹  ·  投入无量化  ·  管护无闭环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11480" y="4846320"/>
            <a:ext cx="8321040" cy="0"/>
          </a:xfrm>
          <a:prstGeom prst="line">
            <a:avLst/>
          </a:prstGeom>
          <a:ln w="889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38912" y="4864608"/>
            <a:ext cx="69494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ABCBE0"/>
                </a:solidFill>
                <a:latin typeface="微软雅黑"/>
              </a:rPr>
              <a:t>智烤管家  |  一库清底 · 双模决策 · 三智落地 · 四队长效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bg_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146304"/>
            <a:ext cx="42062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C200"/>
                </a:solidFill>
                <a:latin typeface="黑体"/>
              </a:rPr>
              <a:t>03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96112" y="256032"/>
            <a:ext cx="329184" cy="0"/>
          </a:xfrm>
          <a:prstGeom prst="line">
            <a:avLst/>
          </a:prstGeom>
          <a:ln w="1778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298448" y="118872"/>
            <a:ext cx="11430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30D6FF"/>
                </a:solidFill>
                <a:latin typeface="黑体"/>
              </a:rPr>
              <a:t>总体方案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9768"/>
            <a:ext cx="8183879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500" b="1">
                <a:solidFill>
                  <a:srgbClr val="F5FAFF"/>
                </a:solidFill>
                <a:latin typeface="黑体"/>
              </a:rPr>
              <a:t>“1234”创新体系：一库、双模、三智、四队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156448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321040" y="219456"/>
            <a:ext cx="100584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485632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1060704"/>
            <a:ext cx="62179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0">
                <a:solidFill>
                  <a:srgbClr val="ABCBE0"/>
                </a:solidFill>
                <a:latin typeface="微软雅黑"/>
              </a:rPr>
              <a:t>不是再做一个系统，而是重构“用—投—管”的决策链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600200"/>
            <a:ext cx="1801368" cy="1920240"/>
          </a:xfrm>
          <a:prstGeom prst="roundRect">
            <a:avLst/>
          </a:prstGeom>
          <a:solidFill>
            <a:srgbClr val="072A4B"/>
          </a:solidFill>
          <a:ln w="1397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755648"/>
            <a:ext cx="384048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FFC200"/>
                </a:solidFill>
                <a:latin typeface="黑体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" y="1773936"/>
            <a:ext cx="109728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黑体"/>
              </a:rPr>
              <a:t>一库清底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2267712"/>
            <a:ext cx="1481328" cy="0"/>
          </a:xfrm>
          <a:prstGeom prst="line">
            <a:avLst/>
          </a:prstGeom>
          <a:ln w="889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3232" y="2414016"/>
            <a:ext cx="1444752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ABCBE0"/>
                </a:solidFill>
                <a:latin typeface="微软雅黑"/>
              </a:rPr>
              <a:t>低代码采数 · 一房一档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50008" y="2560320"/>
            <a:ext cx="228600" cy="0"/>
          </a:xfrm>
          <a:prstGeom prst="line">
            <a:avLst/>
          </a:prstGeom>
          <a:ln w="2032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624328" y="1600200"/>
            <a:ext cx="1801368" cy="1920240"/>
          </a:xfrm>
          <a:prstGeom prst="roundRect">
            <a:avLst/>
          </a:prstGeom>
          <a:solidFill>
            <a:srgbClr val="072A4B"/>
          </a:solidFill>
          <a:ln w="1397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61488" y="1755648"/>
            <a:ext cx="384048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FFC200"/>
                </a:solidFill>
                <a:latin typeface="黑体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1773936"/>
            <a:ext cx="109728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黑体"/>
              </a:rPr>
              <a:t>双模决策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779776" y="2267712"/>
            <a:ext cx="1481328" cy="0"/>
          </a:xfrm>
          <a:prstGeom prst="line">
            <a:avLst/>
          </a:prstGeom>
          <a:ln w="889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807208" y="2414016"/>
            <a:ext cx="1444752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ABCBE0"/>
                </a:solidFill>
                <a:latin typeface="微软雅黑"/>
              </a:rPr>
              <a:t>健康评估 · 发展导引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443984" y="2560320"/>
            <a:ext cx="228600" cy="0"/>
          </a:xfrm>
          <a:prstGeom prst="line">
            <a:avLst/>
          </a:prstGeom>
          <a:ln w="2032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718304" y="1600200"/>
            <a:ext cx="1801368" cy="1920240"/>
          </a:xfrm>
          <a:prstGeom prst="roundRect">
            <a:avLst/>
          </a:prstGeom>
          <a:solidFill>
            <a:srgbClr val="072A4B"/>
          </a:solidFill>
          <a:ln w="1397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55464" y="1755648"/>
            <a:ext cx="384048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FFC200"/>
                </a:solidFill>
                <a:latin typeface="黑体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1773936"/>
            <a:ext cx="109728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黑体"/>
              </a:rPr>
              <a:t>三智落地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73752" y="2267712"/>
            <a:ext cx="1481328" cy="0"/>
          </a:xfrm>
          <a:prstGeom prst="line">
            <a:avLst/>
          </a:prstGeom>
          <a:ln w="889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901184" y="2414016"/>
            <a:ext cx="1444752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ABCBE0"/>
                </a:solidFill>
                <a:latin typeface="微软雅黑"/>
              </a:rPr>
              <a:t>智用 · 智投 · 智管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37960" y="2560320"/>
            <a:ext cx="228600" cy="0"/>
          </a:xfrm>
          <a:prstGeom prst="line">
            <a:avLst/>
          </a:prstGeom>
          <a:ln w="2032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812280" y="1600200"/>
            <a:ext cx="1801368" cy="1920240"/>
          </a:xfrm>
          <a:prstGeom prst="roundRect">
            <a:avLst/>
          </a:prstGeom>
          <a:solidFill>
            <a:srgbClr val="072A4B"/>
          </a:solidFill>
          <a:ln w="1397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1755648"/>
            <a:ext cx="384048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FFC200"/>
                </a:solidFill>
                <a:latin typeface="黑体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1773936"/>
            <a:ext cx="109728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黑体"/>
              </a:rPr>
              <a:t>四队长效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967728" y="2267712"/>
            <a:ext cx="1481328" cy="0"/>
          </a:xfrm>
          <a:prstGeom prst="line">
            <a:avLst/>
          </a:prstGeom>
          <a:ln w="889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995160" y="2414016"/>
            <a:ext cx="1444752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ABCBE0"/>
                </a:solidFill>
                <a:latin typeface="微软雅黑"/>
              </a:rPr>
              <a:t>调制 · 抢修 · 养护 · 综合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536192" y="3840480"/>
            <a:ext cx="6053328" cy="566928"/>
          </a:xfrm>
          <a:prstGeom prst="roundRect">
            <a:avLst/>
          </a:prstGeom>
          <a:solidFill>
            <a:srgbClr val="08395D"/>
          </a:solidFill>
          <a:ln w="1524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37360" y="3968496"/>
            <a:ext cx="5650992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5FAFF"/>
                </a:solidFill>
                <a:latin typeface="微软雅黑"/>
              </a:rPr>
              <a:t>一个协同平台贯穿始终：烟农端  ↔  合作社  ↔  技术员  ↔  管理人员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11480" y="4846320"/>
            <a:ext cx="8321040" cy="0"/>
          </a:xfrm>
          <a:prstGeom prst="line">
            <a:avLst/>
          </a:prstGeom>
          <a:ln w="889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38912" y="4864608"/>
            <a:ext cx="69494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ABCBE0"/>
                </a:solidFill>
                <a:latin typeface="微软雅黑"/>
              </a:rPr>
              <a:t>智烤管家  |  一库清底 · 双模决策 · 三智落地 · 四队长效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bg_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146304"/>
            <a:ext cx="42062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C200"/>
                </a:solidFill>
                <a:latin typeface="黑体"/>
              </a:rPr>
              <a:t>04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96112" y="256032"/>
            <a:ext cx="329184" cy="0"/>
          </a:xfrm>
          <a:prstGeom prst="line">
            <a:avLst/>
          </a:prstGeom>
          <a:ln w="1778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298448" y="118872"/>
            <a:ext cx="11430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30D6FF"/>
                </a:solidFill>
                <a:latin typeface="黑体"/>
              </a:rPr>
              <a:t>1 · 一库清底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9768"/>
            <a:ext cx="8183879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500" b="1">
                <a:solidFill>
                  <a:srgbClr val="F5FAFF"/>
                </a:solidFill>
                <a:latin typeface="黑体"/>
              </a:rPr>
              <a:t>一库清底：低代码采数，一房一档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841248"/>
            <a:ext cx="81381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ABCBE0"/>
                </a:solidFill>
                <a:latin typeface="微软雅黑"/>
              </a:rPr>
              <a:t>先把家底摸清，再谈智能决策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156448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321040" y="219456"/>
            <a:ext cx="100584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485632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30352" y="1426464"/>
            <a:ext cx="1207008" cy="2029968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3" y="1527048"/>
            <a:ext cx="329184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C200"/>
                </a:solidFill>
                <a:latin typeface="黑体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847088"/>
            <a:ext cx="98755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5FAFF"/>
                </a:solidFill>
                <a:latin typeface="黑体"/>
              </a:rPr>
              <a:t>现场采集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340864"/>
            <a:ext cx="987552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ABCBE0"/>
                </a:solidFill>
                <a:latin typeface="微软雅黑"/>
              </a:rPr>
              <a:t>低代码移动端
拍照、坐标、状态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755648" y="2450592"/>
            <a:ext cx="146304" cy="0"/>
          </a:xfrm>
          <a:prstGeom prst="line">
            <a:avLst/>
          </a:prstGeom>
          <a:ln w="2032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947672" y="1426464"/>
            <a:ext cx="1207008" cy="2029968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20824" y="1527048"/>
            <a:ext cx="329184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C200"/>
                </a:solidFill>
                <a:latin typeface="黑体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1847088"/>
            <a:ext cx="98755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5FAFF"/>
                </a:solidFill>
                <a:latin typeface="黑体"/>
              </a:rPr>
              <a:t>标准化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2340864"/>
            <a:ext cx="987552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ABCBE0"/>
                </a:solidFill>
                <a:latin typeface="微软雅黑"/>
              </a:rPr>
              <a:t>统一编号
部件状态校验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72968" y="2450592"/>
            <a:ext cx="146304" cy="0"/>
          </a:xfrm>
          <a:prstGeom prst="line">
            <a:avLst/>
          </a:prstGeom>
          <a:ln w="2032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364992" y="1426464"/>
            <a:ext cx="1207008" cy="2029968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38144" y="1527048"/>
            <a:ext cx="329184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C200"/>
                </a:solidFill>
                <a:latin typeface="黑体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1847088"/>
            <a:ext cx="98755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5FAFF"/>
                </a:solidFill>
                <a:latin typeface="黑体"/>
              </a:rPr>
              <a:t>一房一档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2340864"/>
            <a:ext cx="987552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ABCBE0"/>
                </a:solidFill>
                <a:latin typeface="微软雅黑"/>
              </a:rPr>
              <a:t>基础、维修
使用、评价归档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90288" y="2450592"/>
            <a:ext cx="146304" cy="0"/>
          </a:xfrm>
          <a:prstGeom prst="line">
            <a:avLst/>
          </a:prstGeom>
          <a:ln w="2032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782312" y="1426464"/>
            <a:ext cx="1207008" cy="2029968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55464" y="1527048"/>
            <a:ext cx="329184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C200"/>
                </a:solidFill>
                <a:latin typeface="黑体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1847088"/>
            <a:ext cx="98755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5FAFF"/>
                </a:solidFill>
                <a:latin typeface="黑体"/>
              </a:rPr>
              <a:t>动态回写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2340864"/>
            <a:ext cx="987552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ABCBE0"/>
                </a:solidFill>
                <a:latin typeface="微软雅黑"/>
              </a:rPr>
              <a:t>调剂、工单
验收结果持续更新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46520" y="1353312"/>
            <a:ext cx="2103120" cy="1005840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56248" y="1444752"/>
            <a:ext cx="1883663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600" b="1">
                <a:solidFill>
                  <a:srgbClr val="FFC200"/>
                </a:solidFill>
                <a:latin typeface="黑体"/>
              </a:rPr>
              <a:t>2442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59" y="1865376"/>
            <a:ext cx="1920239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5FAFF"/>
                </a:solidFill>
                <a:latin typeface="微软雅黑"/>
              </a:rPr>
              <a:t>座烤房全口径入库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59" y="2103120"/>
            <a:ext cx="1920239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0">
                <a:solidFill>
                  <a:srgbClr val="ABCBE0"/>
                </a:solidFill>
                <a:latin typeface="微软雅黑"/>
              </a:rPr>
              <a:t>全覆盖健康评价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46520" y="2542032"/>
            <a:ext cx="2103120" cy="1572768"/>
          </a:xfrm>
          <a:prstGeom prst="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repair_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2615184"/>
            <a:ext cx="1956815" cy="142646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556248" y="3858768"/>
            <a:ext cx="1883663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800" b="0">
                <a:solidFill>
                  <a:srgbClr val="ABCBE0"/>
                </a:solidFill>
                <a:latin typeface="微软雅黑"/>
              </a:rPr>
              <a:t>低代码/移动端采集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" y="3822191"/>
            <a:ext cx="5230368" cy="585216"/>
          </a:xfrm>
          <a:prstGeom prst="roundRect">
            <a:avLst/>
          </a:prstGeom>
          <a:solidFill>
            <a:srgbClr val="051B35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4128" y="3931920"/>
            <a:ext cx="491947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5FAFF"/>
                </a:solidFill>
                <a:latin typeface="微软雅黑"/>
              </a:rPr>
              <a:t>低代码不是“做表单”，而是把现场数据变成后续模型可计算、业务可追溯的标准数据资产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11480" y="4846320"/>
            <a:ext cx="8321040" cy="0"/>
          </a:xfrm>
          <a:prstGeom prst="line">
            <a:avLst/>
          </a:prstGeom>
          <a:ln w="889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38912" y="4864608"/>
            <a:ext cx="69494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ABCBE0"/>
                </a:solidFill>
                <a:latin typeface="微软雅黑"/>
              </a:rPr>
              <a:t>智烤管家  |  一库清底 · 双模决策 · 三智落地 · 四队长效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bg_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146304"/>
            <a:ext cx="42062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C200"/>
                </a:solidFill>
                <a:latin typeface="黑体"/>
              </a:rPr>
              <a:t>05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96112" y="256032"/>
            <a:ext cx="329184" cy="0"/>
          </a:xfrm>
          <a:prstGeom prst="line">
            <a:avLst/>
          </a:prstGeom>
          <a:ln w="1778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298448" y="118872"/>
            <a:ext cx="11430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30D6FF"/>
                </a:solidFill>
                <a:latin typeface="黑体"/>
              </a:rPr>
              <a:t>模型① / 技术创新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9768"/>
            <a:ext cx="8183879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500" b="1">
                <a:solidFill>
                  <a:srgbClr val="F5FAFF"/>
                </a:solidFill>
                <a:latin typeface="黑体"/>
              </a:rPr>
              <a:t>模型①：健康评估三步走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841248"/>
            <a:ext cx="81381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ABCBE0"/>
                </a:solidFill>
                <a:latin typeface="微软雅黑"/>
              </a:rPr>
              <a:t>评委记住三个问题：健不健康？还能用多久？先修哪里？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156448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321040" y="219456"/>
            <a:ext cx="100584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485632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30352" y="1389888"/>
            <a:ext cx="2304288" cy="1938528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481328"/>
            <a:ext cx="329184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C200"/>
                </a:solidFill>
                <a:latin typeface="黑体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463040"/>
            <a:ext cx="17373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黑体"/>
              </a:rPr>
              <a:t>部件标准化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874519"/>
            <a:ext cx="2048256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ABCBE0"/>
                </a:solidFill>
                <a:latin typeface="微软雅黑"/>
              </a:rPr>
              <a:t>12个关键部件
状态、指导寿命、现场评价
统一到可计算口径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90672" y="1389888"/>
            <a:ext cx="2304288" cy="1938528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82112" y="1481328"/>
            <a:ext cx="329184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C200"/>
                </a:solidFill>
                <a:latin typeface="黑体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1463040"/>
            <a:ext cx="17373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黑体"/>
              </a:rPr>
              <a:t>AHP综合评分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8" y="1874519"/>
            <a:ext cx="2048256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ABCBE0"/>
                </a:solidFill>
                <a:latin typeface="微软雅黑"/>
              </a:rPr>
              <a:t>把专家判断转成权重并校验
H = 0.80×部件 + 0.10×管护 + 0.10×评价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50992" y="1389888"/>
            <a:ext cx="2304288" cy="1938528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42431" y="1481328"/>
            <a:ext cx="329184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C200"/>
                </a:solidFill>
                <a:latin typeface="黑体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79" y="1463040"/>
            <a:ext cx="17373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黑体"/>
              </a:rPr>
              <a:t>威布尔寿命预测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79007" y="1874519"/>
            <a:ext cx="2048256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ABCBE0"/>
                </a:solidFill>
                <a:latin typeface="微软雅黑"/>
              </a:rPr>
              <a:t>拟合部件寿命分布
叠加房龄、维修、健康校准
输出剩余寿命与风险排序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834640" y="2359152"/>
            <a:ext cx="219456" cy="0"/>
          </a:xfrm>
          <a:prstGeom prst="line">
            <a:avLst/>
          </a:prstGeom>
          <a:ln w="2032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94960" y="2359152"/>
            <a:ext cx="219456" cy="0"/>
          </a:xfrm>
          <a:prstGeom prst="line">
            <a:avLst/>
          </a:prstGeom>
          <a:ln w="2032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41248" y="3730752"/>
            <a:ext cx="7461504" cy="585216"/>
          </a:xfrm>
          <a:prstGeom prst="roundRect">
            <a:avLst/>
          </a:prstGeom>
          <a:solidFill>
            <a:srgbClr val="08395D"/>
          </a:solidFill>
          <a:ln w="1524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" y="3858768"/>
            <a:ext cx="138988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5FAFF"/>
                </a:solidFill>
                <a:latin typeface="黑体"/>
              </a:rPr>
              <a:t>健康等级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505456" y="3822191"/>
            <a:ext cx="0" cy="347472"/>
          </a:xfrm>
          <a:prstGeom prst="line">
            <a:avLst/>
          </a:prstGeom>
          <a:ln w="1016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761488" y="3858768"/>
            <a:ext cx="138988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C200"/>
                </a:solidFill>
                <a:latin typeface="黑体"/>
              </a:rPr>
              <a:t>剩余寿命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279392" y="3822191"/>
            <a:ext cx="0" cy="347472"/>
          </a:xfrm>
          <a:prstGeom prst="line">
            <a:avLst/>
          </a:prstGeom>
          <a:ln w="1016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35424" y="3858768"/>
            <a:ext cx="138988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5FAFF"/>
                </a:solidFill>
                <a:latin typeface="黑体"/>
              </a:rPr>
              <a:t>风险部位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53328" y="3822191"/>
            <a:ext cx="0" cy="347472"/>
          </a:xfrm>
          <a:prstGeom prst="line">
            <a:avLst/>
          </a:prstGeom>
          <a:ln w="1016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309360" y="3858768"/>
            <a:ext cx="138988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C200"/>
                </a:solidFill>
                <a:latin typeface="黑体"/>
              </a:rPr>
              <a:t>维修优先序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11480" y="4846320"/>
            <a:ext cx="8321040" cy="0"/>
          </a:xfrm>
          <a:prstGeom prst="line">
            <a:avLst/>
          </a:prstGeom>
          <a:ln w="889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38912" y="4864608"/>
            <a:ext cx="69494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ABCBE0"/>
                </a:solidFill>
                <a:latin typeface="微软雅黑"/>
              </a:rPr>
              <a:t>智烤管家  |  一库清底 · 双模决策 · 三智落地 · 四队长效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bg_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146304"/>
            <a:ext cx="42062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C200"/>
                </a:solidFill>
                <a:latin typeface="黑体"/>
              </a:rPr>
              <a:t>06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96112" y="256032"/>
            <a:ext cx="329184" cy="0"/>
          </a:xfrm>
          <a:prstGeom prst="line">
            <a:avLst/>
          </a:prstGeom>
          <a:ln w="1778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298448" y="118872"/>
            <a:ext cx="11430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30D6FF"/>
                </a:solidFill>
                <a:latin typeface="黑体"/>
              </a:rPr>
              <a:t>模型② / 技术创新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9768"/>
            <a:ext cx="8183879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500" b="1">
                <a:solidFill>
                  <a:srgbClr val="F5FAFF"/>
                </a:solidFill>
                <a:latin typeface="黑体"/>
              </a:rPr>
              <a:t>模型②：发展导引三步走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841248"/>
            <a:ext cx="81381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ABCBE0"/>
                </a:solidFill>
                <a:latin typeface="微软雅黑"/>
              </a:rPr>
              <a:t>评委记住四个问题：真缺吗？缺多少？建哪里？建后有没有改善？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156448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321040" y="219456"/>
            <a:ext cx="100584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485632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30352" y="1371600"/>
            <a:ext cx="2304288" cy="1993392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463040"/>
            <a:ext cx="329184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C200"/>
                </a:solidFill>
                <a:latin typeface="黑体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444752"/>
            <a:ext cx="17373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黑体"/>
              </a:rPr>
              <a:t>折算有效烤能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856232"/>
            <a:ext cx="2048256" cy="1408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ABCBE0"/>
                </a:solidFill>
                <a:latin typeface="微软雅黑"/>
              </a:rPr>
              <a:t>把健康分 × 容量 × 使用状态
折算为“真正能用的烤能”
避免“有房≠有能力”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90672" y="1371600"/>
            <a:ext cx="2304288" cy="1993392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82112" y="1463040"/>
            <a:ext cx="329184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C200"/>
                </a:solidFill>
                <a:latin typeface="黑体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1444752"/>
            <a:ext cx="17373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黑体"/>
              </a:rPr>
              <a:t>组合赋权判需求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8" y="1856232"/>
            <a:ext cx="2048256" cy="1408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ABCBE0"/>
                </a:solidFill>
                <a:latin typeface="微软雅黑"/>
              </a:rPr>
              <a:t>有效烤能 + 承载匹配 + 发展条件
AHP确定主观权重
熵权法校正客观差异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50992" y="1371600"/>
            <a:ext cx="2304288" cy="1993392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42431" y="1463040"/>
            <a:ext cx="329184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C200"/>
                </a:solidFill>
                <a:latin typeface="黑体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79" y="1444752"/>
            <a:ext cx="173736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黑体"/>
              </a:rPr>
              <a:t>TOPSIS + 沙盘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79007" y="1856232"/>
            <a:ext cx="2048256" cy="1408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ABCBE0"/>
                </a:solidFill>
                <a:latin typeface="微软雅黑"/>
              </a:rPr>
              <a:t>地形/水电/交通/烟田等多准则排序
切换未来种植情景
重算缺口与拟建数量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834640" y="2377440"/>
            <a:ext cx="219456" cy="0"/>
          </a:xfrm>
          <a:prstGeom prst="line">
            <a:avLst/>
          </a:prstGeom>
          <a:ln w="2032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94960" y="2377440"/>
            <a:ext cx="219456" cy="0"/>
          </a:xfrm>
          <a:prstGeom prst="line">
            <a:avLst/>
          </a:prstGeom>
          <a:ln w="2032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170432" y="3730752"/>
            <a:ext cx="6821424" cy="585216"/>
          </a:xfrm>
          <a:prstGeom prst="roundRect">
            <a:avLst/>
          </a:prstGeom>
          <a:solidFill>
            <a:srgbClr val="08395D"/>
          </a:solidFill>
          <a:ln w="1524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53312" y="3858768"/>
            <a:ext cx="6455664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C200"/>
                </a:solidFill>
                <a:latin typeface="黑体"/>
              </a:rPr>
              <a:t>输出：村级缺口  →  建设数量  →  候选点排序  →  情景投入效果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11480" y="4846320"/>
            <a:ext cx="8321040" cy="0"/>
          </a:xfrm>
          <a:prstGeom prst="line">
            <a:avLst/>
          </a:prstGeom>
          <a:ln w="889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38912" y="4864608"/>
            <a:ext cx="69494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ABCBE0"/>
                </a:solidFill>
                <a:latin typeface="微软雅黑"/>
              </a:rPr>
              <a:t>智烤管家  |  一库清底 · 双模决策 · 三智落地 · 四队长效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bg_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146304"/>
            <a:ext cx="42062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C200"/>
                </a:solidFill>
                <a:latin typeface="黑体"/>
              </a:rPr>
              <a:t>07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96112" y="256032"/>
            <a:ext cx="329184" cy="0"/>
          </a:xfrm>
          <a:prstGeom prst="line">
            <a:avLst/>
          </a:prstGeom>
          <a:ln w="1778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298448" y="118872"/>
            <a:ext cx="11430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30D6FF"/>
                </a:solidFill>
                <a:latin typeface="黑体"/>
              </a:rPr>
              <a:t>双模耦合 / 核心创新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9768"/>
            <a:ext cx="8183879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500" b="1">
                <a:solidFill>
                  <a:srgbClr val="F5FAFF"/>
                </a:solidFill>
                <a:latin typeface="黑体"/>
              </a:rPr>
              <a:t>双模耦合：一条连续的投入决策链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156448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321040" y="219456"/>
            <a:ext cx="100584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485632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1481328"/>
            <a:ext cx="1682496" cy="1463040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600200"/>
            <a:ext cx="29260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C200"/>
                </a:solidFill>
                <a:latin typeface="黑体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865376"/>
            <a:ext cx="1353312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5FAFF"/>
                </a:solidFill>
                <a:latin typeface="黑体"/>
              </a:rPr>
              <a:t>存量体检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304288"/>
            <a:ext cx="1353312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0">
                <a:solidFill>
                  <a:srgbClr val="ABCBE0"/>
                </a:solidFill>
                <a:latin typeface="微软雅黑"/>
              </a:rPr>
              <a:t>健康 / 寿命 / 风险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49424" y="2231136"/>
            <a:ext cx="384048" cy="0"/>
          </a:xfrm>
          <a:prstGeom prst="line">
            <a:avLst/>
          </a:prstGeom>
          <a:ln w="2032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670048" y="1481328"/>
            <a:ext cx="1682496" cy="1463040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79776" y="1600200"/>
            <a:ext cx="29260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C200"/>
                </a:solidFill>
                <a:latin typeface="黑体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1865376"/>
            <a:ext cx="1353312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5FAFF"/>
                </a:solidFill>
                <a:latin typeface="黑体"/>
              </a:rPr>
              <a:t>有效烤能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304288"/>
            <a:ext cx="1353312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0">
                <a:solidFill>
                  <a:srgbClr val="ABCBE0"/>
                </a:solidFill>
                <a:latin typeface="微软雅黑"/>
              </a:rPr>
              <a:t>把“有多少房”变成
“有多少能力”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370832" y="2231136"/>
            <a:ext cx="384048" cy="0"/>
          </a:xfrm>
          <a:prstGeom prst="line">
            <a:avLst/>
          </a:prstGeom>
          <a:ln w="2032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791456" y="1481328"/>
            <a:ext cx="1682496" cy="1463040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01184" y="1600200"/>
            <a:ext cx="29260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C200"/>
                </a:solidFill>
                <a:latin typeface="黑体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6048" y="1865376"/>
            <a:ext cx="1353312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5FAFF"/>
                </a:solidFill>
                <a:latin typeface="黑体"/>
              </a:rPr>
              <a:t>增量推演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56048" y="2304288"/>
            <a:ext cx="1353312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0">
                <a:solidFill>
                  <a:srgbClr val="ABCBE0"/>
                </a:solidFill>
                <a:latin typeface="微软雅黑"/>
              </a:rPr>
              <a:t>缺口 / 数量 / 点位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92240" y="2231136"/>
            <a:ext cx="384048" cy="0"/>
          </a:xfrm>
          <a:prstGeom prst="line">
            <a:avLst/>
          </a:prstGeom>
          <a:ln w="2032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912864" y="1481328"/>
            <a:ext cx="1682496" cy="1463040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22592" y="1600200"/>
            <a:ext cx="29260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C200"/>
                </a:solidFill>
                <a:latin typeface="黑体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5" y="1865376"/>
            <a:ext cx="1353312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5FAFF"/>
                </a:solidFill>
                <a:latin typeface="黑体"/>
              </a:rPr>
              <a:t>投入决策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77455" y="2304288"/>
            <a:ext cx="1353312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0">
                <a:solidFill>
                  <a:srgbClr val="ABCBE0"/>
                </a:solidFill>
                <a:latin typeface="微软雅黑"/>
              </a:rPr>
              <a:t>维修 / 新建 / 资金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2" y="3319272"/>
            <a:ext cx="7260336" cy="713232"/>
          </a:xfrm>
          <a:prstGeom prst="roundRect">
            <a:avLst/>
          </a:prstGeom>
          <a:solidFill>
            <a:srgbClr val="08395D"/>
          </a:solidFill>
          <a:ln w="1524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07008" y="3483864"/>
            <a:ext cx="6711696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900" b="1">
                <a:solidFill>
                  <a:srgbClr val="FFC200"/>
                </a:solidFill>
                <a:latin typeface="黑体"/>
              </a:rPr>
              <a:t>先调剂  →  再修复  →  仍有结构性缺口才新建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160520"/>
            <a:ext cx="70408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5FAFF"/>
                </a:solidFill>
                <a:latin typeface="微软雅黑"/>
              </a:rPr>
              <a:t>创新点：第一模型的健康结果，直接进入第二模型的有效烤能计算；维修与新建不再割裂。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11480" y="4846320"/>
            <a:ext cx="8321040" cy="0"/>
          </a:xfrm>
          <a:prstGeom prst="line">
            <a:avLst/>
          </a:prstGeom>
          <a:ln w="889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38912" y="4864608"/>
            <a:ext cx="69494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ABCBE0"/>
                </a:solidFill>
                <a:latin typeface="微软雅黑"/>
              </a:rPr>
              <a:t>智烤管家  |  一库清底 · 双模决策 · 三智落地 · 四队长效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bg_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146304"/>
            <a:ext cx="42062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C200"/>
                </a:solidFill>
                <a:latin typeface="黑体"/>
              </a:rPr>
              <a:t>08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96112" y="256032"/>
            <a:ext cx="329184" cy="0"/>
          </a:xfrm>
          <a:prstGeom prst="line">
            <a:avLst/>
          </a:prstGeom>
          <a:ln w="1778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298448" y="118872"/>
            <a:ext cx="11430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30D6FF"/>
                </a:solidFill>
                <a:latin typeface="黑体"/>
              </a:rPr>
              <a:t>视频 / 约1分钟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9768"/>
            <a:ext cx="8183879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500" b="1">
                <a:solidFill>
                  <a:srgbClr val="F5FAFF"/>
                </a:solidFill>
                <a:latin typeface="黑体"/>
              </a:rPr>
              <a:t>从“模型怎么算”到“平台怎么跑”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156448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321040" y="219456"/>
            <a:ext cx="100584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485632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234440" y="1325880"/>
            <a:ext cx="6675120" cy="2542032"/>
          </a:xfrm>
          <a:prstGeom prst="roundRect">
            <a:avLst/>
          </a:prstGeom>
          <a:solidFill>
            <a:srgbClr val="072A4B"/>
          </a:solidFill>
          <a:ln w="1651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986784" y="1874519"/>
            <a:ext cx="1170432" cy="1170432"/>
          </a:xfrm>
          <a:prstGeom prst="ellipse">
            <a:avLst/>
          </a:prstGeom>
          <a:solidFill>
            <a:srgbClr val="08395D"/>
          </a:solidFill>
          <a:ln w="1778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 rot="5400000">
            <a:off x="4407408" y="2185416"/>
            <a:ext cx="384048" cy="384048"/>
          </a:xfrm>
          <a:prstGeom prst="triangle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0240" y="3246120"/>
            <a:ext cx="53035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5FAFF"/>
                </a:solidFill>
                <a:latin typeface="黑体"/>
              </a:rPr>
              <a:t>一库采数  →  双模研判  →  三智执行  →  数据回写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" y="4846320"/>
            <a:ext cx="8321040" cy="0"/>
          </a:xfrm>
          <a:prstGeom prst="line">
            <a:avLst/>
          </a:prstGeom>
          <a:ln w="889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38912" y="4864608"/>
            <a:ext cx="69494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ABCBE0"/>
                </a:solidFill>
                <a:latin typeface="微软雅黑"/>
              </a:rPr>
              <a:t>智烤管家  |  一库清底 · 双模决策 · 三智落地 · 四队长效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bg_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146304"/>
            <a:ext cx="42062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C200"/>
                </a:solidFill>
                <a:latin typeface="黑体"/>
              </a:rPr>
              <a:t>09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96112" y="256032"/>
            <a:ext cx="329184" cy="0"/>
          </a:xfrm>
          <a:prstGeom prst="line">
            <a:avLst/>
          </a:prstGeom>
          <a:ln w="1778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298448" y="118872"/>
            <a:ext cx="11430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30D6FF"/>
                </a:solidFill>
                <a:latin typeface="黑体"/>
              </a:rPr>
              <a:t>3 · 三智落地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9768"/>
            <a:ext cx="8183879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500" b="1">
                <a:solidFill>
                  <a:srgbClr val="F5FAFF"/>
                </a:solidFill>
                <a:latin typeface="黑体"/>
              </a:rPr>
              <a:t>一个协同平台，服务三类人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156448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321040" y="219456"/>
            <a:ext cx="100584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485632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1353312"/>
            <a:ext cx="2331720" cy="2889504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36192"/>
            <a:ext cx="91440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100" b="1">
                <a:solidFill>
                  <a:srgbClr val="FFC200"/>
                </a:solidFill>
                <a:latin typeface="黑体"/>
              </a:rPr>
              <a:t>智用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92224" y="1572768"/>
            <a:ext cx="822960" cy="274320"/>
          </a:xfrm>
          <a:prstGeom prst="roundRect">
            <a:avLst/>
          </a:prstGeom>
          <a:solidFill>
            <a:srgbClr val="08395D"/>
          </a:solidFill>
          <a:ln w="1270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00" b="1">
                <a:solidFill>
                  <a:srgbClr val="F5FAFF"/>
                </a:solidFill>
                <a:latin typeface="黑体"/>
              </a:rPr>
              <a:t>烟农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3232" y="2103120"/>
            <a:ext cx="1984248" cy="0"/>
          </a:xfrm>
          <a:prstGeom prst="line">
            <a:avLst/>
          </a:prstGeom>
          <a:ln w="1016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49808" y="2286000"/>
            <a:ext cx="192024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F5FAFF"/>
                </a:solidFill>
                <a:latin typeface="微软雅黑"/>
              </a:rPr>
              <a:t>查烤房 / 预约调剂 / 一键报修 / 双向评价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" y="3246120"/>
            <a:ext cx="2039112" cy="530352"/>
          </a:xfrm>
          <a:prstGeom prst="roundRect">
            <a:avLst/>
          </a:prstGeom>
          <a:solidFill>
            <a:srgbClr val="08395D"/>
          </a:solidFill>
          <a:ln w="1270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355848"/>
            <a:ext cx="1911095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30D6FF"/>
                </a:solidFill>
                <a:latin typeface="微软雅黑"/>
              </a:rPr>
              <a:t>找得到 · 约得到 · 修得快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18688" y="1353312"/>
            <a:ext cx="2331720" cy="2889504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1536192"/>
            <a:ext cx="91440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100" b="1">
                <a:solidFill>
                  <a:srgbClr val="FFC200"/>
                </a:solidFill>
                <a:latin typeface="黑体"/>
              </a:rPr>
              <a:t>智投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62272" y="1572768"/>
            <a:ext cx="822960" cy="274320"/>
          </a:xfrm>
          <a:prstGeom prst="roundRect">
            <a:avLst/>
          </a:prstGeom>
          <a:solidFill>
            <a:srgbClr val="08395D"/>
          </a:solidFill>
          <a:ln w="1270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00" b="1">
                <a:solidFill>
                  <a:srgbClr val="F5FAFF"/>
                </a:solidFill>
                <a:latin typeface="黑体"/>
              </a:rPr>
              <a:t>管理人员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383280" y="2103120"/>
            <a:ext cx="1984248" cy="0"/>
          </a:xfrm>
          <a:prstGeom prst="line">
            <a:avLst/>
          </a:prstGeom>
          <a:ln w="1016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419856" y="2286000"/>
            <a:ext cx="192024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F5FAFF"/>
                </a:solidFill>
                <a:latin typeface="微软雅黑"/>
              </a:rPr>
              <a:t>修复清单 / 建设优先级 / 选址排序 / 沙盘推演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64992" y="3246120"/>
            <a:ext cx="2039112" cy="530352"/>
          </a:xfrm>
          <a:prstGeom prst="roundRect">
            <a:avLst/>
          </a:prstGeom>
          <a:solidFill>
            <a:srgbClr val="08395D"/>
          </a:solidFill>
          <a:ln w="1270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9000" y="3355848"/>
            <a:ext cx="1911095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30D6FF"/>
                </a:solidFill>
                <a:latin typeface="微软雅黑"/>
              </a:rPr>
              <a:t>修哪里 · 建哪里 · 钱投哪里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88736" y="1353312"/>
            <a:ext cx="2331720" cy="2889504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1536192"/>
            <a:ext cx="91440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100" b="1">
                <a:solidFill>
                  <a:srgbClr val="FFC200"/>
                </a:solidFill>
                <a:latin typeface="黑体"/>
              </a:rPr>
              <a:t>智管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0" y="1572768"/>
            <a:ext cx="822960" cy="274320"/>
          </a:xfrm>
          <a:prstGeom prst="roundRect">
            <a:avLst/>
          </a:prstGeom>
          <a:solidFill>
            <a:srgbClr val="08395D"/>
          </a:solidFill>
          <a:ln w="1270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000" b="1">
                <a:solidFill>
                  <a:srgbClr val="F5FAFF"/>
                </a:solidFill>
                <a:latin typeface="黑体"/>
              </a:rPr>
              <a:t>合作社/技术员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53328" y="2103120"/>
            <a:ext cx="1984248" cy="0"/>
          </a:xfrm>
          <a:prstGeom prst="line">
            <a:avLst/>
          </a:prstGeom>
          <a:ln w="1016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089904" y="2286000"/>
            <a:ext cx="192024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F5FAFF"/>
                </a:solidFill>
                <a:latin typeface="微软雅黑"/>
              </a:rPr>
              <a:t>派单 / 抢修 / 验收 / 评价 / 数据回写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0" y="3246120"/>
            <a:ext cx="2039112" cy="530352"/>
          </a:xfrm>
          <a:prstGeom prst="roundRect">
            <a:avLst/>
          </a:prstGeom>
          <a:solidFill>
            <a:srgbClr val="08395D"/>
          </a:solidFill>
          <a:ln w="1270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99048" y="3355848"/>
            <a:ext cx="1911095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30D6FF"/>
                </a:solidFill>
                <a:latin typeface="微软雅黑"/>
              </a:rPr>
              <a:t>有人管 · 有钱管 · 有标准管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11480" y="4846320"/>
            <a:ext cx="8321040" cy="0"/>
          </a:xfrm>
          <a:prstGeom prst="line">
            <a:avLst/>
          </a:prstGeom>
          <a:ln w="889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38912" y="4864608"/>
            <a:ext cx="69494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ABCBE0"/>
                </a:solidFill>
                <a:latin typeface="微软雅黑"/>
              </a:rPr>
              <a:t>智烤管家  |  一库清底 · 双模决策 · 三智落地 · 四队长效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bg_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146304"/>
            <a:ext cx="42062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C200"/>
                </a:solidFill>
                <a:latin typeface="黑体"/>
              </a:rPr>
              <a:t>10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96112" y="256032"/>
            <a:ext cx="329184" cy="0"/>
          </a:xfrm>
          <a:prstGeom prst="line">
            <a:avLst/>
          </a:prstGeom>
          <a:ln w="1778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298448" y="118872"/>
            <a:ext cx="11430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30D6FF"/>
                </a:solidFill>
                <a:latin typeface="黑体"/>
              </a:rPr>
              <a:t>3 · 三智落地 / 智用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9768"/>
            <a:ext cx="8183879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500" b="1">
                <a:solidFill>
                  <a:srgbClr val="F5FAFF"/>
                </a:solidFill>
                <a:latin typeface="黑体"/>
              </a:rPr>
              <a:t>智用：找得到、约得到、修得快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156448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321040" y="219456"/>
            <a:ext cx="100584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485632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48640" y="1280160"/>
            <a:ext cx="2103120" cy="3246120"/>
          </a:xfrm>
          <a:prstGeom prst="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ini_schedu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353312"/>
            <a:ext cx="1956815" cy="309981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4270247"/>
            <a:ext cx="1883663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800" b="0">
                <a:solidFill>
                  <a:srgbClr val="ABCBE0"/>
                </a:solidFill>
                <a:latin typeface="微软雅黑"/>
              </a:rPr>
              <a:t>烟农端：查询 / 预约 / 调剂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80944" y="1417320"/>
            <a:ext cx="1024128" cy="512064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0672" y="1481328"/>
            <a:ext cx="237744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C200"/>
                </a:solidFill>
                <a:latin typeface="黑体"/>
              </a:rPr>
              <a:t>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1490472"/>
            <a:ext cx="512064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F5FAFF"/>
                </a:solidFill>
                <a:latin typeface="微软雅黑"/>
              </a:rPr>
              <a:t>附近烤房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493008" y="1947672"/>
            <a:ext cx="0" cy="164592"/>
          </a:xfrm>
          <a:prstGeom prst="line">
            <a:avLst/>
          </a:prstGeom>
          <a:ln w="1397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80944" y="2112264"/>
            <a:ext cx="1024128" cy="512064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90672" y="2176272"/>
            <a:ext cx="237744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C200"/>
                </a:solidFill>
                <a:latin typeface="黑体"/>
              </a:rPr>
              <a:t>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1568" y="2185416"/>
            <a:ext cx="512064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F5FAFF"/>
                </a:solidFill>
                <a:latin typeface="微软雅黑"/>
              </a:rPr>
              <a:t>空闲时段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493008" y="2642616"/>
            <a:ext cx="0" cy="164592"/>
          </a:xfrm>
          <a:prstGeom prst="line">
            <a:avLst/>
          </a:prstGeom>
          <a:ln w="1397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980944" y="2807208"/>
            <a:ext cx="1024128" cy="512064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90672" y="2871216"/>
            <a:ext cx="237744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C200"/>
                </a:solidFill>
                <a:latin typeface="黑体"/>
              </a:rPr>
              <a:t>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01568" y="2880360"/>
            <a:ext cx="512064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F5FAFF"/>
                </a:solidFill>
                <a:latin typeface="微软雅黑"/>
              </a:rPr>
              <a:t>一键报修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493008" y="3337560"/>
            <a:ext cx="0" cy="164592"/>
          </a:xfrm>
          <a:prstGeom prst="line">
            <a:avLst/>
          </a:prstGeom>
          <a:ln w="1397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980944" y="3502152"/>
            <a:ext cx="1024128" cy="512064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90672" y="3566160"/>
            <a:ext cx="237744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C200"/>
                </a:solidFill>
                <a:latin typeface="黑体"/>
              </a:rPr>
              <a:t>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01568" y="3575304"/>
            <a:ext cx="512064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F5FAFF"/>
                </a:solidFill>
                <a:latin typeface="微软雅黑"/>
              </a:rPr>
              <a:t>双向评价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15968" y="1417320"/>
            <a:ext cx="4233672" cy="2057400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53712" y="1600200"/>
            <a:ext cx="228600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F5FAFF"/>
                </a:solidFill>
                <a:latin typeface="黑体"/>
              </a:rPr>
              <a:t>磨坪雷击抢修案例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2121408"/>
            <a:ext cx="10058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30D6FF"/>
                </a:solidFill>
                <a:latin typeface="黑体"/>
              </a:rPr>
              <a:t>故障上报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2121408"/>
            <a:ext cx="24231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5FAFF"/>
                </a:solidFill>
                <a:latin typeface="微软雅黑"/>
              </a:rPr>
              <a:t>→ 风险部位辅助定位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2514600"/>
            <a:ext cx="10058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30D6FF"/>
                </a:solidFill>
                <a:latin typeface="黑体"/>
              </a:rPr>
              <a:t>人员/配件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2514600"/>
            <a:ext cx="24231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F5FAFF"/>
                </a:solidFill>
                <a:latin typeface="微软雅黑"/>
              </a:rPr>
              <a:t>→ 平台协同匹配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2907792"/>
            <a:ext cx="10058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30D6FF"/>
                </a:solidFill>
                <a:latin typeface="黑体"/>
              </a:rPr>
              <a:t>结果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2907792"/>
            <a:ext cx="24231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C200"/>
                </a:solidFill>
                <a:latin typeface="微软雅黑"/>
              </a:rPr>
              <a:t>→ 3小时内完成抢修复产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15968" y="3685032"/>
            <a:ext cx="4233672" cy="713232"/>
          </a:xfrm>
          <a:prstGeom prst="roundRect">
            <a:avLst/>
          </a:prstGeom>
          <a:solidFill>
            <a:srgbClr val="08395D"/>
          </a:solidFill>
          <a:ln w="1524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98848" y="3822191"/>
            <a:ext cx="3867912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5FAFF"/>
                </a:solidFill>
                <a:latin typeface="微软雅黑"/>
              </a:rPr>
              <a:t>技术不是替代人，而是把“烤房—人员—配件—工单”更快地匹配起来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11480" y="4846320"/>
            <a:ext cx="8321040" cy="0"/>
          </a:xfrm>
          <a:prstGeom prst="line">
            <a:avLst/>
          </a:prstGeom>
          <a:ln w="889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38912" y="4864608"/>
            <a:ext cx="69494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ABCBE0"/>
                </a:solidFill>
                <a:latin typeface="微软雅黑"/>
              </a:rPr>
              <a:t>智烤管家  |  一库清底 · 双模决策 · 三智落地 · 四队长效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bg_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146304"/>
            <a:ext cx="42062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C200"/>
                </a:solidFill>
                <a:latin typeface="黑体"/>
              </a:rPr>
              <a:t>11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96112" y="256032"/>
            <a:ext cx="329184" cy="0"/>
          </a:xfrm>
          <a:prstGeom prst="line">
            <a:avLst/>
          </a:prstGeom>
          <a:ln w="1778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298448" y="118872"/>
            <a:ext cx="11430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30D6FF"/>
                </a:solidFill>
                <a:latin typeface="黑体"/>
              </a:rPr>
              <a:t>3 · 三智落地 / 智管  +  4 · 四队长效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9768"/>
            <a:ext cx="8183879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500" b="1">
                <a:solidFill>
                  <a:srgbClr val="F5FAFF"/>
                </a:solidFill>
                <a:latin typeface="黑体"/>
              </a:rPr>
              <a:t>智管+四队：技术算得准，机制跑得久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156448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321040" y="219456"/>
            <a:ext cx="100584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485632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85216" y="1417320"/>
            <a:ext cx="1417320" cy="1225296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527048"/>
            <a:ext cx="2743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C200"/>
                </a:solidFill>
                <a:latin typeface="黑体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1847088"/>
            <a:ext cx="123444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5FAFF"/>
                </a:solidFill>
                <a:latin typeface="黑体"/>
              </a:rPr>
              <a:t>烟叶调制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240280"/>
            <a:ext cx="123444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0">
                <a:solidFill>
                  <a:srgbClr val="ABCBE0"/>
                </a:solidFill>
                <a:latin typeface="微软雅黑"/>
              </a:rPr>
              <a:t>技术指导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13432" y="1417320"/>
            <a:ext cx="1417320" cy="1225296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14015" y="1527048"/>
            <a:ext cx="2743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C200"/>
                </a:solidFill>
                <a:latin typeface="黑体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872" y="1847088"/>
            <a:ext cx="123444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5FAFF"/>
                </a:solidFill>
                <a:latin typeface="黑体"/>
              </a:rPr>
              <a:t>紧急抢修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4872" y="2240280"/>
            <a:ext cx="123444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0">
                <a:solidFill>
                  <a:srgbClr val="ABCBE0"/>
                </a:solidFill>
                <a:latin typeface="微软雅黑"/>
              </a:rPr>
              <a:t>故障处置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41648" y="1417320"/>
            <a:ext cx="1417320" cy="1225296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42232" y="1527048"/>
            <a:ext cx="2743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C200"/>
                </a:solidFill>
                <a:latin typeface="黑体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33087" y="1847088"/>
            <a:ext cx="123444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5FAFF"/>
                </a:solidFill>
                <a:latin typeface="黑体"/>
              </a:rPr>
              <a:t>日常管护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33087" y="2240280"/>
            <a:ext cx="123444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0">
                <a:solidFill>
                  <a:srgbClr val="ABCBE0"/>
                </a:solidFill>
                <a:latin typeface="微软雅黑"/>
              </a:rPr>
              <a:t>巡检养护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9864" y="1417320"/>
            <a:ext cx="1417320" cy="1225296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70448" y="1527048"/>
            <a:ext cx="2743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FC200"/>
                </a:solidFill>
                <a:latin typeface="黑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61303" y="1847088"/>
            <a:ext cx="123444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5FAFF"/>
                </a:solidFill>
                <a:latin typeface="黑体"/>
              </a:rPr>
              <a:t>综合管理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61303" y="2240280"/>
            <a:ext cx="123444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0">
                <a:solidFill>
                  <a:srgbClr val="ABCBE0"/>
                </a:solidFill>
                <a:latin typeface="微软雅黑"/>
              </a:rPr>
              <a:t>政策资金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4927" y="1444752"/>
            <a:ext cx="10058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30D6FF"/>
                </a:solidFill>
                <a:latin typeface="黑体"/>
              </a:rPr>
              <a:t>线上闭环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1847088"/>
            <a:ext cx="82296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5FAFF"/>
                </a:solidFill>
                <a:latin typeface="微软雅黑"/>
              </a:rPr>
              <a:t>申请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909560" y="2093976"/>
            <a:ext cx="0" cy="118872"/>
          </a:xfrm>
          <a:prstGeom prst="line">
            <a:avLst/>
          </a:prstGeom>
          <a:ln w="1016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498079" y="2212848"/>
            <a:ext cx="82296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5FAFF"/>
                </a:solidFill>
                <a:latin typeface="微软雅黑"/>
              </a:rPr>
              <a:t>派单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909560" y="2459736"/>
            <a:ext cx="0" cy="118872"/>
          </a:xfrm>
          <a:prstGeom prst="line">
            <a:avLst/>
          </a:prstGeom>
          <a:ln w="1016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498079" y="2578608"/>
            <a:ext cx="82296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5FAFF"/>
                </a:solidFill>
                <a:latin typeface="微软雅黑"/>
              </a:rPr>
              <a:t>处置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909560" y="2825496"/>
            <a:ext cx="0" cy="118872"/>
          </a:xfrm>
          <a:prstGeom prst="line">
            <a:avLst/>
          </a:prstGeom>
          <a:ln w="1016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498079" y="2944368"/>
            <a:ext cx="82296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5FAFF"/>
                </a:solidFill>
                <a:latin typeface="微软雅黑"/>
              </a:rPr>
              <a:t>验收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909560" y="3191256"/>
            <a:ext cx="0" cy="118872"/>
          </a:xfrm>
          <a:prstGeom prst="line">
            <a:avLst/>
          </a:prstGeom>
          <a:ln w="1016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498079" y="3310128"/>
            <a:ext cx="82296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5FAFF"/>
                </a:solidFill>
                <a:latin typeface="微软雅黑"/>
              </a:rPr>
              <a:t>评价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909560" y="3557016"/>
            <a:ext cx="0" cy="118872"/>
          </a:xfrm>
          <a:prstGeom prst="line">
            <a:avLst/>
          </a:prstGeom>
          <a:ln w="1016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498079" y="3675887"/>
            <a:ext cx="82296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5FAFF"/>
                </a:solidFill>
                <a:latin typeface="微软雅黑"/>
              </a:rPr>
              <a:t>回写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" y="3127248"/>
            <a:ext cx="6382512" cy="987552"/>
          </a:xfrm>
          <a:prstGeom prst="roundRect">
            <a:avLst/>
          </a:prstGeom>
          <a:solidFill>
            <a:srgbClr val="08395D"/>
          </a:solidFill>
          <a:ln w="1524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3328416"/>
            <a:ext cx="100584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FC200"/>
                </a:solidFill>
                <a:latin typeface="黑体"/>
              </a:rPr>
              <a:t>长效机制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94560" y="3291840"/>
            <a:ext cx="466344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5FAFF"/>
                </a:solidFill>
                <a:latin typeface="微软雅黑"/>
              </a:rPr>
              <a:t>管护制度  +  专项基金  +  服务评价  +  数据回写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43584" y="3749039"/>
            <a:ext cx="56692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ABCBE0"/>
                </a:solidFill>
                <a:latin typeface="微软雅黑"/>
              </a:rPr>
              <a:t>让烤房真正做到：有人管 · 有钱管 · 有标准管 · 有机制管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11480" y="4846320"/>
            <a:ext cx="8321040" cy="0"/>
          </a:xfrm>
          <a:prstGeom prst="line">
            <a:avLst/>
          </a:prstGeom>
          <a:ln w="889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38912" y="4864608"/>
            <a:ext cx="69494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ABCBE0"/>
                </a:solidFill>
                <a:latin typeface="微软雅黑"/>
              </a:rPr>
              <a:t>智烤管家  |  一库清底 · 双模决策 · 三智落地 · 四队长效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bg_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146304"/>
            <a:ext cx="42062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C200"/>
                </a:solidFill>
                <a:latin typeface="黑体"/>
              </a:rPr>
              <a:t>12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96112" y="256032"/>
            <a:ext cx="329184" cy="0"/>
          </a:xfrm>
          <a:prstGeom prst="line">
            <a:avLst/>
          </a:prstGeom>
          <a:ln w="1778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298448" y="118872"/>
            <a:ext cx="11430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30D6FF"/>
                </a:solidFill>
                <a:latin typeface="黑体"/>
              </a:rPr>
              <a:t>实战成效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9768"/>
            <a:ext cx="8183879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500" b="1">
                <a:solidFill>
                  <a:srgbClr val="F5FAFF"/>
                </a:solidFill>
                <a:latin typeface="黑体"/>
              </a:rPr>
              <a:t>实战成效：一个烘烤季，用数字说话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156448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321040" y="219456"/>
            <a:ext cx="100584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485632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66928" y="1298448"/>
            <a:ext cx="2468880" cy="1152144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408176"/>
            <a:ext cx="155448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500" b="1">
                <a:solidFill>
                  <a:srgbClr val="FFC200"/>
                </a:solidFill>
                <a:latin typeface="黑体"/>
              </a:rPr>
              <a:t>2442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9424" y="1517904"/>
            <a:ext cx="512064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0">
                <a:solidFill>
                  <a:srgbClr val="ABCBE0"/>
                </a:solidFill>
                <a:latin typeface="微软雅黑"/>
              </a:rPr>
              <a:t>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011680"/>
            <a:ext cx="2139696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5FAFF"/>
                </a:solidFill>
                <a:latin typeface="微软雅黑"/>
              </a:rPr>
              <a:t>全口径入库+健康评价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4992" y="1298448"/>
            <a:ext cx="2468880" cy="1152144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408176"/>
            <a:ext cx="155448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500" b="1">
                <a:solidFill>
                  <a:srgbClr val="E23D3D"/>
                </a:solidFill>
                <a:latin typeface="黑体"/>
              </a:rPr>
              <a:t>340+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1517904"/>
            <a:ext cx="512064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0">
                <a:solidFill>
                  <a:srgbClr val="ABCBE0"/>
                </a:solidFill>
                <a:latin typeface="微软雅黑"/>
              </a:rPr>
              <a:t>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9584" y="2011680"/>
            <a:ext cx="2139696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5FAFF"/>
                </a:solidFill>
                <a:latin typeface="微软雅黑"/>
              </a:rPr>
              <a:t>低于60分预警/危险烤房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1298448"/>
            <a:ext cx="2468880" cy="1152144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2784" y="1408176"/>
            <a:ext cx="155448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500" b="1">
                <a:solidFill>
                  <a:srgbClr val="FFC200"/>
                </a:solidFill>
                <a:latin typeface="黑体"/>
              </a:rPr>
              <a:t>48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5552" y="1517904"/>
            <a:ext cx="512064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0">
                <a:solidFill>
                  <a:srgbClr val="ABCBE0"/>
                </a:solidFill>
                <a:latin typeface="微软雅黑"/>
              </a:rPr>
              <a:t>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011680"/>
            <a:ext cx="2139696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5FAFF"/>
                </a:solidFill>
                <a:latin typeface="微软雅黑"/>
              </a:rPr>
              <a:t>烤房调剂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2715768"/>
            <a:ext cx="2468880" cy="1152144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25496"/>
            <a:ext cx="155448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500" b="1">
                <a:solidFill>
                  <a:srgbClr val="FFC200"/>
                </a:solidFill>
                <a:latin typeface="黑体"/>
              </a:rPr>
              <a:t>0.38h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9424" y="2935224"/>
            <a:ext cx="512064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0">
                <a:solidFill>
                  <a:srgbClr val="ABCBE0"/>
                </a:solidFill>
                <a:latin typeface="微软雅黑"/>
              </a:rPr>
              <a:t>平均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429000"/>
            <a:ext cx="2139696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5FAFF"/>
                </a:solidFill>
                <a:latin typeface="微软雅黑"/>
              </a:rPr>
              <a:t>平台工单响应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64992" y="2715768"/>
            <a:ext cx="2468880" cy="1152144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2825496"/>
            <a:ext cx="155448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500" b="1">
                <a:solidFill>
                  <a:srgbClr val="FFC200"/>
                </a:solidFill>
                <a:latin typeface="黑体"/>
              </a:rPr>
              <a:t>96.8%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7488" y="2935224"/>
            <a:ext cx="512064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0">
                <a:solidFill>
                  <a:srgbClr val="ABCBE0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9584" y="3429000"/>
            <a:ext cx="2139696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5FAFF"/>
                </a:solidFill>
                <a:latin typeface="微软雅黑"/>
              </a:rPr>
              <a:t>综合满意度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63056" y="2715768"/>
            <a:ext cx="2468880" cy="1152144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72784" y="2825496"/>
            <a:ext cx="155448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500" b="1">
                <a:solidFill>
                  <a:srgbClr val="FFC200"/>
                </a:solidFill>
                <a:latin typeface="黑体"/>
              </a:rPr>
              <a:t>81%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45552" y="2935224"/>
            <a:ext cx="512064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0">
                <a:solidFill>
                  <a:srgbClr val="ABCBE0"/>
                </a:solidFill>
                <a:latin typeface="微软雅黑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3429000"/>
            <a:ext cx="2139696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5FAFF"/>
                </a:solidFill>
                <a:latin typeface="微软雅黑"/>
              </a:rPr>
              <a:t>两级合作社统筹管护占比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17320" y="4133087"/>
            <a:ext cx="6309360" cy="457200"/>
          </a:xfrm>
          <a:prstGeom prst="roundRect">
            <a:avLst/>
          </a:prstGeom>
          <a:solidFill>
            <a:srgbClr val="08395D"/>
          </a:solidFill>
          <a:ln w="1270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27632" y="4224528"/>
            <a:ext cx="5888736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C200"/>
                </a:solidFill>
                <a:latin typeface="微软雅黑"/>
              </a:rPr>
              <a:t>管护基金累计近 190 万元  ·  四支服务队伍与制度标准同步落地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11480" y="4846320"/>
            <a:ext cx="8321040" cy="0"/>
          </a:xfrm>
          <a:prstGeom prst="line">
            <a:avLst/>
          </a:prstGeom>
          <a:ln w="889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38912" y="4864608"/>
            <a:ext cx="69494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ABCBE0"/>
                </a:solidFill>
                <a:latin typeface="微软雅黑"/>
              </a:rPr>
              <a:t>智烤管家  |  一库清底 · 双模决策 · 三智落地 · 四队长效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bg_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146304"/>
            <a:ext cx="42062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C200"/>
                </a:solidFill>
                <a:latin typeface="黑体"/>
              </a:rPr>
              <a:t>13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96112" y="256032"/>
            <a:ext cx="329184" cy="0"/>
          </a:xfrm>
          <a:prstGeom prst="line">
            <a:avLst/>
          </a:prstGeom>
          <a:ln w="1778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298448" y="118872"/>
            <a:ext cx="11430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30D6FF"/>
                </a:solidFill>
                <a:latin typeface="黑体"/>
              </a:rPr>
              <a:t>创新 / 收口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9768"/>
            <a:ext cx="8183879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500" b="1">
                <a:solidFill>
                  <a:srgbClr val="F5FAFF"/>
                </a:solidFill>
                <a:latin typeface="黑体"/>
              </a:rPr>
              <a:t>创新收口：让评委带走三句话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156448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321040" y="219456"/>
            <a:ext cx="100584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485632" y="219456"/>
            <a:ext cx="100583" cy="0"/>
          </a:xfrm>
          <a:prstGeom prst="line">
            <a:avLst/>
          </a:prstGeom>
          <a:ln w="15240">
            <a:solidFill>
              <a:srgbClr val="18A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" y="1325880"/>
            <a:ext cx="7863840" cy="694944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453895"/>
            <a:ext cx="310896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C200"/>
                </a:solidFill>
                <a:latin typeface="黑体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1435607"/>
            <a:ext cx="265176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黑体"/>
              </a:rPr>
              <a:t>从“台账”到“动态体检”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78224" y="1417320"/>
            <a:ext cx="4133087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ABCBE0"/>
                </a:solidFill>
                <a:latin typeface="微软雅黑"/>
              </a:rPr>
              <a:t>一栋烤房：健康、寿命、风险、维修，一次算清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03704"/>
            <a:ext cx="7863840" cy="694944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331720"/>
            <a:ext cx="310896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C200"/>
                </a:solidFill>
                <a:latin typeface="黑体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313432"/>
            <a:ext cx="265176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黑体"/>
              </a:rPr>
              <a:t>从“两套模型”到“一条决策链”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8224" y="2295144"/>
            <a:ext cx="4133087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ABCBE0"/>
                </a:solidFill>
                <a:latin typeface="微软雅黑"/>
              </a:rPr>
              <a:t>健康结果进入有效烤能，维修与新建不再割裂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081528"/>
            <a:ext cx="7863840" cy="694944"/>
          </a:xfrm>
          <a:prstGeom prst="roundRect">
            <a:avLst/>
          </a:prstGeom>
          <a:solidFill>
            <a:srgbClr val="072A4B"/>
          </a:solidFill>
          <a:ln w="12700">
            <a:solidFill>
              <a:srgbClr val="18A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209544"/>
            <a:ext cx="310896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C200"/>
                </a:solidFill>
                <a:latin typeface="黑体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3191256"/>
            <a:ext cx="265176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1">
                <a:solidFill>
                  <a:srgbClr val="F5FAFF"/>
                </a:solidFill>
                <a:latin typeface="黑体"/>
              </a:rPr>
              <a:t>从“凭经验投”到“沙盘推演”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78224" y="3172968"/>
            <a:ext cx="4133087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ABCBE0"/>
                </a:solidFill>
                <a:latin typeface="微软雅黑"/>
              </a:rPr>
              <a:t>先看现状、再看未来、最后验证投入效果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8992" y="4078224"/>
            <a:ext cx="6986016" cy="530352"/>
          </a:xfrm>
          <a:prstGeom prst="roundRect">
            <a:avLst/>
          </a:prstGeom>
          <a:solidFill>
            <a:srgbClr val="08395D"/>
          </a:solidFill>
          <a:ln w="1524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16736" y="4187952"/>
            <a:ext cx="651052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C200"/>
                </a:solidFill>
                <a:latin typeface="黑体"/>
              </a:rPr>
              <a:t>好房充分用  ·  旧房精准修  ·  缺口科学建  ·  建后持续管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1480" y="4846320"/>
            <a:ext cx="8321040" cy="0"/>
          </a:xfrm>
          <a:prstGeom prst="line">
            <a:avLst/>
          </a:prstGeom>
          <a:ln w="8890">
            <a:solidFill>
              <a:srgbClr val="1452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38912" y="4864608"/>
            <a:ext cx="694944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800" b="0">
                <a:solidFill>
                  <a:srgbClr val="ABCBE0"/>
                </a:solidFill>
                <a:latin typeface="微软雅黑"/>
              </a:rPr>
              <a:t>智烤管家  |  从“有多少房”到“有多少有效烤能”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