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65760"/>
            <a:ext cx="8138160" cy="13716"/>
          </a:xfrm>
          <a:prstGeom prst="rect">
            <a:avLst/>
          </a:prstGeom>
          <a:solidFill>
            <a:srgbClr val="2D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758952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3800" b="1">
                <a:solidFill>
                  <a:srgbClr val="F5FBFF"/>
                </a:solidFill>
                <a:latin typeface="黑体"/>
              </a:rPr>
              <a:t>智烤管家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901952"/>
            <a:ext cx="384048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66D7FF"/>
                </a:solidFill>
                <a:latin typeface="微软雅黑"/>
              </a:rPr>
              <a:t>ZHI KAO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331720"/>
            <a:ext cx="667512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66D7FF"/>
                </a:solidFill>
                <a:latin typeface="微软雅黑"/>
              </a:rPr>
              <a:t>基于健康评估的烤房用投管一体化解决方案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0280" y="2999232"/>
            <a:ext cx="4663440" cy="310896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0280" y="2999232"/>
            <a:ext cx="466344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5FBFF"/>
                </a:solidFill>
                <a:latin typeface="微软雅黑"/>
              </a:rPr>
              <a:t>一库清底 · 双模决策 · 三智落地 · 四队长效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4370832"/>
            <a:ext cx="50292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A8CBE7"/>
                </a:solidFill>
                <a:latin typeface="微软雅黑"/>
              </a:rPr>
              <a:t>宜昌市烟草公司  ·  智同道合创客小组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65760"/>
            <a:ext cx="8138160" cy="13716"/>
          </a:xfrm>
          <a:prstGeom prst="rect">
            <a:avLst/>
          </a:prstGeom>
          <a:solidFill>
            <a:srgbClr val="2D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6858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2DBEFF"/>
                </a:solidFill>
                <a:latin typeface="微软雅黑"/>
              </a:rPr>
              <a:t>////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65760"/>
            <a:ext cx="676656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500" b="1">
                <a:solidFill>
                  <a:srgbClr val="66D7FF"/>
                </a:solidFill>
                <a:latin typeface="黑体"/>
              </a:rPr>
              <a:t>烟区一线，最难就三件事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457200"/>
            <a:ext cx="6858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200" b="1">
                <a:solidFill>
                  <a:srgbClr val="2DBEFF"/>
                </a:solidFill>
                <a:latin typeface="微软雅黑"/>
              </a:rPr>
              <a:t>////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786384"/>
            <a:ext cx="54864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A8CBE7"/>
                </a:solidFill>
                <a:latin typeface="微软雅黑"/>
              </a:rPr>
              <a:t>不是“多做功能”，而是先把问题说透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89888"/>
            <a:ext cx="2423160" cy="2907792"/>
          </a:xfrm>
          <a:prstGeom prst="roundRect">
            <a:avLst/>
          </a:prstGeom>
          <a:solidFill>
            <a:srgbClr val="031A35"/>
          </a:solidFill>
          <a:ln w="14604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408176"/>
            <a:ext cx="2386584" cy="310896"/>
          </a:xfrm>
          <a:prstGeom prst="roundRect">
            <a:avLst/>
          </a:prstGeom>
          <a:solidFill>
            <a:srgbClr val="2D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0020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C000"/>
                </a:solidFill>
                <a:latin typeface="黑体"/>
              </a:rPr>
              <a:t>第一难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11680"/>
            <a:ext cx="1874519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66D7FF"/>
                </a:solidFill>
                <a:latin typeface="黑体"/>
              </a:rPr>
              <a:t>分不到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88920"/>
            <a:ext cx="1874519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F5FBFF"/>
                </a:solidFill>
                <a:latin typeface="微软雅黑"/>
              </a:rPr>
              <a:t>旺季信息不透明
调剂靠人工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886200"/>
            <a:ext cx="914400" cy="228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37560" y="1389888"/>
            <a:ext cx="2423160" cy="2907792"/>
          </a:xfrm>
          <a:prstGeom prst="roundRect">
            <a:avLst/>
          </a:prstGeom>
          <a:solidFill>
            <a:srgbClr val="031A35"/>
          </a:solidFill>
          <a:ln w="14604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55848" y="1408176"/>
            <a:ext cx="2386584" cy="310896"/>
          </a:xfrm>
          <a:prstGeom prst="roundRect">
            <a:avLst/>
          </a:prstGeom>
          <a:solidFill>
            <a:srgbClr val="2D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79" y="160020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C000"/>
                </a:solidFill>
                <a:latin typeface="黑体"/>
              </a:rPr>
              <a:t>第二难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79" y="2011680"/>
            <a:ext cx="1874519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66D7FF"/>
                </a:solidFill>
                <a:latin typeface="黑体"/>
              </a:rPr>
              <a:t>修不及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2788920"/>
            <a:ext cx="1874519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F5FBFF"/>
                </a:solidFill>
                <a:latin typeface="微软雅黑"/>
              </a:rPr>
              <a:t>故障找人找件慢
抢修靠经验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11879" y="3886200"/>
            <a:ext cx="914400" cy="228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035040" y="1389888"/>
            <a:ext cx="2423160" cy="2907792"/>
          </a:xfrm>
          <a:prstGeom prst="roundRect">
            <a:avLst/>
          </a:prstGeom>
          <a:solidFill>
            <a:srgbClr val="031A35"/>
          </a:solidFill>
          <a:ln w="14604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053327" y="1408176"/>
            <a:ext cx="2386584" cy="310896"/>
          </a:xfrm>
          <a:prstGeom prst="roundRect">
            <a:avLst/>
          </a:prstGeom>
          <a:solidFill>
            <a:srgbClr val="2D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59" y="160020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C000"/>
                </a:solidFill>
                <a:latin typeface="黑体"/>
              </a:rPr>
              <a:t>第三难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59" y="2011680"/>
            <a:ext cx="1874519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66D7FF"/>
                </a:solidFill>
                <a:latin typeface="黑体"/>
              </a:rPr>
              <a:t>投不准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59" y="2788920"/>
            <a:ext cx="1874519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F5FBFF"/>
                </a:solidFill>
                <a:latin typeface="微软雅黑"/>
              </a:rPr>
              <a:t>新建维修凭经验
资金缺少依据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59" y="3886200"/>
            <a:ext cx="914400" cy="228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65760"/>
            <a:ext cx="8138160" cy="13716"/>
          </a:xfrm>
          <a:prstGeom prst="rect">
            <a:avLst/>
          </a:prstGeom>
          <a:solidFill>
            <a:srgbClr val="2D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6858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2DBEFF"/>
                </a:solidFill>
                <a:latin typeface="微软雅黑"/>
              </a:rPr>
              <a:t>////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65760"/>
            <a:ext cx="676656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500" b="1">
                <a:solidFill>
                  <a:srgbClr val="66D7FF"/>
                </a:solidFill>
                <a:latin typeface="黑体"/>
              </a:rPr>
              <a:t>三难背后，是一条管理链断了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457200"/>
            <a:ext cx="6858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200" b="1">
                <a:solidFill>
                  <a:srgbClr val="2DBEFF"/>
                </a:solidFill>
                <a:latin typeface="微软雅黑"/>
              </a:rPr>
              <a:t>////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005840"/>
            <a:ext cx="23317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C000"/>
                </a:solidFill>
                <a:latin typeface="黑体"/>
              </a:rPr>
              <a:t>531份有效问卷 + 线下走访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72768"/>
            <a:ext cx="201168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5FBFF"/>
                </a:solidFill>
                <a:latin typeface="微软雅黑"/>
              </a:rPr>
              <a:t>烟农愁调剂抢修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572768"/>
            <a:ext cx="201168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5FBFF"/>
                </a:solidFill>
                <a:latin typeface="微软雅黑"/>
              </a:rPr>
              <a:t>烟站愁投入无据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572768"/>
            <a:ext cx="201168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5FBFF"/>
                </a:solidFill>
                <a:latin typeface="微软雅黑"/>
              </a:rPr>
              <a:t>合作社愁管护难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1828800"/>
            <a:ext cx="640079" cy="0"/>
          </a:xfrm>
          <a:prstGeom prst="line">
            <a:avLst/>
          </a:prstGeom>
          <a:ln w="22860">
            <a:solidFill>
              <a:srgbClr val="2D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394960" y="1828800"/>
            <a:ext cx="640080" cy="0"/>
          </a:xfrm>
          <a:prstGeom prst="line">
            <a:avLst/>
          </a:prstGeom>
          <a:ln w="22860">
            <a:solidFill>
              <a:srgbClr val="2D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280160" y="2468880"/>
            <a:ext cx="6583680" cy="1143000"/>
          </a:xfrm>
          <a:prstGeom prst="roundRect">
            <a:avLst/>
          </a:prstGeom>
          <a:solidFill>
            <a:srgbClr val="031A35"/>
          </a:solidFill>
          <a:ln w="17780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2633472"/>
            <a:ext cx="6035040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300" b="1">
                <a:solidFill>
                  <a:srgbClr val="66D7FF"/>
                </a:solidFill>
                <a:latin typeface="黑体"/>
              </a:rPr>
              <a:t>资源无统筹   ·   投入无量化   ·   管护无闭环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090672"/>
            <a:ext cx="548640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C000"/>
                </a:solidFill>
                <a:latin typeface="微软雅黑"/>
              </a:rPr>
              <a:t>本质：烤房“用 — 投 — 管”没有真正连起来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096512"/>
            <a:ext cx="649224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5FBFF"/>
                </a:solidFill>
                <a:latin typeface="微软雅黑"/>
              </a:rPr>
              <a:t>所以，我们不是做一个报修工具，而是重构一条完整决策链。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65760"/>
            <a:ext cx="8138160" cy="13716"/>
          </a:xfrm>
          <a:prstGeom prst="rect">
            <a:avLst/>
          </a:prstGeom>
          <a:solidFill>
            <a:srgbClr val="2D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6858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2DBEFF"/>
                </a:solidFill>
                <a:latin typeface="微软雅黑"/>
              </a:rPr>
              <a:t>////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65760"/>
            <a:ext cx="676656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500" b="1">
                <a:solidFill>
                  <a:srgbClr val="66D7FF"/>
                </a:solidFill>
                <a:latin typeface="黑体"/>
              </a:rPr>
              <a:t>智烤管家：记住“1234”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457200"/>
            <a:ext cx="6858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200" b="1">
                <a:solidFill>
                  <a:srgbClr val="2DBEFF"/>
                </a:solidFill>
                <a:latin typeface="微软雅黑"/>
              </a:rPr>
              <a:t>////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25880"/>
            <a:ext cx="1965960" cy="10515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400" b="1">
                <a:solidFill>
                  <a:srgbClr val="FFC000"/>
                </a:solidFill>
                <a:latin typeface="黑体"/>
              </a:rPr>
              <a:t>1234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77440"/>
            <a:ext cx="1874519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5FBFF"/>
                </a:solidFill>
                <a:latin typeface="微软雅黑"/>
              </a:rPr>
              <a:t>一个平台，把数据、决策、应用、机制连成环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1325880"/>
            <a:ext cx="2331720" cy="1353312"/>
          </a:xfrm>
          <a:prstGeom prst="roundRect">
            <a:avLst/>
          </a:prstGeom>
          <a:solidFill>
            <a:srgbClr val="031A35"/>
          </a:solidFill>
          <a:ln w="14604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98648" y="1344168"/>
            <a:ext cx="2295144" cy="310896"/>
          </a:xfrm>
          <a:prstGeom prst="roundRect">
            <a:avLst/>
          </a:prstGeom>
          <a:solidFill>
            <a:srgbClr val="2D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81528" y="1490472"/>
            <a:ext cx="41148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600" b="1">
                <a:solidFill>
                  <a:srgbClr val="FFC000"/>
                </a:solidFill>
                <a:latin typeface="黑体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1490472"/>
            <a:ext cx="141732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66D7FF"/>
                </a:solidFill>
                <a:latin typeface="黑体"/>
              </a:rPr>
              <a:t>一库清底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965960"/>
            <a:ext cx="141732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A8CBE7"/>
                </a:solidFill>
                <a:latin typeface="微软雅黑"/>
              </a:rPr>
              <a:t>低代码采数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23560" y="1325880"/>
            <a:ext cx="2331720" cy="1353312"/>
          </a:xfrm>
          <a:prstGeom prst="roundRect">
            <a:avLst/>
          </a:prstGeom>
          <a:solidFill>
            <a:srgbClr val="031A35"/>
          </a:solidFill>
          <a:ln w="14604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41848" y="1344168"/>
            <a:ext cx="2295144" cy="310896"/>
          </a:xfrm>
          <a:prstGeom prst="roundRect">
            <a:avLst/>
          </a:prstGeom>
          <a:solidFill>
            <a:srgbClr val="2D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4728" y="1490472"/>
            <a:ext cx="41148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600" b="1">
                <a:solidFill>
                  <a:srgbClr val="FFC000"/>
                </a:solidFill>
                <a:latin typeface="黑体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1928" y="1490472"/>
            <a:ext cx="141732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66D7FF"/>
                </a:solidFill>
                <a:latin typeface="黑体"/>
              </a:rPr>
              <a:t>双模决策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1965960"/>
            <a:ext cx="141732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A8CBE7"/>
                </a:solidFill>
                <a:latin typeface="微软雅黑"/>
              </a:rPr>
              <a:t>健康 + 发展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0360" y="2926080"/>
            <a:ext cx="2331720" cy="1353312"/>
          </a:xfrm>
          <a:prstGeom prst="roundRect">
            <a:avLst/>
          </a:prstGeom>
          <a:solidFill>
            <a:srgbClr val="031A35"/>
          </a:solidFill>
          <a:ln w="14604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898648" y="2944368"/>
            <a:ext cx="2295144" cy="310896"/>
          </a:xfrm>
          <a:prstGeom prst="roundRect">
            <a:avLst/>
          </a:prstGeom>
          <a:solidFill>
            <a:srgbClr val="2D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81528" y="3090672"/>
            <a:ext cx="41148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600" b="1">
                <a:solidFill>
                  <a:srgbClr val="FFC000"/>
                </a:solidFill>
                <a:latin typeface="黑体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38728" y="3090672"/>
            <a:ext cx="141732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66D7FF"/>
                </a:solidFill>
                <a:latin typeface="黑体"/>
              </a:rPr>
              <a:t>三智落地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38728" y="3566160"/>
            <a:ext cx="141732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A8CBE7"/>
                </a:solidFill>
                <a:latin typeface="微软雅黑"/>
              </a:rPr>
              <a:t>智用 · 智投 · 智管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2926080"/>
            <a:ext cx="2331720" cy="1353312"/>
          </a:xfrm>
          <a:prstGeom prst="roundRect">
            <a:avLst/>
          </a:prstGeom>
          <a:solidFill>
            <a:srgbClr val="031A35"/>
          </a:solidFill>
          <a:ln w="14604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641848" y="2944368"/>
            <a:ext cx="2295144" cy="310896"/>
          </a:xfrm>
          <a:prstGeom prst="roundRect">
            <a:avLst/>
          </a:prstGeom>
          <a:solidFill>
            <a:srgbClr val="2D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24728" y="3090672"/>
            <a:ext cx="41148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600" b="1">
                <a:solidFill>
                  <a:srgbClr val="FFC000"/>
                </a:solidFill>
                <a:latin typeface="黑体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3090672"/>
            <a:ext cx="141732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66D7FF"/>
                </a:solidFill>
                <a:latin typeface="黑体"/>
              </a:rPr>
              <a:t>四队长效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81928" y="3566160"/>
            <a:ext cx="141732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A8CBE7"/>
                </a:solidFill>
                <a:latin typeface="微软雅黑"/>
              </a:rPr>
              <a:t>有人管 · 长效管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06040" y="4325112"/>
            <a:ext cx="562356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5FBFF"/>
                </a:solidFill>
                <a:latin typeface="微软雅黑"/>
              </a:rPr>
              <a:t>主线：先看清 → 再算准 → 再落地 → 再长效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65760"/>
            <a:ext cx="8138160" cy="13716"/>
          </a:xfrm>
          <a:prstGeom prst="rect">
            <a:avLst/>
          </a:prstGeom>
          <a:solidFill>
            <a:srgbClr val="2D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6858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2DBEFF"/>
                </a:solidFill>
                <a:latin typeface="微软雅黑"/>
              </a:rPr>
              <a:t>////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65760"/>
            <a:ext cx="676656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500" b="1">
                <a:solidFill>
                  <a:srgbClr val="66D7FF"/>
                </a:solidFill>
                <a:latin typeface="黑体"/>
              </a:rPr>
              <a:t>1库｜低代码采数，一房一档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457200"/>
            <a:ext cx="6858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200" b="1">
                <a:solidFill>
                  <a:srgbClr val="2DBEFF"/>
                </a:solidFill>
                <a:latin typeface="微软雅黑"/>
              </a:rPr>
              <a:t>////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384048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C000"/>
                </a:solidFill>
                <a:latin typeface="黑体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1399032"/>
            <a:ext cx="73152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A8CBE7"/>
                </a:solidFill>
                <a:latin typeface="微软雅黑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618488"/>
            <a:ext cx="141732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66D7FF"/>
                </a:solidFill>
                <a:latin typeface="黑体"/>
              </a:rPr>
              <a:t>现场采集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1920240"/>
            <a:ext cx="141732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F5FBFF"/>
                </a:solidFill>
                <a:latin typeface="微软雅黑"/>
              </a:rPr>
              <a:t>低代码移动端
拍照 + 录入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41248" y="1828800"/>
            <a:ext cx="0" cy="548640"/>
          </a:xfrm>
          <a:prstGeom prst="line">
            <a:avLst/>
          </a:prstGeom>
          <a:ln w="19050">
            <a:solidFill>
              <a:srgbClr val="2D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2468880"/>
            <a:ext cx="384048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C000"/>
                </a:solidFill>
                <a:latin typeface="黑体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2450592"/>
            <a:ext cx="73152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A8CBE7"/>
                </a:solidFill>
                <a:latin typeface="微软雅黑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2670048"/>
            <a:ext cx="141732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66D7FF"/>
                </a:solidFill>
                <a:latin typeface="黑体"/>
              </a:rPr>
              <a:t>统一归档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2971800"/>
            <a:ext cx="141732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F5FBFF"/>
                </a:solidFill>
                <a:latin typeface="微软雅黑"/>
              </a:rPr>
              <a:t>统一烤房编号
一房一档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41248" y="2880360"/>
            <a:ext cx="0" cy="548640"/>
          </a:xfrm>
          <a:prstGeom prst="line">
            <a:avLst/>
          </a:prstGeom>
          <a:ln w="19050">
            <a:solidFill>
              <a:srgbClr val="2D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0080" y="3520439"/>
            <a:ext cx="384048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C000"/>
                </a:solidFill>
                <a:latin typeface="黑体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3502151"/>
            <a:ext cx="73152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A8CBE7"/>
                </a:solidFill>
                <a:latin typeface="微软雅黑"/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" y="3721607"/>
            <a:ext cx="141732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66D7FF"/>
                </a:solidFill>
                <a:latin typeface="黑体"/>
              </a:rPr>
              <a:t>持续回写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4023359"/>
            <a:ext cx="141732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F5FBFF"/>
                </a:solidFill>
                <a:latin typeface="微软雅黑"/>
              </a:rPr>
              <a:t>维修 / 使用 / 评价
持续更新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0" y="1280160"/>
            <a:ext cx="5257800" cy="2697480"/>
          </a:xfrm>
          <a:prstGeom prst="roundRect">
            <a:avLst/>
          </a:prstGeom>
          <a:solidFill>
            <a:srgbClr val="031A35"/>
          </a:solidFill>
          <a:ln w="15240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web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1325880"/>
            <a:ext cx="5166360" cy="2606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337560" y="4069080"/>
            <a:ext cx="1508760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500" b="1">
                <a:solidFill>
                  <a:srgbClr val="FFC000"/>
                </a:solidFill>
                <a:latin typeface="黑体"/>
              </a:rPr>
              <a:t>2442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4471416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A8CBE7"/>
                </a:solidFill>
                <a:latin typeface="微软雅黑"/>
              </a:rPr>
              <a:t>座烤房全口径入库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02352" y="4069080"/>
            <a:ext cx="1508760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500" b="1">
                <a:solidFill>
                  <a:srgbClr val="66D7FF"/>
                </a:solidFill>
                <a:latin typeface="黑体"/>
              </a:rPr>
              <a:t>一房一档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02352" y="4471416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A8CBE7"/>
                </a:solidFill>
                <a:latin typeface="微软雅黑"/>
              </a:rPr>
              <a:t>状态可查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4069080"/>
            <a:ext cx="1508760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500" b="1">
                <a:solidFill>
                  <a:srgbClr val="66D7FF"/>
                </a:solidFill>
                <a:latin typeface="黑体"/>
              </a:rPr>
              <a:t>持续回写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4471416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A8CBE7"/>
                </a:solidFill>
                <a:latin typeface="微软雅黑"/>
              </a:rPr>
              <a:t>过程可追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65760"/>
            <a:ext cx="8138160" cy="13716"/>
          </a:xfrm>
          <a:prstGeom prst="rect">
            <a:avLst/>
          </a:prstGeom>
          <a:solidFill>
            <a:srgbClr val="2D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6858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2DBEFF"/>
                </a:solidFill>
                <a:latin typeface="微软雅黑"/>
              </a:rPr>
              <a:t>////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65760"/>
            <a:ext cx="676656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500" b="1">
                <a:solidFill>
                  <a:srgbClr val="66D7FF"/>
                </a:solidFill>
                <a:latin typeface="黑体"/>
              </a:rPr>
              <a:t>2模①｜烤房健康评估模型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457200"/>
            <a:ext cx="6858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200" b="1">
                <a:solidFill>
                  <a:srgbClr val="2DBEFF"/>
                </a:solidFill>
                <a:latin typeface="微软雅黑"/>
              </a:rPr>
              <a:t>////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786384"/>
            <a:ext cx="54864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A8CBE7"/>
                </a:solidFill>
                <a:latin typeface="微软雅黑"/>
              </a:rPr>
              <a:t>从“坏了再修”走向“风险前置”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53312"/>
            <a:ext cx="1920240" cy="2514600"/>
          </a:xfrm>
          <a:prstGeom prst="roundRect">
            <a:avLst/>
          </a:prstGeom>
          <a:solidFill>
            <a:srgbClr val="031A35"/>
          </a:solidFill>
          <a:ln w="14604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71600"/>
            <a:ext cx="1883664" cy="310896"/>
          </a:xfrm>
          <a:prstGeom prst="roundRect">
            <a:avLst/>
          </a:prstGeom>
          <a:solidFill>
            <a:srgbClr val="2D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572768"/>
            <a:ext cx="6858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C000"/>
                </a:solidFill>
                <a:latin typeface="黑体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1956816"/>
            <a:ext cx="1536192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66D7FF"/>
                </a:solidFill>
                <a:latin typeface="黑体"/>
              </a:rPr>
              <a:t>标准化体检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560320"/>
            <a:ext cx="146304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F5FBFF"/>
                </a:solidFill>
                <a:latin typeface="微软雅黑"/>
              </a:rPr>
              <a:t>12个关键部件
状态 + 寿命 + 现场评价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42032" y="2651760"/>
            <a:ext cx="237744" cy="0"/>
          </a:xfrm>
          <a:prstGeom prst="line">
            <a:avLst/>
          </a:prstGeom>
          <a:ln w="20320">
            <a:solidFill>
              <a:srgbClr val="2D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34639" y="1353312"/>
            <a:ext cx="1920240" cy="2514600"/>
          </a:xfrm>
          <a:prstGeom prst="roundRect">
            <a:avLst/>
          </a:prstGeom>
          <a:solidFill>
            <a:srgbClr val="031A35"/>
          </a:solidFill>
          <a:ln w="14604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852927" y="1371600"/>
            <a:ext cx="1883664" cy="310896"/>
          </a:xfrm>
          <a:prstGeom prst="roundRect">
            <a:avLst/>
          </a:prstGeom>
          <a:solidFill>
            <a:srgbClr val="2D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35808" y="1572768"/>
            <a:ext cx="6858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C000"/>
                </a:solidFill>
                <a:latin typeface="黑体"/>
              </a:rPr>
              <a:t>STEP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35808" y="1956816"/>
            <a:ext cx="1536192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66D7FF"/>
                </a:solidFill>
                <a:latin typeface="黑体"/>
              </a:rPr>
              <a:t>AHP组合评分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3" y="2560320"/>
            <a:ext cx="146304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F5FBFF"/>
                </a:solidFill>
                <a:latin typeface="微软雅黑"/>
              </a:rPr>
              <a:t>部件80%
管护10% · 人评10%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36592" y="2651760"/>
            <a:ext cx="237744" cy="0"/>
          </a:xfrm>
          <a:prstGeom prst="line">
            <a:avLst/>
          </a:prstGeom>
          <a:ln w="20320">
            <a:solidFill>
              <a:srgbClr val="2D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9200" y="1353312"/>
            <a:ext cx="1920240" cy="2514600"/>
          </a:xfrm>
          <a:prstGeom prst="roundRect">
            <a:avLst/>
          </a:prstGeom>
          <a:solidFill>
            <a:srgbClr val="031A35"/>
          </a:solidFill>
          <a:ln w="14604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47488" y="1371600"/>
            <a:ext cx="1883664" cy="310896"/>
          </a:xfrm>
          <a:prstGeom prst="roundRect">
            <a:avLst/>
          </a:prstGeom>
          <a:solidFill>
            <a:srgbClr val="2D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30368" y="1572768"/>
            <a:ext cx="6858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C000"/>
                </a:solidFill>
                <a:latin typeface="黑体"/>
              </a:rPr>
              <a:t>STEP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1956816"/>
            <a:ext cx="1536192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66D7FF"/>
                </a:solidFill>
                <a:latin typeface="黑体"/>
              </a:rPr>
              <a:t>Weibull估寿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6944" y="2560320"/>
            <a:ext cx="146304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F5FBFF"/>
                </a:solidFill>
                <a:latin typeface="微软雅黑"/>
              </a:rPr>
              <a:t>剩余寿命
风险部位 · 维修优先序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23760" y="1353312"/>
            <a:ext cx="1298448" cy="2514600"/>
          </a:xfrm>
          <a:prstGeom prst="roundRect">
            <a:avLst/>
          </a:prstGeom>
          <a:solidFill>
            <a:srgbClr val="031A35"/>
          </a:solidFill>
          <a:ln w="14604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242048" y="1371600"/>
            <a:ext cx="1261872" cy="310896"/>
          </a:xfrm>
          <a:prstGeom prst="roundRect">
            <a:avLst/>
          </a:prstGeom>
          <a:solidFill>
            <a:srgbClr val="2D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1572768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C000"/>
                </a:solidFill>
                <a:latin typeface="黑体"/>
              </a:rPr>
              <a:t>模型输出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1965960"/>
            <a:ext cx="102412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5FBFF"/>
                </a:solidFill>
                <a:latin typeface="微软雅黑"/>
              </a:rPr>
              <a:t>健康等级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2386584"/>
            <a:ext cx="102412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5FBFF"/>
                </a:solidFill>
                <a:latin typeface="微软雅黑"/>
              </a:rPr>
              <a:t>剩余寿命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2807208"/>
            <a:ext cx="102412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5FBFF"/>
                </a:solidFill>
                <a:latin typeface="微软雅黑"/>
              </a:rPr>
              <a:t>风险部位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3227832"/>
            <a:ext cx="102412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5FBFF"/>
                </a:solidFill>
                <a:latin typeface="微软雅黑"/>
              </a:rPr>
              <a:t>维修优先序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4233672"/>
            <a:ext cx="685800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C000"/>
                </a:solidFill>
                <a:latin typeface="黑体"/>
              </a:rPr>
              <a:t>回答三个问题：健不健康？还能用多久？先修哪里？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65760"/>
            <a:ext cx="8138160" cy="13716"/>
          </a:xfrm>
          <a:prstGeom prst="rect">
            <a:avLst/>
          </a:prstGeom>
          <a:solidFill>
            <a:srgbClr val="2D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6858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2DBEFF"/>
                </a:solidFill>
                <a:latin typeface="微软雅黑"/>
              </a:rPr>
              <a:t>////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65760"/>
            <a:ext cx="676656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500" b="1">
                <a:solidFill>
                  <a:srgbClr val="66D7FF"/>
                </a:solidFill>
                <a:latin typeface="黑体"/>
              </a:rPr>
              <a:t>2模②｜千亩村发展导引模型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457200"/>
            <a:ext cx="6858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200" b="1">
                <a:solidFill>
                  <a:srgbClr val="2DBEFF"/>
                </a:solidFill>
                <a:latin typeface="微软雅黑"/>
              </a:rPr>
              <a:t>////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786384"/>
            <a:ext cx="54864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A8CBE7"/>
                </a:solidFill>
                <a:latin typeface="微软雅黑"/>
              </a:rPr>
              <a:t>不是“想建几栋”，而是先证明“到底缺多少”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1700784" cy="2286000"/>
          </a:xfrm>
          <a:prstGeom prst="roundRect">
            <a:avLst/>
          </a:prstGeom>
          <a:solidFill>
            <a:srgbClr val="031A35"/>
          </a:solidFill>
          <a:ln w="14604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2648" y="1435608"/>
            <a:ext cx="1664208" cy="310896"/>
          </a:xfrm>
          <a:prstGeom prst="roundRect">
            <a:avLst/>
          </a:prstGeom>
          <a:solidFill>
            <a:srgbClr val="2D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627632"/>
            <a:ext cx="65836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C000"/>
                </a:solidFill>
                <a:latin typeface="黑体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975104"/>
            <a:ext cx="1371600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66D7FF"/>
                </a:solidFill>
                <a:latin typeface="黑体"/>
              </a:rPr>
              <a:t>算有效烤能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42032"/>
            <a:ext cx="1335024" cy="7132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F5FBFF"/>
                </a:solidFill>
                <a:latin typeface="微软雅黑"/>
              </a:rPr>
              <a:t>健康结果 + 容量 + 使用状态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267712" y="2532888"/>
            <a:ext cx="228600" cy="0"/>
          </a:xfrm>
          <a:prstGeom prst="line">
            <a:avLst/>
          </a:prstGeom>
          <a:ln w="19050">
            <a:solidFill>
              <a:srgbClr val="2D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560320" y="1417320"/>
            <a:ext cx="1700784" cy="2286000"/>
          </a:xfrm>
          <a:prstGeom prst="roundRect">
            <a:avLst/>
          </a:prstGeom>
          <a:solidFill>
            <a:srgbClr val="031A35"/>
          </a:solidFill>
          <a:ln w="14604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578608" y="1435608"/>
            <a:ext cx="1664208" cy="310896"/>
          </a:xfrm>
          <a:prstGeom prst="roundRect">
            <a:avLst/>
          </a:prstGeom>
          <a:solidFill>
            <a:srgbClr val="2D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24912" y="1627632"/>
            <a:ext cx="65836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C000"/>
                </a:solidFill>
                <a:latin typeface="黑体"/>
              </a:rPr>
              <a:t>STEP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24912" y="1975104"/>
            <a:ext cx="1371600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66D7FF"/>
                </a:solidFill>
                <a:latin typeface="黑体"/>
              </a:rPr>
              <a:t>组合赋权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542032"/>
            <a:ext cx="1335024" cy="7132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F5FBFF"/>
                </a:solidFill>
                <a:latin typeface="微软雅黑"/>
              </a:rPr>
              <a:t>AHP主观权重
+ 熵权客观校正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233672" y="2532888"/>
            <a:ext cx="228600" cy="0"/>
          </a:xfrm>
          <a:prstGeom prst="line">
            <a:avLst/>
          </a:prstGeom>
          <a:ln w="19050">
            <a:solidFill>
              <a:srgbClr val="2D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526280" y="1417320"/>
            <a:ext cx="1700784" cy="2286000"/>
          </a:xfrm>
          <a:prstGeom prst="roundRect">
            <a:avLst/>
          </a:prstGeom>
          <a:solidFill>
            <a:srgbClr val="031A35"/>
          </a:solidFill>
          <a:ln w="14604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44568" y="1435608"/>
            <a:ext cx="1664208" cy="310896"/>
          </a:xfrm>
          <a:prstGeom prst="roundRect">
            <a:avLst/>
          </a:prstGeom>
          <a:solidFill>
            <a:srgbClr val="2D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90872" y="1627632"/>
            <a:ext cx="65836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C000"/>
                </a:solidFill>
                <a:latin typeface="黑体"/>
              </a:rPr>
              <a:t>STEP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0872" y="1975104"/>
            <a:ext cx="1371600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66D7FF"/>
                </a:solidFill>
                <a:latin typeface="黑体"/>
              </a:rPr>
              <a:t>选址推演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2542032"/>
            <a:ext cx="1335024" cy="7132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F5FBFF"/>
                </a:solidFill>
                <a:latin typeface="微软雅黑"/>
              </a:rPr>
              <a:t>TOPSIS排序
+ 情景沙盘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1307592"/>
            <a:ext cx="2148840" cy="2423160"/>
          </a:xfrm>
          <a:prstGeom prst="roundRect">
            <a:avLst/>
          </a:prstGeom>
          <a:solidFill>
            <a:srgbClr val="031A35"/>
          </a:solidFill>
          <a:ln w="15240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bi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353312"/>
            <a:ext cx="2057400" cy="23317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693408" y="3794760"/>
            <a:ext cx="16459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A8CBE7"/>
                </a:solidFill>
                <a:latin typeface="微软雅黑"/>
              </a:rPr>
              <a:t>最终回答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4041648"/>
            <a:ext cx="2121408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C000"/>
                </a:solidFill>
                <a:latin typeface="黑体"/>
              </a:rPr>
              <a:t>缺不缺 · 缺多少
建哪里 · 建后有没有改善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65760"/>
            <a:ext cx="8138160" cy="13716"/>
          </a:xfrm>
          <a:prstGeom prst="rect">
            <a:avLst/>
          </a:prstGeom>
          <a:solidFill>
            <a:srgbClr val="2D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6858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2DBEFF"/>
                </a:solidFill>
                <a:latin typeface="微软雅黑"/>
              </a:rPr>
              <a:t>////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65760"/>
            <a:ext cx="676656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500" b="1">
                <a:solidFill>
                  <a:srgbClr val="66D7FF"/>
                </a:solidFill>
                <a:latin typeface="黑体"/>
              </a:rPr>
              <a:t>双模不是两张表，而是一条决策链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457200"/>
            <a:ext cx="6858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200" b="1">
                <a:solidFill>
                  <a:srgbClr val="2DBEFF"/>
                </a:solidFill>
                <a:latin typeface="微软雅黑"/>
              </a:rPr>
              <a:t>////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828800"/>
            <a:ext cx="1325880" cy="1325880"/>
          </a:xfrm>
          <a:prstGeom prst="ellipse">
            <a:avLst/>
          </a:prstGeom>
          <a:solidFill>
            <a:srgbClr val="031A35"/>
          </a:solidFill>
          <a:ln w="19050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41148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C000"/>
                </a:solidFill>
                <a:latin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340864"/>
            <a:ext cx="109728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66D7FF"/>
                </a:solidFill>
                <a:latin typeface="黑体"/>
              </a:rPr>
              <a:t>存量体检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73552"/>
            <a:ext cx="1600200" cy="5120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F5FBFF"/>
                </a:solidFill>
                <a:latin typeface="微软雅黑"/>
              </a:rPr>
              <a:t>看健康 / 寿命 / 风险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29384" y="2487168"/>
            <a:ext cx="658368" cy="228600"/>
          </a:xfrm>
          <a:prstGeom prst="line">
            <a:avLst/>
          </a:prstGeom>
          <a:ln w="25400">
            <a:solidFill>
              <a:srgbClr val="2D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697480" y="2057400"/>
            <a:ext cx="1325880" cy="1325880"/>
          </a:xfrm>
          <a:prstGeom prst="ellipse">
            <a:avLst/>
          </a:prstGeom>
          <a:solidFill>
            <a:srgbClr val="031A35"/>
          </a:solidFill>
          <a:ln w="19050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54680" y="2240280"/>
            <a:ext cx="41148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C000"/>
                </a:solidFill>
                <a:latin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7208" y="2569464"/>
            <a:ext cx="109728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66D7FF"/>
                </a:solidFill>
                <a:latin typeface="黑体"/>
              </a:rPr>
              <a:t>有效烤能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502152"/>
            <a:ext cx="1600200" cy="5120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F5FBFF"/>
                </a:solidFill>
                <a:latin typeface="微软雅黑"/>
              </a:rPr>
              <a:t>把“栋数”变成“可用能力”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032504" y="2487168"/>
            <a:ext cx="658368" cy="228600"/>
          </a:xfrm>
          <a:prstGeom prst="line">
            <a:avLst/>
          </a:prstGeom>
          <a:ln w="25400">
            <a:solidFill>
              <a:srgbClr val="2D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800600" y="1828800"/>
            <a:ext cx="1325880" cy="1325880"/>
          </a:xfrm>
          <a:prstGeom prst="ellipse">
            <a:avLst/>
          </a:prstGeom>
          <a:solidFill>
            <a:srgbClr val="031A35"/>
          </a:solidFill>
          <a:ln w="19050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57800" y="2011680"/>
            <a:ext cx="41148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C000"/>
                </a:solidFill>
                <a:latin typeface="微软雅黑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0328" y="2340864"/>
            <a:ext cx="109728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66D7FF"/>
                </a:solidFill>
                <a:latin typeface="黑体"/>
              </a:rPr>
              <a:t>增量推演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273552"/>
            <a:ext cx="1600200" cy="5120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F5FBFF"/>
                </a:solidFill>
                <a:latin typeface="微软雅黑"/>
              </a:rPr>
              <a:t>看未来规模 / 缺口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135624" y="2487168"/>
            <a:ext cx="658368" cy="228600"/>
          </a:xfrm>
          <a:prstGeom prst="line">
            <a:avLst/>
          </a:prstGeom>
          <a:ln w="25400">
            <a:solidFill>
              <a:srgbClr val="2D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903720" y="2057400"/>
            <a:ext cx="1325880" cy="1325880"/>
          </a:xfrm>
          <a:prstGeom prst="ellipse">
            <a:avLst/>
          </a:prstGeom>
          <a:solidFill>
            <a:srgbClr val="031A35"/>
          </a:solidFill>
          <a:ln w="19050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60920" y="2240280"/>
            <a:ext cx="41148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C000"/>
                </a:solidFill>
                <a:latin typeface="微软雅黑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3448" y="2569464"/>
            <a:ext cx="109728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66D7FF"/>
                </a:solidFill>
                <a:latin typeface="黑体"/>
              </a:rPr>
              <a:t>投入决策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59" y="3502152"/>
            <a:ext cx="1600200" cy="5120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F5FBFF"/>
                </a:solidFill>
                <a:latin typeface="微软雅黑"/>
              </a:rPr>
              <a:t>先调剂 → 再修复 → 再新建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370832"/>
            <a:ext cx="731520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C000"/>
                </a:solidFill>
                <a:latin typeface="微软雅黑"/>
              </a:rPr>
              <a:t>核心创新：健康结果进入“有效烤能”，存量判断真正进入增量建设决策。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65760"/>
            <a:ext cx="8138160" cy="13716"/>
          </a:xfrm>
          <a:prstGeom prst="rect">
            <a:avLst/>
          </a:prstGeom>
          <a:solidFill>
            <a:srgbClr val="2D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274320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2800" b="1">
                <a:solidFill>
                  <a:srgbClr val="66D7FF"/>
                </a:solidFill>
                <a:latin typeface="黑体"/>
              </a:rPr>
              <a:t>从模型判断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94760" y="1325880"/>
            <a:ext cx="64008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FFC000"/>
                </a:solidFill>
                <a:latin typeface="微软雅黑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325880"/>
            <a:ext cx="274320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5FBFF"/>
                </a:solidFill>
                <a:latin typeface="黑体"/>
              </a:rPr>
              <a:t>到烟区一线</a:t>
            </a:r>
          </a:p>
        </p:txBody>
      </p:sp>
      <p:sp>
        <p:nvSpPr>
          <p:cNvPr id="8" name="Oval 7"/>
          <p:cNvSpPr/>
          <p:nvPr/>
        </p:nvSpPr>
        <p:spPr>
          <a:xfrm>
            <a:off x="3977639" y="2331720"/>
            <a:ext cx="1188720" cy="1188720"/>
          </a:xfrm>
          <a:prstGeom prst="ellipse">
            <a:avLst/>
          </a:prstGeom>
          <a:solidFill>
            <a:srgbClr val="2DBEFF"/>
          </a:solidFill>
          <a:ln w="19050">
            <a:solidFill>
              <a:srgbClr val="66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4370832" y="2633472"/>
            <a:ext cx="402336" cy="512064"/>
          </a:xfrm>
          <a:prstGeom prst="triangle">
            <a:avLst/>
          </a:prstGeom>
          <a:solidFill>
            <a:srgbClr val="F5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9272" y="3749039"/>
            <a:ext cx="25146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C000"/>
                </a:solidFill>
                <a:latin typeface="微软雅黑"/>
              </a:rPr>
              <a:t>VIDEO · 约1分钟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65760"/>
            <a:ext cx="8138160" cy="13716"/>
          </a:xfrm>
          <a:prstGeom prst="rect">
            <a:avLst/>
          </a:prstGeom>
          <a:solidFill>
            <a:srgbClr val="2D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6858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2DBEFF"/>
                </a:solidFill>
                <a:latin typeface="微软雅黑"/>
              </a:rPr>
              <a:t>////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65760"/>
            <a:ext cx="676656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500" b="1">
                <a:solidFill>
                  <a:srgbClr val="66D7FF"/>
                </a:solidFill>
                <a:latin typeface="黑体"/>
              </a:rPr>
              <a:t>3智①｜智用：一部手机完成调剂与报修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457200"/>
            <a:ext cx="6858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200" b="1">
                <a:solidFill>
                  <a:srgbClr val="2DBEFF"/>
                </a:solidFill>
                <a:latin typeface="微软雅黑"/>
              </a:rPr>
              <a:t>////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C000"/>
                </a:solidFill>
                <a:latin typeface="黑体"/>
              </a:rPr>
              <a:t>烟农端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691640"/>
            <a:ext cx="64008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66D7FF"/>
                </a:solidFill>
                <a:latin typeface="黑体"/>
              </a:rPr>
              <a:t>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737360"/>
            <a:ext cx="146304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5FBFF"/>
                </a:solidFill>
                <a:latin typeface="微软雅黑"/>
              </a:rPr>
              <a:t>查附近可用烤房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468880"/>
            <a:ext cx="64008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66D7FF"/>
                </a:solidFill>
                <a:latin typeface="黑体"/>
              </a:rPr>
              <a:t>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514600"/>
            <a:ext cx="146304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5FBFF"/>
                </a:solidFill>
                <a:latin typeface="微软雅黑"/>
              </a:rPr>
              <a:t>预约 / 调剂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246120"/>
            <a:ext cx="64008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66D7FF"/>
                </a:solidFill>
                <a:latin typeface="黑体"/>
              </a:rPr>
              <a:t>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291839"/>
            <a:ext cx="146304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5FBFF"/>
                </a:solidFill>
                <a:latin typeface="微软雅黑"/>
              </a:rPr>
              <a:t>一键报修 / 看进度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1188720"/>
            <a:ext cx="1645920" cy="3337560"/>
          </a:xfrm>
          <a:prstGeom prst="roundRect">
            <a:avLst/>
          </a:prstGeom>
          <a:solidFill>
            <a:srgbClr val="031A35"/>
          </a:solidFill>
          <a:ln w="15240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mini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1234440"/>
            <a:ext cx="1554480" cy="324612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5029200" y="1188720"/>
            <a:ext cx="1645920" cy="3337560"/>
          </a:xfrm>
          <a:prstGeom prst="roundRect">
            <a:avLst/>
          </a:prstGeom>
          <a:solidFill>
            <a:srgbClr val="031A35"/>
          </a:solidFill>
          <a:ln w="15240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repair_a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234440"/>
            <a:ext cx="1554480" cy="324612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858000" y="1188720"/>
            <a:ext cx="1645920" cy="3337560"/>
          </a:xfrm>
          <a:prstGeom prst="roundRect">
            <a:avLst/>
          </a:prstGeom>
          <a:solidFill>
            <a:srgbClr val="031A35"/>
          </a:solidFill>
          <a:ln w="15240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repair_b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1234440"/>
            <a:ext cx="1554480" cy="32461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85800" y="4370832"/>
            <a:ext cx="109728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C000"/>
                </a:solidFill>
                <a:latin typeface="微软雅黑"/>
              </a:rPr>
              <a:t>48次调剂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4370832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C000"/>
                </a:solidFill>
                <a:latin typeface="微软雅黑"/>
              </a:rPr>
              <a:t>18次抢修全部≤3小时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65760"/>
            <a:ext cx="8138160" cy="13716"/>
          </a:xfrm>
          <a:prstGeom prst="rect">
            <a:avLst/>
          </a:prstGeom>
          <a:solidFill>
            <a:srgbClr val="2D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6858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2DBEFF"/>
                </a:solidFill>
                <a:latin typeface="微软雅黑"/>
              </a:rPr>
              <a:t>////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65760"/>
            <a:ext cx="676656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500" b="1">
                <a:solidFill>
                  <a:srgbClr val="66D7FF"/>
                </a:solidFill>
                <a:latin typeface="黑体"/>
              </a:rPr>
              <a:t>3智②｜智投：维修与新建，都要有依据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457200"/>
            <a:ext cx="6858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200" b="1">
                <a:solidFill>
                  <a:srgbClr val="2DBEFF"/>
                </a:solidFill>
                <a:latin typeface="微软雅黑"/>
              </a:rPr>
              <a:t>////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143000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C000"/>
                </a:solidFill>
                <a:latin typeface="黑体"/>
              </a:rPr>
              <a:t>管理端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627632"/>
            <a:ext cx="114300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66D7FF"/>
                </a:solidFill>
                <a:latin typeface="黑体"/>
              </a:rPr>
              <a:t>看健康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011680"/>
            <a:ext cx="201168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F5FBFF"/>
                </a:solidFill>
                <a:latin typeface="微软雅黑"/>
              </a:rPr>
              <a:t>高风险烤房 / 维修优先序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560320"/>
            <a:ext cx="114300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66D7FF"/>
                </a:solidFill>
                <a:latin typeface="黑体"/>
              </a:rPr>
              <a:t>看缺口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944368"/>
            <a:ext cx="201168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F5FBFF"/>
                </a:solidFill>
                <a:latin typeface="微软雅黑"/>
              </a:rPr>
              <a:t>有效烤能 / 村级供需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493008"/>
            <a:ext cx="114300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66D7FF"/>
                </a:solidFill>
                <a:latin typeface="黑体"/>
              </a:rPr>
              <a:t>看沙盘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877056"/>
            <a:ext cx="201168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F5FBFF"/>
                </a:solidFill>
                <a:latin typeface="微软雅黑"/>
              </a:rPr>
              <a:t>不同规模情景先推演再投入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1188720"/>
            <a:ext cx="5440679" cy="3246120"/>
          </a:xfrm>
          <a:prstGeom prst="roundRect">
            <a:avLst/>
          </a:prstGeom>
          <a:solidFill>
            <a:srgbClr val="031A35"/>
          </a:solidFill>
          <a:ln w="15240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web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1234440"/>
            <a:ext cx="5349240" cy="315468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3337560" y="4553712"/>
            <a:ext cx="4800600" cy="310896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4553712"/>
            <a:ext cx="480060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5FBFF"/>
                </a:solidFill>
                <a:latin typeface="微软雅黑"/>
              </a:rPr>
              <a:t>从“凭经验申报” → “先体检 · 再算缺口 · 最后看效果”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65760"/>
            <a:ext cx="8138160" cy="13716"/>
          </a:xfrm>
          <a:prstGeom prst="rect">
            <a:avLst/>
          </a:prstGeom>
          <a:solidFill>
            <a:srgbClr val="2D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6858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2DBEFF"/>
                </a:solidFill>
                <a:latin typeface="微软雅黑"/>
              </a:rPr>
              <a:t>////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65760"/>
            <a:ext cx="676656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500" b="1">
                <a:solidFill>
                  <a:srgbClr val="66D7FF"/>
                </a:solidFill>
                <a:latin typeface="黑体"/>
              </a:rPr>
              <a:t>3智③｜智管：技术算得准，机制还要跑得久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457200"/>
            <a:ext cx="6858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200" b="1">
                <a:solidFill>
                  <a:srgbClr val="2DBEFF"/>
                </a:solidFill>
                <a:latin typeface="微软雅黑"/>
              </a:rPr>
              <a:t>////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1234440"/>
            <a:ext cx="822960" cy="822960"/>
          </a:xfrm>
          <a:prstGeom prst="ellipse">
            <a:avLst/>
          </a:prstGeom>
          <a:solidFill>
            <a:srgbClr val="031A35"/>
          </a:solidFill>
          <a:ln w="15240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6304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5FBFF"/>
                </a:solidFill>
                <a:latin typeface="微软雅黑"/>
              </a:rPr>
              <a:t>申请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508760" y="1645920"/>
            <a:ext cx="502920" cy="0"/>
          </a:xfrm>
          <a:prstGeom prst="line">
            <a:avLst/>
          </a:prstGeom>
          <a:ln w="16510">
            <a:solidFill>
              <a:srgbClr val="2D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057400" y="1234440"/>
            <a:ext cx="822960" cy="822960"/>
          </a:xfrm>
          <a:prstGeom prst="ellipse">
            <a:avLst/>
          </a:prstGeom>
          <a:solidFill>
            <a:srgbClr val="031A35"/>
          </a:solidFill>
          <a:ln w="15240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57400" y="146304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5FBFF"/>
                </a:solidFill>
                <a:latin typeface="微软雅黑"/>
              </a:rPr>
              <a:t>派单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880360" y="1645920"/>
            <a:ext cx="502920" cy="0"/>
          </a:xfrm>
          <a:prstGeom prst="line">
            <a:avLst/>
          </a:prstGeom>
          <a:ln w="16510">
            <a:solidFill>
              <a:srgbClr val="2D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429000" y="1234440"/>
            <a:ext cx="822960" cy="822960"/>
          </a:xfrm>
          <a:prstGeom prst="ellipse">
            <a:avLst/>
          </a:prstGeom>
          <a:solidFill>
            <a:srgbClr val="031A35"/>
          </a:solidFill>
          <a:ln w="15240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146304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5FBFF"/>
                </a:solidFill>
                <a:latin typeface="微软雅黑"/>
              </a:rPr>
              <a:t>处置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51960" y="1645920"/>
            <a:ext cx="502920" cy="0"/>
          </a:xfrm>
          <a:prstGeom prst="line">
            <a:avLst/>
          </a:prstGeom>
          <a:ln w="16510">
            <a:solidFill>
              <a:srgbClr val="2D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800600" y="1234440"/>
            <a:ext cx="822960" cy="822960"/>
          </a:xfrm>
          <a:prstGeom prst="ellipse">
            <a:avLst/>
          </a:prstGeom>
          <a:solidFill>
            <a:srgbClr val="031A35"/>
          </a:solidFill>
          <a:ln w="15240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146304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5FBFF"/>
                </a:solidFill>
                <a:latin typeface="微软雅黑"/>
              </a:rPr>
              <a:t>验收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23560" y="1645920"/>
            <a:ext cx="502920" cy="0"/>
          </a:xfrm>
          <a:prstGeom prst="line">
            <a:avLst/>
          </a:prstGeom>
          <a:ln w="16510">
            <a:solidFill>
              <a:srgbClr val="2D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6172200" y="1234440"/>
            <a:ext cx="822960" cy="822960"/>
          </a:xfrm>
          <a:prstGeom prst="ellipse">
            <a:avLst/>
          </a:prstGeom>
          <a:solidFill>
            <a:srgbClr val="031A35"/>
          </a:solidFill>
          <a:ln w="15240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146304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5FBFF"/>
                </a:solidFill>
                <a:latin typeface="微软雅黑"/>
              </a:rPr>
              <a:t>评价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995160" y="1645920"/>
            <a:ext cx="502919" cy="0"/>
          </a:xfrm>
          <a:prstGeom prst="line">
            <a:avLst/>
          </a:prstGeom>
          <a:ln w="16510">
            <a:solidFill>
              <a:srgbClr val="2D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543800" y="1234440"/>
            <a:ext cx="822960" cy="822960"/>
          </a:xfrm>
          <a:prstGeom prst="ellipse">
            <a:avLst/>
          </a:prstGeom>
          <a:solidFill>
            <a:srgbClr val="031A35"/>
          </a:solidFill>
          <a:ln w="15240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43800" y="146304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5FBFF"/>
                </a:solidFill>
                <a:latin typeface="微软雅黑"/>
              </a:rPr>
              <a:t>回写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2423160"/>
            <a:ext cx="100584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C000"/>
                </a:solidFill>
                <a:latin typeface="黑体"/>
              </a:rPr>
              <a:t>四队长效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2834640"/>
            <a:ext cx="1737360" cy="1234440"/>
          </a:xfrm>
          <a:prstGeom prst="roundRect">
            <a:avLst/>
          </a:prstGeom>
          <a:solidFill>
            <a:srgbClr val="031A35"/>
          </a:solidFill>
          <a:ln w="14604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04088" y="2852928"/>
            <a:ext cx="1700784" cy="310896"/>
          </a:xfrm>
          <a:prstGeom prst="roundRect">
            <a:avLst/>
          </a:prstGeom>
          <a:solidFill>
            <a:srgbClr val="2D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" y="3063240"/>
            <a:ext cx="1408176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66D7FF"/>
                </a:solidFill>
                <a:latin typeface="黑体"/>
              </a:rPr>
              <a:t>烟叶调制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" y="3493008"/>
            <a:ext cx="140817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F5FBFF"/>
                </a:solidFill>
                <a:latin typeface="微软雅黑"/>
              </a:rPr>
              <a:t>烘烤指导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0" y="2834640"/>
            <a:ext cx="1737360" cy="1234440"/>
          </a:xfrm>
          <a:prstGeom prst="roundRect">
            <a:avLst/>
          </a:prstGeom>
          <a:solidFill>
            <a:srgbClr val="031A35"/>
          </a:solidFill>
          <a:ln w="14604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761488" y="2852928"/>
            <a:ext cx="1700784" cy="310896"/>
          </a:xfrm>
          <a:prstGeom prst="roundRect">
            <a:avLst/>
          </a:prstGeom>
          <a:solidFill>
            <a:srgbClr val="2D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07792" y="3063240"/>
            <a:ext cx="1408176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66D7FF"/>
                </a:solidFill>
                <a:latin typeface="黑体"/>
              </a:rPr>
              <a:t>紧急抢修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07792" y="3493008"/>
            <a:ext cx="140817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F5FBFF"/>
                </a:solidFill>
                <a:latin typeface="微软雅黑"/>
              </a:rPr>
              <a:t>故障处置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00600" y="2834640"/>
            <a:ext cx="1737360" cy="1234440"/>
          </a:xfrm>
          <a:prstGeom prst="roundRect">
            <a:avLst/>
          </a:prstGeom>
          <a:solidFill>
            <a:srgbClr val="031A35"/>
          </a:solidFill>
          <a:ln w="14604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818888" y="2852928"/>
            <a:ext cx="1700784" cy="310896"/>
          </a:xfrm>
          <a:prstGeom prst="roundRect">
            <a:avLst/>
          </a:prstGeom>
          <a:solidFill>
            <a:srgbClr val="2D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65192" y="3063240"/>
            <a:ext cx="1408176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66D7FF"/>
                </a:solidFill>
                <a:latin typeface="黑体"/>
              </a:rPr>
              <a:t>日常管护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65192" y="3493008"/>
            <a:ext cx="140817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F5FBFF"/>
                </a:solidFill>
                <a:latin typeface="微软雅黑"/>
              </a:rPr>
              <a:t>巡检养护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0" y="2834640"/>
            <a:ext cx="1737360" cy="1234440"/>
          </a:xfrm>
          <a:prstGeom prst="roundRect">
            <a:avLst/>
          </a:prstGeom>
          <a:solidFill>
            <a:srgbClr val="031A35"/>
          </a:solidFill>
          <a:ln w="14604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876288" y="2852928"/>
            <a:ext cx="1700784" cy="310896"/>
          </a:xfrm>
          <a:prstGeom prst="roundRect">
            <a:avLst/>
          </a:prstGeom>
          <a:solidFill>
            <a:srgbClr val="2D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22592" y="3063240"/>
            <a:ext cx="1408176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66D7FF"/>
                </a:solidFill>
                <a:latin typeface="黑体"/>
              </a:rPr>
              <a:t>综合管理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22592" y="3493008"/>
            <a:ext cx="140817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F5FBFF"/>
                </a:solidFill>
                <a:latin typeface="微软雅黑"/>
              </a:rPr>
              <a:t>统筹监督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0" y="4443984"/>
            <a:ext cx="640080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C000"/>
                </a:solidFill>
                <a:latin typeface="微软雅黑"/>
              </a:rPr>
              <a:t>有人管 · 有钱管 · 有标准管 · 有机制管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65760"/>
            <a:ext cx="8138160" cy="13716"/>
          </a:xfrm>
          <a:prstGeom prst="rect">
            <a:avLst/>
          </a:prstGeom>
          <a:solidFill>
            <a:srgbClr val="2D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6858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2DBEFF"/>
                </a:solidFill>
                <a:latin typeface="微软雅黑"/>
              </a:rPr>
              <a:t>////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65760"/>
            <a:ext cx="676656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500" b="1">
                <a:solidFill>
                  <a:srgbClr val="66D7FF"/>
                </a:solidFill>
                <a:latin typeface="黑体"/>
              </a:rPr>
              <a:t>落地成效｜结果必须经得起数字验证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457200"/>
            <a:ext cx="6858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200" b="1">
                <a:solidFill>
                  <a:srgbClr val="2DBEFF"/>
                </a:solidFill>
                <a:latin typeface="微软雅黑"/>
              </a:rPr>
              <a:t>////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25880"/>
            <a:ext cx="1645920" cy="1261872"/>
          </a:xfrm>
          <a:prstGeom prst="roundRect">
            <a:avLst/>
          </a:prstGeom>
          <a:solidFill>
            <a:srgbClr val="031A35"/>
          </a:solidFill>
          <a:ln w="14604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2648" y="1344168"/>
            <a:ext cx="1609344" cy="310896"/>
          </a:xfrm>
          <a:prstGeom prst="roundRect">
            <a:avLst/>
          </a:prstGeom>
          <a:solidFill>
            <a:srgbClr val="2D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90472"/>
            <a:ext cx="146304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400" b="1">
                <a:solidFill>
                  <a:srgbClr val="FFC000"/>
                </a:solidFill>
                <a:latin typeface="黑体"/>
              </a:rPr>
              <a:t>2442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029967"/>
            <a:ext cx="1426464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5FBFF"/>
                </a:solidFill>
                <a:latin typeface="微软雅黑"/>
              </a:rPr>
              <a:t>座烤房
完成建档体检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80" y="1325880"/>
            <a:ext cx="1645920" cy="1261872"/>
          </a:xfrm>
          <a:prstGeom prst="roundRect">
            <a:avLst/>
          </a:prstGeom>
          <a:solidFill>
            <a:srgbClr val="031A35"/>
          </a:solidFill>
          <a:ln w="14604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15768" y="1344168"/>
            <a:ext cx="1609344" cy="310896"/>
          </a:xfrm>
          <a:prstGeom prst="roundRect">
            <a:avLst/>
          </a:prstGeom>
          <a:solidFill>
            <a:srgbClr val="2D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8920" y="1490472"/>
            <a:ext cx="146304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400" b="1">
                <a:solidFill>
                  <a:srgbClr val="FFC000"/>
                </a:solidFill>
                <a:latin typeface="黑体"/>
              </a:rPr>
              <a:t>340+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7208" y="2029967"/>
            <a:ext cx="1426464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5FBFF"/>
                </a:solidFill>
                <a:latin typeface="微软雅黑"/>
              </a:rPr>
              <a:t>栋&lt;60分
预警/危险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0" y="1325880"/>
            <a:ext cx="1645920" cy="1261872"/>
          </a:xfrm>
          <a:prstGeom prst="roundRect">
            <a:avLst/>
          </a:prstGeom>
          <a:solidFill>
            <a:srgbClr val="031A35"/>
          </a:solidFill>
          <a:ln w="14604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818888" y="1344168"/>
            <a:ext cx="1609344" cy="310896"/>
          </a:xfrm>
          <a:prstGeom prst="roundRect">
            <a:avLst/>
          </a:prstGeom>
          <a:solidFill>
            <a:srgbClr val="2D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2040" y="1490472"/>
            <a:ext cx="146304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400" b="1">
                <a:solidFill>
                  <a:srgbClr val="FFC000"/>
                </a:solidFill>
                <a:latin typeface="黑体"/>
              </a:rPr>
              <a:t>48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0328" y="2029967"/>
            <a:ext cx="1426464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5FBFF"/>
                </a:solidFill>
                <a:latin typeface="微软雅黑"/>
              </a:rPr>
              <a:t>次烤房调剂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1325880"/>
            <a:ext cx="1645920" cy="1261872"/>
          </a:xfrm>
          <a:prstGeom prst="roundRect">
            <a:avLst/>
          </a:prstGeom>
          <a:solidFill>
            <a:srgbClr val="031A35"/>
          </a:solidFill>
          <a:ln w="14604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922007" y="1344168"/>
            <a:ext cx="1609344" cy="310896"/>
          </a:xfrm>
          <a:prstGeom prst="roundRect">
            <a:avLst/>
          </a:prstGeom>
          <a:solidFill>
            <a:srgbClr val="2D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159" y="1490472"/>
            <a:ext cx="146304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400" b="1">
                <a:solidFill>
                  <a:srgbClr val="FFC000"/>
                </a:solidFill>
                <a:latin typeface="黑体"/>
              </a:rPr>
              <a:t>0.38h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3448" y="2029967"/>
            <a:ext cx="1426464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5FBFF"/>
                </a:solidFill>
                <a:latin typeface="微软雅黑"/>
              </a:rPr>
              <a:t>平台工单
平均响应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45920" y="3063240"/>
            <a:ext cx="1645920" cy="1261872"/>
          </a:xfrm>
          <a:prstGeom prst="roundRect">
            <a:avLst/>
          </a:prstGeom>
          <a:solidFill>
            <a:srgbClr val="031A35"/>
          </a:solidFill>
          <a:ln w="14604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664208" y="3081528"/>
            <a:ext cx="1609344" cy="310896"/>
          </a:xfrm>
          <a:prstGeom prst="roundRect">
            <a:avLst/>
          </a:prstGeom>
          <a:solidFill>
            <a:srgbClr val="2D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0" y="3227832"/>
            <a:ext cx="146304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400" b="1">
                <a:solidFill>
                  <a:srgbClr val="FFC000"/>
                </a:solidFill>
                <a:latin typeface="黑体"/>
              </a:rPr>
              <a:t>96.8%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55648" y="3767328"/>
            <a:ext cx="1426464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5FBFF"/>
                </a:solidFill>
                <a:latin typeface="微软雅黑"/>
              </a:rPr>
              <a:t>综合满意度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40480" y="3063240"/>
            <a:ext cx="1645920" cy="1261872"/>
          </a:xfrm>
          <a:prstGeom prst="roundRect">
            <a:avLst/>
          </a:prstGeom>
          <a:solidFill>
            <a:srgbClr val="031A35"/>
          </a:solidFill>
          <a:ln w="14604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858768" y="3081528"/>
            <a:ext cx="1609344" cy="310896"/>
          </a:xfrm>
          <a:prstGeom prst="roundRect">
            <a:avLst/>
          </a:prstGeom>
          <a:solidFill>
            <a:srgbClr val="2D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31920" y="3227832"/>
            <a:ext cx="146304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400" b="1">
                <a:solidFill>
                  <a:srgbClr val="FFC000"/>
                </a:solidFill>
                <a:latin typeface="黑体"/>
              </a:rPr>
              <a:t>1363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50208" y="3767328"/>
            <a:ext cx="1426464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5FBFF"/>
                </a:solidFill>
                <a:latin typeface="微软雅黑"/>
              </a:rPr>
              <a:t>栋合作社
统筹管护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35040" y="3063240"/>
            <a:ext cx="1645920" cy="1261872"/>
          </a:xfrm>
          <a:prstGeom prst="roundRect">
            <a:avLst/>
          </a:prstGeom>
          <a:solidFill>
            <a:srgbClr val="031A35"/>
          </a:solidFill>
          <a:ln w="14604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053327" y="3081528"/>
            <a:ext cx="1609344" cy="310896"/>
          </a:xfrm>
          <a:prstGeom prst="roundRect">
            <a:avLst/>
          </a:prstGeom>
          <a:solidFill>
            <a:srgbClr val="2D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79" y="3227832"/>
            <a:ext cx="146304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400" b="1">
                <a:solidFill>
                  <a:srgbClr val="FFC000"/>
                </a:solidFill>
                <a:latin typeface="黑体"/>
              </a:rPr>
              <a:t>≈190万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3767328"/>
            <a:ext cx="1426464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5FBFF"/>
                </a:solidFill>
                <a:latin typeface="微软雅黑"/>
              </a:rPr>
              <a:t>管护基金
累计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4526280"/>
            <a:ext cx="5029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66D7FF"/>
                </a:solidFill>
                <a:latin typeface="微软雅黑"/>
              </a:rPr>
              <a:t>18次突发故障抢修：全部控制在3小时以内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65760"/>
            <a:ext cx="8138160" cy="13716"/>
          </a:xfrm>
          <a:prstGeom prst="rect">
            <a:avLst/>
          </a:prstGeom>
          <a:solidFill>
            <a:srgbClr val="2D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3400" b="1">
                <a:solidFill>
                  <a:srgbClr val="F5FBFF"/>
                </a:solidFill>
                <a:latin typeface="黑体"/>
              </a:rPr>
              <a:t>智烤管家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93392"/>
            <a:ext cx="731520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C000"/>
                </a:solidFill>
                <a:latin typeface="微软雅黑"/>
              </a:rPr>
              <a:t>好房充分用  ·  旧房精准修  ·  缺口科学建  ·  建后持续管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816352"/>
            <a:ext cx="62179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66D7FF"/>
                </a:solidFill>
                <a:latin typeface="微软雅黑"/>
              </a:rPr>
              <a:t>从“有多少房”到“有多少有效烤能”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246120"/>
            <a:ext cx="62179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66D7FF"/>
                </a:solidFill>
                <a:latin typeface="微软雅黑"/>
              </a:rPr>
              <a:t>从“坏了再修”到“风险预警”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675887"/>
            <a:ext cx="62179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66D7FF"/>
                </a:solidFill>
                <a:latin typeface="微软雅黑"/>
              </a:rPr>
              <a:t>从“凭经验投”到“数据推演”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0280" y="4370832"/>
            <a:ext cx="4663440" cy="310896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40280" y="4370832"/>
            <a:ext cx="466344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5FBFF"/>
                </a:solidFill>
                <a:latin typeface="微软雅黑"/>
              </a:rPr>
              <a:t>一库清底 · 双模决策 · 三智落地 · 四队长效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