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354" r:id="rId4"/>
    <p:sldId id="373" r:id="rId7"/>
    <p:sldId id="371" r:id="rId8"/>
    <p:sldId id="357" r:id="rId9"/>
    <p:sldId id="381" r:id="rId11"/>
    <p:sldId id="377" r:id="rId13"/>
    <p:sldId id="407" r:id="rId15"/>
    <p:sldId id="364" r:id="rId16"/>
    <p:sldId id="390" r:id="rId17"/>
    <p:sldId id="388" r:id="rId18"/>
    <p:sldId id="380" r:id="rId14"/>
    <p:sldId id="400" r:id="rId19"/>
    <p:sldId id="405" r:id="rId20"/>
    <p:sldId id="406" r:id="rId12"/>
    <p:sldId id="387" r:id="rId21"/>
  </p:sldIdLst>
  <p:sldSz cx="9144000" cy="5143500" type="screen16x9"/>
  <p:notesSz cx="6858000" cy="9144000"/>
  <p:custDataLst>
    <p:tags r:id="rId25"/>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9" userDrawn="1">
          <p15:clr>
            <a:srgbClr val="A4A3A4"/>
          </p15:clr>
        </p15:guide>
        <p15:guide id="2" pos="3989" userDrawn="1">
          <p15:clr>
            <a:srgbClr val="A4A3A4"/>
          </p15:clr>
        </p15:guide>
        <p15:guide id="3" orient="horz" pos="1670" userDrawn="1">
          <p15:clr>
            <a:srgbClr val="A4A3A4"/>
          </p15:clr>
        </p15:guide>
        <p15:guide id="4" pos="2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1160A6"/>
    <a:srgbClr val="173F2A"/>
    <a:srgbClr val="2F7A4F"/>
    <a:srgbClr val="F1A63A"/>
    <a:srgbClr val="0D366B"/>
    <a:srgbClr val="21598E"/>
    <a:srgbClr val="21AB82"/>
    <a:srgbClr val="0051A1"/>
    <a:srgbClr val="152F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2" autoAdjust="0"/>
    <p:restoredTop sz="89414" autoAdjust="0"/>
  </p:normalViewPr>
  <p:slideViewPr>
    <p:cSldViewPr snapToGrid="0" showGuides="1">
      <p:cViewPr varScale="1">
        <p:scale>
          <a:sx n="187" d="100"/>
          <a:sy n="187" d="100"/>
        </p:scale>
        <p:origin x="696" y="156"/>
      </p:cViewPr>
      <p:guideLst>
        <p:guide orient="horz" pos="719"/>
        <p:guide pos="3989"/>
        <p:guide orient="horz" pos="1670"/>
        <p:guide pos="234"/>
      </p:guideLst>
    </p:cSldViewPr>
  </p:slideViewPr>
  <p:notesTextViewPr>
    <p:cViewPr>
      <p:scale>
        <a:sx n="66" d="100"/>
        <a:sy n="66" d="100"/>
      </p:scale>
      <p:origin x="0" y="0"/>
    </p:cViewPr>
  </p:notesTextViewPr>
  <p:sorterViewPr>
    <p:cViewPr>
      <p:scale>
        <a:sx n="75" d="100"/>
        <a:sy n="75" d="100"/>
      </p:scale>
      <p:origin x="0" y="0"/>
    </p:cViewPr>
  </p:sorterViewPr>
  <p:notesViewPr>
    <p:cSldViewPr snapToGrid="0">
      <p:cViewPr varScale="1">
        <p:scale>
          <a:sx n="86" d="100"/>
          <a:sy n="86" d="100"/>
        </p:scale>
        <p:origin x="3840"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tags" Target="tags/tag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itchFamily="34" charset="-122"/>
              </a:defRPr>
            </a:lvl1pPr>
          </a:lstStyle>
          <a:p>
            <a:fld id="{D8D3007C-0BBF-4CAD-B02F-7664B804665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itchFamily="34" charset="-122"/>
              </a:defRPr>
            </a:lvl1pPr>
          </a:lstStyle>
          <a:p>
            <a:fld id="{8927DC7C-EA85-41EA-BE8E-3BC04B9579C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微软雅黑" pitchFamily="34" charset="-122"/>
        <a:cs typeface="+mn-cs"/>
      </a:defRPr>
    </a:lvl1pPr>
    <a:lvl2pPr marL="342900" algn="l" defTabSz="685800" rtl="0" eaLnBrk="1" latinLnBrk="0" hangingPunct="1">
      <a:defRPr sz="900" kern="1200">
        <a:solidFill>
          <a:schemeClr val="tx1"/>
        </a:solidFill>
        <a:latin typeface="+mn-lt"/>
        <a:ea typeface="微软雅黑" pitchFamily="34" charset="-122"/>
        <a:cs typeface="+mn-cs"/>
      </a:defRPr>
    </a:lvl2pPr>
    <a:lvl3pPr marL="685800" algn="l" defTabSz="685800" rtl="0" eaLnBrk="1" latinLnBrk="0" hangingPunct="1">
      <a:defRPr sz="900" kern="1200">
        <a:solidFill>
          <a:schemeClr val="tx1"/>
        </a:solidFill>
        <a:latin typeface="+mn-lt"/>
        <a:ea typeface="微软雅黑" pitchFamily="34" charset="-122"/>
        <a:cs typeface="+mn-cs"/>
      </a:defRPr>
    </a:lvl3pPr>
    <a:lvl4pPr marL="1028700" algn="l" defTabSz="685800" rtl="0" eaLnBrk="1" latinLnBrk="0" hangingPunct="1">
      <a:defRPr sz="900" kern="1200">
        <a:solidFill>
          <a:schemeClr val="tx1"/>
        </a:solidFill>
        <a:latin typeface="+mn-lt"/>
        <a:ea typeface="微软雅黑" pitchFamily="34" charset="-122"/>
        <a:cs typeface="+mn-cs"/>
      </a:defRPr>
    </a:lvl4pPr>
    <a:lvl5pPr marL="1371600" algn="l" defTabSz="685800" rtl="0" eaLnBrk="1" latinLnBrk="0" hangingPunct="1">
      <a:defRPr sz="900" kern="1200">
        <a:solidFill>
          <a:schemeClr val="tx1"/>
        </a:solidFill>
        <a:latin typeface="+mn-lt"/>
        <a:ea typeface="微软雅黑" pitchFamily="3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sym typeface="+mn-ea"/>
              </a:rPr>
              <a:t>尊敬的各位评委</a:t>
            </a:r>
            <a:r>
              <a:rPr lang="en-US" altLang="zh-CN" dirty="0">
                <a:sym typeface="+mn-ea"/>
              </a:rPr>
              <a:t>，</a:t>
            </a:r>
            <a:r>
              <a:rPr lang="zh-CN" altLang="en-US" dirty="0">
                <a:sym typeface="+mn-ea"/>
              </a:rPr>
              <a:t>各位同仁大家好</a:t>
            </a:r>
            <a:r>
              <a:rPr lang="en-US" altLang="zh-CN" dirty="0">
                <a:sym typeface="+mn-ea"/>
              </a:rPr>
              <a:t>，</a:t>
            </a:r>
            <a:r>
              <a:rPr lang="zh-CN" altLang="en-US" dirty="0">
                <a:sym typeface="+mn-ea"/>
              </a:rPr>
              <a:t>我是来自宜昌市局“烤谱”小组的余文杰</a:t>
            </a:r>
            <a:r>
              <a:rPr lang="en-US" altLang="zh-CN" dirty="0">
                <a:sym typeface="+mn-ea"/>
              </a:rPr>
              <a:t>，</a:t>
            </a:r>
            <a:r>
              <a:rPr lang="zh-CN" altLang="en-US" dirty="0">
                <a:sym typeface="+mn-ea"/>
              </a:rPr>
              <a:t>汇报的主题是</a:t>
            </a:r>
            <a:r>
              <a:rPr lang="en-US" b="1" kern="0" spc="250" dirty="0">
                <a:solidFill>
                  <a:srgbClr val="2F7A4F"/>
                </a:solidFill>
                <a:latin typeface="微软雅黑" pitchFamily="34" charset="0"/>
                <a:cs typeface="微软雅黑" pitchFamily="34" charset="-120"/>
                <a:sym typeface="+mn-ea"/>
              </a:rPr>
              <a:t>「3S共享烤房」——</a:t>
            </a:r>
            <a:r>
              <a:rPr lang="zh-CN" altLang="en-US" b="1" kern="0" spc="250" dirty="0">
                <a:solidFill>
                  <a:srgbClr val="2F7A4F"/>
                </a:solidFill>
                <a:latin typeface="微软雅黑" pitchFamily="34" charset="0"/>
                <a:cs typeface="微软雅黑" pitchFamily="34" charset="-120"/>
                <a:sym typeface="+mn-ea"/>
              </a:rPr>
              <a:t>智</a:t>
            </a:r>
            <a:r>
              <a:rPr lang="zh-CN" altLang="en-US" b="1" kern="0" spc="250" dirty="0">
                <a:solidFill>
                  <a:srgbClr val="173F2A"/>
                </a:solidFill>
                <a:latin typeface="微软雅黑" pitchFamily="34" charset="0"/>
                <a:cs typeface="微软雅黑" pitchFamily="34" charset="-120"/>
                <a:sym typeface="+mn-ea"/>
              </a:rPr>
              <a:t>享·智管·智投 数智解忧平台</a:t>
            </a:r>
            <a:r>
              <a:rPr lang="en-US" dirty="0">
                <a:sym typeface="+mn-ea"/>
              </a:rPr>
              <a:t>。</a:t>
            </a:r>
            <a:r>
              <a:rPr lang="zh-CN" altLang="en-US" dirty="0" smtClean="0">
                <a:solidFill>
                  <a:srgbClr val="FF0000"/>
                </a:solidFill>
                <a:sym typeface="+mn-ea"/>
              </a:rPr>
              <a:t>我们的</a:t>
            </a:r>
            <a:r>
              <a:rPr lang="zh-CN" altLang="en-US" dirty="0" smtClean="0">
                <a:solidFill>
                  <a:srgbClr val="FF0000"/>
                </a:solidFill>
                <a:sym typeface="+mn-ea"/>
              </a:rPr>
              <a:t>核心愿景是让每一座烤房都“在线”，都能共享</a:t>
            </a:r>
            <a:r>
              <a:rPr lang="en-US" altLang="zh-CN" dirty="0" smtClean="0">
                <a:solidFill>
                  <a:srgbClr val="FF0000"/>
                </a:solidFill>
                <a:sym typeface="+mn-ea"/>
              </a:rPr>
              <a:t>。</a:t>
            </a:r>
            <a:endParaRPr lang="en-US" altLang="zh-CN" dirty="0" smtClean="0">
              <a:solidFill>
                <a:srgbClr val="FF0000"/>
              </a:solidFill>
              <a:sym typeface="+mn-ea"/>
            </a:endParaRPr>
          </a:p>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请大家先观看一段视频</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烤房是烟叶烘烤季最关键的设施，但也是烟农最大的烦恼来源。</a:t>
            </a:r>
            <a:r>
              <a:rPr lang="zh-CN" altLang="en-US" dirty="0">
                <a:sym typeface="+mn-ea"/>
              </a:rPr>
              <a:t>我们</a:t>
            </a:r>
            <a:r>
              <a:rPr lang="zh-CN" altLang="en-US" dirty="0">
                <a:sym typeface="+mn-ea"/>
              </a:rPr>
              <a:t>梳理</a:t>
            </a:r>
            <a:r>
              <a:rPr lang="zh-CN" altLang="en-US" dirty="0">
                <a:sym typeface="+mn-ea"/>
              </a:rPr>
              <a:t>烟农心中的三大 “忧愁”。</a:t>
            </a:r>
            <a:r>
              <a:rPr lang="en-US" dirty="0">
                <a:sym typeface="+mn-ea"/>
              </a:rPr>
              <a:t>第一忧，想借借不到——高峰抢不到、问不到；第二忧，想修找不准——平时坏了该找谁、修到哪一步、修得对不对；第三忧，想问问不出——该修还是该建没人能反馈，公平和参与感都缺失。</a:t>
            </a:r>
            <a:endParaRPr lang="en-US" dirty="0"/>
          </a:p>
          <a:p>
            <a:endParaRPr lang="zh-CN" altLang="en-US" dirty="0"/>
          </a:p>
          <a:p>
            <a:endParaRPr lang="zh-CN" altLang="en-US" dirty="0">
              <a:sym typeface="+mn-ea"/>
            </a:endParaRPr>
          </a:p>
          <a:p>
            <a:endParaRPr lang="en-US" altLang="zh-CN">
              <a:solidFill>
                <a:schemeClr val="bg1"/>
              </a:solidFill>
              <a:latin typeface="黑体" charset="0"/>
              <a:ea typeface="黑体" charset="0"/>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0" indent="0">
              <a:lnSpc>
                <a:spcPct val="110000"/>
              </a:lnSpc>
              <a:buNone/>
            </a:pPr>
            <a:r>
              <a:rPr lang="zh-CN" altLang="en-US" dirty="0">
                <a:sym typeface="+mn-ea"/>
              </a:rPr>
              <a:t>烟农忧虑背后反映的是烤房管理的三大痛点。</a:t>
            </a:r>
            <a:r>
              <a:rPr lang="zh-CN" altLang="en-US" dirty="0">
                <a:sym typeface="+mn-ea"/>
              </a:rPr>
              <a:t>“想借借不到”的背后，是资源不互通。 烤房信息没有数字化，供需匹配没有智能化，资源自然就“卡”在那里。</a:t>
            </a:r>
            <a:endParaRPr lang="en-US" altLang="zh-CN" dirty="0"/>
          </a:p>
          <a:p>
            <a:r>
              <a:rPr lang="zh-CN" altLang="en-US" dirty="0">
                <a:sym typeface="+mn-ea"/>
              </a:rPr>
              <a:t>“想修找不准”的背后，是管护不精准。 没有实时监测、没有健康评估、没有主动预警，维修就只能“亡羊补牢”。</a:t>
            </a:r>
            <a:endParaRPr lang="en-US" altLang="zh-CN" dirty="0"/>
          </a:p>
          <a:p>
            <a:r>
              <a:rPr lang="zh-CN" altLang="en-US" dirty="0">
                <a:sym typeface="+mn-ea"/>
              </a:rPr>
              <a:t>“想问问不出”的背后，是决策不科学。 没有数据积累、没有模型支撑、没有闭环反馈，决策就只能靠“拍脑袋”。</a:t>
            </a:r>
            <a:endParaRPr lang="en-US" altLang="zh-CN" dirty="0"/>
          </a:p>
          <a:p>
            <a:r>
              <a:rPr lang="zh-CN" altLang="en-US" dirty="0">
                <a:sym typeface="+mn-ea"/>
              </a:rPr>
              <a:t>归根到底指向同一个命题</a:t>
            </a:r>
            <a:r>
              <a:rPr lang="en-US" altLang="zh-CN" dirty="0">
                <a:sym typeface="+mn-ea"/>
              </a:rPr>
              <a:t>，</a:t>
            </a:r>
            <a:r>
              <a:rPr lang="zh-CN" altLang="en-US" dirty="0">
                <a:sym typeface="+mn-ea"/>
              </a:rPr>
              <a:t>如何用数智化手段，把烤房管好、用好、投好</a:t>
            </a:r>
            <a:r>
              <a:rPr lang="en-US" altLang="zh-CN" dirty="0">
                <a:sym typeface="+mn-ea"/>
              </a:rPr>
              <a:t>，</a:t>
            </a:r>
            <a:r>
              <a:rPr lang="en-US" kern="0" spc="50" dirty="0">
                <a:solidFill>
                  <a:srgbClr val="FFFFFF"/>
                </a:solidFill>
                <a:latin typeface="微软雅黑" pitchFamily="34" charset="0"/>
                <a:cs typeface="微软雅黑" pitchFamily="34" charset="-120"/>
                <a:sym typeface="+mn-ea"/>
              </a:rPr>
              <a:t>提高烤房利用率。</a:t>
            </a:r>
            <a:r>
              <a:rPr lang="zh-CN" altLang="en-US" dirty="0">
                <a:sym typeface="+mn-ea"/>
              </a:rPr>
              <a:t>所以我们的核心原则是最大化盘活存量烤房，实在共享不了，我们再谈新建。</a:t>
            </a:r>
            <a:endParaRPr lang="zh-CN" altLang="en-US" dirty="0"/>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我们提出共享烤房以及其</a:t>
            </a:r>
            <a:r>
              <a:rPr lang="en-US" altLang="zh-CN" dirty="0">
                <a:sym typeface="+mn-ea"/>
              </a:rPr>
              <a:t>3S</a:t>
            </a:r>
            <a:r>
              <a:rPr lang="zh-CN" altLang="en-US" dirty="0">
                <a:sym typeface="+mn-ea"/>
              </a:rPr>
              <a:t>实现路径</a:t>
            </a:r>
            <a:r>
              <a:rPr lang="en-US" altLang="zh-CN" dirty="0">
                <a:sym typeface="+mn-ea"/>
              </a:rPr>
              <a:t>。</a:t>
            </a:r>
            <a:r>
              <a:rPr lang="zh-CN" altLang="en-US" dirty="0">
                <a:sym typeface="+mn-ea"/>
              </a:rPr>
              <a:t>共享烤房，</a:t>
            </a:r>
            <a:r>
              <a:rPr lang="zh-CN" altLang="en-US" dirty="0">
                <a:solidFill>
                  <a:srgbClr val="33423A"/>
                </a:solidFill>
                <a:latin typeface="微软雅黑" pitchFamily="34" charset="0"/>
                <a:ea typeface="微软雅黑" pitchFamily="34" charset="0"/>
                <a:cs typeface="微软雅黑" pitchFamily="34" charset="0"/>
                <a:sym typeface="+mn-ea"/>
              </a:rPr>
              <a:t>依托物联网、</a:t>
            </a:r>
            <a:r>
              <a:rPr lang="en-US" altLang="zh-CN" dirty="0">
                <a:solidFill>
                  <a:srgbClr val="33423A"/>
                </a:solidFill>
                <a:latin typeface="微软雅黑" pitchFamily="34" charset="0"/>
                <a:ea typeface="微软雅黑" pitchFamily="34" charset="0"/>
                <a:cs typeface="微软雅黑" pitchFamily="34" charset="0"/>
                <a:sym typeface="+mn-ea"/>
              </a:rPr>
              <a:t>AI </a:t>
            </a:r>
            <a:r>
              <a:rPr lang="zh-CN" altLang="en-US" dirty="0">
                <a:solidFill>
                  <a:srgbClr val="33423A"/>
                </a:solidFill>
                <a:latin typeface="微软雅黑" pitchFamily="34" charset="0"/>
                <a:ea typeface="微软雅黑" pitchFamily="34" charset="0"/>
                <a:cs typeface="微软雅黑" pitchFamily="34" charset="0"/>
                <a:sym typeface="+mn-ea"/>
              </a:rPr>
              <a:t>算法整合分散烘烤资源，从动态调度到智能管护到规划投建，实现传统烤房管理模式数智化升级</a:t>
            </a:r>
            <a:r>
              <a:rPr lang="en-US" altLang="zh-CN" dirty="0">
                <a:solidFill>
                  <a:srgbClr val="33423A"/>
                </a:solidFill>
                <a:latin typeface="微软雅黑" pitchFamily="34" charset="0"/>
                <a:ea typeface="微软雅黑" pitchFamily="34" charset="0"/>
                <a:cs typeface="微软雅黑" pitchFamily="34" charset="0"/>
                <a:sym typeface="+mn-ea"/>
              </a:rPr>
              <a:t>。</a:t>
            </a:r>
            <a:endParaRPr lang="en-US" dirty="0">
              <a:sym typeface="+mn-ea"/>
            </a:endParaRPr>
          </a:p>
          <a:p>
            <a:r>
              <a:rPr lang="zh-CN" altLang="en-US" dirty="0">
                <a:sym typeface="+mn-ea"/>
              </a:rPr>
              <a:t>第一个</a:t>
            </a:r>
            <a:r>
              <a:rPr lang="en-US" altLang="zh-CN" dirty="0">
                <a:sym typeface="+mn-ea"/>
              </a:rPr>
              <a:t>S，</a:t>
            </a:r>
            <a:r>
              <a:rPr lang="en-US" dirty="0">
                <a:sym typeface="+mn-ea"/>
              </a:rPr>
              <a:t>用智享</a:t>
            </a:r>
            <a:r>
              <a:rPr lang="zh-CN" altLang="en-US" dirty="0">
                <a:sym typeface="+mn-ea"/>
              </a:rPr>
              <a:t>来解决</a:t>
            </a:r>
            <a:r>
              <a:rPr lang="en-US" altLang="zh-CN" dirty="0">
                <a:sym typeface="+mn-ea"/>
              </a:rPr>
              <a:t> </a:t>
            </a:r>
            <a:r>
              <a:rPr lang="en-US" dirty="0">
                <a:sym typeface="+mn-ea"/>
              </a:rPr>
              <a:t>资源不互通</a:t>
            </a:r>
            <a:r>
              <a:rPr lang="zh-CN" altLang="en-US" dirty="0">
                <a:sym typeface="+mn-ea"/>
              </a:rPr>
              <a:t>的问题</a:t>
            </a:r>
            <a:r>
              <a:rPr lang="en-US" altLang="zh-CN" dirty="0">
                <a:sym typeface="+mn-ea"/>
              </a:rPr>
              <a:t>，</a:t>
            </a:r>
            <a:r>
              <a:rPr lang="zh-CN" altLang="en-US" dirty="0">
                <a:sym typeface="+mn-ea"/>
              </a:rPr>
              <a:t>把烤房资源共享起来</a:t>
            </a:r>
            <a:r>
              <a:rPr lang="en-US" altLang="zh-CN" dirty="0">
                <a:sym typeface="+mn-ea"/>
              </a:rPr>
              <a:t>。</a:t>
            </a:r>
            <a:endParaRPr lang="en-US" dirty="0"/>
          </a:p>
          <a:p>
            <a:r>
              <a:rPr lang="zh-CN" altLang="en-US" dirty="0">
                <a:sym typeface="+mn-ea"/>
              </a:rPr>
              <a:t>第二个</a:t>
            </a:r>
            <a:r>
              <a:rPr lang="en-US" altLang="zh-CN" dirty="0">
                <a:sym typeface="+mn-ea"/>
              </a:rPr>
              <a:t>S，</a:t>
            </a:r>
            <a:r>
              <a:rPr lang="zh-CN" altLang="en-US" dirty="0">
                <a:sym typeface="+mn-ea"/>
              </a:rPr>
              <a:t>用</a:t>
            </a:r>
            <a:r>
              <a:rPr lang="en-US" dirty="0">
                <a:sym typeface="+mn-ea"/>
              </a:rPr>
              <a:t>智管</a:t>
            </a:r>
            <a:r>
              <a:rPr lang="zh-CN" altLang="en-US" dirty="0">
                <a:sym typeface="+mn-ea"/>
              </a:rPr>
              <a:t>来解决</a:t>
            </a:r>
            <a:r>
              <a:rPr lang="en-US" altLang="zh-CN" dirty="0">
                <a:sym typeface="+mn-ea"/>
              </a:rPr>
              <a:t> </a:t>
            </a:r>
            <a:r>
              <a:rPr lang="en-US" dirty="0">
                <a:sym typeface="+mn-ea"/>
              </a:rPr>
              <a:t>管护不精准</a:t>
            </a:r>
            <a:r>
              <a:rPr lang="zh-CN" altLang="en-US" dirty="0">
                <a:sym typeface="+mn-ea"/>
              </a:rPr>
              <a:t>的问题</a:t>
            </a:r>
            <a:r>
              <a:rPr lang="en-US" altLang="zh-CN" dirty="0">
                <a:sym typeface="+mn-ea"/>
              </a:rPr>
              <a:t>，</a:t>
            </a:r>
            <a:r>
              <a:rPr lang="en-US" b="1" dirty="0">
                <a:solidFill>
                  <a:srgbClr val="2F7A4F"/>
                </a:solidFill>
                <a:latin typeface="微软雅黑" pitchFamily="34" charset="0"/>
                <a:cs typeface="微软雅黑" pitchFamily="34" charset="-120"/>
                <a:sym typeface="+mn-ea"/>
              </a:rPr>
              <a:t>把共享的烤房 “维护好”。</a:t>
            </a:r>
            <a:endParaRPr lang="en-US" dirty="0"/>
          </a:p>
          <a:p>
            <a:r>
              <a:rPr lang="zh-CN" altLang="en-US" dirty="0">
                <a:sym typeface="+mn-ea"/>
              </a:rPr>
              <a:t>第三个</a:t>
            </a:r>
            <a:r>
              <a:rPr lang="en-US" altLang="zh-CN" dirty="0">
                <a:sym typeface="+mn-ea"/>
              </a:rPr>
              <a:t>S，</a:t>
            </a:r>
            <a:r>
              <a:rPr lang="zh-CN" altLang="en-US" dirty="0">
                <a:sym typeface="+mn-ea"/>
              </a:rPr>
              <a:t>用</a:t>
            </a:r>
            <a:r>
              <a:rPr lang="en-US" dirty="0">
                <a:sym typeface="+mn-ea"/>
              </a:rPr>
              <a:t>智投来</a:t>
            </a:r>
            <a:r>
              <a:rPr lang="zh-CN" altLang="en-US" dirty="0">
                <a:sym typeface="+mn-ea"/>
              </a:rPr>
              <a:t>解决</a:t>
            </a:r>
            <a:r>
              <a:rPr lang="en-US" altLang="zh-CN" dirty="0">
                <a:sym typeface="+mn-ea"/>
              </a:rPr>
              <a:t> </a:t>
            </a:r>
            <a:r>
              <a:rPr lang="zh-CN" altLang="en-US" dirty="0">
                <a:sym typeface="+mn-ea"/>
              </a:rPr>
              <a:t>决策不科学的问题</a:t>
            </a:r>
            <a:r>
              <a:rPr lang="en-US" altLang="zh-CN" dirty="0">
                <a:sym typeface="+mn-ea"/>
              </a:rPr>
              <a:t>，</a:t>
            </a:r>
            <a:r>
              <a:rPr lang="en-US" b="1" dirty="0">
                <a:solidFill>
                  <a:srgbClr val="2F7A4F"/>
                </a:solidFill>
                <a:latin typeface="微软雅黑" pitchFamily="34" charset="0"/>
                <a:cs typeface="微软雅黑" pitchFamily="34" charset="-120"/>
                <a:sym typeface="+mn-ea"/>
              </a:rPr>
              <a:t>把共享烤房的池子 “建扎实”。</a:t>
            </a:r>
            <a:endParaRPr lang="en-US" dirty="0"/>
          </a:p>
          <a:p>
            <a:r>
              <a:rPr lang="en-US" dirty="0">
                <a:sym typeface="+mn-ea"/>
              </a:rPr>
              <a:t>共享烤房，</a:t>
            </a:r>
            <a:r>
              <a:rPr lang="zh-CN" altLang="en-US" dirty="0">
                <a:sym typeface="+mn-ea"/>
              </a:rPr>
              <a:t>在于</a:t>
            </a:r>
            <a:r>
              <a:rPr lang="en-US" dirty="0">
                <a:sym typeface="+mn-ea"/>
              </a:rPr>
              <a:t>让烟农的顾虑有回应。</a:t>
            </a:r>
            <a:endParaRPr lang="en-US" dirty="0"/>
          </a:p>
          <a:p>
            <a:endParaRPr lang="zh-CN" altLang="en-US" dirty="0"/>
          </a:p>
          <a:p>
            <a:endParaRPr lang="zh-CN" altLang="en-US" dirty="0"/>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这张</a:t>
            </a:r>
            <a:r>
              <a:rPr lang="zh-CN" altLang="en-US" dirty="0">
                <a:sym typeface="+mn-ea"/>
              </a:rPr>
              <a:t>是我们共享烤房的</a:t>
            </a:r>
            <a:r>
              <a:rPr lang="en-US" dirty="0">
                <a:sym typeface="+mn-ea"/>
              </a:rPr>
              <a:t>蓝图，</a:t>
            </a:r>
            <a:r>
              <a:rPr lang="zh-CN" altLang="en-US" dirty="0">
                <a:sym typeface="+mn-ea"/>
              </a:rPr>
              <a:t>我们从下往上看</a:t>
            </a:r>
            <a:r>
              <a:rPr lang="en-US" altLang="zh-CN" dirty="0">
                <a:sym typeface="+mn-ea"/>
              </a:rPr>
              <a:t>，</a:t>
            </a:r>
            <a:r>
              <a:rPr lang="zh-CN" altLang="en-US" dirty="0">
                <a:sym typeface="+mn-ea"/>
              </a:rPr>
              <a:t>采集层</a:t>
            </a:r>
            <a:r>
              <a:rPr lang="zh-CN" altLang="en-US" dirty="0" smtClean="0">
                <a:sym typeface="+mn-ea"/>
              </a:rPr>
              <a:t>运用低代码平台构建</a:t>
            </a:r>
            <a:r>
              <a:rPr lang="en-US" altLang="zh-CN" dirty="0" smtClean="0">
                <a:sym typeface="+mn-ea"/>
              </a:rPr>
              <a:t>22</a:t>
            </a:r>
            <a:r>
              <a:rPr lang="zh-CN" altLang="en-US" dirty="0" smtClean="0">
                <a:sym typeface="+mn-ea"/>
              </a:rPr>
              <a:t>个应用，获取</a:t>
            </a:r>
            <a:r>
              <a:rPr lang="zh-CN" altLang="en-US" dirty="0" smtClean="0">
                <a:sym typeface="+mn-ea"/>
              </a:rPr>
              <a:t>物联网传感器数据、</a:t>
            </a:r>
            <a:r>
              <a:rPr lang="zh-CN" altLang="en-US" dirty="0" smtClean="0">
                <a:sym typeface="+mn-ea"/>
              </a:rPr>
              <a:t>采集秭归县 7 个乡镇、2442 座烤房档案、维修记录等。</a:t>
            </a:r>
            <a:r>
              <a:rPr lang="en-US" altLang="zh-CN" dirty="0" smtClean="0">
                <a:sym typeface="+mn-ea"/>
              </a:rPr>
              <a:t>   </a:t>
            </a:r>
            <a:r>
              <a:rPr lang="zh-CN" altLang="en-US" dirty="0" smtClean="0">
                <a:sym typeface="+mn-ea"/>
              </a:rPr>
              <a:t>中间是核心业务层，也是我们平台的大脑，沉淀三套自研模型：</a:t>
            </a:r>
            <a:endParaRPr lang="zh-CN" altLang="en-US" dirty="0" smtClean="0"/>
          </a:p>
          <a:p>
            <a:r>
              <a:rPr lang="zh-CN" altLang="en-US" dirty="0" smtClean="0">
                <a:sym typeface="+mn-ea"/>
              </a:rPr>
              <a:t>烤房调剂分配模型，解决烤房想借借不到的问题</a:t>
            </a:r>
            <a:r>
              <a:rPr lang="en-US" altLang="zh-CN" dirty="0" smtClean="0">
                <a:sym typeface="+mn-ea"/>
              </a:rPr>
              <a:t>，</a:t>
            </a:r>
            <a:r>
              <a:rPr lang="zh-CN" altLang="en-US" dirty="0" smtClean="0">
                <a:sym typeface="+mn-ea"/>
              </a:rPr>
              <a:t>可以常规分配</a:t>
            </a:r>
            <a:r>
              <a:rPr lang="en-US" altLang="zh-CN" dirty="0" smtClean="0">
                <a:sym typeface="+mn-ea"/>
              </a:rPr>
              <a:t>，</a:t>
            </a:r>
            <a:r>
              <a:rPr lang="zh-CN" altLang="en-US" dirty="0" smtClean="0">
                <a:sym typeface="+mn-ea"/>
              </a:rPr>
              <a:t>再加上紧急调剂</a:t>
            </a:r>
            <a:r>
              <a:rPr lang="en-US" altLang="zh-CN" dirty="0" smtClean="0">
                <a:sym typeface="+mn-ea"/>
              </a:rPr>
              <a:t>，</a:t>
            </a:r>
            <a:r>
              <a:rPr lang="zh-CN" altLang="en-US" dirty="0" smtClean="0">
                <a:sym typeface="+mn-ea"/>
              </a:rPr>
              <a:t>按照使用状态容量等在小程序向烟农展示推荐</a:t>
            </a:r>
            <a:r>
              <a:rPr lang="en-US" altLang="zh-CN" dirty="0" smtClean="0">
                <a:sym typeface="+mn-ea"/>
              </a:rPr>
              <a:t>，</a:t>
            </a:r>
            <a:r>
              <a:rPr lang="zh-CN" altLang="en-US" dirty="0" smtClean="0">
                <a:sym typeface="+mn-ea"/>
              </a:rPr>
              <a:t>秒级匹配</a:t>
            </a:r>
            <a:r>
              <a:rPr lang="en-US" altLang="zh-CN" dirty="0" smtClean="0">
                <a:sym typeface="+mn-ea"/>
              </a:rPr>
              <a:t>。    </a:t>
            </a:r>
            <a:r>
              <a:rPr lang="zh-CN" altLang="en-US" dirty="0" smtClean="0">
                <a:sym typeface="+mn-ea"/>
              </a:rPr>
              <a:t>烤房维护模型</a:t>
            </a:r>
            <a:r>
              <a:rPr lang="en-US" altLang="zh-CN" dirty="0" smtClean="0">
                <a:sym typeface="+mn-ea"/>
              </a:rPr>
              <a:t>，</a:t>
            </a:r>
            <a:r>
              <a:rPr lang="zh-CN" altLang="en-US" dirty="0" smtClean="0">
                <a:sym typeface="+mn-ea"/>
              </a:rPr>
              <a:t>支持烟农一键报修</a:t>
            </a:r>
            <a:r>
              <a:rPr lang="en-US" altLang="zh-CN" dirty="0" smtClean="0">
                <a:sym typeface="+mn-ea"/>
              </a:rPr>
              <a:t>，</a:t>
            </a:r>
            <a:r>
              <a:rPr lang="zh-CN" altLang="en-US" dirty="0" smtClean="0">
                <a:sym typeface="+mn-ea"/>
              </a:rPr>
              <a:t>迅速匹配维修人员和维修物资</a:t>
            </a:r>
            <a:r>
              <a:rPr lang="en-US" altLang="zh-CN" dirty="0" smtClean="0">
                <a:sym typeface="+mn-ea"/>
              </a:rPr>
              <a:t>，</a:t>
            </a:r>
            <a:r>
              <a:rPr lang="zh-CN" altLang="en-US" dirty="0" smtClean="0">
                <a:sym typeface="+mn-ea"/>
              </a:rPr>
              <a:t>实时查看维修进度</a:t>
            </a:r>
            <a:r>
              <a:rPr lang="en-US" altLang="zh-CN" dirty="0" smtClean="0">
                <a:sym typeface="+mn-ea"/>
              </a:rPr>
              <a:t>；</a:t>
            </a:r>
            <a:r>
              <a:rPr lang="zh-CN" altLang="en-US" dirty="0" smtClean="0">
                <a:sym typeface="+mn-ea"/>
              </a:rPr>
              <a:t>常规根据健康分和预测的剩余寿命推送维修优先级和维修方案</a:t>
            </a:r>
            <a:r>
              <a:rPr lang="en-US" altLang="zh-CN" dirty="0" smtClean="0">
                <a:sym typeface="+mn-ea"/>
              </a:rPr>
              <a:t>，</a:t>
            </a:r>
            <a:r>
              <a:rPr lang="zh-CN" altLang="en-US" dirty="0" smtClean="0">
                <a:sym typeface="+mn-ea"/>
              </a:rPr>
              <a:t>进行管护</a:t>
            </a:r>
            <a:r>
              <a:rPr lang="en-US" altLang="zh-CN" dirty="0" smtClean="0">
                <a:sym typeface="+mn-ea"/>
              </a:rPr>
              <a:t>；   </a:t>
            </a:r>
            <a:r>
              <a:rPr lang="zh-CN" altLang="en-US" dirty="0" smtClean="0">
                <a:sym typeface="+mn-ea"/>
              </a:rPr>
              <a:t>烤房投建模型，分析维修的资金投入</a:t>
            </a:r>
            <a:r>
              <a:rPr lang="en-US" altLang="zh-CN" dirty="0" smtClean="0">
                <a:sym typeface="+mn-ea"/>
              </a:rPr>
              <a:t>，</a:t>
            </a:r>
            <a:r>
              <a:rPr lang="zh-CN" altLang="en-US" dirty="0" smtClean="0">
                <a:sym typeface="+mn-ea"/>
              </a:rPr>
              <a:t>生成报告建议</a:t>
            </a:r>
            <a:r>
              <a:rPr lang="en-US" altLang="zh-CN" dirty="0" smtClean="0">
                <a:sym typeface="+mn-ea"/>
              </a:rPr>
              <a:t>，</a:t>
            </a:r>
            <a:r>
              <a:rPr lang="zh-CN" altLang="en-US" dirty="0" smtClean="0">
                <a:sym typeface="+mn-ea"/>
              </a:rPr>
              <a:t>以及使用烤房负载度进行沙盘推演确定新建烤房的数量位置生成方案</a:t>
            </a:r>
            <a:r>
              <a:rPr lang="en-US" altLang="zh-CN" dirty="0" smtClean="0">
                <a:sym typeface="+mn-ea"/>
              </a:rPr>
              <a:t>。</a:t>
            </a:r>
            <a:endParaRPr lang="zh-CN" altLang="en-US" dirty="0" smtClean="0"/>
          </a:p>
          <a:p>
            <a:r>
              <a:rPr lang="zh-CN" altLang="en-US" dirty="0" smtClean="0">
                <a:sym typeface="+mn-ea"/>
              </a:rPr>
              <a:t>面向烟农，做微信小程序；面向合作社技术员，提供 </a:t>
            </a:r>
            <a:r>
              <a:rPr lang="en-US" altLang="zh-CN" dirty="0" smtClean="0">
                <a:sym typeface="+mn-ea"/>
              </a:rPr>
              <a:t>Web </a:t>
            </a:r>
            <a:r>
              <a:rPr lang="zh-CN" altLang="en-US" dirty="0" smtClean="0">
                <a:sym typeface="+mn-ea"/>
              </a:rPr>
              <a:t>端工单、</a:t>
            </a:r>
            <a:r>
              <a:rPr lang="en-US" altLang="zh-CN" dirty="0" smtClean="0">
                <a:sym typeface="+mn-ea"/>
              </a:rPr>
              <a:t>AI </a:t>
            </a:r>
            <a:r>
              <a:rPr lang="zh-CN" altLang="en-US" dirty="0" smtClean="0">
                <a:sym typeface="+mn-ea"/>
              </a:rPr>
              <a:t>助手；面向管理者，配套 </a:t>
            </a:r>
            <a:r>
              <a:rPr lang="en-US" altLang="zh-CN" dirty="0" smtClean="0">
                <a:sym typeface="+mn-ea"/>
              </a:rPr>
              <a:t>BI </a:t>
            </a:r>
            <a:r>
              <a:rPr lang="zh-CN" altLang="en-US" dirty="0" smtClean="0">
                <a:sym typeface="+mn-ea"/>
              </a:rPr>
              <a:t>综合看板。未来我们还将持续迭代，实现跨域共享、数字孪生、</a:t>
            </a:r>
            <a:r>
              <a:rPr lang="en-US" altLang="zh-CN" dirty="0" smtClean="0">
                <a:sym typeface="+mn-ea"/>
              </a:rPr>
              <a:t>AI </a:t>
            </a:r>
            <a:r>
              <a:rPr lang="zh-CN" altLang="en-US" dirty="0" smtClean="0">
                <a:sym typeface="+mn-ea"/>
              </a:rPr>
              <a:t>能力升级</a:t>
            </a:r>
            <a:r>
              <a:rPr lang="en-US" altLang="zh-CN" dirty="0" smtClean="0">
                <a:sym typeface="+mn-ea"/>
              </a:rPr>
              <a:t>。</a:t>
            </a:r>
            <a:r>
              <a:rPr lang="zh-CN" altLang="en-US" dirty="0" smtClean="0">
                <a:sym typeface="+mn-ea"/>
              </a:rPr>
              <a:t>从底层数据，到算法大脑，再到前端用户，完整闭环就搭建完成。</a:t>
            </a:r>
            <a:endParaRPr lang="zh-CN" altLang="en-US" dirty="0" smtClean="0"/>
          </a:p>
          <a:p>
            <a:endParaRPr lang="en-US" altLang="zh-CN" dirty="0" smtClean="0"/>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第一个</a:t>
            </a:r>
            <a:r>
              <a:rPr lang="en-US" altLang="zh-CN" dirty="0">
                <a:sym typeface="+mn-ea"/>
              </a:rPr>
              <a:t>S，</a:t>
            </a:r>
            <a:r>
              <a:rPr lang="zh-CN" altLang="en-US" dirty="0">
                <a:sym typeface="+mn-ea"/>
              </a:rPr>
              <a:t>智享</a:t>
            </a:r>
            <a:r>
              <a:rPr lang="en-US" altLang="zh-CN" dirty="0">
                <a:sym typeface="+mn-ea"/>
              </a:rPr>
              <a:t>，</a:t>
            </a:r>
            <a:r>
              <a:rPr lang="zh-CN" altLang="en-US" dirty="0">
                <a:sym typeface="+mn-ea"/>
              </a:rPr>
              <a:t>是为烟农迅速推荐合适的可以调剂的烤房</a:t>
            </a:r>
            <a:r>
              <a:rPr lang="en-US" altLang="zh-CN" dirty="0">
                <a:sym typeface="+mn-ea"/>
              </a:rPr>
              <a:t>。</a:t>
            </a:r>
            <a:endParaRPr lang="en-US" altLang="zh-CN" dirty="0"/>
          </a:p>
          <a:p>
            <a:r>
              <a:rPr lang="zh-CN" altLang="en-US" dirty="0">
                <a:sym typeface="+mn-ea"/>
              </a:rPr>
              <a:t>通过实时获取</a:t>
            </a:r>
            <a:r>
              <a:rPr lang="zh-CN" altLang="en-US" dirty="0">
                <a:sym typeface="+mn-ea"/>
              </a:rPr>
              <a:t>烟农的位置等等</a:t>
            </a:r>
            <a:r>
              <a:rPr lang="en-US" altLang="zh-CN" dirty="0">
                <a:sym typeface="+mn-ea"/>
              </a:rPr>
              <a:t>，</a:t>
            </a:r>
            <a:endParaRPr lang="en-US" altLang="zh-CN" dirty="0">
              <a:sym typeface="+mn-ea"/>
            </a:endParaRPr>
          </a:p>
          <a:p>
            <a:r>
              <a:rPr lang="zh-CN" altLang="en-US" dirty="0">
                <a:sym typeface="+mn-ea"/>
              </a:rPr>
              <a:t>系统自动计算</a:t>
            </a:r>
            <a:r>
              <a:rPr lang="zh-CN" altLang="en-US" dirty="0">
                <a:sym typeface="+mn-ea"/>
              </a:rPr>
              <a:t>曼哈顿距离，多目标约束优化匹配条件综合算分，同时增加防重机制和自动释放</a:t>
            </a:r>
            <a:r>
              <a:rPr lang="en-US" altLang="zh-CN" dirty="0">
                <a:sym typeface="+mn-ea"/>
              </a:rPr>
              <a:t>，</a:t>
            </a:r>
            <a:r>
              <a:rPr lang="zh-CN" altLang="en-US" dirty="0">
                <a:sym typeface="+mn-ea"/>
              </a:rPr>
              <a:t>用逻辑回归确认分配</a:t>
            </a:r>
            <a:r>
              <a:rPr lang="en-US" altLang="zh-CN" dirty="0">
                <a:sym typeface="+mn-ea"/>
              </a:rPr>
              <a:t>。</a:t>
            </a:r>
            <a:endParaRPr lang="en-US" altLang="zh-CN" dirty="0"/>
          </a:p>
          <a:p>
            <a:r>
              <a:rPr lang="zh-CN" altLang="en-US" dirty="0">
                <a:sym typeface="+mn-ea"/>
              </a:rPr>
              <a:t>最终秒级展示推荐的烤房列表</a:t>
            </a:r>
            <a:r>
              <a:rPr lang="en-US" altLang="zh-CN" dirty="0">
                <a:sym typeface="+mn-ea"/>
              </a:rPr>
              <a:t>，</a:t>
            </a:r>
            <a:r>
              <a:rPr lang="zh-CN" altLang="en-US" dirty="0">
                <a:sym typeface="+mn-ea"/>
              </a:rPr>
              <a:t>全程留痕、可追溯</a:t>
            </a:r>
            <a:endParaRPr lang="zh-CN" altLang="en-US" dirty="0"/>
          </a:p>
          <a:p>
            <a:endParaRPr lang="zh-CN" altLang="en-US" dirty="0"/>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a:t>
            </a:r>
            <a:r>
              <a:rPr lang="en-US" altLang="zh-CN"/>
              <a:t>S，</a:t>
            </a:r>
            <a:r>
              <a:rPr lang="zh-CN" altLang="en-US"/>
              <a:t>从过去的逐户询问到现在的一键预约秒级匹配</a:t>
            </a:r>
            <a:r>
              <a:rPr lang="en-US" altLang="zh-CN"/>
              <a:t>，</a:t>
            </a:r>
            <a:r>
              <a:rPr lang="zh-CN" altLang="en-US"/>
              <a:t>匹配成功率大于</a:t>
            </a:r>
            <a:r>
              <a:rPr lang="en-US" altLang="zh-CN"/>
              <a:t>95%，</a:t>
            </a:r>
            <a:r>
              <a:rPr lang="zh-CN" altLang="en-US"/>
              <a:t>烤房年闲置率下降约</a:t>
            </a:r>
            <a:r>
              <a:rPr lang="en-US" altLang="zh-CN"/>
              <a:t>40</a:t>
            </a:r>
            <a:r>
              <a:rPr lang="zh-CN" altLang="en-US"/>
              <a:t>个百分点</a:t>
            </a:r>
            <a:r>
              <a:rPr lang="en-US" altLang="zh-CN"/>
              <a:t>，</a:t>
            </a:r>
            <a:r>
              <a:rPr lang="zh-CN" altLang="en-US"/>
              <a:t>已成功调剂</a:t>
            </a:r>
            <a:r>
              <a:rPr lang="en-US" altLang="zh-CN"/>
              <a:t>48</a:t>
            </a:r>
            <a:r>
              <a:rPr lang="zh-CN" altLang="en-US"/>
              <a:t>次</a:t>
            </a:r>
            <a:r>
              <a:rPr lang="en-US" altLang="zh-CN"/>
              <a:t>。</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第二个</a:t>
            </a:r>
            <a:r>
              <a:rPr lang="en-US" altLang="zh-CN" dirty="0">
                <a:sym typeface="+mn-ea"/>
              </a:rPr>
              <a:t>S，</a:t>
            </a:r>
            <a:r>
              <a:rPr lang="zh-CN" altLang="en-US" dirty="0">
                <a:sym typeface="+mn-ea"/>
              </a:rPr>
              <a:t>智管</a:t>
            </a:r>
            <a:r>
              <a:rPr lang="en-US" altLang="zh-CN" dirty="0">
                <a:sym typeface="+mn-ea"/>
              </a:rPr>
              <a:t>，</a:t>
            </a:r>
            <a:r>
              <a:rPr lang="zh-CN" altLang="en-US" dirty="0">
                <a:sym typeface="+mn-ea"/>
              </a:rPr>
              <a:t>是为合作社或技术员提供报修管理和常规巡检的通道</a:t>
            </a:r>
            <a:r>
              <a:rPr lang="en-US" altLang="zh-CN" dirty="0">
                <a:sym typeface="+mn-ea"/>
              </a:rPr>
              <a:t>。</a:t>
            </a:r>
            <a:endParaRPr lang="en-US" altLang="zh-CN" dirty="0">
              <a:sym typeface="+mn-ea"/>
            </a:endParaRPr>
          </a:p>
          <a:p>
            <a:r>
              <a:rPr lang="zh-CN" altLang="en-US" dirty="0">
                <a:sym typeface="+mn-ea"/>
              </a:rPr>
              <a:t>我们不再等烤房彻底坏掉再抢修</a:t>
            </a:r>
            <a:r>
              <a:rPr lang="en-US" altLang="zh-CN" dirty="0">
                <a:sym typeface="+mn-ea"/>
              </a:rPr>
              <a:t>，</a:t>
            </a:r>
            <a:r>
              <a:rPr lang="zh-CN" altLang="en-US" dirty="0">
                <a:sym typeface="+mn-ea"/>
              </a:rPr>
              <a:t>而是支持合作社技术员日常巡检</a:t>
            </a:r>
            <a:r>
              <a:rPr lang="en-US" altLang="zh-CN" dirty="0">
                <a:sym typeface="+mn-ea"/>
              </a:rPr>
              <a:t>，</a:t>
            </a:r>
            <a:r>
              <a:rPr lang="zh-CN" altLang="en-US" dirty="0">
                <a:sym typeface="+mn-ea"/>
              </a:rPr>
              <a:t>根据系统计算的出现健康预警的烤房和具体部件</a:t>
            </a:r>
            <a:r>
              <a:rPr lang="en-US" altLang="zh-CN" dirty="0">
                <a:sym typeface="+mn-ea"/>
              </a:rPr>
              <a:t>，</a:t>
            </a:r>
            <a:r>
              <a:rPr lang="zh-CN" altLang="en-US" dirty="0">
                <a:sym typeface="+mn-ea"/>
              </a:rPr>
              <a:t>给出维修优先级等方案</a:t>
            </a:r>
            <a:r>
              <a:rPr lang="en-US" altLang="zh-CN" dirty="0">
                <a:sym typeface="+mn-ea"/>
              </a:rPr>
              <a:t>，</a:t>
            </a:r>
            <a:r>
              <a:rPr lang="zh-CN" altLang="en-US" dirty="0">
                <a:sym typeface="+mn-ea"/>
              </a:rPr>
              <a:t>日常自动预警需维修的烤房和具体部件维修方案</a:t>
            </a:r>
            <a:r>
              <a:rPr lang="en-US" altLang="zh-CN" dirty="0">
                <a:sym typeface="+mn-ea"/>
              </a:rPr>
              <a:t>。</a:t>
            </a:r>
            <a:endParaRPr lang="zh-CN" altLang="en-US" dirty="0"/>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烟农可以通过小程序一键报修，系统自动根据最近邻匹配维修人员和备件库存</a:t>
            </a:r>
            <a:r>
              <a:rPr lang="en-US" altLang="zh-CN" dirty="0">
                <a:sym typeface="+mn-ea"/>
              </a:rPr>
              <a:t>，</a:t>
            </a:r>
            <a:r>
              <a:rPr lang="zh-CN" altLang="en-US" dirty="0">
                <a:sym typeface="+mn-ea"/>
              </a:rPr>
              <a:t>可实时查看维修进度</a:t>
            </a:r>
            <a:r>
              <a:rPr lang="en-US" altLang="zh-CN" dirty="0">
                <a:sym typeface="+mn-ea"/>
              </a:rPr>
              <a:t>。   </a:t>
            </a:r>
            <a:r>
              <a:rPr lang="zh-CN" altLang="en-US" dirty="0">
                <a:sym typeface="+mn-ea"/>
              </a:rPr>
              <a:t>实现维修时找得到人、看得见状态、看得到进度</a:t>
            </a:r>
            <a:r>
              <a:rPr lang="en-US" altLang="zh-CN" dirty="0">
                <a:sym typeface="+mn-ea"/>
              </a:rPr>
              <a:t>；</a:t>
            </a:r>
            <a:endParaRPr lang="en-US" altLang="zh-CN" dirty="0"/>
          </a:p>
          <a:p>
            <a:endParaRPr lang="zh-CN" altLang="en-US" dirty="0"/>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第二个</a:t>
            </a:r>
            <a:r>
              <a:rPr lang="en-US" altLang="zh-CN" dirty="0">
                <a:sym typeface="+mn-ea"/>
              </a:rPr>
              <a:t>S，</a:t>
            </a:r>
            <a:r>
              <a:rPr lang="zh-CN" altLang="en-US" dirty="0">
                <a:sym typeface="+mn-ea"/>
              </a:rPr>
              <a:t>实现了从事后抢修到主动预警智能派单</a:t>
            </a:r>
            <a:r>
              <a:rPr lang="en-US" altLang="zh-CN" dirty="0">
                <a:sym typeface="+mn-ea"/>
              </a:rPr>
              <a:t>，</a:t>
            </a:r>
            <a:r>
              <a:rPr lang="zh-CN" altLang="en-US" dirty="0">
                <a:sym typeface="+mn-ea"/>
              </a:rPr>
              <a:t>将维修响应时间降低至</a:t>
            </a:r>
            <a:r>
              <a:rPr lang="en-US" altLang="zh-CN" dirty="0">
                <a:sym typeface="+mn-ea"/>
              </a:rPr>
              <a:t>2h</a:t>
            </a:r>
            <a:r>
              <a:rPr lang="zh-CN" altLang="en-US" dirty="0">
                <a:sym typeface="+mn-ea"/>
              </a:rPr>
              <a:t>以内</a:t>
            </a:r>
            <a:r>
              <a:rPr lang="en-US" altLang="zh-CN" dirty="0">
                <a:sym typeface="+mn-ea"/>
              </a:rPr>
              <a:t>，</a:t>
            </a:r>
            <a:r>
              <a:rPr lang="zh-CN" altLang="en-US" dirty="0">
                <a:sym typeface="+mn-ea"/>
              </a:rPr>
              <a:t>健康分预警准确率达</a:t>
            </a:r>
            <a:r>
              <a:rPr lang="en-US" altLang="zh-CN" dirty="0">
                <a:sym typeface="+mn-ea"/>
              </a:rPr>
              <a:t>95%</a:t>
            </a:r>
            <a:r>
              <a:rPr lang="zh-CN" altLang="en-US" dirty="0">
                <a:sym typeface="+mn-ea"/>
              </a:rPr>
              <a:t>以上</a:t>
            </a:r>
            <a:r>
              <a:rPr lang="en-US" altLang="zh-CN" dirty="0">
                <a:sym typeface="+mn-ea"/>
              </a:rPr>
              <a:t>，</a:t>
            </a:r>
            <a:r>
              <a:rPr lang="zh-CN" altLang="en-US" dirty="0">
                <a:sym typeface="+mn-ea"/>
              </a:rPr>
              <a:t>从之前人均一天巡检</a:t>
            </a:r>
            <a:r>
              <a:rPr lang="en-US" altLang="zh-CN" dirty="0">
                <a:sym typeface="+mn-ea"/>
              </a:rPr>
              <a:t>10</a:t>
            </a:r>
            <a:r>
              <a:rPr lang="zh-CN" altLang="en-US" dirty="0">
                <a:sym typeface="+mn-ea"/>
              </a:rPr>
              <a:t>座到现在的</a:t>
            </a:r>
            <a:r>
              <a:rPr lang="en-US" altLang="zh-CN" dirty="0">
                <a:sym typeface="+mn-ea"/>
              </a:rPr>
              <a:t>50</a:t>
            </a:r>
            <a:r>
              <a:rPr lang="zh-CN" altLang="en-US" dirty="0">
                <a:sym typeface="+mn-ea"/>
              </a:rPr>
              <a:t>座</a:t>
            </a:r>
            <a:r>
              <a:rPr lang="en-US" altLang="zh-CN" dirty="0">
                <a:sym typeface="+mn-ea"/>
              </a:rPr>
              <a:t>，</a:t>
            </a:r>
            <a:r>
              <a:rPr lang="zh-CN" altLang="en-US" dirty="0">
                <a:sym typeface="+mn-ea"/>
              </a:rPr>
              <a:t>提前预警排除</a:t>
            </a:r>
            <a:r>
              <a:rPr lang="en-US" altLang="zh-CN" dirty="0">
                <a:sym typeface="+mn-ea"/>
              </a:rPr>
              <a:t>326</a:t>
            </a:r>
            <a:r>
              <a:rPr lang="zh-CN" altLang="en-US" dirty="0">
                <a:sym typeface="+mn-ea"/>
              </a:rPr>
              <a:t>座烤房问题</a:t>
            </a:r>
            <a:r>
              <a:rPr lang="en-US" altLang="zh-CN" dirty="0">
                <a:sym typeface="+mn-ea"/>
              </a:rPr>
              <a:t>。</a:t>
            </a:r>
            <a:endParaRPr lang="en-US" altLang="zh-CN" dirty="0">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第三个</a:t>
            </a:r>
            <a:r>
              <a:rPr lang="en-US" altLang="zh-CN" dirty="0">
                <a:sym typeface="+mn-ea"/>
              </a:rPr>
              <a:t>S，</a:t>
            </a:r>
            <a:r>
              <a:rPr lang="zh-CN" altLang="en-US" dirty="0">
                <a:sym typeface="+mn-ea"/>
              </a:rPr>
              <a:t>智投</a:t>
            </a:r>
            <a:r>
              <a:rPr lang="en-US" altLang="zh-CN" dirty="0">
                <a:sym typeface="+mn-ea"/>
              </a:rPr>
              <a:t>，</a:t>
            </a:r>
            <a:r>
              <a:rPr lang="zh-CN" altLang="en-US" dirty="0">
                <a:sym typeface="+mn-ea"/>
              </a:rPr>
              <a:t>为管理者解决该</a:t>
            </a:r>
            <a:r>
              <a:rPr lang="zh-CN" altLang="en-US" dirty="0">
                <a:sym typeface="+mn-ea"/>
              </a:rPr>
              <a:t>投多少钱维修</a:t>
            </a:r>
            <a:r>
              <a:rPr lang="en-US" altLang="zh-CN" dirty="0">
                <a:sym typeface="+mn-ea"/>
              </a:rPr>
              <a:t>，</a:t>
            </a:r>
            <a:r>
              <a:rPr lang="zh-CN" altLang="en-US" dirty="0">
                <a:sym typeface="+mn-ea"/>
              </a:rPr>
              <a:t>先维修哪里，哪些地方需要紧急新建</a:t>
            </a:r>
            <a:r>
              <a:rPr lang="en-US" altLang="zh-CN" dirty="0">
                <a:sym typeface="+mn-ea"/>
              </a:rPr>
              <a:t> </a:t>
            </a:r>
            <a:r>
              <a:rPr lang="zh-CN" altLang="en-US" dirty="0">
                <a:sym typeface="+mn-ea"/>
              </a:rPr>
              <a:t>的问题</a:t>
            </a:r>
            <a:endParaRPr lang="en-US" altLang="zh-CN" dirty="0"/>
          </a:p>
          <a:p>
            <a:r>
              <a:rPr lang="zh-CN" altLang="en-US" dirty="0">
                <a:sym typeface="+mn-ea"/>
              </a:rPr>
              <a:t>烤房</a:t>
            </a:r>
            <a:r>
              <a:rPr lang="zh-CN" altLang="en-US" dirty="0">
                <a:sym typeface="+mn-ea"/>
              </a:rPr>
              <a:t>投入通过烤房的健康分</a:t>
            </a:r>
            <a:r>
              <a:rPr lang="en-US" altLang="zh-CN" dirty="0">
                <a:sym typeface="+mn-ea"/>
              </a:rPr>
              <a:t>，</a:t>
            </a:r>
            <a:r>
              <a:rPr lang="zh-CN" altLang="en-US" dirty="0">
                <a:sym typeface="+mn-ea"/>
              </a:rPr>
              <a:t>剩余寿命、投入产出比计算给出维修资金的分配方案</a:t>
            </a:r>
            <a:r>
              <a:rPr lang="zh-CN" altLang="en-US" dirty="0">
                <a:sym typeface="+mn-ea"/>
              </a:rPr>
              <a:t>报告</a:t>
            </a:r>
            <a:r>
              <a:rPr lang="en-US" altLang="zh-CN" dirty="0">
                <a:sym typeface="+mn-ea"/>
              </a:rPr>
              <a:t>。</a:t>
            </a:r>
            <a:endParaRPr lang="en-US" altLang="zh-CN" dirty="0"/>
          </a:p>
          <a:p>
            <a:endParaRPr lang="en-US" altLang="zh-CN" dirty="0"/>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烤房新建</a:t>
            </a:r>
            <a:r>
              <a:rPr lang="zh-CN" altLang="en-US" dirty="0">
                <a:sym typeface="+mn-ea"/>
              </a:rPr>
              <a:t>部分通过烤房负载度算法进行沙盘推演预测</a:t>
            </a:r>
            <a:r>
              <a:rPr lang="en-US" altLang="zh-CN" dirty="0">
                <a:sym typeface="+mn-ea"/>
              </a:rPr>
              <a:t>，</a:t>
            </a:r>
            <a:r>
              <a:rPr lang="zh-CN" altLang="en-US" dirty="0">
                <a:sym typeface="+mn-ea"/>
              </a:rPr>
              <a:t>逐个新增烤房点确定新建数量和方案</a:t>
            </a:r>
            <a:r>
              <a:rPr lang="en-US" altLang="zh-CN" dirty="0">
                <a:sym typeface="+mn-ea"/>
              </a:rPr>
              <a:t>。</a:t>
            </a:r>
            <a:endParaRPr lang="en-US" altLang="zh-CN" dirty="0"/>
          </a:p>
          <a:p>
            <a:r>
              <a:rPr lang="zh-CN" altLang="en-US" dirty="0">
                <a:sym typeface="+mn-ea"/>
              </a:rPr>
              <a:t>实现把共享烤房的池子“建扎实”，辅助决策、闭环优化。</a:t>
            </a:r>
            <a:endParaRPr lang="en-US" altLang="zh-CN" dirty="0"/>
          </a:p>
          <a:p>
            <a:endParaRPr lang="en-US" altLang="zh-CN" dirty="0"/>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我们还引入</a:t>
            </a:r>
            <a:r>
              <a:rPr lang="en-US" altLang="zh-CN"/>
              <a:t>ai</a:t>
            </a:r>
            <a:r>
              <a:rPr lang="zh-CN" altLang="en-US"/>
              <a:t>助手，用数据回复问题和</a:t>
            </a:r>
            <a:r>
              <a:rPr lang="zh-CN" altLang="en-US"/>
              <a:t>建议</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管理者看的</a:t>
            </a:r>
            <a:r>
              <a:rPr lang="en-US" altLang="zh-CN" dirty="0"/>
              <a:t>BI</a:t>
            </a:r>
            <a:r>
              <a:rPr lang="zh-CN" altLang="en-US" dirty="0"/>
              <a:t>看板</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我们的创新在于</a:t>
            </a:r>
            <a:r>
              <a:rPr lang="en-US" altLang="zh-CN"/>
              <a:t>，</a:t>
            </a:r>
            <a:r>
              <a:rPr lang="zh-CN" altLang="en-US"/>
              <a:t>业务上</a:t>
            </a:r>
            <a:r>
              <a:rPr lang="en-US" altLang="zh-CN"/>
              <a:t>，</a:t>
            </a:r>
            <a:r>
              <a:rPr lang="zh-CN" altLang="en-US"/>
              <a:t>形成烤房管理规范</a:t>
            </a:r>
            <a:r>
              <a:rPr lang="en-US" altLang="zh-CN"/>
              <a:t>，</a:t>
            </a:r>
            <a:r>
              <a:rPr lang="zh-CN" altLang="en-US"/>
              <a:t>先用智享共享盘活存量烤房，再用智管将共享烤房运维好</a:t>
            </a:r>
            <a:r>
              <a:rPr lang="en-US" altLang="zh-CN"/>
              <a:t>，</a:t>
            </a:r>
            <a:r>
              <a:rPr lang="zh-CN" altLang="en-US"/>
              <a:t>后面再适当增量新建</a:t>
            </a:r>
            <a:r>
              <a:rPr lang="en-US" altLang="zh-CN"/>
              <a:t>，</a:t>
            </a:r>
            <a:r>
              <a:rPr lang="zh-CN" altLang="en-US"/>
              <a:t>流程烟农加以评价反馈完善</a:t>
            </a:r>
            <a:r>
              <a:rPr lang="en-US" altLang="zh-CN"/>
              <a:t>。</a:t>
            </a:r>
            <a:endParaRPr lang="en-US" altLang="zh-CN"/>
          </a:p>
          <a:p>
            <a:r>
              <a:rPr lang="zh-CN" altLang="en-US"/>
              <a:t>技术上</a:t>
            </a:r>
            <a:r>
              <a:rPr lang="en-US" altLang="zh-CN"/>
              <a:t>，</a:t>
            </a:r>
            <a:r>
              <a:rPr lang="zh-CN" altLang="en-US"/>
              <a:t>采用了</a:t>
            </a:r>
            <a:r>
              <a:rPr lang="en-US" altLang="zh-CN"/>
              <a:t>AHP</a:t>
            </a:r>
            <a:r>
              <a:rPr lang="zh-CN" altLang="en-US"/>
              <a:t>层次分析和</a:t>
            </a:r>
            <a:r>
              <a:rPr lang="en-US" altLang="zh-CN"/>
              <a:t>LSTM</a:t>
            </a:r>
            <a:r>
              <a:rPr lang="zh-CN" altLang="en-US"/>
              <a:t>时序预测寿命</a:t>
            </a:r>
            <a:r>
              <a:rPr lang="en-US" altLang="zh-CN"/>
              <a:t>，</a:t>
            </a:r>
            <a:r>
              <a:rPr lang="zh-CN" altLang="en-US"/>
              <a:t>多目标约束分配</a:t>
            </a:r>
            <a:r>
              <a:rPr lang="en-US" altLang="zh-CN"/>
              <a:t>，</a:t>
            </a:r>
            <a:r>
              <a:rPr lang="zh-CN" altLang="en-US"/>
              <a:t>随机森林分类预警以及沙盘推演等技术</a:t>
            </a:r>
            <a:r>
              <a:rPr lang="en-US" altLang="zh-CN"/>
              <a:t>。</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盘活烤房资源，数智共享烘烤</a:t>
            </a:r>
            <a:r>
              <a:rPr lang="en-US" altLang="zh-CN" dirty="0"/>
              <a:t>；</a:t>
            </a:r>
            <a:r>
              <a:rPr lang="zh-CN" altLang="en-US" dirty="0"/>
              <a:t>共享烤房</a:t>
            </a:r>
            <a:r>
              <a:rPr lang="en-US" altLang="zh-CN" dirty="0"/>
              <a:t>，</a:t>
            </a:r>
            <a:r>
              <a:rPr lang="zh-CN" altLang="en-US" dirty="0"/>
              <a:t>让每一座烤房发挥最大价值</a:t>
            </a:r>
            <a:r>
              <a:rPr lang="en-US" dirty="0"/>
              <a:t>。</a:t>
            </a:r>
            <a:r>
              <a:rPr lang="zh-CN" altLang="en-US" dirty="0"/>
              <a:t>感谢聆听</a:t>
            </a:r>
            <a:r>
              <a:rPr lang="en-US" dirty="0"/>
              <a:t>，谢谢！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microsoft.com/office/2007/relationships/hdphoto" Target="../media/image6.wdp"/><Relationship Id="rId4" Type="http://schemas.openxmlformats.org/officeDocument/2006/relationships/image" Target="../media/image7.png"/><Relationship Id="rId5" Type="http://schemas.microsoft.com/office/2007/relationships/hdphoto" Target="../media/image8.wdp"/><Relationship Id="rId6" Type="http://schemas.openxmlformats.org/officeDocument/2006/relationships/image" Target="../media/image9.png"/><Relationship Id="rId7" Type="http://schemas.microsoft.com/office/2007/relationships/hdphoto" Target="../media/image10.wdp"/><Relationship Id="rId8" Type="http://schemas.openxmlformats.org/officeDocument/2006/relationships/image" Target="../media/image11.png"/><Relationship Id="rId9" Type="http://schemas.microsoft.com/office/2007/relationships/hdphoto" Target="../media/image12.wdp"/></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63438"/>
          </a:xfrm>
          <a:prstGeom prst="rect">
            <a:avLst/>
          </a:prstGeom>
        </p:spPr>
      </p:pic>
      <p:sp>
        <p:nvSpPr>
          <p:cNvPr id="11" name="矩形 10"/>
          <p:cNvSpPr/>
          <p:nvPr userDrawn="1"/>
        </p:nvSpPr>
        <p:spPr>
          <a:xfrm>
            <a:off x="-1652" y="0"/>
            <a:ext cx="9145652" cy="5163438"/>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41632"/>
          </a:xfrm>
          <a:prstGeom prst="rect">
            <a:avLst/>
          </a:prstGeom>
        </p:spPr>
      </p:pic>
      <p:sp>
        <p:nvSpPr>
          <p:cNvPr id="10" name="矩形 9"/>
          <p:cNvSpPr/>
          <p:nvPr userDrawn="1"/>
        </p:nvSpPr>
        <p:spPr>
          <a:xfrm>
            <a:off x="0" y="1868"/>
            <a:ext cx="9142346" cy="5141632"/>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65306"/>
          </a:xfrm>
          <a:prstGeom prst="rect">
            <a:avLst/>
          </a:prstGeom>
        </p:spPr>
      </p:pic>
      <p:sp>
        <p:nvSpPr>
          <p:cNvPr id="10" name="矩形 9"/>
          <p:cNvSpPr/>
          <p:nvPr userDrawn="1"/>
        </p:nvSpPr>
        <p:spPr>
          <a:xfrm>
            <a:off x="0" y="1868"/>
            <a:ext cx="9142346" cy="5163438"/>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title"/>
          </p:nvPr>
        </p:nvSpPr>
        <p:spPr>
          <a:xfrm>
            <a:off x="623888" y="1282305"/>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2" y="1878806"/>
            <a:ext cx="3887391"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097"/>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1878806"/>
            <a:ext cx="3868340"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srcRect/>
          <a:stretch>
            <a:fillRect/>
          </a:stretch>
        </p:blipFill>
        <p:spPr>
          <a:xfrm>
            <a:off x="0" y="0"/>
            <a:ext cx="9144000" cy="5143500"/>
          </a:xfrm>
          <a:custGeom>
            <a:avLst/>
            <a:gdLst>
              <a:gd name="connsiteX0" fmla="*/ 0 w 12191998"/>
              <a:gd name="connsiteY0" fmla="*/ 0 h 6858000"/>
              <a:gd name="connsiteX1" fmla="*/ 12191998 w 12191998"/>
              <a:gd name="connsiteY1" fmla="*/ 0 h 6858000"/>
              <a:gd name="connsiteX2" fmla="*/ 12191998 w 12191998"/>
              <a:gd name="connsiteY2" fmla="*/ 6858000 h 6858000"/>
              <a:gd name="connsiteX3" fmla="*/ 0 w 121919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8" h="6858000">
                <a:moveTo>
                  <a:pt x="0" y="0"/>
                </a:moveTo>
                <a:lnTo>
                  <a:pt x="12191998" y="0"/>
                </a:lnTo>
                <a:lnTo>
                  <a:pt x="12191998" y="6858000"/>
                </a:lnTo>
                <a:lnTo>
                  <a:pt x="0" y="6858000"/>
                </a:lnTo>
                <a:close/>
              </a:path>
            </a:pathLst>
          </a:custGeom>
        </p:spPr>
      </p:pic>
      <p:sp>
        <p:nvSpPr>
          <p:cNvPr id="3" name="矩形 2"/>
          <p:cNvSpPr/>
          <p:nvPr userDrawn="1"/>
        </p:nvSpPr>
        <p:spPr>
          <a:xfrm flipV="1">
            <a:off x="0" y="0"/>
            <a:ext cx="9144000" cy="5143500"/>
          </a:xfrm>
          <a:prstGeom prst="rect">
            <a:avLst/>
          </a:prstGeom>
          <a:gradFill flip="none" rotWithShape="1">
            <a:gsLst>
              <a:gs pos="48000">
                <a:srgbClr val="002742">
                  <a:alpha val="76000"/>
                </a:srgbClr>
              </a:gs>
              <a:gs pos="0">
                <a:srgbClr val="002A52">
                  <a:alpha val="0"/>
                </a:srgbClr>
              </a:gs>
              <a:gs pos="69000">
                <a:srgbClr val="002742">
                  <a:alpha val="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4000" fill="hold"/>
                                        <p:tgtEl>
                                          <p:spTgt spid="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7" name="矩形 6"/>
          <p:cNvSpPr/>
          <p:nvPr userDrawn="1"/>
        </p:nvSpPr>
        <p:spPr>
          <a:xfrm flipV="1">
            <a:off x="0" y="0"/>
            <a:ext cx="9144000" cy="5181456"/>
          </a:xfrm>
          <a:prstGeom prst="rect">
            <a:avLst/>
          </a:prstGeom>
          <a:gradFill flip="none" rotWithShape="1">
            <a:gsLst>
              <a:gs pos="30000">
                <a:srgbClr val="002742"/>
              </a:gs>
              <a:gs pos="0">
                <a:srgbClr val="002A52"/>
              </a:gs>
              <a:gs pos="100000">
                <a:srgbClr val="002742">
                  <a:alpha val="1900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15" name="椭圆 14"/>
          <p:cNvSpPr/>
          <p:nvPr userDrawn="1"/>
        </p:nvSpPr>
        <p:spPr>
          <a:xfrm>
            <a:off x="-2175388" y="-2142989"/>
            <a:ext cx="12912212" cy="6300652"/>
          </a:xfrm>
          <a:prstGeom prst="ellipse">
            <a:avLst/>
          </a:prstGeom>
          <a:solidFill>
            <a:srgbClr val="1473CA">
              <a:alpha val="5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9" name="椭圆 8"/>
          <p:cNvSpPr/>
          <p:nvPr userDrawn="1"/>
        </p:nvSpPr>
        <p:spPr>
          <a:xfrm>
            <a:off x="760666" y="-1784392"/>
            <a:ext cx="7622669" cy="3683789"/>
          </a:xfrm>
          <a:prstGeom prst="ellipse">
            <a:avLst/>
          </a:prstGeom>
          <a:solidFill>
            <a:srgbClr val="1473CA">
              <a:alpha val="28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8" name="椭圆 7"/>
          <p:cNvSpPr/>
          <p:nvPr userDrawn="1"/>
        </p:nvSpPr>
        <p:spPr>
          <a:xfrm>
            <a:off x="-1884106" y="-2002473"/>
            <a:ext cx="12912212" cy="4341557"/>
          </a:xfrm>
          <a:prstGeom prst="ellipse">
            <a:avLst/>
          </a:prstGeom>
          <a:solidFill>
            <a:srgbClr val="1473CA">
              <a:alpha val="14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22" name="图片 21" descr="图片包含 绿色, 大, 灯光, 风筝&#10;&#10;描述已自动生成"/>
          <p:cNvPicPr>
            <a:picLocks noChangeAspect="1"/>
          </p:cNvPicPr>
          <p:nvPr userDrawn="1"/>
        </p:nvPicPr>
        <p:blipFill>
          <a:blip r:embed="rId2">
            <a:alphaModFix amt="2000"/>
            <a:extLst>
              <a:ext uri="{BEBA8EAE-BF5A-486C-A8C5-ECC9F3942E4B}">
                <a14:imgProps xmlns:a14="http://schemas.microsoft.com/office/drawing/2010/main">
                  <a14:imgLayer r:embed="rId3">
                    <a14:imgEffect>
                      <a14:brightnessContrast contrast="40000"/>
                    </a14:imgEffect>
                    <a14:imgEffect>
                      <a14:colorTemperature colorTemp="4700"/>
                    </a14:imgEffect>
                    <a14:imgEffect>
                      <a14:saturation sat="66000"/>
                    </a14:imgEffect>
                    <a14:imgEffect>
                      <a14:sharpenSoften amount="-50000"/>
                    </a14:imgEffect>
                  </a14:imgLayer>
                </a14:imgProps>
              </a:ext>
            </a:extLst>
          </a:blip>
          <a:stretch>
            <a:fillRect/>
          </a:stretch>
        </p:blipFill>
        <p:spPr>
          <a:xfrm>
            <a:off x="1264292" y="1802390"/>
            <a:ext cx="7429500" cy="3486150"/>
          </a:xfrm>
          <a:prstGeom prst="rect">
            <a:avLst/>
          </a:prstGeom>
          <a:effectLst>
            <a:softEdge rad="914400"/>
          </a:effectLst>
        </p:spPr>
      </p:pic>
      <p:sp>
        <p:nvSpPr>
          <p:cNvPr id="2" name="矩形 1"/>
          <p:cNvSpPr/>
          <p:nvPr userDrawn="1"/>
        </p:nvSpPr>
        <p:spPr>
          <a:xfrm>
            <a:off x="0" y="3019922"/>
            <a:ext cx="9144001" cy="2123578"/>
          </a:xfrm>
          <a:prstGeom prst="rect">
            <a:avLst/>
          </a:prstGeom>
          <a:gradFill>
            <a:gsLst>
              <a:gs pos="0">
                <a:srgbClr val="031E3B">
                  <a:alpha val="0"/>
                </a:srgbClr>
              </a:gs>
              <a:gs pos="63000">
                <a:srgbClr val="011225">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3" name="图片 2" descr="背景图案&#10;&#10;中度可信度描述已自动生成"/>
          <p:cNvPicPr>
            <a:picLocks noChangeAspect="1"/>
          </p:cNvPicPr>
          <p:nvPr userDrawn="1"/>
        </p:nvPicPr>
        <p:blipFill>
          <a:blip r:embed="rId4" cstate="screen">
            <a:alphaModFix amt="30000"/>
            <a:extLst>
              <a:ext uri="{BEBA8EAE-BF5A-486C-A8C5-ECC9F3942E4B}">
                <a14:imgProps xmlns:a14="http://schemas.microsoft.com/office/drawing/2010/main">
                  <a14:imgLayer r:embed="rId5">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0768342">
            <a:off x="5746277" y="464137"/>
            <a:ext cx="4048894" cy="4944077"/>
          </a:xfrm>
          <a:custGeom>
            <a:avLst/>
            <a:gdLst>
              <a:gd name="connsiteX0" fmla="*/ 5398525 w 5398525"/>
              <a:gd name="connsiteY0" fmla="*/ 0 h 6592103"/>
              <a:gd name="connsiteX1" fmla="*/ 3771909 w 5398525"/>
              <a:gd name="connsiteY1" fmla="*/ 6592103 h 6592103"/>
              <a:gd name="connsiteX2" fmla="*/ 0 w 5398525"/>
              <a:gd name="connsiteY2" fmla="*/ 5661377 h 6592103"/>
              <a:gd name="connsiteX3" fmla="*/ 0 w 5398525"/>
              <a:gd name="connsiteY3" fmla="*/ 0 h 6592103"/>
            </a:gdLst>
            <a:ahLst/>
            <a:cxnLst>
              <a:cxn ang="0">
                <a:pos x="connsiteX0" y="connsiteY0"/>
              </a:cxn>
              <a:cxn ang="0">
                <a:pos x="connsiteX1" y="connsiteY1"/>
              </a:cxn>
              <a:cxn ang="0">
                <a:pos x="connsiteX2" y="connsiteY2"/>
              </a:cxn>
              <a:cxn ang="0">
                <a:pos x="connsiteX3" y="connsiteY3"/>
              </a:cxn>
            </a:cxnLst>
            <a:rect l="l" t="t" r="r" b="b"/>
            <a:pathLst>
              <a:path w="5398525" h="6592102">
                <a:moveTo>
                  <a:pt x="5398525" y="0"/>
                </a:moveTo>
                <a:lnTo>
                  <a:pt x="3771909" y="6592103"/>
                </a:lnTo>
                <a:lnTo>
                  <a:pt x="0" y="5661377"/>
                </a:lnTo>
                <a:lnTo>
                  <a:pt x="0" y="0"/>
                </a:lnTo>
                <a:close/>
              </a:path>
            </a:pathLst>
          </a:custGeom>
        </p:spPr>
      </p:pic>
      <p:pic>
        <p:nvPicPr>
          <p:cNvPr id="4" name="图片 3" descr="背景图案&#10;&#10;中度可信度描述已自动生成"/>
          <p:cNvPicPr>
            <a:picLocks noChangeAspect="1"/>
          </p:cNvPicPr>
          <p:nvPr userDrawn="1"/>
        </p:nvPicPr>
        <p:blipFill>
          <a:blip r:embed="rId6" cstate="screen">
            <a:alphaModFix amt="30000"/>
            <a:extLst>
              <a:ext uri="{BEBA8EAE-BF5A-486C-A8C5-ECC9F3942E4B}">
                <a14:imgProps xmlns:a14="http://schemas.microsoft.com/office/drawing/2010/main">
                  <a14:imgLayer r:embed="rId7">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71206" flipH="1">
            <a:off x="-180046" y="829144"/>
            <a:ext cx="3494095" cy="4431323"/>
          </a:xfrm>
          <a:custGeom>
            <a:avLst/>
            <a:gdLst>
              <a:gd name="connsiteX0" fmla="*/ 4658793 w 4658793"/>
              <a:gd name="connsiteY0" fmla="*/ 0 h 5908430"/>
              <a:gd name="connsiteX1" fmla="*/ 0 w 4658793"/>
              <a:gd name="connsiteY1" fmla="*/ 0 h 5908430"/>
              <a:gd name="connsiteX2" fmla="*/ 0 w 4658793"/>
              <a:gd name="connsiteY2" fmla="*/ 5577056 h 5908430"/>
              <a:gd name="connsiteX3" fmla="*/ 4191704 w 4658793"/>
              <a:gd name="connsiteY3" fmla="*/ 5908430 h 5908430"/>
            </a:gdLst>
            <a:ahLst/>
            <a:cxnLst>
              <a:cxn ang="0">
                <a:pos x="connsiteX0" y="connsiteY0"/>
              </a:cxn>
              <a:cxn ang="0">
                <a:pos x="connsiteX1" y="connsiteY1"/>
              </a:cxn>
              <a:cxn ang="0">
                <a:pos x="connsiteX2" y="connsiteY2"/>
              </a:cxn>
              <a:cxn ang="0">
                <a:pos x="connsiteX3" y="connsiteY3"/>
              </a:cxn>
            </a:cxnLst>
            <a:rect l="l" t="t" r="r" b="b"/>
            <a:pathLst>
              <a:path w="4658793" h="5908430">
                <a:moveTo>
                  <a:pt x="4658793" y="0"/>
                </a:moveTo>
                <a:lnTo>
                  <a:pt x="0" y="0"/>
                </a:lnTo>
                <a:lnTo>
                  <a:pt x="0" y="5577056"/>
                </a:lnTo>
                <a:lnTo>
                  <a:pt x="4191704" y="5908430"/>
                </a:lnTo>
                <a:close/>
              </a:path>
            </a:pathLst>
          </a:custGeom>
        </p:spPr>
      </p:pic>
      <p:pic>
        <p:nvPicPr>
          <p:cNvPr id="6" name="图片 5"/>
          <p:cNvPicPr>
            <a:picLocks noChangeAspect="1"/>
          </p:cNvPicPr>
          <p:nvPr userDrawn="1"/>
        </p:nvPicPr>
        <p:blipFill>
          <a:blip r:embed="rId8" cstate="email">
            <a:alphaModFix amt="79000"/>
            <a:extLst>
              <a:ext uri="{BEBA8EAE-BF5A-486C-A8C5-ECC9F3942E4B}">
                <a14:imgProps xmlns:a14="http://schemas.microsoft.com/office/drawing/2010/main">
                  <a14:imgLayer r:embed="rId9">
                    <a14:imgEffect>
                      <a14:colorTemperature colorTemp="4700"/>
                    </a14:imgEffect>
                  </a14:imgLayer>
                </a14:imgProps>
              </a:ext>
            </a:extLst>
          </a:blip>
          <a:srcRect/>
          <a:stretch>
            <a:fillRect/>
          </a:stretch>
        </p:blipFill>
        <p:spPr>
          <a:xfrm>
            <a:off x="-1" y="0"/>
            <a:ext cx="9144001" cy="959455"/>
          </a:xfrm>
          <a:prstGeom prst="rect">
            <a:avLst/>
          </a:prstGeom>
          <a:effectLst>
            <a:softEdge rad="228600"/>
          </a:effectLst>
        </p:spPr>
      </p:pic>
      <p:sp>
        <p:nvSpPr>
          <p:cNvPr id="14" name="图形 46"/>
          <p:cNvSpPr/>
          <p:nvPr userDrawn="1"/>
        </p:nvSpPr>
        <p:spPr>
          <a:xfrm>
            <a:off x="112569" y="352311"/>
            <a:ext cx="368612" cy="421271"/>
          </a:xfrm>
          <a:custGeom>
            <a:avLst/>
            <a:gdLst>
              <a:gd name="connsiteX0" fmla="*/ 885899 w 1666875"/>
              <a:gd name="connsiteY0" fmla="*/ 454670 h 1905000"/>
              <a:gd name="connsiteX1" fmla="*/ 780976 w 1666875"/>
              <a:gd name="connsiteY1" fmla="*/ 454670 h 1905000"/>
              <a:gd name="connsiteX2" fmla="*/ 930 w 1666875"/>
              <a:gd name="connsiteY2" fmla="*/ 1905000 h 1905000"/>
              <a:gd name="connsiteX3" fmla="*/ 110877 w 1666875"/>
              <a:gd name="connsiteY3" fmla="*/ 1905000 h 1905000"/>
              <a:gd name="connsiteX4" fmla="*/ 164083 w 1666875"/>
              <a:gd name="connsiteY4" fmla="*/ 1872072 h 1905000"/>
              <a:gd name="connsiteX5" fmla="*/ 296168 w 1666875"/>
              <a:gd name="connsiteY5" fmla="*/ 1607344 h 1905000"/>
              <a:gd name="connsiteX6" fmla="*/ 1370707 w 1666875"/>
              <a:gd name="connsiteY6" fmla="*/ 1607344 h 1905000"/>
              <a:gd name="connsiteX7" fmla="*/ 1502792 w 1666875"/>
              <a:gd name="connsiteY7" fmla="*/ 1872072 h 1905000"/>
              <a:gd name="connsiteX8" fmla="*/ 1555998 w 1666875"/>
              <a:gd name="connsiteY8" fmla="*/ 1905000 h 1905000"/>
              <a:gd name="connsiteX9" fmla="*/ 1665945 w 1666875"/>
              <a:gd name="connsiteY9" fmla="*/ 1905000 h 1905000"/>
              <a:gd name="connsiteX10" fmla="*/ 885899 w 1666875"/>
              <a:gd name="connsiteY10" fmla="*/ 454670 h 1905000"/>
              <a:gd name="connsiteX11" fmla="*/ 807207 w 1666875"/>
              <a:gd name="connsiteY11" fmla="*/ 657262 h 1905000"/>
              <a:gd name="connsiteX12" fmla="*/ 859668 w 1666875"/>
              <a:gd name="connsiteY12" fmla="*/ 657262 h 1905000"/>
              <a:gd name="connsiteX13" fmla="*/ 1050541 w 1666875"/>
              <a:gd name="connsiteY13" fmla="*/ 1012031 h 1905000"/>
              <a:gd name="connsiteX14" fmla="*/ 616334 w 1666875"/>
              <a:gd name="connsiteY14" fmla="*/ 1012031 h 1905000"/>
              <a:gd name="connsiteX15" fmla="*/ 807207 w 1666875"/>
              <a:gd name="connsiteY15" fmla="*/ 657262 h 1905000"/>
              <a:gd name="connsiteX16" fmla="*/ 552338 w 1666875"/>
              <a:gd name="connsiteY16" fmla="*/ 1131094 h 1905000"/>
              <a:gd name="connsiteX17" fmla="*/ 868970 w 1666875"/>
              <a:gd name="connsiteY17" fmla="*/ 1131094 h 1905000"/>
              <a:gd name="connsiteX18" fmla="*/ 409649 w 1666875"/>
              <a:gd name="connsiteY18" fmla="*/ 1396194 h 1905000"/>
              <a:gd name="connsiteX19" fmla="*/ 552338 w 1666875"/>
              <a:gd name="connsiteY19" fmla="*/ 1131094 h 1905000"/>
              <a:gd name="connsiteX20" fmla="*/ 488342 w 1666875"/>
              <a:gd name="connsiteY20" fmla="*/ 1488281 h 1905000"/>
              <a:gd name="connsiteX21" fmla="*/ 1106909 w 1666875"/>
              <a:gd name="connsiteY21" fmla="*/ 1131094 h 1905000"/>
              <a:gd name="connsiteX22" fmla="*/ 1112676 w 1666875"/>
              <a:gd name="connsiteY22" fmla="*/ 1127745 h 1905000"/>
              <a:gd name="connsiteX23" fmla="*/ 1114351 w 1666875"/>
              <a:gd name="connsiteY23" fmla="*/ 1131094 h 1905000"/>
              <a:gd name="connsiteX24" fmla="*/ 1306525 w 1666875"/>
              <a:gd name="connsiteY24" fmla="*/ 1488281 h 1905000"/>
              <a:gd name="connsiteX25" fmla="*/ 488342 w 1666875"/>
              <a:gd name="connsiteY25" fmla="*/ 1488281 h 1905000"/>
              <a:gd name="connsiteX26" fmla="*/ 1127187 w 1666875"/>
              <a:gd name="connsiteY26" fmla="*/ 272914 h 1905000"/>
              <a:gd name="connsiteX27" fmla="*/ 1029333 w 1666875"/>
              <a:gd name="connsiteY27" fmla="*/ 340630 h 1905000"/>
              <a:gd name="connsiteX28" fmla="*/ 1071563 w 1666875"/>
              <a:gd name="connsiteY28" fmla="*/ 476250 h 1905000"/>
              <a:gd name="connsiteX29" fmla="*/ 1029333 w 1666875"/>
              <a:gd name="connsiteY29" fmla="*/ 611870 h 1905000"/>
              <a:gd name="connsiteX30" fmla="*/ 1127187 w 1666875"/>
              <a:gd name="connsiteY30" fmla="*/ 679586 h 1905000"/>
              <a:gd name="connsiteX31" fmla="*/ 1190625 w 1666875"/>
              <a:gd name="connsiteY31" fmla="*/ 476250 h 1905000"/>
              <a:gd name="connsiteX32" fmla="*/ 1127187 w 1666875"/>
              <a:gd name="connsiteY32" fmla="*/ 272914 h 1905000"/>
              <a:gd name="connsiteX33" fmla="*/ 539688 w 1666875"/>
              <a:gd name="connsiteY33" fmla="*/ 272914 h 1905000"/>
              <a:gd name="connsiteX34" fmla="*/ 476250 w 1666875"/>
              <a:gd name="connsiteY34" fmla="*/ 476250 h 1905000"/>
              <a:gd name="connsiteX35" fmla="*/ 539688 w 1666875"/>
              <a:gd name="connsiteY35" fmla="*/ 679586 h 1905000"/>
              <a:gd name="connsiteX36" fmla="*/ 637543 w 1666875"/>
              <a:gd name="connsiteY36" fmla="*/ 611870 h 1905000"/>
              <a:gd name="connsiteX37" fmla="*/ 595313 w 1666875"/>
              <a:gd name="connsiteY37" fmla="*/ 476250 h 1905000"/>
              <a:gd name="connsiteX38" fmla="*/ 637543 w 1666875"/>
              <a:gd name="connsiteY38" fmla="*/ 340630 h 1905000"/>
              <a:gd name="connsiteX39" fmla="*/ 539688 w 1666875"/>
              <a:gd name="connsiteY39" fmla="*/ 272914 h 1905000"/>
              <a:gd name="connsiteX40" fmla="*/ 1299270 w 1666875"/>
              <a:gd name="connsiteY40" fmla="*/ 153665 h 1905000"/>
              <a:gd name="connsiteX41" fmla="*/ 1201415 w 1666875"/>
              <a:gd name="connsiteY41" fmla="*/ 221382 h 1905000"/>
              <a:gd name="connsiteX42" fmla="*/ 1244389 w 1666875"/>
              <a:gd name="connsiteY42" fmla="*/ 300261 h 1905000"/>
              <a:gd name="connsiteX43" fmla="*/ 1279922 w 1666875"/>
              <a:gd name="connsiteY43" fmla="*/ 476250 h 1905000"/>
              <a:gd name="connsiteX44" fmla="*/ 1244389 w 1666875"/>
              <a:gd name="connsiteY44" fmla="*/ 652239 h 1905000"/>
              <a:gd name="connsiteX45" fmla="*/ 1201415 w 1666875"/>
              <a:gd name="connsiteY45" fmla="*/ 731118 h 1905000"/>
              <a:gd name="connsiteX46" fmla="*/ 1299270 w 1666875"/>
              <a:gd name="connsiteY46" fmla="*/ 798835 h 1905000"/>
              <a:gd name="connsiteX47" fmla="*/ 1398984 w 1666875"/>
              <a:gd name="connsiteY47" fmla="*/ 476250 h 1905000"/>
              <a:gd name="connsiteX48" fmla="*/ 1299270 w 1666875"/>
              <a:gd name="connsiteY48" fmla="*/ 153665 h 1905000"/>
              <a:gd name="connsiteX49" fmla="*/ 458019 w 1666875"/>
              <a:gd name="connsiteY49" fmla="*/ 216359 h 1905000"/>
              <a:gd name="connsiteX50" fmla="*/ 360164 w 1666875"/>
              <a:gd name="connsiteY50" fmla="*/ 148642 h 1905000"/>
              <a:gd name="connsiteX51" fmla="*/ 256729 w 1666875"/>
              <a:gd name="connsiteY51" fmla="*/ 476250 h 1905000"/>
              <a:gd name="connsiteX52" fmla="*/ 359978 w 1666875"/>
              <a:gd name="connsiteY52" fmla="*/ 804044 h 1905000"/>
              <a:gd name="connsiteX53" fmla="*/ 457833 w 1666875"/>
              <a:gd name="connsiteY53" fmla="*/ 736327 h 1905000"/>
              <a:gd name="connsiteX54" fmla="*/ 411138 w 1666875"/>
              <a:gd name="connsiteY54" fmla="*/ 652239 h 1905000"/>
              <a:gd name="connsiteX55" fmla="*/ 375791 w 1666875"/>
              <a:gd name="connsiteY55" fmla="*/ 476250 h 1905000"/>
              <a:gd name="connsiteX56" fmla="*/ 411324 w 1666875"/>
              <a:gd name="connsiteY56" fmla="*/ 300261 h 1905000"/>
              <a:gd name="connsiteX57" fmla="*/ 458019 w 1666875"/>
              <a:gd name="connsiteY57" fmla="*/ 216359 h 1905000"/>
              <a:gd name="connsiteX58" fmla="*/ 1521396 w 1666875"/>
              <a:gd name="connsiteY58" fmla="*/ 0 h 1905000"/>
              <a:gd name="connsiteX59" fmla="*/ 1423541 w 1666875"/>
              <a:gd name="connsiteY59" fmla="*/ 67717 h 1905000"/>
              <a:gd name="connsiteX60" fmla="*/ 1491816 w 1666875"/>
              <a:gd name="connsiteY60" fmla="*/ 192546 h 1905000"/>
              <a:gd name="connsiteX61" fmla="*/ 1547999 w 1666875"/>
              <a:gd name="connsiteY61" fmla="*/ 470669 h 1905000"/>
              <a:gd name="connsiteX62" fmla="*/ 1491816 w 1666875"/>
              <a:gd name="connsiteY62" fmla="*/ 748792 h 1905000"/>
              <a:gd name="connsiteX63" fmla="*/ 1418332 w 1666875"/>
              <a:gd name="connsiteY63" fmla="*/ 881249 h 1905000"/>
              <a:gd name="connsiteX64" fmla="*/ 1516187 w 1666875"/>
              <a:gd name="connsiteY64" fmla="*/ 948779 h 1905000"/>
              <a:gd name="connsiteX65" fmla="*/ 1666875 w 1666875"/>
              <a:gd name="connsiteY65" fmla="*/ 470669 h 1905000"/>
              <a:gd name="connsiteX66" fmla="*/ 1521396 w 1666875"/>
              <a:gd name="connsiteY66" fmla="*/ 0 h 1905000"/>
              <a:gd name="connsiteX67" fmla="*/ 119063 w 1666875"/>
              <a:gd name="connsiteY67" fmla="*/ 470669 h 1905000"/>
              <a:gd name="connsiteX68" fmla="*/ 175245 w 1666875"/>
              <a:gd name="connsiteY68" fmla="*/ 192546 h 1905000"/>
              <a:gd name="connsiteX69" fmla="*/ 243520 w 1666875"/>
              <a:gd name="connsiteY69" fmla="*/ 67717 h 1905000"/>
              <a:gd name="connsiteX70" fmla="*/ 145479 w 1666875"/>
              <a:gd name="connsiteY70" fmla="*/ 0 h 1905000"/>
              <a:gd name="connsiteX71" fmla="*/ 0 w 1666875"/>
              <a:gd name="connsiteY71" fmla="*/ 470669 h 1905000"/>
              <a:gd name="connsiteX72" fmla="*/ 150688 w 1666875"/>
              <a:gd name="connsiteY72" fmla="*/ 948779 h 1905000"/>
              <a:gd name="connsiteX73" fmla="*/ 248543 w 1666875"/>
              <a:gd name="connsiteY73" fmla="*/ 881063 h 1905000"/>
              <a:gd name="connsiteX74" fmla="*/ 175059 w 1666875"/>
              <a:gd name="connsiteY74" fmla="*/ 748605 h 1905000"/>
              <a:gd name="connsiteX75" fmla="*/ 119063 w 1666875"/>
              <a:gd name="connsiteY75" fmla="*/ 47066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666875" h="1905000">
                <a:moveTo>
                  <a:pt x="885899" y="454670"/>
                </a:moveTo>
                <a:cubicBezTo>
                  <a:pt x="863389" y="412812"/>
                  <a:pt x="803486" y="412812"/>
                  <a:pt x="780976" y="454670"/>
                </a:cubicBezTo>
                <a:lnTo>
                  <a:pt x="930" y="1905000"/>
                </a:lnTo>
                <a:lnTo>
                  <a:pt x="110877" y="1905000"/>
                </a:lnTo>
                <a:cubicBezTo>
                  <a:pt x="133387" y="1905000"/>
                  <a:pt x="154037" y="1892164"/>
                  <a:pt x="164083" y="1872072"/>
                </a:cubicBezTo>
                <a:lnTo>
                  <a:pt x="296168" y="1607344"/>
                </a:lnTo>
                <a:lnTo>
                  <a:pt x="1370707" y="1607344"/>
                </a:lnTo>
                <a:lnTo>
                  <a:pt x="1502792" y="1872072"/>
                </a:lnTo>
                <a:cubicBezTo>
                  <a:pt x="1512838" y="1892350"/>
                  <a:pt x="1533488" y="1905000"/>
                  <a:pt x="1555998" y="1905000"/>
                </a:cubicBezTo>
                <a:lnTo>
                  <a:pt x="1665945" y="1905000"/>
                </a:lnTo>
                <a:lnTo>
                  <a:pt x="885899" y="454670"/>
                </a:lnTo>
                <a:close/>
                <a:moveTo>
                  <a:pt x="807207" y="657262"/>
                </a:moveTo>
                <a:cubicBezTo>
                  <a:pt x="818369" y="636426"/>
                  <a:pt x="848320" y="636426"/>
                  <a:pt x="859668" y="657262"/>
                </a:cubicBezTo>
                <a:lnTo>
                  <a:pt x="1050541" y="1012031"/>
                </a:lnTo>
                <a:lnTo>
                  <a:pt x="616334" y="1012031"/>
                </a:lnTo>
                <a:lnTo>
                  <a:pt x="807207" y="657262"/>
                </a:lnTo>
                <a:close/>
                <a:moveTo>
                  <a:pt x="552338" y="1131094"/>
                </a:moveTo>
                <a:lnTo>
                  <a:pt x="868970" y="1131094"/>
                </a:lnTo>
                <a:lnTo>
                  <a:pt x="409649" y="1396194"/>
                </a:lnTo>
                <a:lnTo>
                  <a:pt x="552338" y="1131094"/>
                </a:lnTo>
                <a:close/>
                <a:moveTo>
                  <a:pt x="488342" y="1488281"/>
                </a:moveTo>
                <a:lnTo>
                  <a:pt x="1106909" y="1131094"/>
                </a:lnTo>
                <a:lnTo>
                  <a:pt x="1112676" y="1127745"/>
                </a:lnTo>
                <a:lnTo>
                  <a:pt x="1114351" y="1131094"/>
                </a:lnTo>
                <a:lnTo>
                  <a:pt x="1306525" y="1488281"/>
                </a:lnTo>
                <a:lnTo>
                  <a:pt x="488342" y="1488281"/>
                </a:lnTo>
                <a:close/>
                <a:moveTo>
                  <a:pt x="1127187" y="272914"/>
                </a:moveTo>
                <a:lnTo>
                  <a:pt x="1029333" y="340630"/>
                </a:lnTo>
                <a:cubicBezTo>
                  <a:pt x="1056680" y="380256"/>
                  <a:pt x="1071563" y="427137"/>
                  <a:pt x="1071563" y="476250"/>
                </a:cubicBezTo>
                <a:cubicBezTo>
                  <a:pt x="1071563" y="525363"/>
                  <a:pt x="1056680" y="572244"/>
                  <a:pt x="1029333" y="611870"/>
                </a:cubicBezTo>
                <a:lnTo>
                  <a:pt x="1127187" y="679586"/>
                </a:lnTo>
                <a:cubicBezTo>
                  <a:pt x="1167185" y="621916"/>
                  <a:pt x="1190625" y="551780"/>
                  <a:pt x="1190625" y="476250"/>
                </a:cubicBezTo>
                <a:cubicBezTo>
                  <a:pt x="1190625" y="400720"/>
                  <a:pt x="1167185" y="330584"/>
                  <a:pt x="1127187" y="272914"/>
                </a:cubicBezTo>
                <a:close/>
                <a:moveTo>
                  <a:pt x="539688" y="272914"/>
                </a:moveTo>
                <a:cubicBezTo>
                  <a:pt x="499690" y="330584"/>
                  <a:pt x="476250" y="400720"/>
                  <a:pt x="476250" y="476250"/>
                </a:cubicBezTo>
                <a:cubicBezTo>
                  <a:pt x="476250" y="551780"/>
                  <a:pt x="499690" y="621916"/>
                  <a:pt x="539688" y="679586"/>
                </a:cubicBezTo>
                <a:lnTo>
                  <a:pt x="637543" y="611870"/>
                </a:lnTo>
                <a:cubicBezTo>
                  <a:pt x="610195" y="572244"/>
                  <a:pt x="595313" y="525363"/>
                  <a:pt x="595313" y="476250"/>
                </a:cubicBezTo>
                <a:cubicBezTo>
                  <a:pt x="595313" y="427137"/>
                  <a:pt x="610195" y="380256"/>
                  <a:pt x="637543" y="340630"/>
                </a:cubicBezTo>
                <a:lnTo>
                  <a:pt x="539688" y="272914"/>
                </a:lnTo>
                <a:close/>
                <a:moveTo>
                  <a:pt x="1299270" y="153665"/>
                </a:moveTo>
                <a:lnTo>
                  <a:pt x="1201415" y="221382"/>
                </a:lnTo>
                <a:cubicBezTo>
                  <a:pt x="1218344" y="246125"/>
                  <a:pt x="1232669" y="272355"/>
                  <a:pt x="1244389" y="300261"/>
                </a:cubicBezTo>
                <a:cubicBezTo>
                  <a:pt x="1268016" y="355885"/>
                  <a:pt x="1279922" y="415044"/>
                  <a:pt x="1279922" y="476250"/>
                </a:cubicBezTo>
                <a:cubicBezTo>
                  <a:pt x="1279922" y="537270"/>
                  <a:pt x="1268016" y="596429"/>
                  <a:pt x="1244389" y="652239"/>
                </a:cubicBezTo>
                <a:cubicBezTo>
                  <a:pt x="1232669" y="679959"/>
                  <a:pt x="1218344" y="706376"/>
                  <a:pt x="1201415" y="731118"/>
                </a:cubicBezTo>
                <a:lnTo>
                  <a:pt x="1299270" y="798835"/>
                </a:lnTo>
                <a:cubicBezTo>
                  <a:pt x="1362149" y="706934"/>
                  <a:pt x="1398984" y="595871"/>
                  <a:pt x="1398984" y="476250"/>
                </a:cubicBezTo>
                <a:cubicBezTo>
                  <a:pt x="1398984" y="356629"/>
                  <a:pt x="1362149" y="245566"/>
                  <a:pt x="1299270" y="153665"/>
                </a:cubicBezTo>
                <a:close/>
                <a:moveTo>
                  <a:pt x="458019" y="216359"/>
                </a:moveTo>
                <a:lnTo>
                  <a:pt x="360164" y="148642"/>
                </a:lnTo>
                <a:cubicBezTo>
                  <a:pt x="294866" y="241288"/>
                  <a:pt x="256729" y="354397"/>
                  <a:pt x="256729" y="476250"/>
                </a:cubicBezTo>
                <a:cubicBezTo>
                  <a:pt x="256729" y="598103"/>
                  <a:pt x="294866" y="711212"/>
                  <a:pt x="359978" y="804044"/>
                </a:cubicBezTo>
                <a:lnTo>
                  <a:pt x="457833" y="736327"/>
                </a:lnTo>
                <a:cubicBezTo>
                  <a:pt x="439415" y="710096"/>
                  <a:pt x="423788" y="682005"/>
                  <a:pt x="411138" y="652239"/>
                </a:cubicBezTo>
                <a:cubicBezTo>
                  <a:pt x="387697" y="596429"/>
                  <a:pt x="375791" y="537270"/>
                  <a:pt x="375791" y="476250"/>
                </a:cubicBezTo>
                <a:cubicBezTo>
                  <a:pt x="375791" y="415230"/>
                  <a:pt x="387697" y="355885"/>
                  <a:pt x="411324" y="300261"/>
                </a:cubicBezTo>
                <a:cubicBezTo>
                  <a:pt x="423788" y="270495"/>
                  <a:pt x="439415" y="242404"/>
                  <a:pt x="458019" y="216359"/>
                </a:cubicBezTo>
                <a:close/>
                <a:moveTo>
                  <a:pt x="1521396" y="0"/>
                </a:moveTo>
                <a:lnTo>
                  <a:pt x="1423541" y="67717"/>
                </a:lnTo>
                <a:cubicBezTo>
                  <a:pt x="1450330" y="106784"/>
                  <a:pt x="1473213" y="148642"/>
                  <a:pt x="1491816" y="192546"/>
                </a:cubicBezTo>
                <a:cubicBezTo>
                  <a:pt x="1529023" y="280541"/>
                  <a:pt x="1547999" y="374117"/>
                  <a:pt x="1547999" y="470669"/>
                </a:cubicBezTo>
                <a:cubicBezTo>
                  <a:pt x="1547999" y="567221"/>
                  <a:pt x="1529209" y="660611"/>
                  <a:pt x="1491816" y="748792"/>
                </a:cubicBezTo>
                <a:cubicBezTo>
                  <a:pt x="1471910" y="795672"/>
                  <a:pt x="1447354" y="839949"/>
                  <a:pt x="1418332" y="881249"/>
                </a:cubicBezTo>
                <a:lnTo>
                  <a:pt x="1516187" y="948779"/>
                </a:lnTo>
                <a:cubicBezTo>
                  <a:pt x="1611251" y="813346"/>
                  <a:pt x="1666875" y="648519"/>
                  <a:pt x="1666875" y="470669"/>
                </a:cubicBezTo>
                <a:cubicBezTo>
                  <a:pt x="1666875" y="295982"/>
                  <a:pt x="1613111" y="133945"/>
                  <a:pt x="1521396" y="0"/>
                </a:cubicBezTo>
                <a:close/>
                <a:moveTo>
                  <a:pt x="119063" y="470669"/>
                </a:moveTo>
                <a:cubicBezTo>
                  <a:pt x="119063" y="374117"/>
                  <a:pt x="137852" y="280541"/>
                  <a:pt x="175245" y="192546"/>
                </a:cubicBezTo>
                <a:cubicBezTo>
                  <a:pt x="193849" y="148456"/>
                  <a:pt x="216731" y="106784"/>
                  <a:pt x="243520" y="67717"/>
                </a:cubicBezTo>
                <a:lnTo>
                  <a:pt x="145479" y="0"/>
                </a:lnTo>
                <a:cubicBezTo>
                  <a:pt x="53764" y="133945"/>
                  <a:pt x="0" y="295982"/>
                  <a:pt x="0" y="470669"/>
                </a:cubicBezTo>
                <a:cubicBezTo>
                  <a:pt x="0" y="648519"/>
                  <a:pt x="55811" y="813532"/>
                  <a:pt x="150688" y="948779"/>
                </a:cubicBezTo>
                <a:lnTo>
                  <a:pt x="248543" y="881063"/>
                </a:lnTo>
                <a:cubicBezTo>
                  <a:pt x="219521" y="839763"/>
                  <a:pt x="194965" y="795486"/>
                  <a:pt x="175059" y="748605"/>
                </a:cubicBezTo>
                <a:cubicBezTo>
                  <a:pt x="137852" y="660611"/>
                  <a:pt x="119063" y="567221"/>
                  <a:pt x="119063" y="470669"/>
                </a:cubicBezTo>
                <a:close/>
              </a:path>
            </a:pathLst>
          </a:custGeom>
          <a:gradFill flip="none" rotWithShape="1">
            <a:gsLst>
              <a:gs pos="0">
                <a:srgbClr val="E6F7FE"/>
              </a:gs>
              <a:gs pos="82000">
                <a:srgbClr val="5ECDF6"/>
              </a:gs>
            </a:gsLst>
            <a:lin ang="5400000" scaled="1"/>
          </a:gradFill>
          <a:ln w="1860" cap="flat">
            <a:noFill/>
            <a:prstDash val="solid"/>
            <a:miter/>
          </a:ln>
        </p:spPr>
        <p:txBody>
          <a:bodyPr rtlCol="0" anchor="ctr"/>
          <a:lstStyle/>
          <a:p>
            <a:pP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封面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email"/>
          <a:stretch>
            <a:fillRect/>
          </a:stretch>
        </p:blipFill>
        <p:spPr>
          <a:xfrm>
            <a:off x="0" y="0"/>
            <a:ext cx="9144000" cy="5143500"/>
          </a:xfrm>
          <a:prstGeom prst="rect">
            <a:avLst/>
          </a:prstGeom>
        </p:spPr>
      </p:pic>
      <p:sp>
        <p:nvSpPr>
          <p:cNvPr id="6" name="竖排文字占位符 9"/>
          <p:cNvSpPr>
            <a:spLocks noGrp="1"/>
          </p:cNvSpPr>
          <p:nvPr>
            <p:ph type="body" orient="vert" sz="quarter" idx="15" hasCustomPrompt="1"/>
          </p:nvPr>
        </p:nvSpPr>
        <p:spPr>
          <a:xfrm flipH="1">
            <a:off x="2284256" y="2237286"/>
            <a:ext cx="4575489" cy="429823"/>
          </a:xfrm>
          <a:prstGeom prst="rect">
            <a:avLst/>
          </a:prstGeom>
          <a:noFill/>
        </p:spPr>
        <p:txBody>
          <a:bodyPr vert="horz" lIns="91440" tIns="45720" rIns="91440" bIns="45720" rtlCol="0" anchor="ctr">
            <a:noAutofit/>
          </a:bodyPr>
          <a:lstStyle>
            <a:lvl1pPr marL="0" indent="0" algn="ctr">
              <a:lnSpc>
                <a:spcPct val="100000"/>
              </a:lnSpc>
              <a:spcBef>
                <a:spcPct val="0"/>
              </a:spcBef>
              <a:buNone/>
              <a:defRPr lang="zh-CN" altLang="en-US" sz="1800" b="1">
                <a:solidFill>
                  <a:schemeClr val="bg1"/>
                </a:solidFill>
                <a:latin typeface="+mn-ea"/>
                <a:ea typeface="+mn-ea"/>
              </a:defRPr>
            </a:lvl1pPr>
          </a:lstStyle>
          <a:p>
            <a:pPr lvl="0">
              <a:buNone/>
            </a:pPr>
            <a:r>
              <a:rPr lang="zh-CN" altLang="en-US"/>
              <a:t>编辑文本</a:t>
            </a:r>
            <a:endParaRPr lang="zh-CN" altLang="en-US"/>
          </a:p>
        </p:txBody>
      </p:sp>
      <p:sp>
        <p:nvSpPr>
          <p:cNvPr id="5" name="文本占位符 15"/>
          <p:cNvSpPr>
            <a:spLocks noGrp="1"/>
          </p:cNvSpPr>
          <p:nvPr>
            <p:ph type="body" sz="quarter" idx="13" hasCustomPrompt="1"/>
          </p:nvPr>
        </p:nvSpPr>
        <p:spPr>
          <a:xfrm>
            <a:off x="494110" y="1215798"/>
            <a:ext cx="8155781" cy="800645"/>
          </a:xfrm>
        </p:spPr>
        <p:txBody>
          <a:bodyPr anchor="ctr">
            <a:noAutofit/>
          </a:bodyPr>
          <a:lstStyle>
            <a:lvl1pPr marL="0" indent="0" algn="ctr">
              <a:spcBef>
                <a:spcPct val="0"/>
              </a:spcBef>
              <a:buNone/>
              <a:defRPr lang="zh-CN" altLang="en-US" sz="4950" b="0" kern="1200" spc="0" baseline="0" smtClean="0">
                <a:gradFill>
                  <a:gsLst>
                    <a:gs pos="0">
                      <a:schemeClr val="bg1"/>
                    </a:gs>
                    <a:gs pos="100000">
                      <a:schemeClr val="bg1">
                        <a:alpha val="60000"/>
                      </a:schemeClr>
                    </a:gs>
                  </a:gsLst>
                  <a:lin ang="5400000" scaled="1"/>
                </a:gradFill>
                <a:effectLst/>
                <a:latin typeface="+mj-ea"/>
                <a:ea typeface="+mj-ea"/>
                <a:cs typeface="+mn-cs"/>
              </a:defRPr>
            </a:lvl1pPr>
            <a:lvl2pPr>
              <a:buNone/>
              <a:defRPr/>
            </a:lvl2pPr>
          </a:lstStyle>
          <a:p>
            <a:pPr lvl="0"/>
            <a:r>
              <a:rPr lang="zh-CN" altLang="en-US"/>
              <a:t>标题文字</a:t>
            </a:r>
            <a:endParaRPr lang="en-US" altLang="zh-CN"/>
          </a:p>
        </p:txBody>
      </p:sp>
      <p:sp>
        <p:nvSpPr>
          <p:cNvPr id="10" name="竖排文字占位符 9"/>
          <p:cNvSpPr>
            <a:spLocks noGrp="1"/>
          </p:cNvSpPr>
          <p:nvPr>
            <p:ph type="body" orient="vert" sz="quarter" idx="17" hasCustomPrompt="1"/>
          </p:nvPr>
        </p:nvSpPr>
        <p:spPr>
          <a:xfrm flipH="1">
            <a:off x="3636596" y="2934557"/>
            <a:ext cx="1870808" cy="429823"/>
          </a:xfrm>
          <a:prstGeom prst="rect">
            <a:avLst/>
          </a:prstGeom>
          <a:noFill/>
          <a:ln>
            <a:gradFill flip="none" rotWithShape="1">
              <a:gsLst>
                <a:gs pos="60500">
                  <a:srgbClr val="2EBDFA"/>
                </a:gs>
                <a:gs pos="0">
                  <a:schemeClr val="accent4">
                    <a:alpha val="0"/>
                  </a:schemeClr>
                </a:gs>
                <a:gs pos="100000">
                  <a:schemeClr val="accent4">
                    <a:alpha val="0"/>
                  </a:schemeClr>
                </a:gs>
              </a:gsLst>
              <a:lin ang="16200000" scaled="1"/>
            </a:gradFill>
          </a:ln>
        </p:spPr>
        <p:txBody>
          <a:bodyPr vert="horz" lIns="91440" tIns="45720" rIns="91440" bIns="45720" rtlCol="0" anchor="ctr">
            <a:noAutofit/>
          </a:bodyPr>
          <a:lstStyle>
            <a:lvl1pPr marL="0" indent="0" algn="ctr">
              <a:lnSpc>
                <a:spcPct val="120000"/>
              </a:lnSpc>
              <a:spcBef>
                <a:spcPct val="0"/>
              </a:spcBef>
              <a:buNone/>
              <a:defRPr lang="zh-CN" altLang="en-US" sz="1350" b="1">
                <a:solidFill>
                  <a:schemeClr val="bg1"/>
                </a:solidFill>
                <a:latin typeface="+mn-ea"/>
                <a:ea typeface="+mn-ea"/>
              </a:defRPr>
            </a:lvl1pPr>
          </a:lstStyle>
          <a:p>
            <a:pPr lvl="0">
              <a:buNone/>
            </a:pPr>
            <a:r>
              <a:rPr lang="zh-CN" altLang="en-US"/>
              <a:t>编辑文本</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stretch>
            <a:fillRect/>
          </a:stretch>
        </p:blipFill>
        <p:spPr>
          <a:xfrm>
            <a:off x="0" y="0"/>
            <a:ext cx="9144000" cy="5143500"/>
          </a:xfrm>
          <a:prstGeom prst="rect">
            <a:avLst/>
          </a:prstGeom>
        </p:spPr>
      </p:pic>
      <p:sp>
        <p:nvSpPr>
          <p:cNvPr id="7" name="矩形 6"/>
          <p:cNvSpPr/>
          <p:nvPr userDrawn="1"/>
        </p:nvSpPr>
        <p:spPr>
          <a:xfrm>
            <a:off x="0" y="0"/>
            <a:ext cx="9144000" cy="5143500"/>
          </a:xfrm>
          <a:prstGeom prst="rect">
            <a:avLst/>
          </a:prstGeom>
          <a:solidFill>
            <a:srgbClr val="022C5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等线"/>
              <a:ea typeface="等线"/>
              <a:cs typeface="+mn-cs"/>
            </a:endParaRPr>
          </a:p>
        </p:txBody>
      </p:sp>
      <p:pic>
        <p:nvPicPr>
          <p:cNvPr id="8" name="图片 7"/>
          <p:cNvPicPr>
            <a:picLocks noChangeAspect="1"/>
          </p:cNvPicPr>
          <p:nvPr userDrawn="1"/>
        </p:nvPicPr>
        <p:blipFill>
          <a:blip r:embed="rId3"/>
          <a:stretch>
            <a:fillRect/>
          </a:stretch>
        </p:blipFill>
        <p:spPr>
          <a:xfrm>
            <a:off x="1951667" y="-830628"/>
            <a:ext cx="5240666" cy="29478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8" name="组合 7"/>
          <p:cNvGrpSpPr/>
          <p:nvPr userDrawn="1"/>
        </p:nvGrpSpPr>
        <p:grpSpPr>
          <a:xfrm>
            <a:off x="0" y="-476"/>
            <a:ext cx="9144000" cy="5144929"/>
            <a:chOff x="0" y="-1"/>
            <a:chExt cx="19200" cy="10803"/>
          </a:xfrm>
        </p:grpSpPr>
        <p:pic>
          <p:nvPicPr>
            <p:cNvPr id="3" name="图片 2" descr="微信图片_20250718163043_316"/>
            <p:cNvPicPr>
              <a:picLocks noChangeAspect="1"/>
            </p:cNvPicPr>
            <p:nvPr/>
          </p:nvPicPr>
          <p:blipFill>
            <a:blip r:embed="rId2"/>
            <a:stretch>
              <a:fillRect/>
            </a:stretch>
          </p:blipFill>
          <p:spPr>
            <a:xfrm>
              <a:off x="0" y="-1"/>
              <a:ext cx="19200" cy="10802"/>
            </a:xfrm>
            <a:prstGeom prst="rect">
              <a:avLst/>
            </a:prstGeom>
          </p:spPr>
        </p:pic>
        <p:sp>
          <p:nvSpPr>
            <p:cNvPr id="6" name="矩形 5"/>
            <p:cNvSpPr/>
            <p:nvPr/>
          </p:nvSpPr>
          <p:spPr>
            <a:xfrm>
              <a:off x="0" y="0"/>
              <a:ext cx="19200" cy="10802"/>
            </a:xfrm>
            <a:prstGeom prst="rect">
              <a:avLst/>
            </a:prstGeom>
            <a:solidFill>
              <a:srgbClr val="000000">
                <a:alpha val="8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image" Target="../media/image17.png"/><Relationship Id="rId2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51D812D-BC7E-4A63-8046-08152F57DFA8}"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84D0A57E-7639-4332-A278-621DDC23627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mc:AlternateContent xmlns:mc="http://schemas.openxmlformats.org/markup-compatibility/2006">
    <mc:Choice xmlns:p14="http://schemas.microsoft.com/office/powerpoint/2010/main" Requires="p14">
      <p:transition spd="slow" p14:dur="800"/>
    </mc:Choice>
    <mc:Fallback>
      <p:transition spd="slow"/>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GIF"/><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1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tags" Target="../tags/tag1.xml"/><Relationship Id="rId3" Type="http://schemas.openxmlformats.org/officeDocument/2006/relationships/image" Target="../media/image23.png"/><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slideLayout" Target="../slideLayouts/slideLayout27.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GIF"/><Relationship Id="rId5" Type="http://schemas.openxmlformats.org/officeDocument/2006/relationships/image" Target="../media/image27.png"/><Relationship Id="rId6" Type="http://schemas.microsoft.com/office/2007/relationships/hdphoto" Target="../media/image28.wdp"/><Relationship Id="rId7" Type="http://schemas.openxmlformats.org/officeDocument/2006/relationships/tags" Target="../tags/tag5.xml"/><Relationship Id="rId8" Type="http://schemas.openxmlformats.org/officeDocument/2006/relationships/themeOverride" Target="../theme/themeOverride1.xml"/><Relationship Id="rId9" Type="http://schemas.openxmlformats.org/officeDocument/2006/relationships/slideLayout" Target="../slideLayouts/slideLayout14.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9.GIF"/><Relationship Id="rId5" Type="http://schemas.openxmlformats.org/officeDocument/2006/relationships/themeOverride" Target="../theme/themeOverride2.xml"/><Relationship Id="rId6" Type="http://schemas.openxmlformats.org/officeDocument/2006/relationships/slideLayout" Target="../slideLayouts/slideLayout1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3.xml"/><Relationship Id="rId3" Type="http://schemas.openxmlformats.org/officeDocument/2006/relationships/slideLayout" Target="../slideLayouts/slideLayout1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0.jpeg"/><Relationship Id="rId2" Type="http://schemas.openxmlformats.org/officeDocument/2006/relationships/image" Target="../media/image31.jpeg"/><Relationship Id="rId3" Type="http://schemas.openxmlformats.org/officeDocument/2006/relationships/image" Target="../media/image32.png"/><Relationship Id="rId4" Type="http://schemas.openxmlformats.org/officeDocument/2006/relationships/slideLayout" Target="../slideLayouts/slideLayout1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themeOverride" Target="../theme/themeOverride4.xml"/><Relationship Id="rId6" Type="http://schemas.openxmlformats.org/officeDocument/2006/relationships/slideLayout" Target="../slideLayouts/slideLayout15.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themeOverride" Target="../theme/themeOverride5.xml"/><Relationship Id="rId5" Type="http://schemas.openxmlformats.org/officeDocument/2006/relationships/slideLayout" Target="../slideLayouts/slideLayout1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6.xml"/><Relationship Id="rId3" Type="http://schemas.openxmlformats.org/officeDocument/2006/relationships/slideLayout" Target="../slideLayouts/slideLayout15.xml"/><Relationship Id="rId4" Type="http://schemas.openxmlformats.org/officeDocument/2006/relationships/notesSlide" Target="../notesSlides/notesSlide12.xml"/><Relationship Id="rId5"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7.xml"/><Relationship Id="rId3" Type="http://schemas.openxmlformats.org/officeDocument/2006/relationships/slideLayout" Target="../slideLayouts/slideLayout15.xml"/><Relationship Id="rId4" Type="http://schemas.openxmlformats.org/officeDocument/2006/relationships/notesSlide" Target="../notesSlides/notesSlide13.xml"/><Relationship Id="rId5"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8.png"/><Relationship Id="rId3" Type="http://schemas.openxmlformats.org/officeDocument/2006/relationships/themeOverride" Target="../theme/themeOverride8.xml"/><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slideLayout" Target="../slideLayouts/slideLayout31.xml"/><Relationship Id="rId6" Type="http://schemas.openxmlformats.org/officeDocument/2006/relationships/notesSlide" Target="../notesSlides/notesSlide15.xml"/><Relationship Id="rId7" Type="http://schemas.openxmlformats.org/officeDocument/2006/relationships/image" Target="../media/image17.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0.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9143999" cy="5143500"/>
          </a:xfrm>
          <a:prstGeom prst="rect">
            <a:avLst/>
          </a:prstGeom>
        </p:spPr>
      </p:pic>
      <p:pic>
        <p:nvPicPr>
          <p:cNvPr id="20" name="图片 19"/>
          <p:cNvPicPr>
            <a:picLocks noChangeAspect="1"/>
          </p:cNvPicPr>
          <p:nvPr/>
        </p:nvPicPr>
        <p:blipFill>
          <a:blip r:embed="rId2"/>
          <a:stretch>
            <a:fillRect/>
          </a:stretch>
        </p:blipFill>
        <p:spPr>
          <a:xfrm>
            <a:off x="0" y="0"/>
            <a:ext cx="9144000" cy="5143500"/>
          </a:xfrm>
          <a:prstGeom prst="rect">
            <a:avLst/>
          </a:prstGeom>
        </p:spPr>
      </p:pic>
      <p:sp>
        <p:nvSpPr>
          <p:cNvPr id="2" name="矩形 1"/>
          <p:cNvSpPr/>
          <p:nvPr/>
        </p:nvSpPr>
        <p:spPr>
          <a:xfrm>
            <a:off x="-1" y="0"/>
            <a:ext cx="9143999" cy="5143500"/>
          </a:xfrm>
          <a:prstGeom prst="rect">
            <a:avLst/>
          </a:prstGeom>
          <a:solidFill>
            <a:schemeClr val="bg2">
              <a:lumMod val="1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p:nvSpPr>
        <p:spPr>
          <a:xfrm>
            <a:off x="2590027" y="3667338"/>
            <a:ext cx="3963947" cy="419418"/>
          </a:xfrm>
          <a:prstGeom prst="roundRect">
            <a:avLst/>
          </a:prstGeom>
          <a:solidFill>
            <a:schemeClr val="accent1">
              <a:alpha val="16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814318" y="3700075"/>
            <a:ext cx="3515363" cy="353943"/>
          </a:xfrm>
          <a:prstGeom prst="rect">
            <a:avLst/>
          </a:prstGeom>
          <a:noFill/>
        </p:spPr>
        <p:txBody>
          <a:bodyPr wrap="square">
            <a:spAutoFit/>
          </a:bodyPr>
          <a:lstStyle/>
          <a:p>
            <a:pPr marL="0" indent="0" algn="ctr">
              <a:buNone/>
            </a:pPr>
            <a:r>
              <a:rPr lang="zh-CN" altLang="en-US" sz="1700" b="1" kern="0" spc="200" dirty="0">
                <a:solidFill>
                  <a:srgbClr val="FFFFFF"/>
                </a:solidFill>
                <a:latin typeface="微软雅黑" pitchFamily="34" charset="0"/>
                <a:ea typeface="微软雅黑" pitchFamily="34" charset="-122"/>
                <a:cs typeface="微软雅黑" pitchFamily="34" charset="-120"/>
              </a:rPr>
              <a:t>让每一座烤房，都有“体检”、有“决策”、有“管家”</a:t>
            </a:r>
            <a:r>
              <a:rPr lang="zh-CN" altLang="en-US" sz="1700" b="1" kern="0" spc="200" dirty="0">
                <a:solidFill>
                  <a:schemeClr val="accent2"/>
                </a:solidFill>
                <a:latin typeface="微软雅黑" pitchFamily="34" charset="0"/>
                <a:ea typeface="微软雅黑" pitchFamily="34" charset="-122"/>
                <a:cs typeface="微软雅黑" pitchFamily="34" charset="-120"/>
              </a:rPr>
              <a:t/>
            </a:r>
            <a:r>
              <a:rPr lang="zh-CN" altLang="en-US" sz="1700" b="1" kern="0" spc="200" dirty="0">
                <a:solidFill>
                  <a:srgbClr val="FFFFFF"/>
                </a:solidFill>
                <a:latin typeface="微软雅黑" pitchFamily="34" charset="0"/>
                <a:ea typeface="微软雅黑" pitchFamily="34" charset="-122"/>
                <a:cs typeface="微软雅黑" pitchFamily="34" charset="-120"/>
              </a:rPr>
              <a:t/>
            </a:r>
            <a:endParaRPr lang="en-US" altLang="zh-CN" sz="1700" dirty="0"/>
          </a:p>
        </p:txBody>
      </p:sp>
      <p:sp>
        <p:nvSpPr>
          <p:cNvPr id="13" name="文本框 12"/>
          <p:cNvSpPr txBox="1"/>
          <p:nvPr/>
        </p:nvSpPr>
        <p:spPr>
          <a:xfrm>
            <a:off x="1503045" y="4264660"/>
            <a:ext cx="5926455" cy="337185"/>
          </a:xfrm>
          <a:prstGeom prst="rect">
            <a:avLst/>
          </a:prstGeom>
          <a:noFill/>
        </p:spPr>
        <p:txBody>
          <a:bodyPr wrap="square">
            <a:spAutoFit/>
          </a:bodyPr>
          <a:lstStyle/>
          <a:p>
            <a:pPr marL="0" indent="0" algn="ctr">
              <a:buNone/>
            </a:pPr>
            <a:r>
              <a:rPr lang="en-US" altLang="zh-CN" sz="1600" dirty="0" err="1">
                <a:solidFill>
                  <a:schemeClr val="bg1"/>
                </a:solidFill>
                <a:latin typeface="微软雅黑" pitchFamily="34" charset="0"/>
                <a:ea typeface="微软雅黑" pitchFamily="34" charset="0"/>
                <a:cs typeface="微软雅黑" pitchFamily="34" charset="0"/>
              </a:rPr>
              <a:t>汇报单位：宜昌市烟草公司    汇报人：余文杰    2026.10</a:t>
            </a:r>
            <a:r>
              <a:rPr lang="en-US" altLang="zh-CN" sz="1600" dirty="0">
                <a:solidFill>
                  <a:schemeClr val="bg1"/>
                </a:solidFill>
                <a:latin typeface="微软雅黑" pitchFamily="34" charset="0"/>
                <a:ea typeface="微软雅黑" pitchFamily="34" charset="0"/>
                <a:cs typeface="微软雅黑" pitchFamily="34" charset="0"/>
              </a:rPr>
              <a:t/>
            </a:r>
            <a:r>
              <a:rPr lang="en-US" altLang="zh-CN" sz="1600" dirty="0" err="1">
                <a:solidFill>
                  <a:schemeClr val="bg1"/>
                </a:solidFill>
                <a:latin typeface="微软雅黑" pitchFamily="34" charset="0"/>
                <a:ea typeface="微软雅黑" pitchFamily="34" charset="0"/>
                <a:cs typeface="微软雅黑" pitchFamily="34" charset="0"/>
              </a:rPr>
              <a:t/>
            </a:r>
            <a:r>
              <a:rPr lang="en-US" altLang="zh-CN" sz="1600" dirty="0">
                <a:solidFill>
                  <a:schemeClr val="bg1"/>
                </a:solidFill>
                <a:latin typeface="微软雅黑" pitchFamily="34" charset="0"/>
                <a:ea typeface="微软雅黑" pitchFamily="34" charset="0"/>
                <a:cs typeface="微软雅黑" pitchFamily="34" charset="0"/>
              </a:rPr>
              <a:t/>
            </a:r>
            <a:r>
              <a:rPr lang="zh-CN" altLang="en-US" sz="1600" dirty="0">
                <a:solidFill>
                  <a:schemeClr val="bg1"/>
                </a:solidFill>
                <a:latin typeface="微软雅黑" pitchFamily="34" charset="0"/>
                <a:ea typeface="微软雅黑" pitchFamily="34" charset="0"/>
                <a:cs typeface="微软雅黑" pitchFamily="34" charset="0"/>
              </a:rPr>
              <a:t/>
            </a:r>
            <a:r>
              <a:rPr lang="en-US" altLang="zh-CN" sz="1600" dirty="0">
                <a:solidFill>
                  <a:schemeClr val="bg1"/>
                </a:solidFill>
                <a:latin typeface="微软雅黑" pitchFamily="34" charset="0"/>
                <a:ea typeface="微软雅黑" pitchFamily="34" charset="0"/>
                <a:cs typeface="微软雅黑" pitchFamily="34" charset="0"/>
              </a:rPr>
              <a:t/>
            </a:r>
            <a:endParaRPr lang="en-US" altLang="zh-CN" sz="1600" dirty="0">
              <a:solidFill>
                <a:schemeClr val="bg1"/>
              </a:solidFill>
              <a:ea typeface="微软雅黑" pitchFamily="34" charset="0"/>
              <a:cs typeface="微软雅黑" pitchFamily="34" charset="0"/>
            </a:endParaRPr>
          </a:p>
        </p:txBody>
      </p:sp>
      <p:sp>
        <p:nvSpPr>
          <p:cNvPr id="3" name="文本框 2"/>
          <p:cNvSpPr txBox="1"/>
          <p:nvPr/>
        </p:nvSpPr>
        <p:spPr>
          <a:xfrm>
            <a:off x="2590165" y="3255645"/>
            <a:ext cx="4099560" cy="352425"/>
          </a:xfrm>
          <a:prstGeom prst="rect">
            <a:avLst/>
          </a:prstGeom>
          <a:noFill/>
        </p:spPr>
        <p:txBody>
          <a:bodyPr wrap="square">
            <a:spAutoFit/>
          </a:bodyPr>
          <a:lstStyle/>
          <a:p>
            <a:pPr marL="0" indent="0" algn="ctr">
              <a:buNone/>
            </a:pPr>
            <a:r>
              <a:rPr lang="zh-CN" altLang="en-US" sz="1700" b="1" kern="0" spc="200" dirty="0">
                <a:solidFill>
                  <a:schemeClr val="bg1"/>
                </a:solidFill>
                <a:latin typeface="微软雅黑" pitchFamily="34" charset="0"/>
                <a:ea typeface="微软雅黑" pitchFamily="34" charset="-122"/>
                <a:cs typeface="微软雅黑" pitchFamily="34" charset="-120"/>
              </a:rPr>
              <a:t>基于健康评估的烤房用投管一体化解决方案</a:t>
            </a:r>
            <a:r>
              <a:rPr lang="en-US" altLang="zh-CN" sz="1700" b="1" kern="0" spc="200" dirty="0">
                <a:solidFill>
                  <a:schemeClr val="bg1"/>
                </a:solidFill>
                <a:latin typeface="微软雅黑" pitchFamily="34" charset="0"/>
                <a:ea typeface="微软雅黑" pitchFamily="34" charset="-122"/>
                <a:cs typeface="微软雅黑" pitchFamily="34" charset="-120"/>
              </a:rPr>
              <a:t/>
            </a:r>
            <a:r>
              <a:rPr lang="zh-CN" altLang="en-US" sz="1700" b="1" kern="0" spc="250" dirty="0">
                <a:solidFill>
                  <a:schemeClr val="bg1"/>
                </a:solidFill>
                <a:latin typeface="微软雅黑" pitchFamily="34" charset="0"/>
                <a:ea typeface="微软雅黑" pitchFamily="34" charset="-122"/>
                <a:cs typeface="微软雅黑" pitchFamily="34" charset="-120"/>
                <a:sym typeface="+mn-ea"/>
              </a:rPr>
              <a:t/>
            </a:r>
            <a:endParaRPr lang="zh-CN" altLang="en-US" sz="1700" b="1" kern="0" spc="250" dirty="0">
              <a:solidFill>
                <a:schemeClr val="bg1"/>
              </a:solidFill>
              <a:latin typeface="微软雅黑" pitchFamily="34" charset="0"/>
              <a:ea typeface="微软雅黑" pitchFamily="34" charset="-122"/>
              <a:cs typeface="微软雅黑" pitchFamily="34" charset="-120"/>
              <a:sym typeface="+mn-ea"/>
            </a:endParaRPr>
          </a:p>
        </p:txBody>
      </p:sp>
      <p:sp>
        <p:nvSpPr>
          <p:cNvPr id="21" name="TextBox 20"/>
          <p:cNvSpPr txBox="1"/>
          <p:nvPr/>
        </p:nvSpPr>
        <p:spPr>
          <a:xfrm>
            <a:off x="2148840" y="1325880"/>
            <a:ext cx="4846320" cy="822960"/>
          </a:xfrm>
          <a:prstGeom prst="rect">
            <a:avLst/>
          </a:prstGeom>
          <a:noFill/>
        </p:spPr>
        <p:txBody>
          <a:bodyPr wrap="none">
            <a:spAutoFit/>
          </a:bodyPr>
          <a:lstStyle/>
          <a:p>
            <a:pPr algn="ctr"/>
            <a:r>
              <a:rPr sz="4200" b="1">
                <a:solidFill>
                  <a:srgbClr val="FFFFFF"/>
                </a:solidFill>
                <a:latin typeface="Microsoft YaHei"/>
              </a:rPr>
              <a:t>智烤管家</a:t>
            </a:r>
          </a:p>
        </p:txBody>
      </p:sp>
      <p:sp>
        <p:nvSpPr>
          <p:cNvPr id="22" name="TextBox 21"/>
          <p:cNvSpPr txBox="1"/>
          <p:nvPr/>
        </p:nvSpPr>
        <p:spPr>
          <a:xfrm>
            <a:off x="2971800" y="2039112"/>
            <a:ext cx="3200400" cy="256032"/>
          </a:xfrm>
          <a:prstGeom prst="rect">
            <a:avLst/>
          </a:prstGeom>
          <a:noFill/>
        </p:spPr>
        <p:txBody>
          <a:bodyPr wrap="none">
            <a:spAutoFit/>
          </a:bodyPr>
          <a:lstStyle/>
          <a:p>
            <a:pPr algn="ctr"/>
            <a:r>
              <a:rPr sz="1000" b="0">
                <a:solidFill>
                  <a:srgbClr val="30D3FF"/>
                </a:solidFill>
                <a:latin typeface="Microsoft YaHei"/>
              </a:rPr>
              <a:t>ZHIKAO  MANAGER</a:t>
            </a:r>
          </a:p>
        </p:txBody>
      </p:sp>
    </p:spTree>
  </p:cSld>
  <p:clrMapOvr>
    <a:masterClrMapping/>
  </p:clrMapOvr>
  <mc:AlternateContent xmlns:mc="http://schemas.openxmlformats.org/markup-compatibility/2006">
    <mc:Choice xmlns:p14="http://schemas.microsoft.com/office/powerpoint/2010/main" Requires="p14">
      <p:transition spd="slow" p14:dur="4000" advTm="13446">
        <p14:vortex dir="r"/>
      </p:transition>
    </mc:Choice>
    <mc:Fallback>
      <p:transition spd="slow" advTm="13446">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advTm="29075"/>
    </mc:Choice>
    <mc:Fallback>
      <p:transition spd="slow" advTm="290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5981383" y="1643539"/>
            <a:ext cx="2750820" cy="3021806"/>
            <a:chOff x="8025292" y="1142136"/>
            <a:chExt cx="3667760" cy="5095153"/>
          </a:xfrm>
        </p:grpSpPr>
        <p:sp>
          <p:nvSpPr>
            <p:cNvPr id="20" name="矩形: 圆角 19"/>
            <p:cNvSpPr/>
            <p:nvPr/>
          </p:nvSpPr>
          <p:spPr>
            <a:xfrm>
              <a:off x="8091287" y="1418201"/>
              <a:ext cx="3535770" cy="4819088"/>
            </a:xfrm>
            <a:prstGeom prst="roundRect">
              <a:avLst>
                <a:gd name="adj" fmla="val 3800"/>
              </a:avLst>
            </a:prstGeom>
            <a:gradFill flip="none" rotWithShape="1">
              <a:gsLst>
                <a:gs pos="61000">
                  <a:sysClr val="windowText" lastClr="000000">
                    <a:alpha val="0"/>
                  </a:sysClr>
                </a:gs>
                <a:gs pos="100000">
                  <a:srgbClr val="E6F7FE">
                    <a:alpha val="0"/>
                  </a:srgbClr>
                </a:gs>
                <a:gs pos="0">
                  <a:srgbClr val="16B8F2">
                    <a:alpha val="70000"/>
                  </a:srgbClr>
                </a:gs>
              </a:gsLst>
              <a:lin ang="2700000" scaled="1"/>
            </a:gradFill>
            <a:ln w="12700" cap="flat" cmpd="sng" algn="ctr">
              <a:gradFill flip="none" rotWithShape="1">
                <a:gsLst>
                  <a:gs pos="15000">
                    <a:srgbClr val="16B8F2"/>
                  </a:gs>
                  <a:gs pos="100000">
                    <a:srgbClr val="E6F7FE">
                      <a:alpha val="0"/>
                    </a:srgbClr>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algn="ctr"/>
              <a:endParaRPr lang="zh-CN" altLang="en-US" sz="1015" kern="0">
                <a:solidFill>
                  <a:prstClr val="white"/>
                </a:solidFill>
                <a:latin typeface="Roboto Regular" panose="02000000000000000000"/>
                <a:ea typeface="思源宋体 CN Heavy" pitchFamily="18" charset="-122"/>
              </a:endParaRPr>
            </a:p>
          </p:txBody>
        </p:sp>
        <p:pic>
          <p:nvPicPr>
            <p:cNvPr id="21" name="图片 20" descr="黑暗中的灯光&#10;&#10;描述已自动生成"/>
            <p:cNvPicPr>
              <a:picLocks noChangeAspect="1"/>
            </p:cNvPicPr>
            <p:nvPr/>
          </p:nvPicPr>
          <p:blipFill>
            <a:blip r:embed="rId1" cstate="email"/>
            <a:stretch>
              <a:fillRect/>
            </a:stretch>
          </p:blipFill>
          <p:spPr>
            <a:xfrm>
              <a:off x="8025292" y="1142136"/>
              <a:ext cx="3667760" cy="546416"/>
            </a:xfrm>
            <a:prstGeom prst="rect">
              <a:avLst/>
            </a:prstGeom>
          </p:spPr>
        </p:pic>
      </p:grpSp>
      <p:grpSp>
        <p:nvGrpSpPr>
          <p:cNvPr id="13" name="组合 12"/>
          <p:cNvGrpSpPr/>
          <p:nvPr/>
        </p:nvGrpSpPr>
        <p:grpSpPr>
          <a:xfrm>
            <a:off x="3235325" y="1850231"/>
            <a:ext cx="2750820" cy="2974181"/>
            <a:chOff x="4262120" y="1418201"/>
            <a:chExt cx="3667760" cy="5090707"/>
          </a:xfrm>
        </p:grpSpPr>
        <p:sp>
          <p:nvSpPr>
            <p:cNvPr id="18" name="矩形: 圆角 17"/>
            <p:cNvSpPr/>
            <p:nvPr/>
          </p:nvSpPr>
          <p:spPr>
            <a:xfrm>
              <a:off x="4335915" y="1418201"/>
              <a:ext cx="3535770" cy="4819088"/>
            </a:xfrm>
            <a:prstGeom prst="roundRect">
              <a:avLst>
                <a:gd name="adj" fmla="val 3800"/>
              </a:avLst>
            </a:prstGeom>
            <a:gradFill flip="none" rotWithShape="1">
              <a:gsLst>
                <a:gs pos="61000">
                  <a:sysClr val="windowText" lastClr="000000">
                    <a:alpha val="0"/>
                  </a:sysClr>
                </a:gs>
                <a:gs pos="100000">
                  <a:srgbClr val="E6F7FE">
                    <a:alpha val="70000"/>
                  </a:srgbClr>
                </a:gs>
                <a:gs pos="0">
                  <a:srgbClr val="16B8F2">
                    <a:alpha val="0"/>
                  </a:srgbClr>
                </a:gs>
              </a:gsLst>
              <a:lin ang="2700000" scaled="1"/>
            </a:gradFill>
            <a:ln w="12700" cap="flat" cmpd="sng" algn="ctr">
              <a:gradFill flip="none" rotWithShape="1">
                <a:gsLst>
                  <a:gs pos="15000">
                    <a:srgbClr val="16B8F2">
                      <a:alpha val="0"/>
                    </a:srgbClr>
                  </a:gs>
                  <a:gs pos="100000">
                    <a:srgbClr val="E6F7FE"/>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Roboto Regular" panose="02000000000000000000"/>
                <a:ea typeface="思源宋体 CN Heavy" pitchFamily="18" charset="-122"/>
                <a:cs typeface="+mn-cs"/>
              </a:endParaRPr>
            </a:p>
          </p:txBody>
        </p:sp>
        <p:pic>
          <p:nvPicPr>
            <p:cNvPr id="19" name="图片 18" descr="黑暗中的灯光&#10;&#10;描述已自动生成"/>
            <p:cNvPicPr>
              <a:picLocks noChangeAspect="1"/>
            </p:cNvPicPr>
            <p:nvPr/>
          </p:nvPicPr>
          <p:blipFill>
            <a:blip r:embed="rId1" cstate="email">
              <a:duotone>
                <a:schemeClr val="accent5">
                  <a:shade val="45000"/>
                  <a:satMod val="135000"/>
                </a:schemeClr>
                <a:prstClr val="white"/>
              </a:duotone>
            </a:blip>
            <a:stretch>
              <a:fillRect/>
            </a:stretch>
          </p:blipFill>
          <p:spPr>
            <a:xfrm>
              <a:off x="4262120" y="5962492"/>
              <a:ext cx="3667760" cy="546416"/>
            </a:xfrm>
            <a:prstGeom prst="rect">
              <a:avLst/>
            </a:prstGeom>
          </p:spPr>
        </p:pic>
      </p:grpSp>
      <p:grpSp>
        <p:nvGrpSpPr>
          <p:cNvPr id="11" name="组合 10"/>
          <p:cNvGrpSpPr/>
          <p:nvPr/>
        </p:nvGrpSpPr>
        <p:grpSpPr>
          <a:xfrm>
            <a:off x="493554" y="1643539"/>
            <a:ext cx="2750820" cy="3021806"/>
            <a:chOff x="606494" y="1142136"/>
            <a:chExt cx="3667760" cy="5095153"/>
          </a:xfrm>
        </p:grpSpPr>
        <p:sp>
          <p:nvSpPr>
            <p:cNvPr id="15" name="矩形: 圆角 14"/>
            <p:cNvSpPr/>
            <p:nvPr/>
          </p:nvSpPr>
          <p:spPr>
            <a:xfrm>
              <a:off x="672489" y="1418201"/>
              <a:ext cx="3535770" cy="4819088"/>
            </a:xfrm>
            <a:prstGeom prst="roundRect">
              <a:avLst>
                <a:gd name="adj" fmla="val 3800"/>
              </a:avLst>
            </a:prstGeom>
            <a:gradFill flip="none" rotWithShape="1">
              <a:gsLst>
                <a:gs pos="61000">
                  <a:sysClr val="windowText" lastClr="000000">
                    <a:alpha val="0"/>
                  </a:sysClr>
                </a:gs>
                <a:gs pos="100000">
                  <a:srgbClr val="E6F7FE">
                    <a:alpha val="0"/>
                  </a:srgbClr>
                </a:gs>
                <a:gs pos="0">
                  <a:srgbClr val="16B8F2">
                    <a:alpha val="70000"/>
                  </a:srgbClr>
                </a:gs>
              </a:gsLst>
              <a:lin ang="2700000" scaled="1"/>
            </a:gradFill>
            <a:ln w="12700" cap="flat" cmpd="sng" algn="ctr">
              <a:gradFill flip="none" rotWithShape="1">
                <a:gsLst>
                  <a:gs pos="15000">
                    <a:srgbClr val="16B8F2"/>
                  </a:gs>
                  <a:gs pos="100000">
                    <a:srgbClr val="E6F7FE">
                      <a:alpha val="0"/>
                    </a:srgbClr>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Roboto Regular" panose="02000000000000000000"/>
                <a:ea typeface="思源宋体 CN Heavy" pitchFamily="18" charset="-122"/>
                <a:cs typeface="+mn-cs"/>
              </a:endParaRPr>
            </a:p>
          </p:txBody>
        </p:sp>
        <p:pic>
          <p:nvPicPr>
            <p:cNvPr id="16" name="图片 15" descr="黑暗中的灯光&#10;&#10;描述已自动生成"/>
            <p:cNvPicPr>
              <a:picLocks noChangeAspect="1"/>
            </p:cNvPicPr>
            <p:nvPr/>
          </p:nvPicPr>
          <p:blipFill>
            <a:blip r:embed="rId1" cstate="email"/>
            <a:stretch>
              <a:fillRect/>
            </a:stretch>
          </p:blipFill>
          <p:spPr>
            <a:xfrm>
              <a:off x="606494" y="1142136"/>
              <a:ext cx="3667760" cy="546416"/>
            </a:xfrm>
            <a:prstGeom prst="rect">
              <a:avLst/>
            </a:prstGeom>
          </p:spPr>
        </p:pic>
      </p:grpSp>
      <p:sp>
        <p:nvSpPr>
          <p:cNvPr id="143" name="TextBox 1"/>
          <p:cNvSpPr txBox="1"/>
          <p:nvPr>
            <p:custDataLst>
              <p:tags r:id="rId2"/>
            </p:custDataLst>
          </p:nvPr>
        </p:nvSpPr>
        <p:spPr>
          <a:xfrm>
            <a:off x="2533279" y="79172"/>
            <a:ext cx="4325620" cy="604520"/>
          </a:xfrm>
          <a:prstGeom prst="rect">
            <a:avLst/>
          </a:prstGeom>
          <a:noFill/>
        </p:spPr>
        <p:txBody>
          <a:bodyPr wrap="none" lIns="51435" tIns="25718" rIns="51435" bIns="25718" rtlCol="0">
            <a:spAutoFit/>
          </a:bodyPr>
          <a:lstStyle>
            <a:defPPr>
              <a:defRPr lang="zh-CN"/>
            </a:defPPr>
            <a:lvl1pPr marR="0" lvl="0" indent="0" algn="ctr" defTabSz="812165" fontAlgn="auto">
              <a:lnSpc>
                <a:spcPct val="100000"/>
              </a:lnSpc>
              <a:spcBef>
                <a:spcPct val="0"/>
              </a:spcBef>
              <a:spcAft>
                <a:spcPct val="0"/>
              </a:spcAft>
              <a:buClrTx/>
              <a:buSzTx/>
              <a:buFontTx/>
              <a:buNone/>
              <a:defRPr kumimoji="0" sz="3200" i="0" u="none" strike="noStrike" cap="none" spc="0" normalizeH="0" baseline="0">
                <a:ln>
                  <a:noFill/>
                </a:ln>
                <a:gradFill flip="none" rotWithShape="1">
                  <a:gsLst>
                    <a:gs pos="9000">
                      <a:prstClr val="white"/>
                    </a:gs>
                    <a:gs pos="66000">
                      <a:srgbClr val="6BD3FD"/>
                    </a:gs>
                  </a:gsLst>
                  <a:lin ang="5400000" scaled="1"/>
                </a:gradFill>
                <a:effectLst>
                  <a:outerShdw blurRad="50800" dist="76200" dir="5400000" algn="t" rotWithShape="0">
                    <a:prstClr val="black">
                      <a:alpha val="40000"/>
                    </a:prstClr>
                  </a:outerShdw>
                </a:effectLst>
                <a:uLnTx/>
                <a:uFillTx/>
                <a:latin typeface="汉仪综艺体简" panose="02010609000101010101" pitchFamily="49" charset="-122"/>
                <a:ea typeface="汉仪综艺体简" panose="02010609000101010101" pitchFamily="49" charset="-122"/>
                <a:cs typeface="阿里巴巴普惠体 B" panose="00020600040101010101" pitchFamily="18" charset="-122"/>
              </a:defRPr>
            </a:lvl1p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latin typeface="微软雅黑" pitchFamily="34" charset="0"/>
                <a:ea typeface="微软雅黑" pitchFamily="34" charset="0"/>
                <a:cs typeface="微软雅黑" pitchFamily="34" charset="0"/>
                <a:sym typeface="+mn-ea"/>
              </a:rPr>
              <a:t>一针见血：烤房一线最头疼的3件事</a:t>
            </a:r>
            <a:r>
              <a:rPr lang="en-US" altLang="zh-CN" sz="3600" b="1" dirty="0">
                <a:solidFill>
                  <a:srgbClr val="F1A63A"/>
                </a:solidFill>
                <a:effectLst/>
                <a:latin typeface="微软雅黑" pitchFamily="34" charset="0"/>
                <a:ea typeface="微软雅黑" pitchFamily="34" charset="0"/>
                <a:cs typeface="微软雅黑" pitchFamily="34" charset="0"/>
                <a:sym typeface="+mn-ea"/>
              </a:rPr>
              <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latin typeface="微软雅黑" pitchFamily="34" charset="0"/>
                <a:ea typeface="微软雅黑" pitchFamily="34" charset="0"/>
                <a:cs typeface="微软雅黑" pitchFamily="34" charset="0"/>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latin typeface="微软雅黑" pitchFamily="34" charset="0"/>
              <a:ea typeface="微软雅黑" pitchFamily="34" charset="0"/>
              <a:cs typeface="微软雅黑" pitchFamily="34" charset="0"/>
            </a:endParaRPr>
          </a:p>
        </p:txBody>
      </p:sp>
      <p:pic>
        <p:nvPicPr>
          <p:cNvPr id="100" name="图片 99" descr="黑暗中的灯光&#10;&#10;描述已自动生成" hidden="1"/>
          <p:cNvPicPr>
            <a:picLocks noChangeAspect="1"/>
          </p:cNvPicPr>
          <p:nvPr/>
        </p:nvPicPr>
        <p:blipFill>
          <a:blip r:embed="rId3" cstate="email"/>
          <a:stretch>
            <a:fillRect/>
          </a:stretch>
        </p:blipFill>
        <p:spPr>
          <a:xfrm rot="1799724">
            <a:off x="1565658" y="2401519"/>
            <a:ext cx="1088282" cy="173283"/>
          </a:xfrm>
          <a:prstGeom prst="rect">
            <a:avLst/>
          </a:prstGeom>
        </p:spPr>
      </p:pic>
      <p:sp>
        <p:nvSpPr>
          <p:cNvPr id="96" name="内容占位符 2"/>
          <p:cNvSpPr txBox="1"/>
          <p:nvPr/>
        </p:nvSpPr>
        <p:spPr>
          <a:xfrm>
            <a:off x="6256020" y="3534410"/>
            <a:ext cx="2652395" cy="1083945"/>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pPr>
            <a:r>
              <a:rPr>
                <a:latin typeface="黑体"/>
              </a:rPr>
              <a:t>哪栋该修、哪个村该建</a:t>
            </a:r>
            <a:endParaRPr lang="zh-CN" altLang="en-US" dirty="0">
              <a:latin typeface="黑体" charset="0"/>
              <a:ea typeface="黑体" charset="0"/>
              <a:sym typeface="+mn-ea"/>
            </a:endParaRPr>
          </a:p>
          <a:p>
            <a:pPr algn="l"/>
            <a:r>
              <a:rPr>
                <a:latin typeface="黑体"/>
              </a:rPr>
              <a:t>资金投入缺少量化依据</a:t>
            </a:r>
          </a:p>
        </p:txBody>
      </p:sp>
      <p:grpSp>
        <p:nvGrpSpPr>
          <p:cNvPr id="10" name="组合 9"/>
          <p:cNvGrpSpPr/>
          <p:nvPr/>
        </p:nvGrpSpPr>
        <p:grpSpPr>
          <a:xfrm flipV="1">
            <a:off x="600075" y="381209"/>
            <a:ext cx="7943849" cy="255680"/>
            <a:chOff x="1137172" y="327660"/>
            <a:chExt cx="9917656" cy="342102"/>
          </a:xfrm>
          <a:solidFill>
            <a:srgbClr val="02F3FE"/>
          </a:solidFill>
        </p:grpSpPr>
        <p:sp>
          <p:nvSpPr>
            <p:cNvPr id="17" name="平行四边形 16"/>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1" name="平行四边形 4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2" name="平行四边形 41"/>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3" name="平行四边形 42"/>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4" name="直接连接符 43"/>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45" name="平行四边形 4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6" name="平行四边形 4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7" name="平行四边形 46"/>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8" name="平行四边形 47"/>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9" name="直接连接符 48"/>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50" name="组合 49"/>
            <p:cNvGrpSpPr/>
            <p:nvPr/>
          </p:nvGrpSpPr>
          <p:grpSpPr>
            <a:xfrm>
              <a:off x="3648369" y="327660"/>
              <a:ext cx="4895262" cy="118835"/>
              <a:chOff x="-1626523" y="327660"/>
              <a:chExt cx="4895262" cy="118835"/>
            </a:xfrm>
            <a:grpFill/>
          </p:grpSpPr>
          <p:cxnSp>
            <p:nvCxnSpPr>
              <p:cNvPr id="51" name="直接连接符 50"/>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52" name="直接连接符 5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53" name="直接连接符 52"/>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4" name="文本框 53"/>
          <p:cNvSpPr txBox="1"/>
          <p:nvPr/>
        </p:nvSpPr>
        <p:spPr>
          <a:xfrm>
            <a:off x="790258" y="2643664"/>
            <a:ext cx="2124551" cy="410051"/>
          </a:xfrm>
          <a:prstGeom prst="rect">
            <a:avLst/>
          </a:prstGeom>
        </p:spPr>
        <p:txBody>
          <a:bodyPr>
            <a:noAutofit/>
          </a:bodyPr>
          <a:p>
            <a:pPr defTabSz="266700"/>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rPr>
              <a:t>分不到</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endParaRPr>
          </a:p>
        </p:txBody>
      </p:sp>
      <p:sp>
        <p:nvSpPr>
          <p:cNvPr id="58" name="文本框 57"/>
          <p:cNvSpPr txBox="1"/>
          <p:nvPr/>
        </p:nvSpPr>
        <p:spPr>
          <a:xfrm>
            <a:off x="3535363" y="2643664"/>
            <a:ext cx="2124551" cy="410051"/>
          </a:xfrm>
          <a:prstGeom prst="rect">
            <a:avLst/>
          </a:prstGeom>
        </p:spPr>
        <p:txBody>
          <a:bodyPr>
            <a:noAutofit/>
          </a:bodyPr>
          <a:p>
            <a:pPr lvl="0" algn="l" defTabSz="266700">
              <a:buClrTx/>
              <a:buSzTx/>
              <a:buFontTx/>
            </a:pPr>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修不及</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a:p>
            <a:pPr lvl="0" algn="l" defTabSz="266700">
              <a:buClrTx/>
              <a:buSzTx/>
              <a:buFontTx/>
            </a:pP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59" name="文本框 58"/>
          <p:cNvSpPr txBox="1"/>
          <p:nvPr/>
        </p:nvSpPr>
        <p:spPr>
          <a:xfrm>
            <a:off x="6216650" y="2636996"/>
            <a:ext cx="2336959" cy="410051"/>
          </a:xfrm>
          <a:prstGeom prst="rect">
            <a:avLst/>
          </a:prstGeom>
        </p:spPr>
        <p:txBody>
          <a:bodyPr>
            <a:noAutofit/>
          </a:bodyPr>
          <a:p>
            <a:pPr lvl="0" algn="l" defTabSz="266700">
              <a:buClrTx/>
              <a:buSzTx/>
              <a:buFontTx/>
            </a:pPr>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投不准</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37" name="图形"/>
          <p:cNvSpPr txBox="1"/>
          <p:nvPr>
            <p:custDataLst>
              <p:tags r:id="rId4"/>
            </p:custDataLst>
          </p:nvPr>
        </p:nvSpPr>
        <p:spPr>
          <a:xfrm>
            <a:off x="766446" y="1975010"/>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第一“忧”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38" name="图形"/>
          <p:cNvSpPr txBox="1"/>
          <p:nvPr>
            <p:custDataLst>
              <p:tags r:id="rId5"/>
            </p:custDataLst>
          </p:nvPr>
        </p:nvSpPr>
        <p:spPr>
          <a:xfrm>
            <a:off x="3459163" y="1945482"/>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第二“忧”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39" name="图形"/>
          <p:cNvSpPr txBox="1"/>
          <p:nvPr>
            <p:custDataLst>
              <p:tags r:id="rId6"/>
            </p:custDataLst>
          </p:nvPr>
        </p:nvSpPr>
        <p:spPr>
          <a:xfrm>
            <a:off x="6114733" y="1955483"/>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第三“忧”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2" name="内容占位符 2"/>
          <p:cNvSpPr txBox="1"/>
          <p:nvPr/>
        </p:nvSpPr>
        <p:spPr>
          <a:xfrm>
            <a:off x="638810" y="3534410"/>
            <a:ext cx="2478405" cy="737870"/>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buFont typeface="Arial" panose="020B0604020202090204" pitchFamily="34" charset="0"/>
              <a:buChar char="•"/>
            </a:pPr>
            <a:r>
              <a:rPr>
                <a:latin typeface="黑体"/>
              </a:rPr>
              <a:t>旺季供需不均</a:t>
            </a:r>
            <a:endParaRPr lang="zh-CN" altLang="en-US" dirty="0">
              <a:latin typeface="黑体" charset="0"/>
              <a:ea typeface="黑体" charset="0"/>
              <a:sym typeface="+mn-ea"/>
            </a:endParaRPr>
          </a:p>
          <a:p>
            <a:pPr algn="l"/>
            <a:r>
              <a:rPr>
                <a:latin typeface="黑体"/>
              </a:rPr>
              <a:t>人工协调、调剂慢</a:t>
            </a:r>
          </a:p>
        </p:txBody>
      </p:sp>
      <p:sp>
        <p:nvSpPr>
          <p:cNvPr id="3" name="内容占位符 2"/>
          <p:cNvSpPr txBox="1"/>
          <p:nvPr/>
        </p:nvSpPr>
        <p:spPr>
          <a:xfrm>
            <a:off x="3621405" y="3534410"/>
            <a:ext cx="2320925" cy="1158875"/>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pPr>
            <a:r>
              <a:rPr>
                <a:latin typeface="黑体"/>
              </a:rPr>
              <a:t>设备突发故障</a:t>
            </a:r>
            <a:endParaRPr lang="zh-CN" altLang="en-US" dirty="0">
              <a:latin typeface="黑体" charset="0"/>
              <a:ea typeface="黑体" charset="0"/>
              <a:sym typeface="+mn-ea"/>
            </a:endParaRPr>
          </a:p>
          <a:p>
            <a:pPr algn="l"/>
            <a:r>
              <a:rPr>
                <a:latin typeface="黑体"/>
              </a:rPr>
              <a:t>找人、找配件、进度不透明</a:t>
            </a:r>
          </a:p>
        </p:txBody>
      </p:sp>
      <p:sp>
        <p:nvSpPr>
          <p:cNvPr id="177" name="矩形 176"/>
          <p:cNvSpPr/>
          <p:nvPr/>
        </p:nvSpPr>
        <p:spPr>
          <a:xfrm>
            <a:off x="0" y="880745"/>
            <a:ext cx="9144000" cy="518795"/>
          </a:xfrm>
          <a:prstGeom prst="rect">
            <a:avLst/>
          </a:prstGeom>
          <a:gradFill>
            <a:gsLst>
              <a:gs pos="0">
                <a:srgbClr val="00FFFF">
                  <a:alpha val="25000"/>
                </a:srgbClr>
              </a:gs>
              <a:gs pos="50000">
                <a:srgbClr val="03A2FF">
                  <a:alpha val="0"/>
                </a:srgbClr>
              </a:gs>
              <a:gs pos="100000">
                <a:srgbClr val="016DFF">
                  <a:alpha val="25000"/>
                </a:srgb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rPr>
              <a:t>   </a:t>
            </a:r>
            <a:endParaRPr kumimoji="0" lang="en-US" altLang="zh-CN" sz="18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5" name="Parallelogram 3"/>
          <p:cNvSpPr/>
          <p:nvPr/>
        </p:nvSpPr>
        <p:spPr>
          <a:xfrm>
            <a:off x="850900" y="925195"/>
            <a:ext cx="6877050" cy="430530"/>
          </a:xfrm>
          <a:prstGeom prst="rect">
            <a:avLst/>
          </a:prstGeom>
          <a:noFill/>
          <a:ln w="12700" cap="flat" cmpd="sng" algn="ctr">
            <a:noFill/>
            <a:prstDash val="solid"/>
            <a:miter lim="800000"/>
          </a:ln>
          <a:effectLst/>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cap="none" spc="0" normalizeH="0" baseline="0" noProof="0" dirty="0">
                <a:ln>
                  <a:noFill/>
                </a:ln>
                <a:solidFill>
                  <a:schemeClr val="bg1"/>
                </a:solidFill>
                <a:effectLst/>
                <a:uLnTx/>
                <a:uFillTx/>
                <a:latin typeface="黑体" panose="02010609060101010101" charset="-122"/>
                <a:ea typeface="黑体" panose="02010609060101010101" charset="-122"/>
                <a:sym typeface="+mn-ea"/>
              </a:rPr>
              <a:t>烤房不是“有没有”，关键是：好不好用、怎么投入、谁来持续管</a:t>
            </a:r>
            <a:endParaRPr kumimoji="0" lang="zh-CN" altLang="en-US" sz="2800" b="0" i="0" u="none" strike="noStrike" kern="0" cap="none" spc="0" normalizeH="0" baseline="0" noProof="0" dirty="0">
              <a:ln>
                <a:noFill/>
              </a:ln>
              <a:solidFill>
                <a:schemeClr val="bg1"/>
              </a:solidFill>
              <a:effectLst/>
              <a:uLnTx/>
              <a:uFillTx/>
              <a:latin typeface="黑体" panose="02010609060101010101" charset="-122"/>
              <a:ea typeface="黑体" panose="02010609060101010101" charset="-122"/>
              <a:cs typeface="阿里巴巴普惠体 Heavy" pitchFamily="18"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Tm="30978"/>
    </mc:Choice>
    <mc:Fallback>
      <p:transition spd="slow" advTm="30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7"/>
                                        </p:tgtEl>
                                        <p:attrNameLst>
                                          <p:attrName>style.visibility</p:attrName>
                                        </p:attrNameLst>
                                      </p:cBhvr>
                                      <p:to>
                                        <p:strVal val="visible"/>
                                      </p:to>
                                    </p:set>
                                    <p:anim calcmode="lin" valueType="num">
                                      <p:cBhvr additive="base">
                                        <p:cTn id="7" dur="500" fill="hold"/>
                                        <p:tgtEl>
                                          <p:spTgt spid="177"/>
                                        </p:tgtEl>
                                        <p:attrNameLst>
                                          <p:attrName>ppt_x</p:attrName>
                                        </p:attrNameLst>
                                      </p:cBhvr>
                                      <p:tavLst>
                                        <p:tav tm="0">
                                          <p:val>
                                            <p:strVal val="#ppt_x"/>
                                          </p:val>
                                        </p:tav>
                                        <p:tav tm="100000">
                                          <p:val>
                                            <p:strVal val="#ppt_x"/>
                                          </p:val>
                                        </p:tav>
                                      </p:tavLst>
                                    </p:anim>
                                    <p:anim calcmode="lin" valueType="num">
                                      <p:cBhvr additive="base">
                                        <p:cTn id="8" dur="500" fill="hold"/>
                                        <p:tgtEl>
                                          <p:spTgt spid="17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anim calcmode="lin" valueType="num">
                                      <p:cBhvr additive="base">
                                        <p:cTn id="28" dur="500" fill="hold"/>
                                        <p:tgtEl>
                                          <p:spTgt spid="54"/>
                                        </p:tgtEl>
                                        <p:attrNameLst>
                                          <p:attrName>ppt_x</p:attrName>
                                        </p:attrNameLst>
                                      </p:cBhvr>
                                      <p:tavLst>
                                        <p:tav tm="0">
                                          <p:val>
                                            <p:strVal val="#ppt_x"/>
                                          </p:val>
                                        </p:tav>
                                        <p:tav tm="100000">
                                          <p:val>
                                            <p:strVal val="#ppt_x"/>
                                          </p:val>
                                        </p:tav>
                                      </p:tavLst>
                                    </p:anim>
                                    <p:anim calcmode="lin" valueType="num">
                                      <p:cBhvr additive="base">
                                        <p:cTn id="29" dur="500" fill="hold"/>
                                        <p:tgtEl>
                                          <p:spTgt spid="5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 calcmode="lin" valueType="num">
                                      <p:cBhvr additive="base">
                                        <p:cTn id="32" dur="500" fill="hold"/>
                                        <p:tgtEl>
                                          <p:spTgt spid="58"/>
                                        </p:tgtEl>
                                        <p:attrNameLst>
                                          <p:attrName>ppt_x</p:attrName>
                                        </p:attrNameLst>
                                      </p:cBhvr>
                                      <p:tavLst>
                                        <p:tav tm="0">
                                          <p:val>
                                            <p:strVal val="#ppt_x"/>
                                          </p:val>
                                        </p:tav>
                                        <p:tav tm="100000">
                                          <p:val>
                                            <p:strVal val="#ppt_x"/>
                                          </p:val>
                                        </p:tav>
                                      </p:tavLst>
                                    </p:anim>
                                    <p:anim calcmode="lin" valueType="num">
                                      <p:cBhvr additive="base">
                                        <p:cTn id="33" dur="500" fill="hold"/>
                                        <p:tgtEl>
                                          <p:spTgt spid="5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ppt_x"/>
                                          </p:val>
                                        </p:tav>
                                        <p:tav tm="100000">
                                          <p:val>
                                            <p:strVal val="#ppt_x"/>
                                          </p:val>
                                        </p:tav>
                                      </p:tavLst>
                                    </p:anim>
                                    <p:anim calcmode="lin" valueType="num">
                                      <p:cBhvr additive="base">
                                        <p:cTn id="37" dur="500" fill="hold"/>
                                        <p:tgtEl>
                                          <p:spTgt spid="3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500" fill="hold"/>
                                        <p:tgtEl>
                                          <p:spTgt spid="38"/>
                                        </p:tgtEl>
                                        <p:attrNameLst>
                                          <p:attrName>ppt_x</p:attrName>
                                        </p:attrNameLst>
                                      </p:cBhvr>
                                      <p:tavLst>
                                        <p:tav tm="0">
                                          <p:val>
                                            <p:strVal val="#ppt_x"/>
                                          </p:val>
                                        </p:tav>
                                        <p:tav tm="100000">
                                          <p:val>
                                            <p:strVal val="#ppt_x"/>
                                          </p:val>
                                        </p:tav>
                                      </p:tavLst>
                                    </p:anim>
                                    <p:anim calcmode="lin" valueType="num">
                                      <p:cBhvr additive="base">
                                        <p:cTn id="41" dur="500" fill="hold"/>
                                        <p:tgtEl>
                                          <p:spTgt spid="3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ppt_x"/>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59"/>
                                        </p:tgtEl>
                                        <p:attrNameLst>
                                          <p:attrName>style.visibility</p:attrName>
                                        </p:attrNameLst>
                                      </p:cBhvr>
                                      <p:to>
                                        <p:strVal val="visible"/>
                                      </p:to>
                                    </p:set>
                                    <p:anim calcmode="lin" valueType="num">
                                      <p:cBhvr additive="base">
                                        <p:cTn id="48" dur="500" fill="hold"/>
                                        <p:tgtEl>
                                          <p:spTgt spid="59"/>
                                        </p:tgtEl>
                                        <p:attrNameLst>
                                          <p:attrName>ppt_x</p:attrName>
                                        </p:attrNameLst>
                                      </p:cBhvr>
                                      <p:tavLst>
                                        <p:tav tm="0">
                                          <p:val>
                                            <p:strVal val="#ppt_x"/>
                                          </p:val>
                                        </p:tav>
                                        <p:tav tm="100000">
                                          <p:val>
                                            <p:strVal val="#ppt_x"/>
                                          </p:val>
                                        </p:tav>
                                      </p:tavLst>
                                    </p:anim>
                                    <p:anim calcmode="lin" valueType="num">
                                      <p:cBhvr additive="base">
                                        <p:cTn id="49" dur="500" fill="hold"/>
                                        <p:tgtEl>
                                          <p:spTgt spid="59"/>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96"/>
                                        </p:tgtEl>
                                        <p:attrNameLst>
                                          <p:attrName>style.visibility</p:attrName>
                                        </p:attrNameLst>
                                      </p:cBhvr>
                                      <p:to>
                                        <p:strVal val="visible"/>
                                      </p:to>
                                    </p:set>
                                    <p:anim calcmode="lin" valueType="num">
                                      <p:cBhvr additive="base">
                                        <p:cTn id="52" dur="500" fill="hold"/>
                                        <p:tgtEl>
                                          <p:spTgt spid="96"/>
                                        </p:tgtEl>
                                        <p:attrNameLst>
                                          <p:attrName>ppt_x</p:attrName>
                                        </p:attrNameLst>
                                      </p:cBhvr>
                                      <p:tavLst>
                                        <p:tav tm="0">
                                          <p:val>
                                            <p:strVal val="#ppt_x"/>
                                          </p:val>
                                        </p:tav>
                                        <p:tav tm="100000">
                                          <p:val>
                                            <p:strVal val="#ppt_x"/>
                                          </p:val>
                                        </p:tav>
                                      </p:tavLst>
                                    </p:anim>
                                    <p:anim calcmode="lin" valueType="num">
                                      <p:cBhvr additive="base">
                                        <p:cTn id="53" dur="500" fill="hold"/>
                                        <p:tgtEl>
                                          <p:spTgt spid="96"/>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ppt_x"/>
                                          </p:val>
                                        </p:tav>
                                        <p:tav tm="100000">
                                          <p:val>
                                            <p:strVal val="#ppt_x"/>
                                          </p:val>
                                        </p:tav>
                                      </p:tavLst>
                                    </p:anim>
                                    <p:anim calcmode="lin" valueType="num">
                                      <p:cBhvr additive="base">
                                        <p:cTn id="6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5" grpId="0" animBg="1"/>
      <p:bldP spid="54" grpId="0"/>
      <p:bldP spid="58" grpId="0"/>
      <p:bldP spid="37" grpId="0"/>
      <p:bldP spid="38" grpId="0"/>
      <p:bldP spid="39" grpId="0"/>
      <p:bldP spid="59" grpId="0"/>
      <p:bldP spid="96"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文本框 8"/>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问题不在一个环节，而在“用·投·管”没有连起来</a:t>
            </a:r>
            <a:r>
              <a:rPr lang="en-US" altLang="zh-CN" sz="2800" b="1" dirty="0">
                <a:solidFill>
                  <a:srgbClr val="F1A63A"/>
                </a:solidFill>
                <a:effectLst/>
                <a:latin typeface="微软雅黑" pitchFamily="34" charset="0"/>
                <a:ea typeface="微软雅黑" pitchFamily="34" charset="0"/>
                <a:cs typeface="微软雅黑" pitchFamily="34" charset="0"/>
                <a:sym typeface="+mn-ea"/>
              </a:rPr>
              <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6650" y="1365250"/>
            <a:ext cx="2413000" cy="2413000"/>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650" y="1365250"/>
            <a:ext cx="2413000" cy="2413000"/>
          </a:xfrm>
          <a:prstGeom prst="rect">
            <a:avLst/>
          </a:prstGeom>
        </p:spPr>
      </p:pic>
      <p:pic>
        <p:nvPicPr>
          <p:cNvPr id="19" name="图片 18"/>
          <p:cNvPicPr/>
          <p:nvPr/>
        </p:nvPicPr>
        <p:blipFill>
          <a:blip r:embed="rId4"/>
          <a:srcRect l="20351"/>
          <a:stretch>
            <a:fillRect/>
          </a:stretch>
        </p:blipFill>
        <p:spPr>
          <a:xfrm>
            <a:off x="6204585" y="1199515"/>
            <a:ext cx="2809875" cy="2745105"/>
          </a:xfrm>
          <a:prstGeom prst="rect">
            <a:avLst/>
          </a:prstGeom>
        </p:spPr>
      </p:pic>
      <p:sp>
        <p:nvSpPr>
          <p:cNvPr id="22" name="等腰三角形 21"/>
          <p:cNvSpPr/>
          <p:nvPr/>
        </p:nvSpPr>
        <p:spPr>
          <a:xfrm rot="10800000">
            <a:off x="513080" y="2129790"/>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24" name="等腰三角形 23"/>
          <p:cNvSpPr/>
          <p:nvPr/>
        </p:nvSpPr>
        <p:spPr>
          <a:xfrm rot="10800000">
            <a:off x="4361180" y="2132965"/>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28" name="等腰三角形 27"/>
          <p:cNvSpPr/>
          <p:nvPr/>
        </p:nvSpPr>
        <p:spPr>
          <a:xfrm>
            <a:off x="2437130" y="1597660"/>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31" name="文本框 30"/>
          <p:cNvSpPr txBox="1"/>
          <p:nvPr/>
        </p:nvSpPr>
        <p:spPr>
          <a:xfrm>
            <a:off x="964565" y="2125980"/>
            <a:ext cx="508635" cy="521335"/>
          </a:xfrm>
          <a:prstGeom prst="rect">
            <a:avLst/>
          </a:prstGeom>
          <a:noFill/>
        </p:spPr>
        <p:txBody>
          <a:bodyPr wrap="square" rtlCol="0">
            <a:noAutofit/>
          </a:bodyPr>
          <a:lstStyle/>
          <a:p>
            <a:pPr algn="ct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1</a:t>
            </a:r>
            <a:endParaRPr lang="zh-CN" altLang="en-US" b="1" dirty="0">
              <a:ln w="3175">
                <a:solidFill>
                  <a:schemeClr val="bg1"/>
                </a:solidFill>
              </a:ln>
              <a:solidFill>
                <a:schemeClr val="accent1">
                  <a:lumMod val="75000"/>
                </a:schemeClr>
              </a:solidFill>
            </a:endParaRPr>
          </a:p>
        </p:txBody>
      </p:sp>
      <p:sp>
        <p:nvSpPr>
          <p:cNvPr id="33" name="文本框 32"/>
          <p:cNvSpPr txBox="1"/>
          <p:nvPr/>
        </p:nvSpPr>
        <p:spPr>
          <a:xfrm>
            <a:off x="2920365" y="2125980"/>
            <a:ext cx="508635" cy="508000"/>
          </a:xfrm>
          <a:prstGeom prst="rect">
            <a:avLst/>
          </a:prstGeom>
          <a:noFill/>
        </p:spPr>
        <p:txBody>
          <a:bodyPr wrap="square" rtlCol="0">
            <a:noAutofit/>
          </a:bodyPr>
          <a:lstStyle/>
          <a:p>
            <a:pPr lvl="0" algn="ctr">
              <a:buClrTx/>
              <a:buSzTx/>
              <a:buFontTx/>
            </a:pP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2</a:t>
            </a:r>
            <a:endPar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endParaRPr>
          </a:p>
        </p:txBody>
      </p:sp>
      <p:sp>
        <p:nvSpPr>
          <p:cNvPr id="35" name="文本框 34"/>
          <p:cNvSpPr txBox="1"/>
          <p:nvPr/>
        </p:nvSpPr>
        <p:spPr>
          <a:xfrm>
            <a:off x="4843145" y="2127250"/>
            <a:ext cx="508635" cy="451485"/>
          </a:xfrm>
          <a:prstGeom prst="rect">
            <a:avLst/>
          </a:prstGeom>
          <a:noFill/>
        </p:spPr>
        <p:txBody>
          <a:bodyPr wrap="square" rtlCol="0">
            <a:noAutofit/>
          </a:bodyPr>
          <a:lstStyle/>
          <a:p>
            <a:pPr lvl="0" algn="ctr">
              <a:buClrTx/>
              <a:buSzTx/>
              <a:buFontTx/>
            </a:pP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3</a:t>
            </a:r>
            <a:endPar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endParaRPr>
          </a:p>
        </p:txBody>
      </p:sp>
      <p:sp>
        <p:nvSpPr>
          <p:cNvPr id="41" name="Text 24"/>
          <p:cNvSpPr/>
          <p:nvPr/>
        </p:nvSpPr>
        <p:spPr>
          <a:xfrm>
            <a:off x="518160" y="1718945"/>
            <a:ext cx="1466215" cy="384175"/>
          </a:xfrm>
          <a:prstGeom prst="rect">
            <a:avLst/>
          </a:prstGeom>
        </p:spPr>
        <p:txBody>
          <a:bodyPr wrap="square" lIns="0" tIns="0" rIns="0" bIns="0" rtlCol="0" anchor="ctr"/>
          <a:lstStyle/>
          <a:p>
            <a:pPr marL="0" indent="0" algn="ctr">
              <a:buNone/>
            </a:pPr>
            <a:r>
              <a:rPr lang="en-US" sz="2000" dirty="0">
                <a:solidFill>
                  <a:srgbClr val="F1A63A"/>
                </a:solidFill>
                <a:latin typeface="黑体" charset="0"/>
                <a:ea typeface="黑体" charset="0"/>
                <a:cs typeface="微软雅黑" pitchFamily="34" charset="-120"/>
              </a:rPr>
              <a:t>资源无统筹</a:t>
            </a:r>
            <a:endParaRPr lang="en-US" sz="2000" dirty="0">
              <a:solidFill>
                <a:srgbClr val="F1A63A"/>
              </a:solidFill>
              <a:latin typeface="黑体" charset="0"/>
              <a:ea typeface="黑体" charset="0"/>
              <a:cs typeface="微软雅黑" pitchFamily="34" charset="-120"/>
            </a:endParaRPr>
          </a:p>
        </p:txBody>
      </p:sp>
      <p:sp>
        <p:nvSpPr>
          <p:cNvPr id="43" name="文本框 42"/>
          <p:cNvSpPr txBox="1"/>
          <p:nvPr/>
        </p:nvSpPr>
        <p:spPr>
          <a:xfrm>
            <a:off x="371475" y="3375660"/>
            <a:ext cx="1922780" cy="1307465"/>
          </a:xfrm>
          <a:prstGeom prst="rect">
            <a:avLst/>
          </a:prstGeom>
          <a:noFill/>
        </p:spPr>
        <p:txBody>
          <a:bodyPr wrap="square">
            <a:noAutofit/>
          </a:bodyPr>
          <a:lstStyle/>
          <a:p>
            <a:pPr marL="171450" indent="-171450" algn="l">
              <a:lnSpc>
                <a:spcPct val="150000"/>
              </a:lnSpc>
              <a:buFont typeface="Wingdings" panose="05000000000000000000" charset="0"/>
              <a:buChar char=""/>
            </a:pPr>
            <a:r>
              <a:rPr sz="1400">
                <a:latin typeface="微软雅黑"/>
              </a:rPr>
              <a:t>烟农调剂靠人工</a:t>
            </a:r>
            <a:endParaRPr lang="en-US" altLang="zh-CN" sz="1400" dirty="0">
              <a:solidFill>
                <a:schemeClr val="bg1"/>
              </a:solidFill>
              <a:latin typeface="微软雅黑" pitchFamily="34" charset="-122"/>
              <a:ea typeface="微软雅黑" pitchFamily="34" charset="-122"/>
              <a:cs typeface="微软雅黑" pitchFamily="34" charset="-120"/>
            </a:endParaRPr>
          </a:p>
          <a:p>
            <a:pPr algn="l"/>
            <a:r>
              <a:rPr sz="1400">
                <a:latin typeface="微软雅黑"/>
              </a:rPr>
              <a:t>闲置与紧缺并存</a:t>
            </a:r>
          </a:p>
        </p:txBody>
      </p:sp>
      <p:sp>
        <p:nvSpPr>
          <p:cNvPr id="45" name="Text 24"/>
          <p:cNvSpPr/>
          <p:nvPr/>
        </p:nvSpPr>
        <p:spPr>
          <a:xfrm>
            <a:off x="2442210" y="2891155"/>
            <a:ext cx="1466215" cy="384175"/>
          </a:xfrm>
          <a:prstGeom prst="rect">
            <a:avLst/>
          </a:prstGeom>
          <a:noFill/>
        </p:spPr>
        <p:txBody>
          <a:bodyPr wrap="square" lIns="0" tIns="0" rIns="0" bIns="0" rtlCol="0" anchor="ctr"/>
          <a:lstStyle/>
          <a:p>
            <a:pPr marL="0" indent="0" algn="ctr">
              <a:buNone/>
            </a:pPr>
            <a:r>
              <a:rPr lang="zh-CN" altLang="en-US" sz="2000" dirty="0">
                <a:solidFill>
                  <a:srgbClr val="F1A63A"/>
                </a:solidFill>
                <a:latin typeface="黑体" charset="0"/>
                <a:ea typeface="黑体" charset="0"/>
                <a:cs typeface="微软雅黑" pitchFamily="34" charset="-120"/>
              </a:rPr>
              <a:t>投入无量化</a:t>
            </a:r>
            <a:endParaRPr lang="zh-CN" altLang="en-US" sz="2000" dirty="0">
              <a:solidFill>
                <a:srgbClr val="F1A63A"/>
              </a:solidFill>
              <a:latin typeface="黑体" charset="0"/>
              <a:ea typeface="黑体" charset="0"/>
              <a:cs typeface="微软雅黑" pitchFamily="34" charset="-120"/>
            </a:endParaRPr>
          </a:p>
        </p:txBody>
      </p:sp>
      <p:sp>
        <p:nvSpPr>
          <p:cNvPr id="47" name="文本框 46"/>
          <p:cNvSpPr txBox="1"/>
          <p:nvPr/>
        </p:nvSpPr>
        <p:spPr>
          <a:xfrm>
            <a:off x="2300605" y="611505"/>
            <a:ext cx="1911985" cy="1307465"/>
          </a:xfrm>
          <a:prstGeom prst="rect">
            <a:avLst/>
          </a:prstGeom>
          <a:noFill/>
        </p:spPr>
        <p:txBody>
          <a:bodyPr wrap="square">
            <a:noAutofit/>
          </a:bodyPr>
          <a:lstStyle/>
          <a:p>
            <a:pPr marL="171450" lvl="0" indent="-171450" algn="l">
              <a:lnSpc>
                <a:spcPct val="150000"/>
              </a:lnSpc>
              <a:buClrTx/>
              <a:buSzTx/>
              <a:buFont typeface="Wingdings" panose="05000000000000000000" charset="0"/>
              <a:buChar char=""/>
            </a:pPr>
            <a:r>
              <a:rPr sz="1400">
                <a:latin typeface="微软雅黑"/>
              </a:rPr>
              <a:t>底数不清、状态不明</a:t>
            </a:r>
            <a:endParaRPr lang="en-US" altLang="zh-CN" sz="1400" dirty="0" err="1">
              <a:solidFill>
                <a:schemeClr val="bg1"/>
              </a:solidFill>
              <a:latin typeface="微软雅黑" pitchFamily="34" charset="-122"/>
              <a:ea typeface="微软雅黑" pitchFamily="34" charset="-122"/>
              <a:cs typeface="微软雅黑" pitchFamily="34" charset="-120"/>
              <a:sym typeface="+mn-ea"/>
            </a:endParaRPr>
          </a:p>
          <a:p>
            <a:pPr algn="l"/>
            <a:r>
              <a:rPr sz="1400">
                <a:latin typeface="微软雅黑"/>
              </a:rPr>
              <a:t>修复新建凭经验</a:t>
            </a:r>
          </a:p>
        </p:txBody>
      </p:sp>
      <p:sp>
        <p:nvSpPr>
          <p:cNvPr id="49" name="Text 24"/>
          <p:cNvSpPr/>
          <p:nvPr/>
        </p:nvSpPr>
        <p:spPr>
          <a:xfrm>
            <a:off x="4361180" y="1735455"/>
            <a:ext cx="1466215" cy="384175"/>
          </a:xfrm>
          <a:prstGeom prst="rect">
            <a:avLst/>
          </a:prstGeom>
          <a:noFill/>
        </p:spPr>
        <p:txBody>
          <a:bodyPr wrap="square" lIns="0" tIns="0" rIns="0" bIns="0" rtlCol="0" anchor="ctr"/>
          <a:lstStyle/>
          <a:p>
            <a:pPr marL="0" indent="0" algn="ctr">
              <a:buNone/>
            </a:pPr>
            <a:r>
              <a:rPr lang="zh-CN" altLang="en-US" sz="2000" dirty="0">
                <a:solidFill>
                  <a:srgbClr val="F1A63A"/>
                </a:solidFill>
                <a:latin typeface="黑体" charset="0"/>
                <a:ea typeface="黑体" charset="0"/>
                <a:cs typeface="微软雅黑" pitchFamily="34" charset="-120"/>
              </a:rPr>
              <a:t>管护无闭环</a:t>
            </a:r>
            <a:endParaRPr lang="zh-CN" altLang="en-US" sz="2000" dirty="0">
              <a:solidFill>
                <a:srgbClr val="F1A63A"/>
              </a:solidFill>
              <a:latin typeface="黑体" charset="0"/>
              <a:ea typeface="黑体" charset="0"/>
              <a:cs typeface="微软雅黑" pitchFamily="34" charset="-120"/>
            </a:endParaRPr>
          </a:p>
        </p:txBody>
      </p:sp>
      <p:sp>
        <p:nvSpPr>
          <p:cNvPr id="51" name="文本框 50"/>
          <p:cNvSpPr txBox="1"/>
          <p:nvPr/>
        </p:nvSpPr>
        <p:spPr>
          <a:xfrm>
            <a:off x="4445000" y="3375660"/>
            <a:ext cx="2112010" cy="1137285"/>
          </a:xfrm>
          <a:prstGeom prst="rect">
            <a:avLst/>
          </a:prstGeom>
          <a:noFill/>
        </p:spPr>
        <p:txBody>
          <a:bodyPr wrap="square">
            <a:noAutofit/>
          </a:bodyPr>
          <a:lstStyle/>
          <a:p>
            <a:pPr marL="171450" lvl="0" indent="-171450" algn="l">
              <a:lnSpc>
                <a:spcPct val="150000"/>
              </a:lnSpc>
              <a:buClrTx/>
              <a:buSzTx/>
              <a:buFont typeface="Wingdings" panose="05000000000000000000" charset="0"/>
              <a:buChar char=""/>
            </a:pPr>
            <a:r>
              <a:rPr sz="1400">
                <a:latin typeface="微软雅黑"/>
              </a:rPr>
              <a:t>责任、资金、标准分散</a:t>
            </a:r>
            <a:endParaRPr lang="en-US" altLang="zh-CN" sz="1400" dirty="0" err="1">
              <a:solidFill>
                <a:schemeClr val="bg1"/>
              </a:solidFill>
              <a:latin typeface="微软雅黑" pitchFamily="34" charset="-122"/>
              <a:ea typeface="微软雅黑" pitchFamily="34" charset="-122"/>
              <a:cs typeface="微软雅黑" pitchFamily="34" charset="-120"/>
              <a:sym typeface="+mn-ea"/>
            </a:endParaRPr>
          </a:p>
          <a:p>
            <a:pPr algn="l"/>
            <a:r>
              <a:rPr sz="1400">
                <a:latin typeface="微软雅黑"/>
              </a:rPr>
              <a:t>过程反馈难沉淀</a:t>
            </a:r>
          </a:p>
        </p:txBody>
      </p:sp>
      <p:pic>
        <p:nvPicPr>
          <p:cNvPr id="5" name="图片 4"/>
          <p:cNvPicPr>
            <a:picLocks noChangeAspect="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645917" y="1640800"/>
            <a:ext cx="2645917" cy="2645917"/>
          </a:xfrm>
          <a:prstGeom prst="rect">
            <a:avLst/>
          </a:prstGeom>
        </p:spPr>
      </p:pic>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4" name="文本框 53"/>
          <p:cNvSpPr txBox="1"/>
          <p:nvPr/>
        </p:nvSpPr>
        <p:spPr>
          <a:xfrm>
            <a:off x="511810" y="819150"/>
            <a:ext cx="1472565" cy="383540"/>
          </a:xfrm>
          <a:prstGeom prst="rect">
            <a:avLst/>
          </a:prstGeom>
        </p:spPr>
        <p:txBody>
          <a:bodyPr>
            <a:noAutofit/>
          </a:bodyPr>
          <a:p>
            <a:pPr defTabSz="266700"/>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rPr>
              <a:t>分不到</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endParaRPr>
          </a:p>
        </p:txBody>
      </p:sp>
      <p:sp>
        <p:nvSpPr>
          <p:cNvPr id="58" name="文本框 57"/>
          <p:cNvSpPr txBox="1"/>
          <p:nvPr/>
        </p:nvSpPr>
        <p:spPr>
          <a:xfrm>
            <a:off x="2436495" y="3606800"/>
            <a:ext cx="1471930" cy="342265"/>
          </a:xfrm>
          <a:prstGeom prst="rect">
            <a:avLst/>
          </a:prstGeom>
        </p:spPr>
        <p:txBody>
          <a:bodyPr>
            <a:noAutofit/>
          </a:bodyPr>
          <a:p>
            <a:pPr lvl="0" algn="l" defTabSz="266700">
              <a:buClrTx/>
              <a:buSzTx/>
              <a:buFontTx/>
            </a:pPr>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投不准</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a:p>
            <a:pPr lvl="0" algn="l" defTabSz="266700">
              <a:buClrTx/>
              <a:buSzTx/>
              <a:buFontTx/>
            </a:pP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59" name="文本框 58"/>
          <p:cNvSpPr txBox="1"/>
          <p:nvPr/>
        </p:nvSpPr>
        <p:spPr>
          <a:xfrm>
            <a:off x="4361180" y="970280"/>
            <a:ext cx="1471930" cy="342265"/>
          </a:xfrm>
          <a:prstGeom prst="rect">
            <a:avLst/>
          </a:prstGeom>
        </p:spPr>
        <p:txBody>
          <a:bodyPr>
            <a:noAutofit/>
          </a:bodyPr>
          <a:p>
            <a:pPr lvl="0" algn="l" defTabSz="266700">
              <a:buClrTx/>
              <a:buSzTx/>
              <a:buFontTx/>
            </a:pPr>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修不及</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2" name="等腰三角形 1"/>
          <p:cNvSpPr/>
          <p:nvPr/>
        </p:nvSpPr>
        <p:spPr>
          <a:xfrm rot="10800000">
            <a:off x="958850" y="1308100"/>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2940050" y="3195320"/>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0800000">
            <a:off x="4834890" y="1439545"/>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50975">
        <p:split orient="vert"/>
      </p:transition>
    </mc:Choice>
    <mc:Fallback>
      <p:transition spd="slow" advTm="50975">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2"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8"/>
                                        </p:tgtEl>
                                        <p:attrNameLst>
                                          <p:attrName>style.visibility</p:attrName>
                                        </p:attrNameLst>
                                      </p:cBhvr>
                                      <p:to>
                                        <p:strVal val="visible"/>
                                      </p:to>
                                    </p:set>
                                    <p:anim calcmode="lin" valueType="num">
                                      <p:cBhvr additive="base">
                                        <p:cTn id="17" dur="500" fill="hold"/>
                                        <p:tgtEl>
                                          <p:spTgt spid="58"/>
                                        </p:tgtEl>
                                        <p:attrNameLst>
                                          <p:attrName>ppt_x</p:attrName>
                                        </p:attrNameLst>
                                      </p:cBhvr>
                                      <p:tavLst>
                                        <p:tav tm="0">
                                          <p:val>
                                            <p:strVal val="#ppt_x"/>
                                          </p:val>
                                        </p:tav>
                                        <p:tav tm="100000">
                                          <p:val>
                                            <p:strVal val="#ppt_x"/>
                                          </p:val>
                                        </p:tav>
                                      </p:tavLst>
                                    </p:anim>
                                    <p:anim calcmode="lin" valueType="num">
                                      <p:cBhvr additive="base">
                                        <p:cTn id="18" dur="500" fill="hold"/>
                                        <p:tgtEl>
                                          <p:spTgt spid="5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2"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ppt_x"/>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2"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nodeType="clickEffect">
                                  <p:stCondLst>
                                    <p:cond delay="0"/>
                                  </p:stCondLst>
                                  <p:childTnLst>
                                    <p:animMotion origin="layout" path="M -1.94444E-6 -4.5679E-6 L 0.8665 -0.00432 " pathEditMode="relative" rAng="0" ptsTypes="AA">
                                      <p:cBhvr>
                                        <p:cTn id="37" dur="1000" fill="hold"/>
                                        <p:tgtEl>
                                          <p:spTgt spid="5"/>
                                        </p:tgtEl>
                                        <p:attrNameLst>
                                          <p:attrName>ppt_x</p:attrName>
                                          <p:attrName>ppt_y</p:attrName>
                                        </p:attrNameLst>
                                      </p:cBhvr>
                                      <p:rCtr x="43316" y="-216"/>
                                    </p:animMotion>
                                  </p:childTnLst>
                                </p:cTn>
                              </p:par>
                            </p:childTnLst>
                          </p:cTn>
                        </p:par>
                        <p:par>
                          <p:cTn id="38" fill="hold">
                            <p:stCondLst>
                              <p:cond delay="1000"/>
                            </p:stCondLst>
                            <p:childTnLst>
                              <p:par>
                                <p:cTn id="39" presetID="2" presetClass="entr" presetSubtype="1"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0-#ppt_h/2"/>
                                          </p:val>
                                        </p:tav>
                                        <p:tav tm="100000">
                                          <p:val>
                                            <p:strVal val="#ppt_y"/>
                                          </p:val>
                                        </p:tav>
                                      </p:tavLst>
                                    </p:anim>
                                  </p:childTnLst>
                                </p:cTn>
                              </p:par>
                            </p:childTnLst>
                          </p:cTn>
                        </p:par>
                        <p:par>
                          <p:cTn id="43" fill="hold">
                            <p:stCondLst>
                              <p:cond delay="1500"/>
                            </p:stCondLst>
                            <p:childTnLst>
                              <p:par>
                                <p:cTn id="44" presetID="2" presetClass="exit" presetSubtype="4" fill="hold" grpId="1" nodeType="afterEffect">
                                  <p:stCondLst>
                                    <p:cond delay="0"/>
                                  </p:stCondLst>
                                  <p:childTnLst>
                                    <p:anim calcmode="lin" valueType="num">
                                      <p:cBhvr additive="base">
                                        <p:cTn id="45" dur="500"/>
                                        <p:tgtEl>
                                          <p:spTgt spid="2"/>
                                        </p:tgtEl>
                                        <p:attrNameLst>
                                          <p:attrName>ppt_x</p:attrName>
                                        </p:attrNameLst>
                                      </p:cBhvr>
                                      <p:tavLst>
                                        <p:tav tm="0">
                                          <p:val>
                                            <p:strVal val="ppt_x"/>
                                          </p:val>
                                        </p:tav>
                                        <p:tav tm="100000">
                                          <p:val>
                                            <p:strVal val="ppt_x"/>
                                          </p:val>
                                        </p:tav>
                                      </p:tavLst>
                                    </p:anim>
                                    <p:anim calcmode="lin" valueType="num">
                                      <p:cBhvr additive="base">
                                        <p:cTn id="46" dur="500"/>
                                        <p:tgtEl>
                                          <p:spTgt spid="2"/>
                                        </p:tgtEl>
                                        <p:attrNameLst>
                                          <p:attrName>ppt_y</p:attrName>
                                        </p:attrNameLst>
                                      </p:cBhvr>
                                      <p:tavLst>
                                        <p:tav tm="0">
                                          <p:val>
                                            <p:strVal val="ppt_y"/>
                                          </p:val>
                                        </p:tav>
                                        <p:tav tm="100000">
                                          <p:val>
                                            <p:strVal val="1+ppt_h/2"/>
                                          </p:val>
                                        </p:tav>
                                      </p:tavLst>
                                    </p:anim>
                                    <p:set>
                                      <p:cBhvr>
                                        <p:cTn id="47" dur="1" fill="hold">
                                          <p:stCondLst>
                                            <p:cond delay="499"/>
                                          </p:stCondLst>
                                        </p:cTn>
                                        <p:tgtEl>
                                          <p:spTgt spid="2"/>
                                        </p:tgtEl>
                                        <p:attrNameLst>
                                          <p:attrName>style.visibility</p:attrName>
                                        </p:attrNameLst>
                                      </p:cBhvr>
                                      <p:to>
                                        <p:strVal val="hidden"/>
                                      </p:to>
                                    </p:set>
                                  </p:childTnLst>
                                </p:cTn>
                              </p:par>
                            </p:childTnLst>
                          </p:cTn>
                        </p:par>
                        <p:par>
                          <p:cTn id="48" fill="hold">
                            <p:stCondLst>
                              <p:cond delay="2000"/>
                            </p:stCondLst>
                            <p:childTnLst>
                              <p:par>
                                <p:cTn id="49" presetID="2" presetClass="entr" presetSubtype="4" fill="hold" grpId="0" nodeType="after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1+#ppt_h/2"/>
                                          </p:val>
                                        </p:tav>
                                        <p:tav tm="100000">
                                          <p:val>
                                            <p:strVal val="#ppt_y"/>
                                          </p:val>
                                        </p:tav>
                                      </p:tavLst>
                                    </p:anim>
                                  </p:childTnLst>
                                </p:cTn>
                              </p:par>
                            </p:childTnLst>
                          </p:cTn>
                        </p:par>
                        <p:par>
                          <p:cTn id="53" fill="hold">
                            <p:stCondLst>
                              <p:cond delay="2500"/>
                            </p:stCondLst>
                            <p:childTnLst>
                              <p:par>
                                <p:cTn id="54" presetID="2" presetClass="exit" presetSubtype="1" fill="hold" grpId="1" nodeType="afterEffect">
                                  <p:stCondLst>
                                    <p:cond delay="0"/>
                                  </p:stCondLst>
                                  <p:childTnLst>
                                    <p:anim calcmode="lin" valueType="num">
                                      <p:cBhvr additive="base">
                                        <p:cTn id="55" dur="500"/>
                                        <p:tgtEl>
                                          <p:spTgt spid="3"/>
                                        </p:tgtEl>
                                        <p:attrNameLst>
                                          <p:attrName>ppt_x</p:attrName>
                                        </p:attrNameLst>
                                      </p:cBhvr>
                                      <p:tavLst>
                                        <p:tav tm="0">
                                          <p:val>
                                            <p:strVal val="ppt_x"/>
                                          </p:val>
                                        </p:tav>
                                        <p:tav tm="100000">
                                          <p:val>
                                            <p:strVal val="ppt_x"/>
                                          </p:val>
                                        </p:tav>
                                      </p:tavLst>
                                    </p:anim>
                                    <p:anim calcmode="lin" valueType="num">
                                      <p:cBhvr additive="base">
                                        <p:cTn id="56" dur="500"/>
                                        <p:tgtEl>
                                          <p:spTgt spid="3"/>
                                        </p:tgtEl>
                                        <p:attrNameLst>
                                          <p:attrName>ppt_y</p:attrName>
                                        </p:attrNameLst>
                                      </p:cBhvr>
                                      <p:tavLst>
                                        <p:tav tm="0">
                                          <p:val>
                                            <p:strVal val="ppt_y"/>
                                          </p:val>
                                        </p:tav>
                                        <p:tav tm="100000">
                                          <p:val>
                                            <p:strVal val="0-ppt_h/2"/>
                                          </p:val>
                                        </p:tav>
                                      </p:tavLst>
                                    </p:anim>
                                    <p:set>
                                      <p:cBhvr>
                                        <p:cTn id="57" dur="1" fill="hold">
                                          <p:stCondLst>
                                            <p:cond delay="499"/>
                                          </p:stCondLst>
                                        </p:cTn>
                                        <p:tgtEl>
                                          <p:spTgt spid="3"/>
                                        </p:tgtEl>
                                        <p:attrNameLst>
                                          <p:attrName>style.visibility</p:attrName>
                                        </p:attrNameLst>
                                      </p:cBhvr>
                                      <p:to>
                                        <p:strVal val="hidden"/>
                                      </p:to>
                                    </p:set>
                                  </p:childTnLst>
                                </p:cTn>
                              </p:par>
                            </p:childTnLst>
                          </p:cTn>
                        </p:par>
                        <p:par>
                          <p:cTn id="58" fill="hold">
                            <p:stCondLst>
                              <p:cond delay="3000"/>
                            </p:stCondLst>
                            <p:childTnLst>
                              <p:par>
                                <p:cTn id="59" presetID="2" presetClass="entr" presetSubtype="1" fill="hold" grpId="0" nodeType="after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0-#ppt_h/2"/>
                                          </p:val>
                                        </p:tav>
                                        <p:tav tm="100000">
                                          <p:val>
                                            <p:strVal val="#ppt_y"/>
                                          </p:val>
                                        </p:tav>
                                      </p:tavLst>
                                    </p:anim>
                                  </p:childTnLst>
                                </p:cTn>
                              </p:par>
                            </p:childTnLst>
                          </p:cTn>
                        </p:par>
                        <p:par>
                          <p:cTn id="63" fill="hold">
                            <p:stCondLst>
                              <p:cond delay="3500"/>
                            </p:stCondLst>
                            <p:childTnLst>
                              <p:par>
                                <p:cTn id="64" presetID="2" presetClass="exit" presetSubtype="4" fill="hold" grpId="1" nodeType="afterEffect">
                                  <p:stCondLst>
                                    <p:cond delay="0"/>
                                  </p:stCondLst>
                                  <p:childTnLst>
                                    <p:anim calcmode="lin" valueType="num">
                                      <p:cBhvr additive="base">
                                        <p:cTn id="65" dur="500"/>
                                        <p:tgtEl>
                                          <p:spTgt spid="4"/>
                                        </p:tgtEl>
                                        <p:attrNameLst>
                                          <p:attrName>ppt_x</p:attrName>
                                        </p:attrNameLst>
                                      </p:cBhvr>
                                      <p:tavLst>
                                        <p:tav tm="0">
                                          <p:val>
                                            <p:strVal val="ppt_x"/>
                                          </p:val>
                                        </p:tav>
                                        <p:tav tm="100000">
                                          <p:val>
                                            <p:strVal val="ppt_x"/>
                                          </p:val>
                                        </p:tav>
                                      </p:tavLst>
                                    </p:anim>
                                    <p:anim calcmode="lin" valueType="num">
                                      <p:cBhvr additive="base">
                                        <p:cTn id="66" dur="500"/>
                                        <p:tgtEl>
                                          <p:spTgt spid="4"/>
                                        </p:tgtEl>
                                        <p:attrNameLst>
                                          <p:attrName>ppt_y</p:attrName>
                                        </p:attrNameLst>
                                      </p:cBhvr>
                                      <p:tavLst>
                                        <p:tav tm="0">
                                          <p:val>
                                            <p:strVal val="ppt_y"/>
                                          </p:val>
                                        </p:tav>
                                        <p:tav tm="100000">
                                          <p:val>
                                            <p:strVal val="1+ppt_h/2"/>
                                          </p:val>
                                        </p:tav>
                                      </p:tavLst>
                                    </p:anim>
                                    <p:set>
                                      <p:cBhvr>
                                        <p:cTn id="6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P spid="3" grpId="0" bldLvl="0" animBg="1"/>
      <p:bldP spid="3" grpId="1" bldLvl="0" animBg="1"/>
      <p:bldP spid="4" grpId="0" bldLvl="0" animBg="1"/>
      <p:bldP spid="4" grpId="1" bldLvl="0" animBg="1"/>
      <p:bldP spid="54" grpId="0"/>
      <p:bldP spid="2" grpId="2" animBg="1"/>
      <p:bldP spid="58" grpId="0"/>
      <p:bldP spid="3" grpId="2" animBg="1"/>
      <p:bldP spid="59" grpId="0"/>
      <p:bldP spid="4"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8850" y="4851400"/>
            <a:ext cx="2413000" cy="241300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8850" y="-1422400"/>
            <a:ext cx="2413000" cy="2413000"/>
          </a:xfrm>
          <a:prstGeom prst="rect">
            <a:avLst/>
          </a:prstGeom>
        </p:spPr>
      </p:pic>
      <p:sp>
        <p:nvSpPr>
          <p:cNvPr id="9" name="文本框 8"/>
          <p:cNvSpPr txBox="1"/>
          <p:nvPr/>
        </p:nvSpPr>
        <p:spPr>
          <a:xfrm>
            <a:off x="41275" y="116901"/>
            <a:ext cx="9144000" cy="521970"/>
          </a:xfrm>
          <a:prstGeom prst="rect">
            <a:avLst/>
          </a:prstGeom>
          <a:noFill/>
        </p:spPr>
        <p:txBody>
          <a:bodyPr wrap="square">
            <a:spAutoFit/>
          </a:bodyPr>
          <a:lstStyle/>
          <a:p>
            <a:pPr algn="ctr">
              <a:buClrTx/>
              <a:buSzTx/>
              <a:buFontTx/>
            </a:pP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智烤管家：记住“1234”，就记住整套解决方案</a:t>
            </a:r>
            <a:r>
              <a:rPr lang="en-US" altLang="zh-CN" sz="2800" b="1" dirty="0">
                <a:solidFill>
                  <a:srgbClr val="F1A63A"/>
                </a:solidFill>
                <a:effectLst/>
                <a:latin typeface="微软雅黑" pitchFamily="34" charset="0"/>
                <a:ea typeface="微软雅黑" pitchFamily="34" charset="0"/>
                <a:cs typeface="微软雅黑" pitchFamily="34" charset="0"/>
                <a:sym typeface="+mn-ea"/>
              </a:rPr>
              <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sp>
        <p:nvSpPr>
          <p:cNvPr id="12" name="矩形: 圆角 11"/>
          <p:cNvSpPr/>
          <p:nvPr/>
        </p:nvSpPr>
        <p:spPr>
          <a:xfrm>
            <a:off x="774700" y="2037715"/>
            <a:ext cx="1987550" cy="1791970"/>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13" name="图片 12" descr="透明黄色星星动画"/>
          <p:cNvPicPr>
            <a:picLocks noChangeAspect="1"/>
          </p:cNvPicPr>
          <p:nvPr/>
        </p:nvPicPr>
        <p:blipFill>
          <a:blip r:embed="rId4"/>
          <a:srcRect l="6393" t="49386" b="18099"/>
          <a:stretch>
            <a:fillRect/>
          </a:stretch>
        </p:blipFill>
        <p:spPr>
          <a:xfrm rot="10800000">
            <a:off x="774700" y="1600690"/>
            <a:ext cx="1987550" cy="690388"/>
          </a:xfrm>
          <a:prstGeom prst="rect">
            <a:avLst/>
          </a:prstGeom>
        </p:spPr>
      </p:pic>
      <p:sp>
        <p:nvSpPr>
          <p:cNvPr id="14" name="文本框 13"/>
          <p:cNvSpPr txBox="1"/>
          <p:nvPr/>
        </p:nvSpPr>
        <p:spPr>
          <a:xfrm>
            <a:off x="1496694" y="1606923"/>
            <a:ext cx="543560" cy="429895"/>
          </a:xfrm>
          <a:prstGeom prst="rect">
            <a:avLst/>
          </a:prstGeom>
          <a:noFill/>
        </p:spPr>
        <p:txBody>
          <a:bodyPr wrap="none" rtlCol="0">
            <a:spAutoFit/>
          </a:bodyPr>
          <a:lstStyle/>
          <a:p>
            <a:pPr lvl="0" algn="ctr">
              <a:buClrTx/>
              <a:buSzTx/>
              <a:buFontTx/>
            </a:pPr>
            <a:r>
              <a:rPr lang="en-US" altLang="zh-CN" sz="2200" b="1" dirty="0">
                <a:solidFill>
                  <a:srgbClr val="ED7D31"/>
                </a:solidFill>
                <a:latin typeface="微软雅黑" pitchFamily="34" charset="-122"/>
                <a:ea typeface="微软雅黑" pitchFamily="34" charset="-122"/>
                <a:sym typeface="+mn-ea"/>
              </a:rPr>
              <a:t>1库</a:t>
            </a:r>
            <a:endParaRPr lang="en-US" altLang="zh-CN" sz="2200" b="1" dirty="0">
              <a:solidFill>
                <a:srgbClr val="ED7D31"/>
              </a:solidFill>
              <a:latin typeface="微软雅黑" pitchFamily="34" charset="-122"/>
              <a:ea typeface="微软雅黑" pitchFamily="34" charset="-122"/>
              <a:sym typeface="+mn-ea"/>
            </a:endParaRPr>
          </a:p>
        </p:txBody>
      </p:sp>
      <p:sp>
        <p:nvSpPr>
          <p:cNvPr id="16" name="文本框 15"/>
          <p:cNvSpPr txBox="1"/>
          <p:nvPr/>
        </p:nvSpPr>
        <p:spPr>
          <a:xfrm>
            <a:off x="774698" y="2195575"/>
            <a:ext cx="1987552" cy="429895"/>
          </a:xfrm>
          <a:prstGeom prst="rect">
            <a:avLst/>
          </a:prstGeom>
          <a:noFill/>
        </p:spPr>
        <p:txBody>
          <a:bodyPr wrap="square">
            <a:spAutoFit/>
          </a:bodyPr>
          <a:lstStyle/>
          <a:p>
            <a:pPr algn="ctr"/>
            <a:r>
              <a:rPr lang="en-US" altLang="zh-CN" sz="2200" b="1" dirty="0" err="1">
                <a:solidFill>
                  <a:schemeClr val="bg1"/>
                </a:solidFill>
                <a:latin typeface="微软雅黑" pitchFamily="34" charset="0"/>
                <a:ea typeface="微软雅黑" pitchFamily="34" charset="0"/>
                <a:cs typeface="微软雅黑" pitchFamily="34" charset="0"/>
                <a:sym typeface="+mn-ea"/>
              </a:rPr>
              <a:t>清底</a:t>
            </a:r>
            <a:endParaRPr lang="en-US" altLang="zh-CN" sz="2200" b="1" dirty="0" err="1">
              <a:solidFill>
                <a:schemeClr val="bg1"/>
              </a:solidFill>
              <a:latin typeface="微软雅黑" pitchFamily="34" charset="0"/>
              <a:ea typeface="微软雅黑" pitchFamily="34" charset="0"/>
              <a:cs typeface="微软雅黑" pitchFamily="34" charset="0"/>
              <a:sym typeface="+mn-ea"/>
            </a:endParaRPr>
          </a:p>
        </p:txBody>
      </p:sp>
      <p:sp>
        <p:nvSpPr>
          <p:cNvPr id="18" name="文本框 17"/>
          <p:cNvSpPr txBox="1"/>
          <p:nvPr/>
        </p:nvSpPr>
        <p:spPr>
          <a:xfrm>
            <a:off x="774701" y="2846062"/>
            <a:ext cx="1987550" cy="245110"/>
          </a:xfrm>
          <a:prstGeom prst="rect">
            <a:avLst/>
          </a:prstGeom>
          <a:noFill/>
        </p:spPr>
        <p:txBody>
          <a:bodyPr wrap="square">
            <a:spAutoFit/>
          </a:bodyPr>
          <a:lstStyle/>
          <a:p>
            <a:pPr algn="ctr"/>
            <a:r>
              <a:rPr lang="en-US" altLang="zh-CN" sz="1000" dirty="0" err="1">
                <a:solidFill>
                  <a:schemeClr val="bg1"/>
                </a:solidFill>
                <a:latin typeface="黑体" charset="0"/>
                <a:ea typeface="黑体" charset="0"/>
                <a:cs typeface="黑体" charset="0"/>
              </a:rPr>
              <a:t>低代码采数 · 一房一档</a:t>
            </a:r>
            <a:r>
              <a:rPr lang="en-US" altLang="zh-CN" sz="1000" dirty="0">
                <a:solidFill>
                  <a:schemeClr val="bg1"/>
                </a:solidFill>
                <a:latin typeface="黑体" charset="0"/>
                <a:ea typeface="黑体" charset="0"/>
                <a:cs typeface="黑体" charset="0"/>
              </a:rPr>
              <a:t/>
            </a:r>
            <a:r>
              <a:rPr lang="zh-CN" altLang="en-US" sz="1000" dirty="0">
                <a:solidFill>
                  <a:schemeClr val="bg1"/>
                </a:solidFill>
                <a:latin typeface="黑体" charset="0"/>
                <a:ea typeface="黑体" charset="0"/>
                <a:cs typeface="黑体" charset="0"/>
              </a:rPr>
              <a:t/>
            </a:r>
            <a:endParaRPr lang="zh-CN" altLang="en-US" sz="1000" dirty="0">
              <a:solidFill>
                <a:schemeClr val="bg1"/>
              </a:solidFill>
              <a:latin typeface="黑体" charset="0"/>
              <a:ea typeface="黑体" charset="0"/>
              <a:cs typeface="黑体" charset="0"/>
            </a:endParaRPr>
          </a:p>
        </p:txBody>
      </p:sp>
      <p:sp>
        <p:nvSpPr>
          <p:cNvPr id="20" name="文本框 19"/>
          <p:cNvSpPr txBox="1"/>
          <p:nvPr/>
        </p:nvSpPr>
        <p:spPr>
          <a:xfrm>
            <a:off x="774698" y="3170250"/>
            <a:ext cx="1987550" cy="583565"/>
          </a:xfrm>
          <a:prstGeom prst="rect">
            <a:avLst/>
          </a:prstGeom>
          <a:noFill/>
        </p:spPr>
        <p:txBody>
          <a:bodyPr wrap="square">
            <a:spAutoFit/>
          </a:bodyPr>
          <a:lstStyle/>
          <a:p>
            <a:pPr algn="ctr"/>
            <a:r>
              <a:rPr sz="1600" b="1">
                <a:latin typeface="黑体"/>
              </a:rPr>
              <a:t>把2442座烤房</a:t>
            </a:r>
            <a:endParaRPr lang="en-US" altLang="zh-CN" sz="1600" b="1" dirty="0">
              <a:solidFill>
                <a:schemeClr val="bg1"/>
              </a:solidFill>
              <a:latin typeface="黑体" charset="0"/>
              <a:ea typeface="黑体" charset="0"/>
              <a:cs typeface="黑体" charset="0"/>
              <a:sym typeface="+mn-ea"/>
            </a:endParaRPr>
          </a:p>
          <a:p>
            <a:pPr algn="ctr"/>
            <a:r>
              <a:rPr sz="1600" b="1">
                <a:latin typeface="黑体"/>
              </a:rPr>
              <a:t>“看清楚”</a:t>
            </a:r>
          </a:p>
        </p:txBody>
      </p:sp>
      <p:sp>
        <p:nvSpPr>
          <p:cNvPr id="44" name="矩形: 圆角 43"/>
          <p:cNvSpPr/>
          <p:nvPr/>
        </p:nvSpPr>
        <p:spPr>
          <a:xfrm>
            <a:off x="6464300" y="2038350"/>
            <a:ext cx="1987550" cy="1791335"/>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46" name="图片 45" descr="透明黄色星星动画"/>
          <p:cNvPicPr>
            <a:picLocks noChangeAspect="1"/>
          </p:cNvPicPr>
          <p:nvPr/>
        </p:nvPicPr>
        <p:blipFill>
          <a:blip r:embed="rId4"/>
          <a:srcRect l="6393" t="49386" b="18099"/>
          <a:stretch>
            <a:fillRect/>
          </a:stretch>
        </p:blipFill>
        <p:spPr>
          <a:xfrm rot="10800000">
            <a:off x="6464300" y="1600690"/>
            <a:ext cx="1987550" cy="690388"/>
          </a:xfrm>
          <a:prstGeom prst="rect">
            <a:avLst/>
          </a:prstGeom>
        </p:spPr>
      </p:pic>
      <p:sp>
        <p:nvSpPr>
          <p:cNvPr id="48" name="文本框 47"/>
          <p:cNvSpPr txBox="1"/>
          <p:nvPr/>
        </p:nvSpPr>
        <p:spPr>
          <a:xfrm>
            <a:off x="7186294" y="1606923"/>
            <a:ext cx="543560" cy="429895"/>
          </a:xfrm>
          <a:prstGeom prst="rect">
            <a:avLst/>
          </a:prstGeom>
          <a:noFill/>
        </p:spPr>
        <p:txBody>
          <a:bodyPr wrap="none" rtlCol="0">
            <a:spAutoFit/>
          </a:bodyPr>
          <a:lstStyle/>
          <a:p>
            <a:pPr algn="ctr"/>
            <a:r>
              <a:rPr lang="en-US" altLang="zh-CN" sz="2200" b="1" dirty="0">
                <a:solidFill>
                  <a:srgbClr val="ED7D31"/>
                </a:solidFill>
                <a:latin typeface="微软雅黑" pitchFamily="34" charset="-122"/>
                <a:ea typeface="微软雅黑" pitchFamily="34" charset="-122"/>
              </a:rPr>
              <a:t>3智</a:t>
            </a:r>
            <a:endParaRPr lang="en-US" altLang="zh-CN" sz="2200" b="1" dirty="0">
              <a:solidFill>
                <a:srgbClr val="ED7D31"/>
              </a:solidFill>
              <a:latin typeface="微软雅黑" pitchFamily="34" charset="-122"/>
              <a:ea typeface="微软雅黑" pitchFamily="34" charset="-122"/>
            </a:endParaRPr>
          </a:p>
        </p:txBody>
      </p:sp>
      <p:sp>
        <p:nvSpPr>
          <p:cNvPr id="50" name="文本框 49"/>
          <p:cNvSpPr txBox="1"/>
          <p:nvPr/>
        </p:nvSpPr>
        <p:spPr>
          <a:xfrm>
            <a:off x="6464298" y="2195575"/>
            <a:ext cx="1987552" cy="429895"/>
          </a:xfrm>
          <a:prstGeom prst="rect">
            <a:avLst/>
          </a:prstGeom>
          <a:noFill/>
        </p:spPr>
        <p:txBody>
          <a:bodyPr wrap="square">
            <a:spAutoFit/>
          </a:bodyPr>
          <a:lstStyle/>
          <a:p>
            <a:pPr algn="ctr"/>
            <a:r>
              <a:rPr lang="zh-CN" altLang="en-US" sz="2200" b="1" dirty="0">
                <a:solidFill>
                  <a:schemeClr val="bg1"/>
                </a:solidFill>
                <a:latin typeface="微软雅黑" pitchFamily="34" charset="0"/>
                <a:ea typeface="微软雅黑" pitchFamily="34" charset="0"/>
                <a:cs typeface="微软雅黑" pitchFamily="34" charset="0"/>
                <a:sym typeface="+mn-ea"/>
              </a:rPr>
              <a:t>落地</a:t>
            </a:r>
            <a:endParaRPr lang="zh-CN" altLang="en-US" sz="2200" b="1" dirty="0">
              <a:solidFill>
                <a:schemeClr val="bg1"/>
              </a:solidFill>
              <a:latin typeface="微软雅黑" pitchFamily="34" charset="0"/>
              <a:ea typeface="微软雅黑" pitchFamily="34" charset="0"/>
              <a:cs typeface="微软雅黑" pitchFamily="34" charset="0"/>
              <a:sym typeface="+mn-ea"/>
            </a:endParaRPr>
          </a:p>
        </p:txBody>
      </p:sp>
      <p:sp>
        <p:nvSpPr>
          <p:cNvPr id="52" name="文本框 51"/>
          <p:cNvSpPr txBox="1"/>
          <p:nvPr/>
        </p:nvSpPr>
        <p:spPr>
          <a:xfrm>
            <a:off x="6464291" y="2846062"/>
            <a:ext cx="1987550" cy="245110"/>
          </a:xfrm>
          <a:prstGeom prst="rect">
            <a:avLst/>
          </a:prstGeom>
          <a:noFill/>
        </p:spPr>
        <p:txBody>
          <a:bodyPr wrap="square">
            <a:spAutoFit/>
          </a:bodyPr>
          <a:lstStyle/>
          <a:p>
            <a:pPr algn="ctr"/>
            <a:r>
              <a:rPr lang="zh-CN" altLang="en-US" sz="1000" dirty="0">
                <a:solidFill>
                  <a:schemeClr val="bg1"/>
                </a:solidFill>
                <a:latin typeface="黑体" charset="0"/>
                <a:ea typeface="黑体" charset="0"/>
                <a:cs typeface="黑体" charset="0"/>
              </a:rPr>
              <a:t>智用 · 智投 · 智管</a:t>
            </a:r>
            <a:r>
              <a:rPr lang="en-US" altLang="zh-CN" sz="1000" dirty="0">
                <a:solidFill>
                  <a:schemeClr val="bg1"/>
                </a:solidFill>
                <a:latin typeface="黑体" charset="0"/>
                <a:ea typeface="黑体" charset="0"/>
                <a:cs typeface="黑体" charset="0"/>
              </a:rPr>
              <a:t/>
            </a:r>
            <a:r>
              <a:rPr lang="zh-CN" altLang="en-US" sz="1000" dirty="0">
                <a:solidFill>
                  <a:schemeClr val="bg1"/>
                </a:solidFill>
                <a:latin typeface="黑体" charset="0"/>
                <a:ea typeface="黑体" charset="0"/>
                <a:cs typeface="黑体" charset="0"/>
              </a:rPr>
              <a:t/>
            </a:r>
            <a:endParaRPr lang="zh-CN" altLang="en-US" sz="1000" dirty="0">
              <a:solidFill>
                <a:schemeClr val="bg1"/>
              </a:solidFill>
              <a:latin typeface="黑体" charset="0"/>
              <a:ea typeface="黑体" charset="0"/>
              <a:cs typeface="黑体" charset="0"/>
            </a:endParaRPr>
          </a:p>
        </p:txBody>
      </p:sp>
      <p:sp>
        <p:nvSpPr>
          <p:cNvPr id="54" name="文本框 53"/>
          <p:cNvSpPr txBox="1"/>
          <p:nvPr/>
        </p:nvSpPr>
        <p:spPr>
          <a:xfrm>
            <a:off x="6464298" y="3170250"/>
            <a:ext cx="1987550" cy="584775"/>
          </a:xfrm>
          <a:prstGeom prst="rect">
            <a:avLst/>
          </a:prstGeom>
          <a:noFill/>
        </p:spPr>
        <p:txBody>
          <a:bodyPr wrap="square">
            <a:spAutoFit/>
          </a:bodyPr>
          <a:lstStyle/>
          <a:p>
            <a:pPr algn="ctr"/>
            <a:r>
              <a:rPr sz="1600" b="1">
                <a:latin typeface="黑体"/>
              </a:rPr>
              <a:t>把模型真正</a:t>
            </a:r>
            <a:endParaRPr lang="en-US" altLang="zh-CN" sz="1600" b="1" dirty="0">
              <a:solidFill>
                <a:schemeClr val="bg1"/>
              </a:solidFill>
              <a:latin typeface="黑体" charset="0"/>
              <a:ea typeface="黑体" charset="0"/>
              <a:cs typeface="黑体" charset="0"/>
              <a:sym typeface="+mn-ea"/>
            </a:endParaRPr>
          </a:p>
          <a:p>
            <a:pPr algn="ctr"/>
            <a:r>
              <a:rPr sz="1600" b="1">
                <a:latin typeface="黑体"/>
              </a:rPr>
              <a:t>“跑起来”</a:t>
            </a:r>
          </a:p>
        </p:txBody>
      </p:sp>
      <p:sp>
        <p:nvSpPr>
          <p:cNvPr id="56" name="矩形: 圆角 55"/>
          <p:cNvSpPr/>
          <p:nvPr/>
        </p:nvSpPr>
        <p:spPr>
          <a:xfrm>
            <a:off x="3619500" y="2037080"/>
            <a:ext cx="1987550" cy="1792605"/>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58" name="图片 57" descr="透明黄色星星动画"/>
          <p:cNvPicPr>
            <a:picLocks noChangeAspect="1"/>
          </p:cNvPicPr>
          <p:nvPr/>
        </p:nvPicPr>
        <p:blipFill>
          <a:blip r:embed="rId4"/>
          <a:srcRect l="6393" t="49386" b="18099"/>
          <a:stretch>
            <a:fillRect/>
          </a:stretch>
        </p:blipFill>
        <p:spPr>
          <a:xfrm rot="10800000">
            <a:off x="3619498" y="1600690"/>
            <a:ext cx="1987550" cy="690388"/>
          </a:xfrm>
          <a:prstGeom prst="rect">
            <a:avLst/>
          </a:prstGeom>
        </p:spPr>
      </p:pic>
      <p:sp>
        <p:nvSpPr>
          <p:cNvPr id="60" name="文本框 59"/>
          <p:cNvSpPr txBox="1"/>
          <p:nvPr/>
        </p:nvSpPr>
        <p:spPr>
          <a:xfrm>
            <a:off x="4341492" y="1606923"/>
            <a:ext cx="543560" cy="429895"/>
          </a:xfrm>
          <a:prstGeom prst="rect">
            <a:avLst/>
          </a:prstGeom>
          <a:noFill/>
        </p:spPr>
        <p:txBody>
          <a:bodyPr wrap="none" rtlCol="0">
            <a:spAutoFit/>
          </a:bodyPr>
          <a:lstStyle/>
          <a:p>
            <a:pPr algn="ctr"/>
            <a:r>
              <a:rPr lang="en-US" altLang="zh-CN" sz="2200" b="1" dirty="0">
                <a:solidFill>
                  <a:srgbClr val="ED7D31"/>
                </a:solidFill>
                <a:latin typeface="微软雅黑" pitchFamily="34" charset="-122"/>
                <a:ea typeface="微软雅黑" pitchFamily="34" charset="-122"/>
              </a:rPr>
              <a:t>2模</a:t>
            </a:r>
            <a:endParaRPr lang="en-US" altLang="zh-CN" sz="2200" b="1" dirty="0">
              <a:solidFill>
                <a:srgbClr val="ED7D31"/>
              </a:solidFill>
              <a:latin typeface="微软雅黑" pitchFamily="34" charset="-122"/>
              <a:ea typeface="微软雅黑" pitchFamily="34" charset="-122"/>
            </a:endParaRPr>
          </a:p>
        </p:txBody>
      </p:sp>
      <p:sp>
        <p:nvSpPr>
          <p:cNvPr id="62" name="文本框 61"/>
          <p:cNvSpPr txBox="1"/>
          <p:nvPr/>
        </p:nvSpPr>
        <p:spPr>
          <a:xfrm>
            <a:off x="3619496" y="2195575"/>
            <a:ext cx="1987552" cy="429895"/>
          </a:xfrm>
          <a:prstGeom prst="rect">
            <a:avLst/>
          </a:prstGeom>
          <a:noFill/>
        </p:spPr>
        <p:txBody>
          <a:bodyPr wrap="square">
            <a:spAutoFit/>
          </a:bodyPr>
          <a:lstStyle/>
          <a:p>
            <a:pPr algn="ctr"/>
            <a:r>
              <a:rPr lang="zh-CN" altLang="en-US" sz="2200" b="1" dirty="0">
                <a:solidFill>
                  <a:schemeClr val="bg1"/>
                </a:solidFill>
                <a:latin typeface="微软雅黑" pitchFamily="34" charset="0"/>
                <a:ea typeface="微软雅黑" pitchFamily="34" charset="0"/>
                <a:cs typeface="微软雅黑" pitchFamily="34" charset="0"/>
                <a:sym typeface="+mn-ea"/>
              </a:rPr>
              <a:t>决策</a:t>
            </a:r>
            <a:endParaRPr lang="zh-CN" altLang="en-US" sz="2200" b="1" dirty="0">
              <a:solidFill>
                <a:schemeClr val="bg1"/>
              </a:solidFill>
              <a:latin typeface="微软雅黑" pitchFamily="34" charset="0"/>
              <a:ea typeface="微软雅黑" pitchFamily="34" charset="0"/>
              <a:cs typeface="微软雅黑" pitchFamily="34" charset="0"/>
              <a:sym typeface="+mn-ea"/>
            </a:endParaRPr>
          </a:p>
        </p:txBody>
      </p:sp>
      <p:sp>
        <p:nvSpPr>
          <p:cNvPr id="64" name="文本框 63"/>
          <p:cNvSpPr txBox="1"/>
          <p:nvPr/>
        </p:nvSpPr>
        <p:spPr>
          <a:xfrm>
            <a:off x="3619496" y="2846062"/>
            <a:ext cx="1987550" cy="245110"/>
          </a:xfrm>
          <a:prstGeom prst="rect">
            <a:avLst/>
          </a:prstGeom>
          <a:noFill/>
        </p:spPr>
        <p:txBody>
          <a:bodyPr wrap="square">
            <a:spAutoFit/>
          </a:bodyPr>
          <a:lstStyle/>
          <a:p>
            <a:pPr algn="ctr"/>
            <a:r>
              <a:rPr lang="zh-CN" altLang="en-US" sz="1000" dirty="0">
                <a:solidFill>
                  <a:schemeClr val="bg1"/>
                </a:solidFill>
                <a:latin typeface="黑体" charset="0"/>
                <a:ea typeface="黑体" charset="0"/>
                <a:cs typeface="黑体" charset="0"/>
              </a:rPr>
              <a:t>健康评估 · 发展导引</a:t>
            </a:r>
            <a:r>
              <a:rPr lang="en-US" altLang="zh-CN" sz="1000" dirty="0">
                <a:solidFill>
                  <a:schemeClr val="bg1"/>
                </a:solidFill>
                <a:latin typeface="黑体" charset="0"/>
                <a:ea typeface="黑体" charset="0"/>
                <a:cs typeface="黑体" charset="0"/>
              </a:rPr>
              <a:t/>
            </a:r>
            <a:r>
              <a:rPr lang="zh-CN" altLang="en-US" sz="1000" dirty="0">
                <a:solidFill>
                  <a:schemeClr val="bg1"/>
                </a:solidFill>
                <a:latin typeface="黑体" charset="0"/>
                <a:ea typeface="黑体" charset="0"/>
                <a:cs typeface="黑体" charset="0"/>
              </a:rPr>
              <a:t/>
            </a:r>
            <a:endParaRPr lang="zh-CN" altLang="en-US" sz="1000" dirty="0">
              <a:solidFill>
                <a:schemeClr val="bg1"/>
              </a:solidFill>
              <a:latin typeface="黑体" charset="0"/>
              <a:ea typeface="黑体" charset="0"/>
              <a:cs typeface="黑体" charset="0"/>
            </a:endParaRPr>
          </a:p>
        </p:txBody>
      </p:sp>
      <p:sp>
        <p:nvSpPr>
          <p:cNvPr id="66" name="文本框 65"/>
          <p:cNvSpPr txBox="1"/>
          <p:nvPr/>
        </p:nvSpPr>
        <p:spPr>
          <a:xfrm>
            <a:off x="3619496" y="3170250"/>
            <a:ext cx="1987550" cy="584775"/>
          </a:xfrm>
          <a:prstGeom prst="rect">
            <a:avLst/>
          </a:prstGeom>
          <a:noFill/>
        </p:spPr>
        <p:txBody>
          <a:bodyPr wrap="square">
            <a:spAutoFit/>
          </a:bodyPr>
          <a:lstStyle/>
          <a:p>
            <a:pPr algn="ctr"/>
            <a:r>
              <a:rPr sz="1600" b="1">
                <a:latin typeface="黑体"/>
              </a:rPr>
              <a:t>把“修哪里、建哪里”</a:t>
            </a:r>
            <a:endParaRPr lang="en-US" altLang="zh-CN" sz="1600" b="1" dirty="0">
              <a:solidFill>
                <a:schemeClr val="bg1"/>
              </a:solidFill>
              <a:latin typeface="黑体" charset="0"/>
              <a:ea typeface="黑体" charset="0"/>
              <a:cs typeface="黑体" charset="0"/>
              <a:sym typeface="+mn-ea"/>
            </a:endParaRPr>
          </a:p>
          <a:p>
            <a:pPr algn="ctr"/>
            <a:r>
              <a:rPr sz="1600" b="1">
                <a:latin typeface="黑体"/>
              </a:rPr>
              <a:t>“算清楚”</a:t>
            </a:r>
          </a:p>
        </p:txBody>
      </p:sp>
      <p:sp>
        <p:nvSpPr>
          <p:cNvPr id="67" name="文本框 66"/>
          <p:cNvSpPr txBox="1"/>
          <p:nvPr/>
        </p:nvSpPr>
        <p:spPr>
          <a:xfrm>
            <a:off x="774692" y="2545910"/>
            <a:ext cx="1987552" cy="300082"/>
          </a:xfrm>
          <a:prstGeom prst="rect">
            <a:avLst/>
          </a:prstGeom>
          <a:noFill/>
        </p:spPr>
        <p:txBody>
          <a:bodyPr wrap="square" rtlCol="0">
            <a:spAutoFit/>
          </a:bodyPr>
          <a:lstStyle/>
          <a:p>
            <a:pPr algn="ctr"/>
            <a:r>
              <a:rPr lang="en-US" altLang="zh-CN" b="1" dirty="0">
                <a:solidFill>
                  <a:srgbClr val="C9962E"/>
                </a:solidFill>
                <a:latin typeface="微软雅黑" pitchFamily="34" charset="0"/>
                <a:ea typeface="微软雅黑" pitchFamily="34" charset="-122"/>
                <a:cs typeface="微软雅黑" pitchFamily="34" charset="-120"/>
              </a:rPr>
              <a:t>Database</a:t>
            </a:r>
            <a:endParaRPr lang="zh-CN" altLang="en-US" dirty="0"/>
          </a:p>
        </p:txBody>
      </p:sp>
      <p:sp>
        <p:nvSpPr>
          <p:cNvPr id="71" name="文本框 70"/>
          <p:cNvSpPr txBox="1"/>
          <p:nvPr/>
        </p:nvSpPr>
        <p:spPr>
          <a:xfrm>
            <a:off x="3619490" y="2545910"/>
            <a:ext cx="1987552" cy="300082"/>
          </a:xfrm>
          <a:prstGeom prst="rect">
            <a:avLst/>
          </a:prstGeom>
          <a:noFill/>
        </p:spPr>
        <p:txBody>
          <a:bodyPr wrap="square" rtlCol="0">
            <a:spAutoFit/>
          </a:bodyPr>
          <a:lstStyle/>
          <a:p>
            <a:pPr algn="ctr"/>
            <a:r>
              <a:rPr lang="en-US" altLang="zh-CN" b="1" dirty="0">
                <a:solidFill>
                  <a:srgbClr val="C9962E"/>
                </a:solidFill>
                <a:latin typeface="微软雅黑" pitchFamily="34" charset="0"/>
                <a:ea typeface="微软雅黑" pitchFamily="34" charset="-122"/>
                <a:cs typeface="微软雅黑" pitchFamily="34" charset="-120"/>
              </a:rPr>
              <a:t>Decision</a:t>
            </a:r>
            <a:endParaRPr lang="zh-CN" altLang="en-US" dirty="0"/>
          </a:p>
        </p:txBody>
      </p:sp>
      <p:sp>
        <p:nvSpPr>
          <p:cNvPr id="73" name="文本框 72"/>
          <p:cNvSpPr txBox="1"/>
          <p:nvPr/>
        </p:nvSpPr>
        <p:spPr>
          <a:xfrm>
            <a:off x="6464290" y="2545910"/>
            <a:ext cx="1987552" cy="300082"/>
          </a:xfrm>
          <a:prstGeom prst="rect">
            <a:avLst/>
          </a:prstGeom>
          <a:noFill/>
        </p:spPr>
        <p:txBody>
          <a:bodyPr wrap="square" rtlCol="0">
            <a:spAutoFit/>
          </a:bodyPr>
          <a:lstStyle/>
          <a:p>
            <a:pPr algn="ctr"/>
            <a:r>
              <a:rPr lang="en-US" altLang="zh-CN" b="1" dirty="0">
                <a:solidFill>
                  <a:srgbClr val="C9962E"/>
                </a:solidFill>
                <a:latin typeface="微软雅黑" pitchFamily="34" charset="0"/>
                <a:ea typeface="微软雅黑" pitchFamily="34" charset="-122"/>
                <a:cs typeface="微软雅黑" pitchFamily="34" charset="-120"/>
              </a:rPr>
              <a:t>Application</a:t>
            </a:r>
            <a:endParaRPr lang="zh-CN" altLang="en-US" dirty="0"/>
          </a:p>
        </p:txBody>
      </p:sp>
      <p:grpSp>
        <p:nvGrpSpPr>
          <p:cNvPr id="84" name="组合 83"/>
          <p:cNvGrpSpPr/>
          <p:nvPr/>
        </p:nvGrpSpPr>
        <p:grpSpPr>
          <a:xfrm flipV="1">
            <a:off x="-731520" y="444500"/>
            <a:ext cx="10622915" cy="255905"/>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3" name="Text 8"/>
          <p:cNvSpPr/>
          <p:nvPr/>
        </p:nvSpPr>
        <p:spPr>
          <a:xfrm>
            <a:off x="572135" y="794385"/>
            <a:ext cx="7879715" cy="758825"/>
          </a:xfrm>
          <a:prstGeom prst="rect">
            <a:avLst/>
          </a:prstGeom>
          <a:gradFill>
            <a:gsLst>
              <a:gs pos="0">
                <a:schemeClr val="accent1">
                  <a:lumMod val="20000"/>
                  <a:lumOff val="80000"/>
                  <a:alpha val="23000"/>
                </a:scheme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wrap="square" lIns="91440" tIns="45720" rIns="91440" bIns="45720" rtlCol="0" anchor="ctr">
            <a:noAutofit/>
          </a:bodyPr>
          <a:lstStyle/>
          <a:p>
            <a:pPr lvl="0" algn="ctr" defTabSz="914400">
              <a:buClrTx/>
              <a:buSzTx/>
              <a:buFontTx/>
              <a:defRPr/>
            </a:pPr>
            <a:r>
              <a:rPr sz="2400" b="1">
                <a:latin typeface="微软雅黑"/>
              </a:rPr>
              <a:t>一个数据库打底、两个模型决策、三个智慧应用落地，再用四支队伍把服务长期跑起来</a:t>
            </a:r>
            <a:endParaRPr lang="zh-CN" altLang="en-US" sz="1400" kern="0" noProof="0" dirty="0">
              <a:ln>
                <a:noFill/>
              </a:ln>
              <a:solidFill>
                <a:prstClr val="white"/>
              </a:solidFill>
              <a:effectLst/>
              <a:uLnTx/>
              <a:uFillTx/>
              <a:latin typeface="黑体" charset="0"/>
              <a:ea typeface="黑体" charset="0"/>
              <a:cs typeface="黑体" charset="0"/>
              <a:sym typeface="+mn-ea"/>
            </a:endParaRPr>
          </a:p>
        </p:txBody>
      </p:sp>
      <p:sp>
        <p:nvSpPr>
          <p:cNvPr id="41" name="Text 24"/>
          <p:cNvSpPr/>
          <p:nvPr/>
        </p:nvSpPr>
        <p:spPr>
          <a:xfrm>
            <a:off x="946150" y="4584065"/>
            <a:ext cx="1466215" cy="384175"/>
          </a:xfrm>
          <a:prstGeom prst="rect">
            <a:avLst/>
          </a:prstGeom>
        </p:spPr>
        <p:txBody>
          <a:bodyPr wrap="square" lIns="0" tIns="0" rIns="0" bIns="0" rtlCol="0" anchor="ctr"/>
          <a:lstStyle/>
          <a:p>
            <a:pPr marL="0" indent="0" algn="ctr">
              <a:buNone/>
            </a:pPr>
            <a:r>
              <a:rPr lang="en-US" sz="2000" dirty="0">
                <a:solidFill>
                  <a:srgbClr val="F1A63A"/>
                </a:solidFill>
                <a:latin typeface="黑体" charset="0"/>
                <a:ea typeface="黑体" charset="0"/>
                <a:cs typeface="微软雅黑" pitchFamily="34" charset="-120"/>
              </a:rPr>
              <a:t>1库清底</a:t>
            </a:r>
            <a:endParaRPr lang="en-US" sz="2000" dirty="0">
              <a:solidFill>
                <a:srgbClr val="F1A63A"/>
              </a:solidFill>
              <a:latin typeface="黑体" charset="0"/>
              <a:ea typeface="黑体" charset="0"/>
              <a:cs typeface="微软雅黑" pitchFamily="34" charset="-120"/>
            </a:endParaRPr>
          </a:p>
        </p:txBody>
      </p:sp>
      <p:sp>
        <p:nvSpPr>
          <p:cNvPr id="45" name="Text 24"/>
          <p:cNvSpPr/>
          <p:nvPr/>
        </p:nvSpPr>
        <p:spPr>
          <a:xfrm>
            <a:off x="3879850" y="4584065"/>
            <a:ext cx="1466215" cy="384175"/>
          </a:xfrm>
          <a:prstGeom prst="rect">
            <a:avLst/>
          </a:prstGeom>
          <a:noFill/>
        </p:spPr>
        <p:txBody>
          <a:bodyPr wrap="square" lIns="0" tIns="0" rIns="0" bIns="0" rtlCol="0" anchor="ctr"/>
          <a:lstStyle/>
          <a:p>
            <a:pPr marL="0" indent="0" algn="ctr">
              <a:buNone/>
            </a:pPr>
            <a:r>
              <a:rPr lang="zh-CN" altLang="en-US" sz="2000" dirty="0">
                <a:solidFill>
                  <a:srgbClr val="F1A63A"/>
                </a:solidFill>
                <a:latin typeface="黑体" charset="0"/>
                <a:ea typeface="黑体" charset="0"/>
                <a:cs typeface="微软雅黑" pitchFamily="34" charset="-120"/>
              </a:rPr>
              <a:t>2模决策</a:t>
            </a:r>
            <a:endParaRPr lang="zh-CN" altLang="en-US" sz="2000" dirty="0">
              <a:solidFill>
                <a:srgbClr val="F1A63A"/>
              </a:solidFill>
              <a:latin typeface="黑体" charset="0"/>
              <a:ea typeface="黑体" charset="0"/>
              <a:cs typeface="微软雅黑" pitchFamily="34" charset="-120"/>
            </a:endParaRPr>
          </a:p>
        </p:txBody>
      </p:sp>
      <p:sp>
        <p:nvSpPr>
          <p:cNvPr id="49" name="Text 24"/>
          <p:cNvSpPr/>
          <p:nvPr/>
        </p:nvSpPr>
        <p:spPr>
          <a:xfrm>
            <a:off x="6725285" y="4584065"/>
            <a:ext cx="1466215" cy="384175"/>
          </a:xfrm>
          <a:prstGeom prst="rect">
            <a:avLst/>
          </a:prstGeom>
          <a:noFill/>
        </p:spPr>
        <p:txBody>
          <a:bodyPr wrap="square" lIns="0" tIns="0" rIns="0" bIns="0" rtlCol="0" anchor="ctr"/>
          <a:lstStyle/>
          <a:p>
            <a:pPr marL="0" indent="0" algn="ctr">
              <a:buNone/>
            </a:pPr>
            <a:r>
              <a:rPr lang="zh-CN" altLang="en-US" sz="2000" dirty="0">
                <a:solidFill>
                  <a:srgbClr val="F1A63A"/>
                </a:solidFill>
                <a:latin typeface="黑体" charset="0"/>
                <a:ea typeface="黑体" charset="0"/>
                <a:cs typeface="微软雅黑" pitchFamily="34" charset="-120"/>
              </a:rPr>
              <a:t>3智落地</a:t>
            </a:r>
            <a:endParaRPr lang="zh-CN" altLang="en-US" sz="2000" dirty="0">
              <a:solidFill>
                <a:srgbClr val="F1A63A"/>
              </a:solidFill>
              <a:latin typeface="黑体" charset="0"/>
              <a:ea typeface="黑体" charset="0"/>
              <a:cs typeface="微软雅黑" pitchFamily="34" charset="-120"/>
            </a:endParaRPr>
          </a:p>
        </p:txBody>
      </p:sp>
      <p:grpSp>
        <p:nvGrpSpPr>
          <p:cNvPr id="11" name="组合 10"/>
          <p:cNvGrpSpPr/>
          <p:nvPr/>
        </p:nvGrpSpPr>
        <p:grpSpPr>
          <a:xfrm rot="5400000">
            <a:off x="1339850" y="3873500"/>
            <a:ext cx="582930" cy="790575"/>
            <a:chOff x="4341101" y="4677983"/>
            <a:chExt cx="201872" cy="512796"/>
          </a:xfrm>
        </p:grpSpPr>
        <p:sp>
          <p:nvSpPr>
            <p:cNvPr id="15" name="等腰三角形 14"/>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19" name="等腰三角形 18"/>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21" name="文本框 20"/>
          <p:cNvSpPr txBox="1"/>
          <p:nvPr/>
        </p:nvSpPr>
        <p:spPr>
          <a:xfrm>
            <a:off x="1039495" y="3977640"/>
            <a:ext cx="1279525" cy="384810"/>
          </a:xfrm>
          <a:prstGeom prst="rect">
            <a:avLst/>
          </a:prstGeom>
          <a:noFill/>
        </p:spPr>
        <p:txBody>
          <a:bodyPr vert="horz" wrap="square">
            <a:noAutofit/>
          </a:bodyPr>
          <a:lstStyle/>
          <a:p>
            <a:pPr lvl="0" algn="ctr">
              <a:buClrTx/>
              <a:buSzTx/>
              <a:buFontTx/>
            </a:pPr>
            <a:r>
              <a:rPr lang="zh-CN" altLang="en-US" sz="1600" dirty="0">
                <a:solidFill>
                  <a:schemeClr val="bg1"/>
                </a:solidFill>
                <a:effectLst/>
                <a:latin typeface="黑体" charset="0"/>
                <a:ea typeface="黑体" charset="0"/>
                <a:sym typeface="+mn-ea"/>
              </a:rPr>
              <a:t>数据</a:t>
            </a:r>
            <a:endParaRPr lang="zh-CN" altLang="en-US" sz="1600" dirty="0">
              <a:solidFill>
                <a:schemeClr val="bg1"/>
              </a:solidFill>
              <a:effectLst/>
              <a:latin typeface="黑体" charset="0"/>
              <a:ea typeface="黑体" charset="0"/>
              <a:sym typeface="+mn-ea"/>
            </a:endParaRPr>
          </a:p>
        </p:txBody>
      </p:sp>
      <p:grpSp>
        <p:nvGrpSpPr>
          <p:cNvPr id="23" name="组合 22"/>
          <p:cNvGrpSpPr/>
          <p:nvPr/>
        </p:nvGrpSpPr>
        <p:grpSpPr>
          <a:xfrm rot="5400000">
            <a:off x="4237355" y="3946525"/>
            <a:ext cx="582930" cy="790575"/>
            <a:chOff x="4341101" y="4677983"/>
            <a:chExt cx="201872" cy="512796"/>
          </a:xfrm>
        </p:grpSpPr>
        <p:sp>
          <p:nvSpPr>
            <p:cNvPr id="24" name="等腰三角形 23"/>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25" name="等腰三角形 24"/>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26" name="文本框 25"/>
          <p:cNvSpPr txBox="1"/>
          <p:nvPr/>
        </p:nvSpPr>
        <p:spPr>
          <a:xfrm>
            <a:off x="3937000" y="4050665"/>
            <a:ext cx="1279525" cy="384810"/>
          </a:xfrm>
          <a:prstGeom prst="rect">
            <a:avLst/>
          </a:prstGeom>
          <a:noFill/>
        </p:spPr>
        <p:txBody>
          <a:bodyPr vert="horz" wrap="square">
            <a:noAutofit/>
          </a:bodyPr>
          <a:lstStyle/>
          <a:p>
            <a:pPr lvl="0" algn="ctr">
              <a:buClrTx/>
              <a:buSzTx/>
              <a:buFontTx/>
            </a:pPr>
            <a:r>
              <a:rPr lang="zh-CN" altLang="en-US" sz="1600" dirty="0">
                <a:solidFill>
                  <a:schemeClr val="bg1"/>
                </a:solidFill>
                <a:effectLst/>
                <a:latin typeface="黑体" charset="0"/>
                <a:ea typeface="黑体" charset="0"/>
                <a:sym typeface="+mn-ea"/>
              </a:rPr>
              <a:t>算法</a:t>
            </a:r>
            <a:endParaRPr lang="zh-CN" altLang="en-US" sz="1600" dirty="0">
              <a:solidFill>
                <a:schemeClr val="bg1"/>
              </a:solidFill>
              <a:effectLst/>
              <a:latin typeface="黑体" charset="0"/>
              <a:ea typeface="黑体" charset="0"/>
              <a:sym typeface="+mn-ea"/>
            </a:endParaRPr>
          </a:p>
        </p:txBody>
      </p:sp>
      <p:grpSp>
        <p:nvGrpSpPr>
          <p:cNvPr id="27" name="组合 26"/>
          <p:cNvGrpSpPr/>
          <p:nvPr/>
        </p:nvGrpSpPr>
        <p:grpSpPr>
          <a:xfrm rot="5400000">
            <a:off x="7212330" y="3946525"/>
            <a:ext cx="582930" cy="790575"/>
            <a:chOff x="4341101" y="4677983"/>
            <a:chExt cx="201872" cy="512796"/>
          </a:xfrm>
        </p:grpSpPr>
        <p:sp>
          <p:nvSpPr>
            <p:cNvPr id="28" name="等腰三角形 27"/>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29" name="等腰三角形 28"/>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30" name="文本框 29"/>
          <p:cNvSpPr txBox="1"/>
          <p:nvPr/>
        </p:nvSpPr>
        <p:spPr>
          <a:xfrm>
            <a:off x="6911975" y="4050665"/>
            <a:ext cx="1279525" cy="384810"/>
          </a:xfrm>
          <a:prstGeom prst="rect">
            <a:avLst/>
          </a:prstGeom>
          <a:noFill/>
        </p:spPr>
        <p:txBody>
          <a:bodyPr vert="horz" wrap="square">
            <a:noAutofit/>
          </a:bodyPr>
          <a:lstStyle/>
          <a:p>
            <a:pPr lvl="0" algn="ctr">
              <a:buClrTx/>
              <a:buSzTx/>
              <a:buFontTx/>
            </a:pPr>
            <a:r>
              <a:rPr lang="zh-CN" altLang="en-US" sz="1600" dirty="0">
                <a:solidFill>
                  <a:schemeClr val="bg1"/>
                </a:solidFill>
                <a:effectLst/>
                <a:latin typeface="黑体" charset="0"/>
                <a:ea typeface="黑体" charset="0"/>
                <a:sym typeface="+mn-ea"/>
              </a:rPr>
              <a:t>应用</a:t>
            </a:r>
            <a:endParaRPr lang="zh-CN" altLang="en-US" sz="1600" dirty="0">
              <a:solidFill>
                <a:schemeClr val="bg1"/>
              </a:solidFill>
              <a:effectLst/>
              <a:latin typeface="黑体" charset="0"/>
              <a:ea typeface="黑体" charset="0"/>
              <a:sym typeface="+mn-ea"/>
            </a:endParaRPr>
          </a:p>
        </p:txBody>
      </p:sp>
      <p:sp>
        <p:nvSpPr>
          <p:cNvPr id="49" name="Text 24"/>
          <p:cNvSpPr/>
          <p:nvPr/>
        </p:nvSpPr>
        <p:spPr>
          <a:xfrm>
            <a:off x="7424927" y="4584065"/>
            <a:ext cx="1466215" cy="384175"/>
          </a:xfrm>
          <a:prstGeom prst="rect">
            <a:avLst/>
          </a:prstGeom>
          <a:noFill/>
        </p:spPr>
        <p:txBody>
          <a:bodyPr wrap="square" lIns="0" tIns="0" rIns="0" bIns="0" rtlCol="0" anchor="ctr"/>
          <a:lstStyle/>
          <a:p>
            <a:pPr marL="0" indent="0" algn="ctr">
              <a:buNone/>
            </a:pPr>
            <a:r>
              <a:rPr lang="zh-CN" altLang="en-US" sz="2000" dirty="0">
                <a:solidFill>
                  <a:srgbClr val="F1A63A"/>
                </a:solidFill>
                <a:latin typeface="黑体" charset="0"/>
                <a:ea typeface="黑体" charset="0"/>
                <a:cs typeface="微软雅黑" pitchFamily="34" charset="-120"/>
              </a:rPr>
              <a:t>4队长效</a:t>
            </a:r>
            <a:endParaRPr lang="zh-CN" altLang="en-US" sz="2000" dirty="0">
              <a:solidFill>
                <a:srgbClr val="F1A63A"/>
              </a:solidFill>
              <a:latin typeface="黑体" charset="0"/>
              <a:ea typeface="黑体" charset="0"/>
              <a:cs typeface="微软雅黑" pitchFamily="34" charset="-12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advTm="24749">
        <p159:morph option="byObject"/>
      </p:transition>
    </mc:Choice>
    <mc:Fallback>
      <p:transition spd="slow" advTm="2474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500"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500"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500"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500"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anim calcmode="lin" valueType="num">
                                      <p:cBhvr>
                                        <p:cTn id="32" dur="500" fill="hold"/>
                                        <p:tgtEl>
                                          <p:spTgt spid="18"/>
                                        </p:tgtEl>
                                        <p:attrNameLst>
                                          <p:attrName>ppt_x</p:attrName>
                                        </p:attrNameLst>
                                      </p:cBhvr>
                                      <p:tavLst>
                                        <p:tav tm="0">
                                          <p:val>
                                            <p:strVal val="#ppt_x"/>
                                          </p:val>
                                        </p:tav>
                                        <p:tav tm="100000">
                                          <p:val>
                                            <p:strVal val="#ppt_x"/>
                                          </p:val>
                                        </p:tav>
                                      </p:tavLst>
                                    </p:anim>
                                    <p:anim calcmode="lin" valueType="num">
                                      <p:cBhvr>
                                        <p:cTn id="33" dur="500" fill="hold"/>
                                        <p:tgtEl>
                                          <p:spTgt spid="18"/>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500"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anim calcmode="lin" valueType="num">
                                      <p:cBhvr>
                                        <p:cTn id="38" dur="500" fill="hold"/>
                                        <p:tgtEl>
                                          <p:spTgt spid="20"/>
                                        </p:tgtEl>
                                        <p:attrNameLst>
                                          <p:attrName>ppt_x</p:attrName>
                                        </p:attrNameLst>
                                      </p:cBhvr>
                                      <p:tavLst>
                                        <p:tav tm="0">
                                          <p:val>
                                            <p:strVal val="#ppt_x"/>
                                          </p:val>
                                        </p:tav>
                                        <p:tav tm="100000">
                                          <p:val>
                                            <p:strVal val="#ppt_x"/>
                                          </p:val>
                                        </p:tav>
                                      </p:tavLst>
                                    </p:anim>
                                    <p:anim calcmode="lin" valueType="num">
                                      <p:cBhvr>
                                        <p:cTn id="39" dur="500" fill="hold"/>
                                        <p:tgtEl>
                                          <p:spTgt spid="20"/>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500" fill="hold">
                                          <p:stCondLst>
                                            <p:cond delay="0"/>
                                          </p:stCondLst>
                                        </p:cTn>
                                        <p:tgtEl>
                                          <p:spTgt spid="67"/>
                                        </p:tgtEl>
                                        <p:attrNameLst>
                                          <p:attrName>style.visibility</p:attrName>
                                        </p:attrNameLst>
                                      </p:cBhvr>
                                      <p:to>
                                        <p:strVal val="visible"/>
                                      </p:to>
                                    </p:set>
                                    <p:animEffect transition="in" filter="fade">
                                      <p:cBhvr>
                                        <p:cTn id="43" dur="500"/>
                                        <p:tgtEl>
                                          <p:spTgt spid="67"/>
                                        </p:tgtEl>
                                      </p:cBhvr>
                                    </p:animEffect>
                                    <p:anim calcmode="lin" valueType="num">
                                      <p:cBhvr>
                                        <p:cTn id="44" dur="500" fill="hold"/>
                                        <p:tgtEl>
                                          <p:spTgt spid="67"/>
                                        </p:tgtEl>
                                        <p:attrNameLst>
                                          <p:attrName>ppt_x</p:attrName>
                                        </p:attrNameLst>
                                      </p:cBhvr>
                                      <p:tavLst>
                                        <p:tav tm="0">
                                          <p:val>
                                            <p:strVal val="#ppt_x"/>
                                          </p:val>
                                        </p:tav>
                                        <p:tav tm="100000">
                                          <p:val>
                                            <p:strVal val="#ppt_x"/>
                                          </p:val>
                                        </p:tav>
                                      </p:tavLst>
                                    </p:anim>
                                    <p:anim calcmode="lin" valueType="num">
                                      <p:cBhvr>
                                        <p:cTn id="45" dur="500" fill="hold"/>
                                        <p:tgtEl>
                                          <p:spTgt spid="67"/>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500" fill="hold">
                                          <p:stCondLst>
                                            <p:cond delay="0"/>
                                          </p:stCondLst>
                                        </p:cTn>
                                        <p:tgtEl>
                                          <p:spTgt spid="56"/>
                                        </p:tgtEl>
                                        <p:attrNameLst>
                                          <p:attrName>style.visibility</p:attrName>
                                        </p:attrNameLst>
                                      </p:cBhvr>
                                      <p:to>
                                        <p:strVal val="visible"/>
                                      </p:to>
                                    </p:set>
                                    <p:animEffect transition="in" filter="fade">
                                      <p:cBhvr>
                                        <p:cTn id="49" dur="500"/>
                                        <p:tgtEl>
                                          <p:spTgt spid="56"/>
                                        </p:tgtEl>
                                      </p:cBhvr>
                                    </p:animEffect>
                                    <p:anim calcmode="lin" valueType="num">
                                      <p:cBhvr>
                                        <p:cTn id="50" dur="500" fill="hold"/>
                                        <p:tgtEl>
                                          <p:spTgt spid="56"/>
                                        </p:tgtEl>
                                        <p:attrNameLst>
                                          <p:attrName>ppt_x</p:attrName>
                                        </p:attrNameLst>
                                      </p:cBhvr>
                                      <p:tavLst>
                                        <p:tav tm="0">
                                          <p:val>
                                            <p:strVal val="#ppt_x"/>
                                          </p:val>
                                        </p:tav>
                                        <p:tav tm="100000">
                                          <p:val>
                                            <p:strVal val="#ppt_x"/>
                                          </p:val>
                                        </p:tav>
                                      </p:tavLst>
                                    </p:anim>
                                    <p:anim calcmode="lin" valueType="num">
                                      <p:cBhvr>
                                        <p:cTn id="51" dur="500" fill="hold"/>
                                        <p:tgtEl>
                                          <p:spTgt spid="56"/>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0"/>
                                  </p:stCondLst>
                                  <p:childTnLst>
                                    <p:set>
                                      <p:cBhvr>
                                        <p:cTn id="54" dur="500" fill="hold">
                                          <p:stCondLst>
                                            <p:cond delay="0"/>
                                          </p:stCondLst>
                                        </p:cTn>
                                        <p:tgtEl>
                                          <p:spTgt spid="58"/>
                                        </p:tgtEl>
                                        <p:attrNameLst>
                                          <p:attrName>style.visibility</p:attrName>
                                        </p:attrNameLst>
                                      </p:cBhvr>
                                      <p:to>
                                        <p:strVal val="visible"/>
                                      </p:to>
                                    </p:set>
                                    <p:animEffect transition="in" filter="fade">
                                      <p:cBhvr>
                                        <p:cTn id="55" dur="500"/>
                                        <p:tgtEl>
                                          <p:spTgt spid="58"/>
                                        </p:tgtEl>
                                      </p:cBhvr>
                                    </p:animEffect>
                                    <p:anim calcmode="lin" valueType="num">
                                      <p:cBhvr>
                                        <p:cTn id="56" dur="500" fill="hold"/>
                                        <p:tgtEl>
                                          <p:spTgt spid="58"/>
                                        </p:tgtEl>
                                        <p:attrNameLst>
                                          <p:attrName>ppt_x</p:attrName>
                                        </p:attrNameLst>
                                      </p:cBhvr>
                                      <p:tavLst>
                                        <p:tav tm="0">
                                          <p:val>
                                            <p:strVal val="#ppt_x"/>
                                          </p:val>
                                        </p:tav>
                                        <p:tav tm="100000">
                                          <p:val>
                                            <p:strVal val="#ppt_x"/>
                                          </p:val>
                                        </p:tav>
                                      </p:tavLst>
                                    </p:anim>
                                    <p:anim calcmode="lin" valueType="num">
                                      <p:cBhvr>
                                        <p:cTn id="57" dur="500" fill="hold"/>
                                        <p:tgtEl>
                                          <p:spTgt spid="58"/>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grpId="0" nodeType="afterEffect">
                                  <p:stCondLst>
                                    <p:cond delay="0"/>
                                  </p:stCondLst>
                                  <p:childTnLst>
                                    <p:set>
                                      <p:cBhvr>
                                        <p:cTn id="60" dur="500"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anim calcmode="lin" valueType="num">
                                      <p:cBhvr>
                                        <p:cTn id="62" dur="500" fill="hold"/>
                                        <p:tgtEl>
                                          <p:spTgt spid="60"/>
                                        </p:tgtEl>
                                        <p:attrNameLst>
                                          <p:attrName>ppt_x</p:attrName>
                                        </p:attrNameLst>
                                      </p:cBhvr>
                                      <p:tavLst>
                                        <p:tav tm="0">
                                          <p:val>
                                            <p:strVal val="#ppt_x"/>
                                          </p:val>
                                        </p:tav>
                                        <p:tav tm="100000">
                                          <p:val>
                                            <p:strVal val="#ppt_x"/>
                                          </p:val>
                                        </p:tav>
                                      </p:tavLst>
                                    </p:anim>
                                    <p:anim calcmode="lin" valueType="num">
                                      <p:cBhvr>
                                        <p:cTn id="63" dur="500" fill="hold"/>
                                        <p:tgtEl>
                                          <p:spTgt spid="60"/>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grpId="0" nodeType="afterEffect">
                                  <p:stCondLst>
                                    <p:cond delay="0"/>
                                  </p:stCondLst>
                                  <p:childTnLst>
                                    <p:set>
                                      <p:cBhvr>
                                        <p:cTn id="66" dur="500"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anim calcmode="lin" valueType="num">
                                      <p:cBhvr>
                                        <p:cTn id="68" dur="500" fill="hold"/>
                                        <p:tgtEl>
                                          <p:spTgt spid="62"/>
                                        </p:tgtEl>
                                        <p:attrNameLst>
                                          <p:attrName>ppt_x</p:attrName>
                                        </p:attrNameLst>
                                      </p:cBhvr>
                                      <p:tavLst>
                                        <p:tav tm="0">
                                          <p:val>
                                            <p:strVal val="#ppt_x"/>
                                          </p:val>
                                        </p:tav>
                                        <p:tav tm="100000">
                                          <p:val>
                                            <p:strVal val="#ppt_x"/>
                                          </p:val>
                                        </p:tav>
                                      </p:tavLst>
                                    </p:anim>
                                    <p:anim calcmode="lin" valueType="num">
                                      <p:cBhvr>
                                        <p:cTn id="69" dur="500" fill="hold"/>
                                        <p:tgtEl>
                                          <p:spTgt spid="62"/>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grpId="0" nodeType="afterEffect">
                                  <p:stCondLst>
                                    <p:cond delay="0"/>
                                  </p:stCondLst>
                                  <p:childTnLst>
                                    <p:set>
                                      <p:cBhvr>
                                        <p:cTn id="72" dur="500" fill="hold">
                                          <p:stCondLst>
                                            <p:cond delay="0"/>
                                          </p:stCondLst>
                                        </p:cTn>
                                        <p:tgtEl>
                                          <p:spTgt spid="64"/>
                                        </p:tgtEl>
                                        <p:attrNameLst>
                                          <p:attrName>style.visibility</p:attrName>
                                        </p:attrNameLst>
                                      </p:cBhvr>
                                      <p:to>
                                        <p:strVal val="visible"/>
                                      </p:to>
                                    </p:set>
                                    <p:animEffect transition="in" filter="fade">
                                      <p:cBhvr>
                                        <p:cTn id="73" dur="500"/>
                                        <p:tgtEl>
                                          <p:spTgt spid="64"/>
                                        </p:tgtEl>
                                      </p:cBhvr>
                                    </p:animEffect>
                                    <p:anim calcmode="lin" valueType="num">
                                      <p:cBhvr>
                                        <p:cTn id="74" dur="500" fill="hold"/>
                                        <p:tgtEl>
                                          <p:spTgt spid="64"/>
                                        </p:tgtEl>
                                        <p:attrNameLst>
                                          <p:attrName>ppt_x</p:attrName>
                                        </p:attrNameLst>
                                      </p:cBhvr>
                                      <p:tavLst>
                                        <p:tav tm="0">
                                          <p:val>
                                            <p:strVal val="#ppt_x"/>
                                          </p:val>
                                        </p:tav>
                                        <p:tav tm="100000">
                                          <p:val>
                                            <p:strVal val="#ppt_x"/>
                                          </p:val>
                                        </p:tav>
                                      </p:tavLst>
                                    </p:anim>
                                    <p:anim calcmode="lin" valueType="num">
                                      <p:cBhvr>
                                        <p:cTn id="75" dur="500" fill="hold"/>
                                        <p:tgtEl>
                                          <p:spTgt spid="64"/>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2" presetClass="entr" presetSubtype="0" fill="hold" grpId="0" nodeType="afterEffect">
                                  <p:stCondLst>
                                    <p:cond delay="0"/>
                                  </p:stCondLst>
                                  <p:childTnLst>
                                    <p:set>
                                      <p:cBhvr>
                                        <p:cTn id="78" dur="500" fill="hold">
                                          <p:stCondLst>
                                            <p:cond delay="0"/>
                                          </p:stCondLst>
                                        </p:cTn>
                                        <p:tgtEl>
                                          <p:spTgt spid="66"/>
                                        </p:tgtEl>
                                        <p:attrNameLst>
                                          <p:attrName>style.visibility</p:attrName>
                                        </p:attrNameLst>
                                      </p:cBhvr>
                                      <p:to>
                                        <p:strVal val="visible"/>
                                      </p:to>
                                    </p:set>
                                    <p:animEffect transition="in" filter="fade">
                                      <p:cBhvr>
                                        <p:cTn id="79" dur="500"/>
                                        <p:tgtEl>
                                          <p:spTgt spid="66"/>
                                        </p:tgtEl>
                                      </p:cBhvr>
                                    </p:animEffect>
                                    <p:anim calcmode="lin" valueType="num">
                                      <p:cBhvr>
                                        <p:cTn id="80" dur="500" fill="hold"/>
                                        <p:tgtEl>
                                          <p:spTgt spid="66"/>
                                        </p:tgtEl>
                                        <p:attrNameLst>
                                          <p:attrName>ppt_x</p:attrName>
                                        </p:attrNameLst>
                                      </p:cBhvr>
                                      <p:tavLst>
                                        <p:tav tm="0">
                                          <p:val>
                                            <p:strVal val="#ppt_x"/>
                                          </p:val>
                                        </p:tav>
                                        <p:tav tm="100000">
                                          <p:val>
                                            <p:strVal val="#ppt_x"/>
                                          </p:val>
                                        </p:tav>
                                      </p:tavLst>
                                    </p:anim>
                                    <p:anim calcmode="lin" valueType="num">
                                      <p:cBhvr>
                                        <p:cTn id="81" dur="500" fill="hold"/>
                                        <p:tgtEl>
                                          <p:spTgt spid="66"/>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500" fill="hold">
                                          <p:stCondLst>
                                            <p:cond delay="0"/>
                                          </p:stCondLst>
                                        </p:cTn>
                                        <p:tgtEl>
                                          <p:spTgt spid="71"/>
                                        </p:tgtEl>
                                        <p:attrNameLst>
                                          <p:attrName>style.visibility</p:attrName>
                                        </p:attrNameLst>
                                      </p:cBhvr>
                                      <p:to>
                                        <p:strVal val="visible"/>
                                      </p:to>
                                    </p:set>
                                    <p:animEffect transition="in" filter="fade">
                                      <p:cBhvr>
                                        <p:cTn id="85" dur="500"/>
                                        <p:tgtEl>
                                          <p:spTgt spid="71"/>
                                        </p:tgtEl>
                                      </p:cBhvr>
                                    </p:animEffect>
                                    <p:anim calcmode="lin" valueType="num">
                                      <p:cBhvr>
                                        <p:cTn id="86" dur="500" fill="hold"/>
                                        <p:tgtEl>
                                          <p:spTgt spid="71"/>
                                        </p:tgtEl>
                                        <p:attrNameLst>
                                          <p:attrName>ppt_x</p:attrName>
                                        </p:attrNameLst>
                                      </p:cBhvr>
                                      <p:tavLst>
                                        <p:tav tm="0">
                                          <p:val>
                                            <p:strVal val="#ppt_x"/>
                                          </p:val>
                                        </p:tav>
                                        <p:tav tm="100000">
                                          <p:val>
                                            <p:strVal val="#ppt_x"/>
                                          </p:val>
                                        </p:tav>
                                      </p:tavLst>
                                    </p:anim>
                                    <p:anim calcmode="lin" valueType="num">
                                      <p:cBhvr>
                                        <p:cTn id="87" dur="500" fill="hold"/>
                                        <p:tgtEl>
                                          <p:spTgt spid="71"/>
                                        </p:tgtEl>
                                        <p:attrNameLst>
                                          <p:attrName>ppt_y</p:attrName>
                                        </p:attrNameLst>
                                      </p:cBhvr>
                                      <p:tavLst>
                                        <p:tav tm="0">
                                          <p:val>
                                            <p:strVal val="#ppt_y+.1"/>
                                          </p:val>
                                        </p:tav>
                                        <p:tav tm="100000">
                                          <p:val>
                                            <p:strVal val="#ppt_y"/>
                                          </p:val>
                                        </p:tav>
                                      </p:tavLst>
                                    </p:anim>
                                  </p:childTnLst>
                                </p:cTn>
                              </p:par>
                            </p:childTnLst>
                          </p:cTn>
                        </p:par>
                        <p:par>
                          <p:cTn id="88" fill="hold">
                            <p:stCondLst>
                              <p:cond delay="7000"/>
                            </p:stCondLst>
                            <p:childTnLst>
                              <p:par>
                                <p:cTn id="89" presetID="42" presetClass="entr" presetSubtype="0" fill="hold" grpId="0" nodeType="afterEffect">
                                  <p:stCondLst>
                                    <p:cond delay="0"/>
                                  </p:stCondLst>
                                  <p:childTnLst>
                                    <p:set>
                                      <p:cBhvr>
                                        <p:cTn id="90" dur="500"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anim calcmode="lin" valueType="num">
                                      <p:cBhvr>
                                        <p:cTn id="92" dur="500" fill="hold"/>
                                        <p:tgtEl>
                                          <p:spTgt spid="44"/>
                                        </p:tgtEl>
                                        <p:attrNameLst>
                                          <p:attrName>ppt_x</p:attrName>
                                        </p:attrNameLst>
                                      </p:cBhvr>
                                      <p:tavLst>
                                        <p:tav tm="0">
                                          <p:val>
                                            <p:strVal val="#ppt_x"/>
                                          </p:val>
                                        </p:tav>
                                        <p:tav tm="100000">
                                          <p:val>
                                            <p:strVal val="#ppt_x"/>
                                          </p:val>
                                        </p:tav>
                                      </p:tavLst>
                                    </p:anim>
                                    <p:anim calcmode="lin" valueType="num">
                                      <p:cBhvr>
                                        <p:cTn id="93" dur="500" fill="hold"/>
                                        <p:tgtEl>
                                          <p:spTgt spid="44"/>
                                        </p:tgtEl>
                                        <p:attrNameLst>
                                          <p:attrName>ppt_y</p:attrName>
                                        </p:attrNameLst>
                                      </p:cBhvr>
                                      <p:tavLst>
                                        <p:tav tm="0">
                                          <p:val>
                                            <p:strVal val="#ppt_y+.1"/>
                                          </p:val>
                                        </p:tav>
                                        <p:tav tm="100000">
                                          <p:val>
                                            <p:strVal val="#ppt_y"/>
                                          </p:val>
                                        </p:tav>
                                      </p:tavLst>
                                    </p:anim>
                                  </p:childTnLst>
                                </p:cTn>
                              </p:par>
                            </p:childTnLst>
                          </p:cTn>
                        </p:par>
                        <p:par>
                          <p:cTn id="94" fill="hold">
                            <p:stCondLst>
                              <p:cond delay="7500"/>
                            </p:stCondLst>
                            <p:childTnLst>
                              <p:par>
                                <p:cTn id="95" presetID="42" presetClass="entr" presetSubtype="0" fill="hold" nodeType="afterEffect">
                                  <p:stCondLst>
                                    <p:cond delay="0"/>
                                  </p:stCondLst>
                                  <p:childTnLst>
                                    <p:set>
                                      <p:cBhvr>
                                        <p:cTn id="96" dur="500" fill="hold">
                                          <p:stCondLst>
                                            <p:cond delay="0"/>
                                          </p:stCondLst>
                                        </p:cTn>
                                        <p:tgtEl>
                                          <p:spTgt spid="46"/>
                                        </p:tgtEl>
                                        <p:attrNameLst>
                                          <p:attrName>style.visibility</p:attrName>
                                        </p:attrNameLst>
                                      </p:cBhvr>
                                      <p:to>
                                        <p:strVal val="visible"/>
                                      </p:to>
                                    </p:set>
                                    <p:animEffect transition="in" filter="fade">
                                      <p:cBhvr>
                                        <p:cTn id="97" dur="500"/>
                                        <p:tgtEl>
                                          <p:spTgt spid="46"/>
                                        </p:tgtEl>
                                      </p:cBhvr>
                                    </p:animEffect>
                                    <p:anim calcmode="lin" valueType="num">
                                      <p:cBhvr>
                                        <p:cTn id="98" dur="500" fill="hold"/>
                                        <p:tgtEl>
                                          <p:spTgt spid="46"/>
                                        </p:tgtEl>
                                        <p:attrNameLst>
                                          <p:attrName>ppt_x</p:attrName>
                                        </p:attrNameLst>
                                      </p:cBhvr>
                                      <p:tavLst>
                                        <p:tav tm="0">
                                          <p:val>
                                            <p:strVal val="#ppt_x"/>
                                          </p:val>
                                        </p:tav>
                                        <p:tav tm="100000">
                                          <p:val>
                                            <p:strVal val="#ppt_x"/>
                                          </p:val>
                                        </p:tav>
                                      </p:tavLst>
                                    </p:anim>
                                    <p:anim calcmode="lin" valueType="num">
                                      <p:cBhvr>
                                        <p:cTn id="99" dur="500" fill="hold"/>
                                        <p:tgtEl>
                                          <p:spTgt spid="46"/>
                                        </p:tgtEl>
                                        <p:attrNameLst>
                                          <p:attrName>ppt_y</p:attrName>
                                        </p:attrNameLst>
                                      </p:cBhvr>
                                      <p:tavLst>
                                        <p:tav tm="0">
                                          <p:val>
                                            <p:strVal val="#ppt_y+.1"/>
                                          </p:val>
                                        </p:tav>
                                        <p:tav tm="100000">
                                          <p:val>
                                            <p:strVal val="#ppt_y"/>
                                          </p:val>
                                        </p:tav>
                                      </p:tavLst>
                                    </p:anim>
                                  </p:childTnLst>
                                </p:cTn>
                              </p:par>
                            </p:childTnLst>
                          </p:cTn>
                        </p:par>
                        <p:par>
                          <p:cTn id="100" fill="hold">
                            <p:stCondLst>
                              <p:cond delay="8000"/>
                            </p:stCondLst>
                            <p:childTnLst>
                              <p:par>
                                <p:cTn id="101" presetID="42" presetClass="entr" presetSubtype="0" fill="hold" grpId="0" nodeType="afterEffect">
                                  <p:stCondLst>
                                    <p:cond delay="0"/>
                                  </p:stCondLst>
                                  <p:childTnLst>
                                    <p:set>
                                      <p:cBhvr>
                                        <p:cTn id="102" dur="500" fill="hold">
                                          <p:stCondLst>
                                            <p:cond delay="0"/>
                                          </p:stCondLst>
                                        </p:cTn>
                                        <p:tgtEl>
                                          <p:spTgt spid="48"/>
                                        </p:tgtEl>
                                        <p:attrNameLst>
                                          <p:attrName>style.visibility</p:attrName>
                                        </p:attrNameLst>
                                      </p:cBhvr>
                                      <p:to>
                                        <p:strVal val="visible"/>
                                      </p:to>
                                    </p:set>
                                    <p:animEffect transition="in" filter="fade">
                                      <p:cBhvr>
                                        <p:cTn id="103" dur="500"/>
                                        <p:tgtEl>
                                          <p:spTgt spid="48"/>
                                        </p:tgtEl>
                                      </p:cBhvr>
                                    </p:animEffect>
                                    <p:anim calcmode="lin" valueType="num">
                                      <p:cBhvr>
                                        <p:cTn id="104" dur="500" fill="hold"/>
                                        <p:tgtEl>
                                          <p:spTgt spid="48"/>
                                        </p:tgtEl>
                                        <p:attrNameLst>
                                          <p:attrName>ppt_x</p:attrName>
                                        </p:attrNameLst>
                                      </p:cBhvr>
                                      <p:tavLst>
                                        <p:tav tm="0">
                                          <p:val>
                                            <p:strVal val="#ppt_x"/>
                                          </p:val>
                                        </p:tav>
                                        <p:tav tm="100000">
                                          <p:val>
                                            <p:strVal val="#ppt_x"/>
                                          </p:val>
                                        </p:tav>
                                      </p:tavLst>
                                    </p:anim>
                                    <p:anim calcmode="lin" valueType="num">
                                      <p:cBhvr>
                                        <p:cTn id="105" dur="500" fill="hold"/>
                                        <p:tgtEl>
                                          <p:spTgt spid="48"/>
                                        </p:tgtEl>
                                        <p:attrNameLst>
                                          <p:attrName>ppt_y</p:attrName>
                                        </p:attrNameLst>
                                      </p:cBhvr>
                                      <p:tavLst>
                                        <p:tav tm="0">
                                          <p:val>
                                            <p:strVal val="#ppt_y+.1"/>
                                          </p:val>
                                        </p:tav>
                                        <p:tav tm="100000">
                                          <p:val>
                                            <p:strVal val="#ppt_y"/>
                                          </p:val>
                                        </p:tav>
                                      </p:tavLst>
                                    </p:anim>
                                  </p:childTnLst>
                                </p:cTn>
                              </p:par>
                            </p:childTnLst>
                          </p:cTn>
                        </p:par>
                        <p:par>
                          <p:cTn id="106" fill="hold">
                            <p:stCondLst>
                              <p:cond delay="8500"/>
                            </p:stCondLst>
                            <p:childTnLst>
                              <p:par>
                                <p:cTn id="107" presetID="42" presetClass="entr" presetSubtype="0" fill="hold" grpId="0" nodeType="afterEffect">
                                  <p:stCondLst>
                                    <p:cond delay="0"/>
                                  </p:stCondLst>
                                  <p:childTnLst>
                                    <p:set>
                                      <p:cBhvr>
                                        <p:cTn id="108" dur="500" fill="hold">
                                          <p:stCondLst>
                                            <p:cond delay="0"/>
                                          </p:stCondLst>
                                        </p:cTn>
                                        <p:tgtEl>
                                          <p:spTgt spid="50"/>
                                        </p:tgtEl>
                                        <p:attrNameLst>
                                          <p:attrName>style.visibility</p:attrName>
                                        </p:attrNameLst>
                                      </p:cBhvr>
                                      <p:to>
                                        <p:strVal val="visible"/>
                                      </p:to>
                                    </p:set>
                                    <p:animEffect transition="in" filter="fade">
                                      <p:cBhvr>
                                        <p:cTn id="109" dur="500"/>
                                        <p:tgtEl>
                                          <p:spTgt spid="50"/>
                                        </p:tgtEl>
                                      </p:cBhvr>
                                    </p:animEffect>
                                    <p:anim calcmode="lin" valueType="num">
                                      <p:cBhvr>
                                        <p:cTn id="110" dur="500" fill="hold"/>
                                        <p:tgtEl>
                                          <p:spTgt spid="50"/>
                                        </p:tgtEl>
                                        <p:attrNameLst>
                                          <p:attrName>ppt_x</p:attrName>
                                        </p:attrNameLst>
                                      </p:cBhvr>
                                      <p:tavLst>
                                        <p:tav tm="0">
                                          <p:val>
                                            <p:strVal val="#ppt_x"/>
                                          </p:val>
                                        </p:tav>
                                        <p:tav tm="100000">
                                          <p:val>
                                            <p:strVal val="#ppt_x"/>
                                          </p:val>
                                        </p:tav>
                                      </p:tavLst>
                                    </p:anim>
                                    <p:anim calcmode="lin" valueType="num">
                                      <p:cBhvr>
                                        <p:cTn id="111" dur="500" fill="hold"/>
                                        <p:tgtEl>
                                          <p:spTgt spid="50"/>
                                        </p:tgtEl>
                                        <p:attrNameLst>
                                          <p:attrName>ppt_y</p:attrName>
                                        </p:attrNameLst>
                                      </p:cBhvr>
                                      <p:tavLst>
                                        <p:tav tm="0">
                                          <p:val>
                                            <p:strVal val="#ppt_y+.1"/>
                                          </p:val>
                                        </p:tav>
                                        <p:tav tm="100000">
                                          <p:val>
                                            <p:strVal val="#ppt_y"/>
                                          </p:val>
                                        </p:tav>
                                      </p:tavLst>
                                    </p:anim>
                                  </p:childTnLst>
                                </p:cTn>
                              </p:par>
                            </p:childTnLst>
                          </p:cTn>
                        </p:par>
                        <p:par>
                          <p:cTn id="112" fill="hold">
                            <p:stCondLst>
                              <p:cond delay="9000"/>
                            </p:stCondLst>
                            <p:childTnLst>
                              <p:par>
                                <p:cTn id="113" presetID="42" presetClass="entr" presetSubtype="0" fill="hold" grpId="0" nodeType="afterEffect">
                                  <p:stCondLst>
                                    <p:cond delay="0"/>
                                  </p:stCondLst>
                                  <p:childTnLst>
                                    <p:set>
                                      <p:cBhvr>
                                        <p:cTn id="114" dur="500" fill="hold">
                                          <p:stCondLst>
                                            <p:cond delay="0"/>
                                          </p:stCondLst>
                                        </p:cTn>
                                        <p:tgtEl>
                                          <p:spTgt spid="52"/>
                                        </p:tgtEl>
                                        <p:attrNameLst>
                                          <p:attrName>style.visibility</p:attrName>
                                        </p:attrNameLst>
                                      </p:cBhvr>
                                      <p:to>
                                        <p:strVal val="visible"/>
                                      </p:to>
                                    </p:set>
                                    <p:animEffect transition="in" filter="fade">
                                      <p:cBhvr>
                                        <p:cTn id="115" dur="500"/>
                                        <p:tgtEl>
                                          <p:spTgt spid="52"/>
                                        </p:tgtEl>
                                      </p:cBhvr>
                                    </p:animEffect>
                                    <p:anim calcmode="lin" valueType="num">
                                      <p:cBhvr>
                                        <p:cTn id="116" dur="500" fill="hold"/>
                                        <p:tgtEl>
                                          <p:spTgt spid="52"/>
                                        </p:tgtEl>
                                        <p:attrNameLst>
                                          <p:attrName>ppt_x</p:attrName>
                                        </p:attrNameLst>
                                      </p:cBhvr>
                                      <p:tavLst>
                                        <p:tav tm="0">
                                          <p:val>
                                            <p:strVal val="#ppt_x"/>
                                          </p:val>
                                        </p:tav>
                                        <p:tav tm="100000">
                                          <p:val>
                                            <p:strVal val="#ppt_x"/>
                                          </p:val>
                                        </p:tav>
                                      </p:tavLst>
                                    </p:anim>
                                    <p:anim calcmode="lin" valueType="num">
                                      <p:cBhvr>
                                        <p:cTn id="117" dur="500" fill="hold"/>
                                        <p:tgtEl>
                                          <p:spTgt spid="52"/>
                                        </p:tgtEl>
                                        <p:attrNameLst>
                                          <p:attrName>ppt_y</p:attrName>
                                        </p:attrNameLst>
                                      </p:cBhvr>
                                      <p:tavLst>
                                        <p:tav tm="0">
                                          <p:val>
                                            <p:strVal val="#ppt_y+.1"/>
                                          </p:val>
                                        </p:tav>
                                        <p:tav tm="100000">
                                          <p:val>
                                            <p:strVal val="#ppt_y"/>
                                          </p:val>
                                        </p:tav>
                                      </p:tavLst>
                                    </p:anim>
                                  </p:childTnLst>
                                </p:cTn>
                              </p:par>
                            </p:childTnLst>
                          </p:cTn>
                        </p:par>
                        <p:par>
                          <p:cTn id="118" fill="hold">
                            <p:stCondLst>
                              <p:cond delay="9500"/>
                            </p:stCondLst>
                            <p:childTnLst>
                              <p:par>
                                <p:cTn id="119" presetID="42" presetClass="entr" presetSubtype="0" fill="hold" grpId="0" nodeType="afterEffect">
                                  <p:stCondLst>
                                    <p:cond delay="0"/>
                                  </p:stCondLst>
                                  <p:childTnLst>
                                    <p:set>
                                      <p:cBhvr>
                                        <p:cTn id="120" dur="500" fill="hold">
                                          <p:stCondLst>
                                            <p:cond delay="0"/>
                                          </p:stCondLst>
                                        </p:cTn>
                                        <p:tgtEl>
                                          <p:spTgt spid="54"/>
                                        </p:tgtEl>
                                        <p:attrNameLst>
                                          <p:attrName>style.visibility</p:attrName>
                                        </p:attrNameLst>
                                      </p:cBhvr>
                                      <p:to>
                                        <p:strVal val="visible"/>
                                      </p:to>
                                    </p:set>
                                    <p:animEffect transition="in" filter="fade">
                                      <p:cBhvr>
                                        <p:cTn id="121" dur="500"/>
                                        <p:tgtEl>
                                          <p:spTgt spid="54"/>
                                        </p:tgtEl>
                                      </p:cBhvr>
                                    </p:animEffect>
                                    <p:anim calcmode="lin" valueType="num">
                                      <p:cBhvr>
                                        <p:cTn id="122" dur="500" fill="hold"/>
                                        <p:tgtEl>
                                          <p:spTgt spid="54"/>
                                        </p:tgtEl>
                                        <p:attrNameLst>
                                          <p:attrName>ppt_x</p:attrName>
                                        </p:attrNameLst>
                                      </p:cBhvr>
                                      <p:tavLst>
                                        <p:tav tm="0">
                                          <p:val>
                                            <p:strVal val="#ppt_x"/>
                                          </p:val>
                                        </p:tav>
                                        <p:tav tm="100000">
                                          <p:val>
                                            <p:strVal val="#ppt_x"/>
                                          </p:val>
                                        </p:tav>
                                      </p:tavLst>
                                    </p:anim>
                                    <p:anim calcmode="lin" valueType="num">
                                      <p:cBhvr>
                                        <p:cTn id="123" dur="500" fill="hold"/>
                                        <p:tgtEl>
                                          <p:spTgt spid="54"/>
                                        </p:tgtEl>
                                        <p:attrNameLst>
                                          <p:attrName>ppt_y</p:attrName>
                                        </p:attrNameLst>
                                      </p:cBhvr>
                                      <p:tavLst>
                                        <p:tav tm="0">
                                          <p:val>
                                            <p:strVal val="#ppt_y+.1"/>
                                          </p:val>
                                        </p:tav>
                                        <p:tav tm="100000">
                                          <p:val>
                                            <p:strVal val="#ppt_y"/>
                                          </p:val>
                                        </p:tav>
                                      </p:tavLst>
                                    </p:anim>
                                  </p:childTnLst>
                                </p:cTn>
                              </p:par>
                            </p:childTnLst>
                          </p:cTn>
                        </p:par>
                        <p:par>
                          <p:cTn id="124" fill="hold">
                            <p:stCondLst>
                              <p:cond delay="10000"/>
                            </p:stCondLst>
                            <p:childTnLst>
                              <p:par>
                                <p:cTn id="125" presetID="42" presetClass="entr" presetSubtype="0" fill="hold" grpId="0" nodeType="afterEffect">
                                  <p:stCondLst>
                                    <p:cond delay="0"/>
                                  </p:stCondLst>
                                  <p:childTnLst>
                                    <p:set>
                                      <p:cBhvr>
                                        <p:cTn id="126" dur="500" fill="hold">
                                          <p:stCondLst>
                                            <p:cond delay="0"/>
                                          </p:stCondLst>
                                        </p:cTn>
                                        <p:tgtEl>
                                          <p:spTgt spid="73"/>
                                        </p:tgtEl>
                                        <p:attrNameLst>
                                          <p:attrName>style.visibility</p:attrName>
                                        </p:attrNameLst>
                                      </p:cBhvr>
                                      <p:to>
                                        <p:strVal val="visible"/>
                                      </p:to>
                                    </p:set>
                                    <p:animEffect transition="in" filter="fade">
                                      <p:cBhvr>
                                        <p:cTn id="127" dur="500"/>
                                        <p:tgtEl>
                                          <p:spTgt spid="73"/>
                                        </p:tgtEl>
                                      </p:cBhvr>
                                    </p:animEffect>
                                    <p:anim calcmode="lin" valueType="num">
                                      <p:cBhvr>
                                        <p:cTn id="128" dur="500" fill="hold"/>
                                        <p:tgtEl>
                                          <p:spTgt spid="73"/>
                                        </p:tgtEl>
                                        <p:attrNameLst>
                                          <p:attrName>ppt_x</p:attrName>
                                        </p:attrNameLst>
                                      </p:cBhvr>
                                      <p:tavLst>
                                        <p:tav tm="0">
                                          <p:val>
                                            <p:strVal val="#ppt_x"/>
                                          </p:val>
                                        </p:tav>
                                        <p:tav tm="100000">
                                          <p:val>
                                            <p:strVal val="#ppt_x"/>
                                          </p:val>
                                        </p:tav>
                                      </p:tavLst>
                                    </p:anim>
                                    <p:anim calcmode="lin" valueType="num">
                                      <p:cBhvr>
                                        <p:cTn id="129" dur="500" fill="hold"/>
                                        <p:tgtEl>
                                          <p:spTgt spid="73"/>
                                        </p:tgtEl>
                                        <p:attrNameLst>
                                          <p:attrName>ppt_y</p:attrName>
                                        </p:attrNameLst>
                                      </p:cBhvr>
                                      <p:tavLst>
                                        <p:tav tm="0">
                                          <p:val>
                                            <p:strVal val="#ppt_y+.1"/>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11"/>
                                        </p:tgtEl>
                                        <p:attrNameLst>
                                          <p:attrName>style.visibility</p:attrName>
                                        </p:attrNameLst>
                                      </p:cBhvr>
                                      <p:to>
                                        <p:strVal val="visible"/>
                                      </p:to>
                                    </p:set>
                                    <p:anim calcmode="lin" valueType="num">
                                      <p:cBhvr additive="base">
                                        <p:cTn id="132" dur="500" fill="hold"/>
                                        <p:tgtEl>
                                          <p:spTgt spid="11"/>
                                        </p:tgtEl>
                                        <p:attrNameLst>
                                          <p:attrName>ppt_x</p:attrName>
                                        </p:attrNameLst>
                                      </p:cBhvr>
                                      <p:tavLst>
                                        <p:tav tm="0">
                                          <p:val>
                                            <p:strVal val="#ppt_x"/>
                                          </p:val>
                                        </p:tav>
                                        <p:tav tm="100000">
                                          <p:val>
                                            <p:strVal val="#ppt_x"/>
                                          </p:val>
                                        </p:tav>
                                      </p:tavLst>
                                    </p:anim>
                                    <p:anim calcmode="lin" valueType="num">
                                      <p:cBhvr additive="base">
                                        <p:cTn id="133" dur="500" fill="hold"/>
                                        <p:tgtEl>
                                          <p:spTgt spid="11"/>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21"/>
                                        </p:tgtEl>
                                        <p:attrNameLst>
                                          <p:attrName>style.visibility</p:attrName>
                                        </p:attrNameLst>
                                      </p:cBhvr>
                                      <p:to>
                                        <p:strVal val="visible"/>
                                      </p:to>
                                    </p:set>
                                    <p:anim calcmode="lin" valueType="num">
                                      <p:cBhvr additive="base">
                                        <p:cTn id="136" dur="500" fill="hold"/>
                                        <p:tgtEl>
                                          <p:spTgt spid="21"/>
                                        </p:tgtEl>
                                        <p:attrNameLst>
                                          <p:attrName>ppt_x</p:attrName>
                                        </p:attrNameLst>
                                      </p:cBhvr>
                                      <p:tavLst>
                                        <p:tav tm="0">
                                          <p:val>
                                            <p:strVal val="#ppt_x"/>
                                          </p:val>
                                        </p:tav>
                                        <p:tav tm="100000">
                                          <p:val>
                                            <p:strVal val="#ppt_x"/>
                                          </p:val>
                                        </p:tav>
                                      </p:tavLst>
                                    </p:anim>
                                    <p:anim calcmode="lin" valueType="num">
                                      <p:cBhvr additive="base">
                                        <p:cTn id="137" dur="500" fill="hold"/>
                                        <p:tgtEl>
                                          <p:spTgt spid="21"/>
                                        </p:tgtEl>
                                        <p:attrNameLst>
                                          <p:attrName>ppt_y</p:attrName>
                                        </p:attrNameLst>
                                      </p:cBhvr>
                                      <p:tavLst>
                                        <p:tav tm="0">
                                          <p:val>
                                            <p:strVal val="1+#ppt_h/2"/>
                                          </p:val>
                                        </p:tav>
                                        <p:tav tm="100000">
                                          <p:val>
                                            <p:strVal val="#ppt_y"/>
                                          </p:val>
                                        </p:tav>
                                      </p:tavLst>
                                    </p:anim>
                                  </p:childTnLst>
                                </p:cTn>
                              </p:par>
                              <p:par>
                                <p:cTn id="138" presetID="2" presetClass="entr" presetSubtype="4" fill="hold" nodeType="withEffect">
                                  <p:stCondLst>
                                    <p:cond delay="0"/>
                                  </p:stCondLst>
                                  <p:childTnLst>
                                    <p:set>
                                      <p:cBhvr>
                                        <p:cTn id="139" dur="1" fill="hold">
                                          <p:stCondLst>
                                            <p:cond delay="0"/>
                                          </p:stCondLst>
                                        </p:cTn>
                                        <p:tgtEl>
                                          <p:spTgt spid="23"/>
                                        </p:tgtEl>
                                        <p:attrNameLst>
                                          <p:attrName>style.visibility</p:attrName>
                                        </p:attrNameLst>
                                      </p:cBhvr>
                                      <p:to>
                                        <p:strVal val="visible"/>
                                      </p:to>
                                    </p:set>
                                    <p:anim calcmode="lin" valueType="num">
                                      <p:cBhvr additive="base">
                                        <p:cTn id="140" dur="500" fill="hold"/>
                                        <p:tgtEl>
                                          <p:spTgt spid="23"/>
                                        </p:tgtEl>
                                        <p:attrNameLst>
                                          <p:attrName>ppt_x</p:attrName>
                                        </p:attrNameLst>
                                      </p:cBhvr>
                                      <p:tavLst>
                                        <p:tav tm="0">
                                          <p:val>
                                            <p:strVal val="#ppt_x"/>
                                          </p:val>
                                        </p:tav>
                                        <p:tav tm="100000">
                                          <p:val>
                                            <p:strVal val="#ppt_x"/>
                                          </p:val>
                                        </p:tav>
                                      </p:tavLst>
                                    </p:anim>
                                    <p:anim calcmode="lin" valueType="num">
                                      <p:cBhvr additive="base">
                                        <p:cTn id="141" dur="500" fill="hold"/>
                                        <p:tgtEl>
                                          <p:spTgt spid="23"/>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0"/>
                                  </p:stCondLst>
                                  <p:childTnLst>
                                    <p:set>
                                      <p:cBhvr>
                                        <p:cTn id="143" dur="1" fill="hold">
                                          <p:stCondLst>
                                            <p:cond delay="0"/>
                                          </p:stCondLst>
                                        </p:cTn>
                                        <p:tgtEl>
                                          <p:spTgt spid="26"/>
                                        </p:tgtEl>
                                        <p:attrNameLst>
                                          <p:attrName>style.visibility</p:attrName>
                                        </p:attrNameLst>
                                      </p:cBhvr>
                                      <p:to>
                                        <p:strVal val="visible"/>
                                      </p:to>
                                    </p:set>
                                    <p:anim calcmode="lin" valueType="num">
                                      <p:cBhvr additive="base">
                                        <p:cTn id="144" dur="500" fill="hold"/>
                                        <p:tgtEl>
                                          <p:spTgt spid="26"/>
                                        </p:tgtEl>
                                        <p:attrNameLst>
                                          <p:attrName>ppt_x</p:attrName>
                                        </p:attrNameLst>
                                      </p:cBhvr>
                                      <p:tavLst>
                                        <p:tav tm="0">
                                          <p:val>
                                            <p:strVal val="#ppt_x"/>
                                          </p:val>
                                        </p:tav>
                                        <p:tav tm="100000">
                                          <p:val>
                                            <p:strVal val="#ppt_x"/>
                                          </p:val>
                                        </p:tav>
                                      </p:tavLst>
                                    </p:anim>
                                    <p:anim calcmode="lin" valueType="num">
                                      <p:cBhvr additive="base">
                                        <p:cTn id="145" dur="500" fill="hold"/>
                                        <p:tgtEl>
                                          <p:spTgt spid="26"/>
                                        </p:tgtEl>
                                        <p:attrNameLst>
                                          <p:attrName>ppt_y</p:attrName>
                                        </p:attrNameLst>
                                      </p:cBhvr>
                                      <p:tavLst>
                                        <p:tav tm="0">
                                          <p:val>
                                            <p:strVal val="1+#ppt_h/2"/>
                                          </p:val>
                                        </p:tav>
                                        <p:tav tm="100000">
                                          <p:val>
                                            <p:strVal val="#ppt_y"/>
                                          </p:val>
                                        </p:tav>
                                      </p:tavLst>
                                    </p:anim>
                                  </p:childTnLst>
                                </p:cTn>
                              </p:par>
                              <p:par>
                                <p:cTn id="146" presetID="2" presetClass="entr" presetSubtype="4" fill="hold" nodeType="withEffect">
                                  <p:stCondLst>
                                    <p:cond delay="0"/>
                                  </p:stCondLst>
                                  <p:childTnLst>
                                    <p:set>
                                      <p:cBhvr>
                                        <p:cTn id="147" dur="1" fill="hold">
                                          <p:stCondLst>
                                            <p:cond delay="0"/>
                                          </p:stCondLst>
                                        </p:cTn>
                                        <p:tgtEl>
                                          <p:spTgt spid="27"/>
                                        </p:tgtEl>
                                        <p:attrNameLst>
                                          <p:attrName>style.visibility</p:attrName>
                                        </p:attrNameLst>
                                      </p:cBhvr>
                                      <p:to>
                                        <p:strVal val="visible"/>
                                      </p:to>
                                    </p:set>
                                    <p:anim calcmode="lin" valueType="num">
                                      <p:cBhvr additive="base">
                                        <p:cTn id="148" dur="500" fill="hold"/>
                                        <p:tgtEl>
                                          <p:spTgt spid="27"/>
                                        </p:tgtEl>
                                        <p:attrNameLst>
                                          <p:attrName>ppt_x</p:attrName>
                                        </p:attrNameLst>
                                      </p:cBhvr>
                                      <p:tavLst>
                                        <p:tav tm="0">
                                          <p:val>
                                            <p:strVal val="#ppt_x"/>
                                          </p:val>
                                        </p:tav>
                                        <p:tav tm="100000">
                                          <p:val>
                                            <p:strVal val="#ppt_x"/>
                                          </p:val>
                                        </p:tav>
                                      </p:tavLst>
                                    </p:anim>
                                    <p:anim calcmode="lin" valueType="num">
                                      <p:cBhvr additive="base">
                                        <p:cTn id="149" dur="500" fill="hold"/>
                                        <p:tgtEl>
                                          <p:spTgt spid="27"/>
                                        </p:tgtEl>
                                        <p:attrNameLst>
                                          <p:attrName>ppt_y</p:attrName>
                                        </p:attrNameLst>
                                      </p:cBhvr>
                                      <p:tavLst>
                                        <p:tav tm="0">
                                          <p:val>
                                            <p:strVal val="1+#ppt_h/2"/>
                                          </p:val>
                                        </p:tav>
                                        <p:tav tm="100000">
                                          <p:val>
                                            <p:strVal val="#ppt_y"/>
                                          </p:val>
                                        </p:tav>
                                      </p:tavLst>
                                    </p:anim>
                                  </p:childTnLst>
                                </p:cTn>
                              </p:par>
                              <p:par>
                                <p:cTn id="150" presetID="2" presetClass="entr" presetSubtype="4" fill="hold" grpId="0" nodeType="withEffect">
                                  <p:stCondLst>
                                    <p:cond delay="0"/>
                                  </p:stCondLst>
                                  <p:childTnLst>
                                    <p:set>
                                      <p:cBhvr>
                                        <p:cTn id="151" dur="1" fill="hold">
                                          <p:stCondLst>
                                            <p:cond delay="0"/>
                                          </p:stCondLst>
                                        </p:cTn>
                                        <p:tgtEl>
                                          <p:spTgt spid="30"/>
                                        </p:tgtEl>
                                        <p:attrNameLst>
                                          <p:attrName>style.visibility</p:attrName>
                                        </p:attrNameLst>
                                      </p:cBhvr>
                                      <p:to>
                                        <p:strVal val="visible"/>
                                      </p:to>
                                    </p:set>
                                    <p:anim calcmode="lin" valueType="num">
                                      <p:cBhvr additive="base">
                                        <p:cTn id="152" dur="500" fill="hold"/>
                                        <p:tgtEl>
                                          <p:spTgt spid="30"/>
                                        </p:tgtEl>
                                        <p:attrNameLst>
                                          <p:attrName>ppt_x</p:attrName>
                                        </p:attrNameLst>
                                      </p:cBhvr>
                                      <p:tavLst>
                                        <p:tav tm="0">
                                          <p:val>
                                            <p:strVal val="#ppt_x"/>
                                          </p:val>
                                        </p:tav>
                                        <p:tav tm="100000">
                                          <p:val>
                                            <p:strVal val="#ppt_x"/>
                                          </p:val>
                                        </p:tav>
                                      </p:tavLst>
                                    </p:anim>
                                    <p:anim calcmode="lin" valueType="num">
                                      <p:cBhvr additive="base">
                                        <p:cTn id="153" dur="500" fill="hold"/>
                                        <p:tgtEl>
                                          <p:spTgt spid="30"/>
                                        </p:tgtEl>
                                        <p:attrNameLst>
                                          <p:attrName>ppt_y</p:attrName>
                                        </p:attrNameLst>
                                      </p:cBhvr>
                                      <p:tavLst>
                                        <p:tav tm="0">
                                          <p:val>
                                            <p:strVal val="1+#ppt_h/2"/>
                                          </p:val>
                                        </p:tav>
                                        <p:tav tm="100000">
                                          <p:val>
                                            <p:strVal val="#ppt_y"/>
                                          </p:val>
                                        </p:tav>
                                      </p:tavLst>
                                    </p:anim>
                                  </p:childTnLst>
                                </p:cTn>
                              </p:par>
                              <p:par>
                                <p:cTn id="154" presetID="2" presetClass="entr" presetSubtype="1" fill="hold" grpId="0" nodeType="withEffect">
                                  <p:stCondLst>
                                    <p:cond delay="0"/>
                                  </p:stCondLst>
                                  <p:childTnLst>
                                    <p:set>
                                      <p:cBhvr>
                                        <p:cTn id="155" dur="500" fill="hold">
                                          <p:stCondLst>
                                            <p:cond delay="0"/>
                                          </p:stCondLst>
                                        </p:cTn>
                                        <p:tgtEl>
                                          <p:spTgt spid="41"/>
                                        </p:tgtEl>
                                        <p:attrNameLst>
                                          <p:attrName>style.visibility</p:attrName>
                                        </p:attrNameLst>
                                      </p:cBhvr>
                                      <p:to>
                                        <p:strVal val="visible"/>
                                      </p:to>
                                    </p:set>
                                    <p:anim calcmode="lin" valueType="num">
                                      <p:cBhvr additive="base">
                                        <p:cTn id="156" dur="500" fill="hold"/>
                                        <p:tgtEl>
                                          <p:spTgt spid="41"/>
                                        </p:tgtEl>
                                        <p:attrNameLst>
                                          <p:attrName>ppt_x</p:attrName>
                                        </p:attrNameLst>
                                      </p:cBhvr>
                                      <p:tavLst>
                                        <p:tav tm="0">
                                          <p:val>
                                            <p:strVal val="#ppt_x"/>
                                          </p:val>
                                        </p:tav>
                                        <p:tav tm="100000">
                                          <p:val>
                                            <p:strVal val="#ppt_x"/>
                                          </p:val>
                                        </p:tav>
                                      </p:tavLst>
                                    </p:anim>
                                    <p:anim calcmode="lin" valueType="num">
                                      <p:cBhvr additive="base">
                                        <p:cTn id="157" dur="500" fill="hold"/>
                                        <p:tgtEl>
                                          <p:spTgt spid="41"/>
                                        </p:tgtEl>
                                        <p:attrNameLst>
                                          <p:attrName>ppt_y</p:attrName>
                                        </p:attrNameLst>
                                      </p:cBhvr>
                                      <p:tavLst>
                                        <p:tav tm="0">
                                          <p:val>
                                            <p:strVal val="0-#ppt_h/2"/>
                                          </p:val>
                                        </p:tav>
                                        <p:tav tm="100000">
                                          <p:val>
                                            <p:strVal val="#ppt_y"/>
                                          </p:val>
                                        </p:tav>
                                      </p:tavLst>
                                    </p:anim>
                                  </p:childTnLst>
                                </p:cTn>
                              </p:par>
                              <p:par>
                                <p:cTn id="158" presetID="2" presetClass="entr" presetSubtype="4" fill="hold" grpId="0" nodeType="withEffect">
                                  <p:stCondLst>
                                    <p:cond delay="0"/>
                                  </p:stCondLst>
                                  <p:childTnLst>
                                    <p:set>
                                      <p:cBhvr>
                                        <p:cTn id="159" dur="500" fill="hold">
                                          <p:stCondLst>
                                            <p:cond delay="0"/>
                                          </p:stCondLst>
                                        </p:cTn>
                                        <p:tgtEl>
                                          <p:spTgt spid="45"/>
                                        </p:tgtEl>
                                        <p:attrNameLst>
                                          <p:attrName>style.visibility</p:attrName>
                                        </p:attrNameLst>
                                      </p:cBhvr>
                                      <p:to>
                                        <p:strVal val="visible"/>
                                      </p:to>
                                    </p:set>
                                    <p:anim calcmode="lin" valueType="num">
                                      <p:cBhvr additive="base">
                                        <p:cTn id="160" dur="500" fill="hold"/>
                                        <p:tgtEl>
                                          <p:spTgt spid="45"/>
                                        </p:tgtEl>
                                        <p:attrNameLst>
                                          <p:attrName>ppt_x</p:attrName>
                                        </p:attrNameLst>
                                      </p:cBhvr>
                                      <p:tavLst>
                                        <p:tav tm="0">
                                          <p:val>
                                            <p:strVal val="#ppt_x"/>
                                          </p:val>
                                        </p:tav>
                                        <p:tav tm="100000">
                                          <p:val>
                                            <p:strVal val="#ppt_x"/>
                                          </p:val>
                                        </p:tav>
                                      </p:tavLst>
                                    </p:anim>
                                    <p:anim calcmode="lin" valueType="num">
                                      <p:cBhvr additive="base">
                                        <p:cTn id="161" dur="500" fill="hold"/>
                                        <p:tgtEl>
                                          <p:spTgt spid="45"/>
                                        </p:tgtEl>
                                        <p:attrNameLst>
                                          <p:attrName>ppt_y</p:attrName>
                                        </p:attrNameLst>
                                      </p:cBhvr>
                                      <p:tavLst>
                                        <p:tav tm="0">
                                          <p:val>
                                            <p:strVal val="1+#ppt_h/2"/>
                                          </p:val>
                                        </p:tav>
                                        <p:tav tm="100000">
                                          <p:val>
                                            <p:strVal val="#ppt_y"/>
                                          </p:val>
                                        </p:tav>
                                      </p:tavLst>
                                    </p:anim>
                                  </p:childTnLst>
                                </p:cTn>
                              </p:par>
                              <p:par>
                                <p:cTn id="162" presetID="2" presetClass="entr" presetSubtype="1" fill="hold" grpId="0" nodeType="withEffect">
                                  <p:stCondLst>
                                    <p:cond delay="0"/>
                                  </p:stCondLst>
                                  <p:childTnLst>
                                    <p:set>
                                      <p:cBhvr>
                                        <p:cTn id="163" dur="500" fill="hold">
                                          <p:stCondLst>
                                            <p:cond delay="0"/>
                                          </p:stCondLst>
                                        </p:cTn>
                                        <p:tgtEl>
                                          <p:spTgt spid="49"/>
                                        </p:tgtEl>
                                        <p:attrNameLst>
                                          <p:attrName>style.visibility</p:attrName>
                                        </p:attrNameLst>
                                      </p:cBhvr>
                                      <p:to>
                                        <p:strVal val="visible"/>
                                      </p:to>
                                    </p:set>
                                    <p:anim calcmode="lin" valueType="num">
                                      <p:cBhvr additive="base">
                                        <p:cTn id="164" dur="500" fill="hold"/>
                                        <p:tgtEl>
                                          <p:spTgt spid="49"/>
                                        </p:tgtEl>
                                        <p:attrNameLst>
                                          <p:attrName>ppt_x</p:attrName>
                                        </p:attrNameLst>
                                      </p:cBhvr>
                                      <p:tavLst>
                                        <p:tav tm="0">
                                          <p:val>
                                            <p:strVal val="#ppt_x"/>
                                          </p:val>
                                        </p:tav>
                                        <p:tav tm="100000">
                                          <p:val>
                                            <p:strVal val="#ppt_x"/>
                                          </p:val>
                                        </p:tav>
                                      </p:tavLst>
                                    </p:anim>
                                    <p:anim calcmode="lin" valueType="num">
                                      <p:cBhvr additive="base">
                                        <p:cTn id="165" dur="500" fill="hold"/>
                                        <p:tgtEl>
                                          <p:spTgt spid="4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p:bldP spid="16" grpId="0"/>
      <p:bldP spid="18" grpId="0"/>
      <p:bldP spid="20" grpId="0"/>
      <p:bldP spid="44" grpId="0" bldLvl="0" animBg="1"/>
      <p:bldP spid="48" grpId="0"/>
      <p:bldP spid="50" grpId="0"/>
      <p:bldP spid="52" grpId="0"/>
      <p:bldP spid="54" grpId="0"/>
      <p:bldP spid="56" grpId="0" bldLvl="0" animBg="1"/>
      <p:bldP spid="60" grpId="0"/>
      <p:bldP spid="62" grpId="0"/>
      <p:bldP spid="64" grpId="0"/>
      <p:bldP spid="66" grpId="0"/>
      <p:bldP spid="67" grpId="0"/>
      <p:bldP spid="71" grpId="0"/>
      <p:bldP spid="73" grpId="0"/>
      <p:bldP spid="41" grpId="0"/>
      <p:bldP spid="45" grpId="0"/>
      <p:bldP spid="49" grpId="0"/>
      <p:bldP spid="21" grpId="0"/>
      <p:bldP spid="26"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00" name="蓝图-直接连接符 179"/>
          <p:cNvSpPr>
            <a:spLocks noGrp="1"/>
          </p:cNvSpPr>
          <p:nvPr/>
        </p:nvSpPr>
        <p:spPr>
          <a:xfrm>
            <a:off x="167628" y="1497935"/>
            <a:ext cx="7935818"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1" name="蓝图-直接连接符 180"/>
          <p:cNvSpPr>
            <a:spLocks noGrp="1"/>
          </p:cNvSpPr>
          <p:nvPr/>
        </p:nvSpPr>
        <p:spPr>
          <a:xfrm>
            <a:off x="169545" y="2037688"/>
            <a:ext cx="7933901"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02" name="蓝图-Shape 67"/>
          <p:cNvSpPr>
            <a:spLocks noGrp="1"/>
          </p:cNvSpPr>
          <p:nvPr/>
        </p:nvSpPr>
        <p:spPr>
          <a:xfrm>
            <a:off x="1164230" y="2341182"/>
            <a:ext cx="1209761" cy="1018241"/>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03" name="蓝图-Shape 0"/>
          <p:cNvSpPr>
            <a:spLocks noGrp="1"/>
          </p:cNvSpPr>
          <p:nvPr/>
        </p:nvSpPr>
        <p:spPr>
          <a:xfrm>
            <a:off x="6834300" y="2549483"/>
            <a:ext cx="8282" cy="102164"/>
          </a:xfrm>
          <a:prstGeom prst="line">
            <a:avLst/>
          </a:prstGeom>
          <a:noFill/>
          <a:ln w="1270">
            <a:solidFill>
              <a:srgbClr val="7A6A5C"/>
            </a:solidFill>
            <a:prstDash val="solid"/>
            <a:headEnd type="none"/>
            <a:tailEnd type="triangle"/>
          </a:ln>
        </p:spPr>
      </p:sp>
      <p:sp>
        <p:nvSpPr>
          <p:cNvPr id="1004" name="蓝图-Shape 1"/>
          <p:cNvSpPr>
            <a:spLocks noGrp="1"/>
          </p:cNvSpPr>
          <p:nvPr/>
        </p:nvSpPr>
        <p:spPr>
          <a:xfrm>
            <a:off x="6822668" y="3144167"/>
            <a:ext cx="8282" cy="93014"/>
          </a:xfrm>
          <a:prstGeom prst="line">
            <a:avLst/>
          </a:prstGeom>
          <a:noFill/>
          <a:ln w="1270">
            <a:solidFill>
              <a:srgbClr val="7A6A5C"/>
            </a:solidFill>
            <a:prstDash val="solid"/>
            <a:headEnd type="none"/>
            <a:tailEnd type="triangle"/>
          </a:ln>
        </p:spPr>
      </p:sp>
      <p:sp>
        <p:nvSpPr>
          <p:cNvPr id="1005" name="蓝图-Shape 2"/>
          <p:cNvSpPr>
            <a:spLocks noGrp="1"/>
          </p:cNvSpPr>
          <p:nvPr/>
        </p:nvSpPr>
        <p:spPr>
          <a:xfrm>
            <a:off x="1365874" y="2512887"/>
            <a:ext cx="8282" cy="123512"/>
          </a:xfrm>
          <a:prstGeom prst="line">
            <a:avLst/>
          </a:prstGeom>
          <a:noFill/>
          <a:ln w="1270">
            <a:solidFill>
              <a:srgbClr val="7A6A5C"/>
            </a:solidFill>
            <a:prstDash val="solid"/>
            <a:headEnd type="none"/>
            <a:tailEnd type="triangle"/>
          </a:ln>
        </p:spPr>
      </p:sp>
      <p:sp>
        <p:nvSpPr>
          <p:cNvPr id="1006" name="蓝图-Shape 3"/>
          <p:cNvSpPr>
            <a:spLocks noGrp="1"/>
          </p:cNvSpPr>
          <p:nvPr/>
        </p:nvSpPr>
        <p:spPr>
          <a:xfrm>
            <a:off x="4913897" y="3031329"/>
            <a:ext cx="8282" cy="99114"/>
          </a:xfrm>
          <a:prstGeom prst="line">
            <a:avLst/>
          </a:prstGeom>
          <a:noFill/>
          <a:ln w="1270">
            <a:solidFill>
              <a:srgbClr val="7A6A5C"/>
            </a:solidFill>
            <a:prstDash val="solid"/>
            <a:headEnd type="none"/>
            <a:tailEnd type="triangle"/>
          </a:ln>
        </p:spPr>
      </p:sp>
      <p:sp>
        <p:nvSpPr>
          <p:cNvPr id="1007" name="蓝图-Shape 4"/>
          <p:cNvSpPr>
            <a:spLocks noGrp="1"/>
          </p:cNvSpPr>
          <p:nvPr/>
        </p:nvSpPr>
        <p:spPr>
          <a:xfrm>
            <a:off x="3697003" y="2657746"/>
            <a:ext cx="8282" cy="91490"/>
          </a:xfrm>
          <a:prstGeom prst="line">
            <a:avLst/>
          </a:prstGeom>
          <a:noFill/>
          <a:ln w="1270">
            <a:solidFill>
              <a:srgbClr val="7A6A5C"/>
            </a:solidFill>
            <a:prstDash val="solid"/>
            <a:headEnd type="none"/>
            <a:tailEnd type="triangle"/>
          </a:ln>
        </p:spPr>
      </p:sp>
      <p:sp>
        <p:nvSpPr>
          <p:cNvPr id="1008" name="蓝图-Shape 5"/>
          <p:cNvSpPr>
            <a:spLocks noGrp="1"/>
          </p:cNvSpPr>
          <p:nvPr/>
        </p:nvSpPr>
        <p:spPr>
          <a:xfrm>
            <a:off x="3697003" y="2840725"/>
            <a:ext cx="8282" cy="91490"/>
          </a:xfrm>
          <a:prstGeom prst="line">
            <a:avLst/>
          </a:prstGeom>
          <a:noFill/>
          <a:ln w="1270">
            <a:solidFill>
              <a:srgbClr val="7A6A5C"/>
            </a:solidFill>
            <a:prstDash val="solid"/>
            <a:headEnd type="none"/>
            <a:tailEnd type="triangle"/>
          </a:ln>
        </p:spPr>
      </p:sp>
      <p:sp>
        <p:nvSpPr>
          <p:cNvPr id="1009" name="蓝图-Shape 6"/>
          <p:cNvSpPr>
            <a:spLocks noGrp="1"/>
          </p:cNvSpPr>
          <p:nvPr/>
        </p:nvSpPr>
        <p:spPr>
          <a:xfrm>
            <a:off x="8143839" y="806751"/>
            <a:ext cx="830617" cy="3866550"/>
          </a:xfrm>
          <a:prstGeom prst="roundRect">
            <a:avLst>
              <a:gd name="adj" fmla="val 4000"/>
            </a:avLst>
          </a:prstGeom>
          <a:solidFill>
            <a:schemeClr val="accent2">
              <a:lumMod val="20000"/>
              <a:lumOff val="80000"/>
            </a:schemeClr>
          </a:solidFill>
          <a:ln w="1270">
            <a:noFill/>
            <a:prstDash val="solid"/>
          </a:ln>
        </p:spPr>
        <p:txBody>
          <a:bodyPr/>
          <a:lstStyle/>
          <a:p>
            <a:endParaRPr sz="1015"/>
          </a:p>
        </p:txBody>
      </p:sp>
      <p:sp>
        <p:nvSpPr>
          <p:cNvPr id="1010" name="蓝图-Text 8"/>
          <p:cNvSpPr>
            <a:spLocks noGrp="1"/>
          </p:cNvSpPr>
          <p:nvPr/>
        </p:nvSpPr>
        <p:spPr>
          <a:xfrm>
            <a:off x="169545" y="806793"/>
            <a:ext cx="558304" cy="640428"/>
          </a:xfrm>
          <a:prstGeom prst="rect">
            <a:avLst/>
          </a:prstGeom>
          <a:solidFill>
            <a:schemeClr val="accent6">
              <a:lumMod val="50000"/>
            </a:schemeClr>
          </a:solidFill>
          <a:ln w="1270">
            <a:noFill/>
            <a:prstDash val="solid"/>
          </a:ln>
        </p:spPr>
        <p:txBody>
          <a:bodyPr wrap="square" lIns="0" tIns="0" rIns="0" bIns="0" anchor="ctr"/>
          <a:lstStyle/>
          <a:p>
            <a:pPr algn="ctr"/>
            <a:r>
              <a:rPr sz="990" b="1">
                <a:solidFill>
                  <a:schemeClr val="bg1"/>
                </a:solidFill>
                <a:latin typeface="微软雅黑"/>
                <a:ea typeface="微软雅黑"/>
                <a:cs typeface="微软雅黑"/>
              </a:rPr>
              <a:t>用户</a:t>
            </a:r>
            <a:endParaRPr sz="990" b="1">
              <a:solidFill>
                <a:schemeClr val="bg1"/>
              </a:solidFill>
              <a:latin typeface="微软雅黑"/>
              <a:ea typeface="微软雅黑"/>
              <a:cs typeface="微软雅黑"/>
            </a:endParaRPr>
          </a:p>
        </p:txBody>
      </p:sp>
      <p:sp>
        <p:nvSpPr>
          <p:cNvPr id="1011" name="蓝图-Shape 9"/>
          <p:cNvSpPr>
            <a:spLocks noGrp="1"/>
          </p:cNvSpPr>
          <p:nvPr/>
        </p:nvSpPr>
        <p:spPr>
          <a:xfrm>
            <a:off x="727849" y="806793"/>
            <a:ext cx="7375118" cy="640428"/>
          </a:xfrm>
          <a:prstGeom prst="roundRect">
            <a:avLst>
              <a:gd name="adj" fmla="val 400"/>
            </a:avLst>
          </a:prstGeom>
          <a:solidFill>
            <a:srgbClr val="FFFFFF"/>
          </a:solidFill>
          <a:ln w="1270">
            <a:solidFill>
              <a:schemeClr val="accent6">
                <a:lumMod val="40000"/>
                <a:lumOff val="60000"/>
              </a:schemeClr>
            </a:solidFill>
            <a:prstDash val="solid"/>
          </a:ln>
        </p:spPr>
      </p:sp>
      <p:sp>
        <p:nvSpPr>
          <p:cNvPr id="1012" name="蓝图-Text 12"/>
          <p:cNvSpPr>
            <a:spLocks noGrp="1"/>
          </p:cNvSpPr>
          <p:nvPr/>
        </p:nvSpPr>
        <p:spPr>
          <a:xfrm>
            <a:off x="8279714" y="806750"/>
            <a:ext cx="558867" cy="287471"/>
          </a:xfrm>
          <a:prstGeom prst="rect">
            <a:avLst/>
          </a:prstGeom>
          <a:noFill/>
        </p:spPr>
        <p:txBody>
          <a:bodyPr wrap="square" lIns="0" tIns="0" rIns="0" bIns="0" anchor="ctr"/>
          <a:lstStyle/>
          <a:p>
            <a:pPr algn="ctr"/>
            <a:r>
              <a:rPr sz="990" b="1">
                <a:solidFill>
                  <a:srgbClr val="333333"/>
                </a:solidFill>
                <a:latin typeface="微软雅黑"/>
                <a:ea typeface="微软雅黑"/>
                <a:cs typeface="微软雅黑"/>
              </a:rPr>
              <a:t>未来展望</a:t>
            </a:r>
            <a:endParaRPr sz="990" b="1">
              <a:solidFill>
                <a:srgbClr val="333333"/>
              </a:solidFill>
              <a:latin typeface="微软雅黑"/>
              <a:ea typeface="微软雅黑"/>
              <a:cs typeface="微软雅黑"/>
            </a:endParaRPr>
          </a:p>
        </p:txBody>
      </p:sp>
      <p:sp>
        <p:nvSpPr>
          <p:cNvPr id="1013" name="蓝图-Text 14"/>
          <p:cNvSpPr>
            <a:spLocks noGrp="1"/>
          </p:cNvSpPr>
          <p:nvPr/>
        </p:nvSpPr>
        <p:spPr>
          <a:xfrm>
            <a:off x="2919385" y="913531"/>
            <a:ext cx="2396055" cy="466598"/>
          </a:xfrm>
          <a:prstGeom prst="rect">
            <a:avLst/>
          </a:prstGeom>
          <a:solidFill>
            <a:schemeClr val="accent4">
              <a:lumMod val="20000"/>
              <a:lumOff val="80000"/>
            </a:schemeClr>
          </a:solidFill>
        </p:spPr>
        <p:txBody>
          <a:bodyPr wrap="square" lIns="0" tIns="0" rIns="0" bIns="0" anchor="ctr"/>
          <a:lstStyle/>
          <a:p>
            <a:pPr algn="ctr"/>
            <a:r>
              <a:rPr sz="990" b="1" dirty="0" err="1">
                <a:solidFill>
                  <a:schemeClr val="accent4">
                    <a:lumMod val="50000"/>
                  </a:schemeClr>
                </a:solidFill>
                <a:latin typeface="微软雅黑"/>
                <a:ea typeface="微软雅黑"/>
                <a:cs typeface="微软雅黑"/>
              </a:rPr>
              <a:t>合作社</a:t>
            </a:r>
            <a:r>
              <a:rPr sz="990" b="1" dirty="0">
                <a:solidFill>
                  <a:schemeClr val="accent4">
                    <a:lumMod val="50000"/>
                  </a:schemeClr>
                </a:solidFill>
                <a:latin typeface="微软雅黑"/>
                <a:ea typeface="微软雅黑"/>
                <a:cs typeface="微软雅黑"/>
              </a:rPr>
              <a:t>/</a:t>
            </a:r>
            <a:r>
              <a:rPr sz="990" b="1" dirty="0" err="1">
                <a:solidFill>
                  <a:schemeClr val="accent4">
                    <a:lumMod val="50000"/>
                  </a:schemeClr>
                </a:solidFill>
                <a:latin typeface="微软雅黑"/>
                <a:ea typeface="微软雅黑"/>
                <a:cs typeface="微软雅黑"/>
              </a:rPr>
              <a:t>技术员</a:t>
            </a:r>
            <a:endParaRPr sz="990" b="1" dirty="0">
              <a:solidFill>
                <a:srgbClr val="333333"/>
              </a:solidFill>
              <a:latin typeface="微软雅黑"/>
              <a:ea typeface="微软雅黑"/>
              <a:cs typeface="微软雅黑"/>
            </a:endParaRPr>
          </a:p>
          <a:p>
            <a:pPr algn="ctr"/>
            <a:r>
              <a:rPr sz="695" dirty="0" err="1">
                <a:latin typeface="微软雅黑"/>
                <a:ea typeface="微软雅黑"/>
                <a:cs typeface="微软雅黑"/>
              </a:rPr>
              <a:t>预约管理・日常巡检</a:t>
            </a:r>
            <a:endParaRPr sz="695" dirty="0">
              <a:latin typeface="微软雅黑"/>
              <a:ea typeface="微软雅黑"/>
              <a:cs typeface="微软雅黑"/>
            </a:endParaRPr>
          </a:p>
          <a:p>
            <a:pPr algn="ctr"/>
            <a:r>
              <a:rPr sz="695" dirty="0" err="1">
                <a:latin typeface="微软雅黑"/>
                <a:ea typeface="微软雅黑"/>
                <a:cs typeface="微软雅黑"/>
              </a:rPr>
              <a:t>维修工单响应・验收闭环</a:t>
            </a:r>
            <a:endParaRPr sz="695" dirty="0">
              <a:latin typeface="微软雅黑"/>
              <a:ea typeface="微软雅黑"/>
              <a:cs typeface="微软雅黑"/>
            </a:endParaRPr>
          </a:p>
        </p:txBody>
      </p:sp>
      <p:sp>
        <p:nvSpPr>
          <p:cNvPr id="1014" name="蓝图-Text 16"/>
          <p:cNvSpPr>
            <a:spLocks noGrp="1"/>
          </p:cNvSpPr>
          <p:nvPr/>
        </p:nvSpPr>
        <p:spPr>
          <a:xfrm>
            <a:off x="5667204" y="913531"/>
            <a:ext cx="2248895" cy="466598"/>
          </a:xfrm>
          <a:prstGeom prst="rect">
            <a:avLst/>
          </a:prstGeom>
          <a:solidFill>
            <a:schemeClr val="accent5">
              <a:lumMod val="20000"/>
              <a:lumOff val="80000"/>
            </a:schemeClr>
          </a:solidFill>
        </p:spPr>
        <p:txBody>
          <a:bodyPr wrap="square" lIns="0" tIns="0" rIns="0" bIns="0" anchor="ctr"/>
          <a:lstStyle/>
          <a:p>
            <a:pPr algn="ctr"/>
            <a:r>
              <a:rPr sz="990" b="1">
                <a:solidFill>
                  <a:schemeClr val="accent5">
                    <a:lumMod val="50000"/>
                  </a:schemeClr>
                </a:solidFill>
                <a:latin typeface="微软雅黑"/>
                <a:ea typeface="微软雅黑"/>
                <a:cs typeface="微软雅黑"/>
              </a:rPr>
              <a:t>管理人员</a:t>
            </a:r>
            <a:endParaRPr sz="990" b="1">
              <a:solidFill>
                <a:srgbClr val="333333"/>
              </a:solidFill>
              <a:latin typeface="微软雅黑"/>
              <a:ea typeface="微软雅黑"/>
              <a:cs typeface="微软雅黑"/>
            </a:endParaRPr>
          </a:p>
          <a:p>
            <a:pPr algn="ctr"/>
            <a:r>
              <a:rPr sz="695">
                <a:latin typeface="微软雅黑"/>
                <a:ea typeface="微软雅黑"/>
                <a:cs typeface="微软雅黑"/>
              </a:rPr>
              <a:t>维修决策・资金投入</a:t>
            </a:r>
            <a:endParaRPr sz="695">
              <a:latin typeface="微软雅黑"/>
              <a:ea typeface="微软雅黑"/>
              <a:cs typeface="微软雅黑"/>
            </a:endParaRPr>
          </a:p>
          <a:p>
            <a:pPr algn="ctr"/>
            <a:r>
              <a:rPr sz="695">
                <a:latin typeface="微软雅黑"/>
                <a:ea typeface="微软雅黑"/>
                <a:cs typeface="微软雅黑"/>
              </a:rPr>
              <a:t>新建决策・查收反馈</a:t>
            </a:r>
            <a:endParaRPr sz="695">
              <a:latin typeface="微软雅黑"/>
              <a:ea typeface="微软雅黑"/>
              <a:cs typeface="微软雅黑"/>
            </a:endParaRPr>
          </a:p>
        </p:txBody>
      </p:sp>
      <p:sp>
        <p:nvSpPr>
          <p:cNvPr id="1015" name="蓝图-Text 18"/>
          <p:cNvSpPr>
            <a:spLocks noGrp="1"/>
          </p:cNvSpPr>
          <p:nvPr/>
        </p:nvSpPr>
        <p:spPr>
          <a:xfrm>
            <a:off x="1091245" y="928651"/>
            <a:ext cx="1341089" cy="466550"/>
          </a:xfrm>
          <a:prstGeom prst="rect">
            <a:avLst/>
          </a:prstGeom>
          <a:solidFill>
            <a:schemeClr val="accent6">
              <a:lumMod val="20000"/>
              <a:lumOff val="80000"/>
            </a:schemeClr>
          </a:solidFill>
          <a:ln w="4189">
            <a:solidFill>
              <a:schemeClr val="accent6">
                <a:lumMod val="20000"/>
                <a:lumOff val="80000"/>
              </a:schemeClr>
            </a:solidFill>
          </a:ln>
        </p:spPr>
        <p:txBody>
          <a:bodyPr wrap="square" lIns="0" tIns="0" rIns="0" bIns="0" anchor="ctr"/>
          <a:lstStyle/>
          <a:p>
            <a:pPr algn="ctr"/>
            <a:r>
              <a:rPr sz="990" b="1" dirty="0" err="1">
                <a:solidFill>
                  <a:schemeClr val="accent6">
                    <a:lumMod val="50000"/>
                  </a:schemeClr>
                </a:solidFill>
                <a:latin typeface="微软雅黑"/>
                <a:ea typeface="微软雅黑"/>
                <a:cs typeface="微软雅黑"/>
              </a:rPr>
              <a:t>烟农</a:t>
            </a:r>
            <a:endParaRPr sz="990" b="1" dirty="0">
              <a:solidFill>
                <a:schemeClr val="accent6">
                  <a:lumMod val="50000"/>
                </a:schemeClr>
              </a:solidFill>
              <a:latin typeface="微软雅黑"/>
              <a:ea typeface="微软雅黑"/>
              <a:cs typeface="微软雅黑"/>
            </a:endParaRPr>
          </a:p>
          <a:p>
            <a:pPr algn="ctr"/>
            <a:r>
              <a:rPr sz="695" dirty="0" err="1">
                <a:latin typeface="微软雅黑"/>
                <a:ea typeface="微软雅黑"/>
                <a:cs typeface="微软雅黑"/>
              </a:rPr>
              <a:t>预约分配・临时调剂</a:t>
            </a:r>
            <a:endParaRPr sz="695" dirty="0">
              <a:latin typeface="微软雅黑"/>
              <a:ea typeface="微软雅黑"/>
              <a:cs typeface="微软雅黑"/>
            </a:endParaRPr>
          </a:p>
          <a:p>
            <a:pPr algn="ctr"/>
            <a:r>
              <a:rPr sz="695" dirty="0" err="1">
                <a:latin typeface="微软雅黑"/>
                <a:ea typeface="微软雅黑"/>
                <a:cs typeface="微软雅黑"/>
              </a:rPr>
              <a:t>提报维修・评价反馈</a:t>
            </a:r>
            <a:endParaRPr sz="695" dirty="0">
              <a:latin typeface="微软雅黑"/>
              <a:ea typeface="微软雅黑"/>
              <a:cs typeface="微软雅黑"/>
            </a:endParaRPr>
          </a:p>
        </p:txBody>
      </p:sp>
      <p:sp>
        <p:nvSpPr>
          <p:cNvPr id="1016" name="蓝图-Text 20"/>
          <p:cNvSpPr>
            <a:spLocks noGrp="1"/>
          </p:cNvSpPr>
          <p:nvPr/>
        </p:nvSpPr>
        <p:spPr>
          <a:xfrm>
            <a:off x="8256732" y="1200107"/>
            <a:ext cx="604830" cy="579435"/>
          </a:xfrm>
          <a:prstGeom prst="rect">
            <a:avLst/>
          </a:prstGeom>
          <a:solidFill>
            <a:srgbClr val="F8CECC"/>
          </a:solidFill>
          <a:ln>
            <a:noFill/>
          </a:ln>
        </p:spPr>
        <p:txBody>
          <a:bodyPr wrap="square" lIns="0" tIns="0" rIns="0" bIns="0" anchor="ctr"/>
          <a:lstStyle/>
          <a:p>
            <a:pPr algn="ctr"/>
            <a:r>
              <a:rPr sz="790" b="1">
                <a:solidFill>
                  <a:srgbClr val="333333"/>
                </a:solidFill>
                <a:latin typeface="微软雅黑"/>
                <a:ea typeface="微软雅黑"/>
                <a:cs typeface="微软雅黑"/>
              </a:rPr>
              <a:t>跨域</a:t>
            </a:r>
            <a:endParaRPr sz="790" b="1">
              <a:solidFill>
                <a:srgbClr val="333333"/>
              </a:solidFill>
              <a:latin typeface="微软雅黑"/>
              <a:ea typeface="微软雅黑"/>
              <a:cs typeface="微软雅黑"/>
            </a:endParaRPr>
          </a:p>
          <a:p>
            <a:pPr algn="ctr"/>
            <a:r>
              <a:rPr sz="790" b="1">
                <a:solidFill>
                  <a:srgbClr val="333333"/>
                </a:solidFill>
                <a:latin typeface="微软雅黑"/>
                <a:ea typeface="微软雅黑"/>
                <a:cs typeface="微软雅黑"/>
              </a:rPr>
              <a:t>共享</a:t>
            </a:r>
            <a:endParaRPr sz="790" b="1">
              <a:solidFill>
                <a:srgbClr val="333333"/>
              </a:solidFill>
              <a:latin typeface="微软雅黑"/>
              <a:ea typeface="微软雅黑"/>
              <a:cs typeface="微软雅黑"/>
            </a:endParaRPr>
          </a:p>
        </p:txBody>
      </p:sp>
      <p:sp>
        <p:nvSpPr>
          <p:cNvPr id="1019" name="蓝图-Text 28"/>
          <p:cNvSpPr>
            <a:spLocks noGrp="1"/>
          </p:cNvSpPr>
          <p:nvPr/>
        </p:nvSpPr>
        <p:spPr>
          <a:xfrm>
            <a:off x="167149" y="1535636"/>
            <a:ext cx="565578" cy="466236"/>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应用层</a:t>
            </a:r>
            <a:endParaRPr sz="990" b="1">
              <a:solidFill>
                <a:schemeClr val="bg1"/>
              </a:solidFill>
              <a:latin typeface="微软雅黑"/>
              <a:ea typeface="微软雅黑"/>
              <a:cs typeface="微软雅黑"/>
            </a:endParaRPr>
          </a:p>
        </p:txBody>
      </p:sp>
      <p:sp>
        <p:nvSpPr>
          <p:cNvPr id="1020" name="蓝图-Shape 29"/>
          <p:cNvSpPr>
            <a:spLocks noGrp="1"/>
          </p:cNvSpPr>
          <p:nvPr/>
        </p:nvSpPr>
        <p:spPr>
          <a:xfrm>
            <a:off x="732727" y="1538779"/>
            <a:ext cx="7370240" cy="459638"/>
          </a:xfrm>
          <a:prstGeom prst="roundRect">
            <a:avLst>
              <a:gd name="adj" fmla="val 400"/>
            </a:avLst>
          </a:prstGeom>
          <a:solidFill>
            <a:srgbClr val="FFFFFF"/>
          </a:solidFill>
          <a:ln w="1270">
            <a:solidFill>
              <a:schemeClr val="accent6">
                <a:lumMod val="40000"/>
                <a:lumOff val="60000"/>
              </a:schemeClr>
            </a:solidFill>
            <a:prstDash val="solid"/>
          </a:ln>
        </p:spPr>
      </p:sp>
      <p:sp>
        <p:nvSpPr>
          <p:cNvPr id="1021" name="蓝图-Shape 30"/>
          <p:cNvSpPr>
            <a:spLocks noGrp="1"/>
          </p:cNvSpPr>
          <p:nvPr/>
        </p:nvSpPr>
        <p:spPr>
          <a:xfrm>
            <a:off x="2919306" y="1569253"/>
            <a:ext cx="5128541" cy="366014"/>
          </a:xfrm>
          <a:prstGeom prst="roundRect">
            <a:avLst>
              <a:gd name="adj" fmla="val 4000"/>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pPr algn="ctr">
              <a:buNone/>
            </a:pPr>
            <a:endParaRPr sz="595"/>
          </a:p>
        </p:txBody>
      </p:sp>
      <p:sp>
        <p:nvSpPr>
          <p:cNvPr id="1022" name="蓝图-Text 36"/>
          <p:cNvSpPr>
            <a:spLocks noGrp="1"/>
          </p:cNvSpPr>
          <p:nvPr/>
        </p:nvSpPr>
        <p:spPr>
          <a:xfrm>
            <a:off x="1091245" y="1618265"/>
            <a:ext cx="1337672" cy="265164"/>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微信小程序</a:t>
            </a:r>
            <a:endParaRPr sz="695" b="1">
              <a:solidFill>
                <a:srgbClr val="333333"/>
              </a:solidFill>
              <a:latin typeface="微软雅黑"/>
              <a:ea typeface="微软雅黑"/>
              <a:cs typeface="微软雅黑"/>
            </a:endParaRPr>
          </a:p>
        </p:txBody>
      </p:sp>
      <p:sp>
        <p:nvSpPr>
          <p:cNvPr id="1023" name="蓝图-Text 38"/>
          <p:cNvSpPr>
            <a:spLocks noGrp="1"/>
          </p:cNvSpPr>
          <p:nvPr/>
        </p:nvSpPr>
        <p:spPr>
          <a:xfrm>
            <a:off x="3007498" y="1700349"/>
            <a:ext cx="1116608" cy="182980"/>
          </a:xfrm>
          <a:prstGeom prst="rect">
            <a:avLst/>
          </a:prstGeom>
          <a:solidFill>
            <a:schemeClr val="accent4">
              <a:lumMod val="20000"/>
              <a:lumOff val="80000"/>
            </a:schemeClr>
          </a:solidFill>
          <a:ln w="1270">
            <a:noFill/>
            <a:prstDash val="solid"/>
          </a:ln>
        </p:spPr>
        <p:txBody>
          <a:bodyPr wrap="square" lIns="0" tIns="0" rIns="0" bIns="0" anchor="ctr"/>
          <a:lstStyle/>
          <a:p>
            <a:pPr algn="ctr"/>
            <a:r>
              <a:rPr sz="530" b="1">
                <a:latin typeface="微软雅黑"/>
                <a:ea typeface="微软雅黑"/>
                <a:cs typeface="微软雅黑"/>
              </a:rPr>
              <a:t>预警研判</a:t>
            </a:r>
            <a:endParaRPr sz="530" b="1">
              <a:latin typeface="微软雅黑"/>
              <a:ea typeface="微软雅黑"/>
              <a:cs typeface="微软雅黑"/>
            </a:endParaRPr>
          </a:p>
        </p:txBody>
      </p:sp>
      <p:sp>
        <p:nvSpPr>
          <p:cNvPr id="1024" name="蓝图-Text 40"/>
          <p:cNvSpPr>
            <a:spLocks noGrp="1"/>
          </p:cNvSpPr>
          <p:nvPr/>
        </p:nvSpPr>
        <p:spPr>
          <a:xfrm>
            <a:off x="4265143" y="1700349"/>
            <a:ext cx="1116608" cy="182980"/>
          </a:xfrm>
          <a:prstGeom prst="rect">
            <a:avLst/>
          </a:prstGeom>
          <a:solidFill>
            <a:schemeClr val="accent4">
              <a:lumMod val="20000"/>
              <a:lumOff val="80000"/>
            </a:schemeClr>
          </a:solidFill>
          <a:ln w="1270">
            <a:noFill/>
            <a:prstDash val="solid"/>
          </a:ln>
        </p:spPr>
        <p:txBody>
          <a:bodyPr wrap="square" lIns="0" tIns="0" rIns="0" bIns="0" anchor="ctr">
            <a:noAutofit/>
          </a:bodyPr>
          <a:lstStyle/>
          <a:p>
            <a:pPr lvl="0" algn="ctr">
              <a:buClrTx/>
              <a:buSzTx/>
              <a:buFontTx/>
              <a:buNone/>
            </a:pPr>
            <a:r>
              <a:rPr sz="530" b="1">
                <a:latin typeface="微软雅黑"/>
                <a:ea typeface="微软雅黑"/>
                <a:cs typeface="微软雅黑"/>
              </a:rPr>
              <a:t>AI助手</a:t>
            </a:r>
            <a:endParaRPr sz="530" b="1">
              <a:latin typeface="微软雅黑"/>
              <a:ea typeface="微软雅黑"/>
              <a:cs typeface="微软雅黑"/>
            </a:endParaRPr>
          </a:p>
        </p:txBody>
      </p:sp>
      <p:sp>
        <p:nvSpPr>
          <p:cNvPr id="1025" name="蓝图-Text 42"/>
          <p:cNvSpPr>
            <a:spLocks noGrp="1"/>
          </p:cNvSpPr>
          <p:nvPr/>
        </p:nvSpPr>
        <p:spPr>
          <a:xfrm>
            <a:off x="5706452" y="1700264"/>
            <a:ext cx="997430"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综合报告</a:t>
            </a:r>
            <a:endParaRPr sz="530">
              <a:solidFill>
                <a:srgbClr val="333333"/>
              </a:solidFill>
              <a:latin typeface="微软雅黑"/>
              <a:ea typeface="微软雅黑"/>
              <a:cs typeface="微软雅黑"/>
            </a:endParaRPr>
          </a:p>
        </p:txBody>
      </p:sp>
      <p:sp>
        <p:nvSpPr>
          <p:cNvPr id="1026" name="蓝图-Text 44"/>
          <p:cNvSpPr>
            <a:spLocks noGrp="1"/>
          </p:cNvSpPr>
          <p:nvPr/>
        </p:nvSpPr>
        <p:spPr>
          <a:xfrm>
            <a:off x="6910461" y="1700264"/>
            <a:ext cx="1005578"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BI看板</a:t>
            </a:r>
            <a:endParaRPr sz="530">
              <a:solidFill>
                <a:srgbClr val="333333"/>
              </a:solidFill>
              <a:latin typeface="微软雅黑"/>
              <a:ea typeface="微软雅黑"/>
              <a:cs typeface="微软雅黑"/>
            </a:endParaRPr>
          </a:p>
        </p:txBody>
      </p:sp>
      <p:sp>
        <p:nvSpPr>
          <p:cNvPr id="1027" name="蓝图-Text 49"/>
          <p:cNvSpPr>
            <a:spLocks noGrp="1"/>
          </p:cNvSpPr>
          <p:nvPr/>
        </p:nvSpPr>
        <p:spPr>
          <a:xfrm>
            <a:off x="8256707" y="1973073"/>
            <a:ext cx="604880" cy="1048403"/>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数字</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孪生</a:t>
            </a:r>
            <a:endParaRPr sz="790" b="1">
              <a:solidFill>
                <a:srgbClr val="333333"/>
              </a:solidFill>
              <a:latin typeface="微软雅黑"/>
              <a:ea typeface="微软雅黑"/>
              <a:cs typeface="微软雅黑"/>
            </a:endParaRPr>
          </a:p>
        </p:txBody>
      </p:sp>
      <p:sp>
        <p:nvSpPr>
          <p:cNvPr id="1028" name="蓝图-Text 51"/>
          <p:cNvSpPr>
            <a:spLocks noGrp="1"/>
          </p:cNvSpPr>
          <p:nvPr/>
        </p:nvSpPr>
        <p:spPr>
          <a:xfrm>
            <a:off x="169546" y="2073505"/>
            <a:ext cx="555751" cy="1860857"/>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业务层</a:t>
            </a:r>
            <a:endParaRPr sz="990" b="1">
              <a:solidFill>
                <a:schemeClr val="bg1"/>
              </a:solidFill>
              <a:latin typeface="微软雅黑"/>
              <a:ea typeface="微软雅黑"/>
              <a:cs typeface="微软雅黑"/>
            </a:endParaRPr>
          </a:p>
        </p:txBody>
      </p:sp>
      <p:sp>
        <p:nvSpPr>
          <p:cNvPr id="1029" name="蓝图-Shape 52"/>
          <p:cNvSpPr>
            <a:spLocks noGrp="1"/>
          </p:cNvSpPr>
          <p:nvPr/>
        </p:nvSpPr>
        <p:spPr>
          <a:xfrm>
            <a:off x="725537" y="2073504"/>
            <a:ext cx="7377430" cy="1860859"/>
          </a:xfrm>
          <a:prstGeom prst="roundRect">
            <a:avLst>
              <a:gd name="adj" fmla="val 400"/>
            </a:avLst>
          </a:prstGeom>
          <a:solidFill>
            <a:srgbClr val="FFFFFF"/>
          </a:solidFill>
          <a:ln w="1270">
            <a:solidFill>
              <a:schemeClr val="accent6">
                <a:lumMod val="40000"/>
                <a:lumOff val="60000"/>
              </a:schemeClr>
            </a:solidFill>
            <a:prstDash val="solid"/>
          </a:ln>
        </p:spPr>
      </p:sp>
      <p:sp>
        <p:nvSpPr>
          <p:cNvPr id="1030" name="蓝图-Shape 56"/>
          <p:cNvSpPr>
            <a:spLocks noGrp="1"/>
          </p:cNvSpPr>
          <p:nvPr/>
        </p:nvSpPr>
        <p:spPr>
          <a:xfrm>
            <a:off x="889938" y="2203258"/>
            <a:ext cx="1653543" cy="1219942"/>
          </a:xfrm>
          <a:prstGeom prst="roundRect">
            <a:avLst>
              <a:gd name="adj" fmla="val 2472"/>
            </a:avLst>
          </a:prstGeom>
          <a:solidFill>
            <a:srgbClr val="FFFFFF"/>
          </a:solidFill>
          <a:ln w="1270">
            <a:solidFill>
              <a:srgbClr val="C73500"/>
            </a:solidFill>
            <a:prstDash val="solid"/>
          </a:ln>
        </p:spPr>
      </p:sp>
      <p:sp>
        <p:nvSpPr>
          <p:cNvPr id="1031" name="蓝图-Text 58"/>
          <p:cNvSpPr>
            <a:spLocks noGrp="1"/>
          </p:cNvSpPr>
          <p:nvPr/>
        </p:nvSpPr>
        <p:spPr>
          <a:xfrm>
            <a:off x="1091244" y="2156131"/>
            <a:ext cx="1337673" cy="124773"/>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烤房调剂和分配</a:t>
            </a:r>
            <a:endParaRPr sz="790" b="1">
              <a:solidFill>
                <a:srgbClr val="FFFFFF"/>
              </a:solidFill>
              <a:latin typeface="微软雅黑"/>
              <a:ea typeface="微软雅黑"/>
              <a:cs typeface="微软雅黑"/>
            </a:endParaRPr>
          </a:p>
        </p:txBody>
      </p:sp>
      <p:sp>
        <p:nvSpPr>
          <p:cNvPr id="1032" name="蓝图-Shape 59"/>
          <p:cNvSpPr>
            <a:spLocks noGrp="1"/>
          </p:cNvSpPr>
          <p:nvPr/>
        </p:nvSpPr>
        <p:spPr>
          <a:xfrm>
            <a:off x="5653249" y="2203258"/>
            <a:ext cx="2369195" cy="1219628"/>
          </a:xfrm>
          <a:prstGeom prst="roundRect">
            <a:avLst>
              <a:gd name="adj" fmla="val 4000"/>
            </a:avLst>
          </a:prstGeom>
          <a:solidFill>
            <a:srgbClr val="FFFFFF"/>
          </a:solidFill>
          <a:ln w="1270">
            <a:solidFill>
              <a:srgbClr val="C73500"/>
            </a:solidFill>
            <a:prstDash val="solid"/>
          </a:ln>
        </p:spPr>
      </p:sp>
      <p:sp>
        <p:nvSpPr>
          <p:cNvPr id="1033" name="蓝图-Text 61"/>
          <p:cNvSpPr>
            <a:spLocks noGrp="1"/>
          </p:cNvSpPr>
          <p:nvPr/>
        </p:nvSpPr>
        <p:spPr>
          <a:xfrm>
            <a:off x="5891463" y="2140737"/>
            <a:ext cx="1888454" cy="14514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烤房投建</a:t>
            </a:r>
            <a:endParaRPr sz="790" b="1">
              <a:solidFill>
                <a:srgbClr val="FFFFFF"/>
              </a:solidFill>
              <a:latin typeface="微软雅黑"/>
              <a:ea typeface="微软雅黑"/>
              <a:cs typeface="微软雅黑"/>
            </a:endParaRPr>
          </a:p>
        </p:txBody>
      </p:sp>
      <p:sp>
        <p:nvSpPr>
          <p:cNvPr id="1034" name="蓝图-Shape 62"/>
          <p:cNvSpPr>
            <a:spLocks noGrp="1"/>
          </p:cNvSpPr>
          <p:nvPr/>
        </p:nvSpPr>
        <p:spPr>
          <a:xfrm>
            <a:off x="2926975" y="2230794"/>
            <a:ext cx="2579008" cy="1192417"/>
          </a:xfrm>
          <a:prstGeom prst="roundRect">
            <a:avLst>
              <a:gd name="adj" fmla="val 4000"/>
            </a:avLst>
          </a:prstGeom>
          <a:solidFill>
            <a:srgbClr val="FFFFFF"/>
          </a:solidFill>
          <a:ln w="1270">
            <a:solidFill>
              <a:srgbClr val="C73500"/>
            </a:solidFill>
            <a:prstDash val="solid"/>
          </a:ln>
        </p:spPr>
      </p:sp>
      <p:sp>
        <p:nvSpPr>
          <p:cNvPr id="1036" name="蓝图-Shape 67"/>
          <p:cNvSpPr>
            <a:spLocks noGrp="1"/>
          </p:cNvSpPr>
          <p:nvPr/>
        </p:nvSpPr>
        <p:spPr>
          <a:xfrm>
            <a:off x="3027815" y="2320131"/>
            <a:ext cx="1057822" cy="1058770"/>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37" name="蓝图-Shape 70"/>
          <p:cNvSpPr>
            <a:spLocks noGrp="1"/>
          </p:cNvSpPr>
          <p:nvPr/>
        </p:nvSpPr>
        <p:spPr>
          <a:xfrm>
            <a:off x="4299269" y="2341182"/>
            <a:ext cx="1169216" cy="987138"/>
          </a:xfrm>
          <a:prstGeom prst="round2SameRect">
            <a:avLst/>
          </a:prstGeom>
          <a:solidFill>
            <a:srgbClr val="FFFFFF"/>
          </a:solidFill>
          <a:ln w="1270">
            <a:solidFill>
              <a:schemeClr val="accent2">
                <a:lumMod val="40000"/>
                <a:lumOff val="60000"/>
              </a:schemeClr>
            </a:solidFill>
            <a:prstDash val="solid"/>
          </a:ln>
        </p:spPr>
        <p:txBody>
          <a:bodyPr>
            <a:noAutofit/>
          </a:bodyPr>
          <a:lstStyle/>
          <a:p>
            <a:pPr lvl="0" algn="ctr">
              <a:buClrTx/>
              <a:buSzTx/>
              <a:buFontTx/>
              <a:buNone/>
            </a:pPr>
            <a:endParaRPr sz="695" dirty="0"/>
          </a:p>
        </p:txBody>
      </p:sp>
      <p:sp>
        <p:nvSpPr>
          <p:cNvPr id="1049" name="蓝图-Text 98"/>
          <p:cNvSpPr>
            <a:spLocks noGrp="1"/>
          </p:cNvSpPr>
          <p:nvPr/>
        </p:nvSpPr>
        <p:spPr>
          <a:xfrm>
            <a:off x="8273003" y="3214902"/>
            <a:ext cx="572288" cy="752450"/>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AI升级</a:t>
            </a:r>
            <a:endParaRPr sz="790" b="1">
              <a:solidFill>
                <a:srgbClr val="333333"/>
              </a:solidFill>
              <a:latin typeface="微软雅黑"/>
              <a:ea typeface="微软雅黑"/>
              <a:cs typeface="微软雅黑"/>
            </a:endParaRPr>
          </a:p>
        </p:txBody>
      </p:sp>
      <p:sp>
        <p:nvSpPr>
          <p:cNvPr id="1052" name="蓝图-Shape 104"/>
          <p:cNvSpPr>
            <a:spLocks noGrp="1"/>
          </p:cNvSpPr>
          <p:nvPr/>
        </p:nvSpPr>
        <p:spPr>
          <a:xfrm>
            <a:off x="2245864" y="3412536"/>
            <a:ext cx="115384" cy="129611"/>
          </a:xfrm>
          <a:prstGeom prst="upArrow">
            <a:avLst/>
          </a:prstGeom>
          <a:solidFill>
            <a:srgbClr val="6D8764"/>
          </a:solidFill>
          <a:ln w="1270">
            <a:noFill/>
            <a:prstDash val="solid"/>
          </a:ln>
        </p:spPr>
      </p:sp>
      <p:sp>
        <p:nvSpPr>
          <p:cNvPr id="1053" name="蓝图-Text 105"/>
          <p:cNvSpPr>
            <a:spLocks noGrp="1"/>
          </p:cNvSpPr>
          <p:nvPr/>
        </p:nvSpPr>
        <p:spPr>
          <a:xfrm>
            <a:off x="3850112" y="3450848"/>
            <a:ext cx="465403" cy="91425"/>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5" name="蓝图-Text 107"/>
          <p:cNvSpPr>
            <a:spLocks noGrp="1"/>
          </p:cNvSpPr>
          <p:nvPr/>
        </p:nvSpPr>
        <p:spPr>
          <a:xfrm>
            <a:off x="1780545" y="3458489"/>
            <a:ext cx="465254" cy="91490"/>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6" name="蓝图-Shape 112"/>
          <p:cNvSpPr>
            <a:spLocks noGrp="1"/>
          </p:cNvSpPr>
          <p:nvPr/>
        </p:nvSpPr>
        <p:spPr>
          <a:xfrm>
            <a:off x="1658739" y="3566150"/>
            <a:ext cx="2475120" cy="338366"/>
          </a:xfrm>
          <a:prstGeom prst="roundRect">
            <a:avLst>
              <a:gd name="adj" fmla="val 4000"/>
            </a:avLst>
          </a:prstGeom>
          <a:solidFill>
            <a:srgbClr val="FFFFFF"/>
          </a:solidFill>
          <a:ln w="1270">
            <a:solidFill>
              <a:schemeClr val="bg2">
                <a:lumMod val="90000"/>
              </a:schemeClr>
            </a:solidFill>
            <a:prstDash val="solid"/>
          </a:ln>
        </p:spPr>
      </p:sp>
      <p:sp>
        <p:nvSpPr>
          <p:cNvPr id="1057" name="蓝图-Text 114"/>
          <p:cNvSpPr>
            <a:spLocks noGrp="1"/>
          </p:cNvSpPr>
          <p:nvPr/>
        </p:nvSpPr>
        <p:spPr>
          <a:xfrm>
            <a:off x="1895994" y="3542273"/>
            <a:ext cx="1954118" cy="103049"/>
          </a:xfrm>
          <a:prstGeom prst="rect">
            <a:avLst/>
          </a:prstGeom>
          <a:solidFill>
            <a:schemeClr val="bg2">
              <a:lumMod val="90000"/>
            </a:schemeClr>
          </a:solidFill>
        </p:spPr>
        <p:txBody>
          <a:bodyPr wrap="square" lIns="0" tIns="0" rIns="0" bIns="0" anchor="ctr"/>
          <a:lstStyle/>
          <a:p>
            <a:pPr algn="ctr"/>
            <a:r>
              <a:rPr sz="695" b="1">
                <a:solidFill>
                  <a:srgbClr val="333333"/>
                </a:solidFill>
                <a:latin typeface="微软雅黑"/>
                <a:ea typeface="微软雅黑"/>
                <a:cs typeface="微软雅黑"/>
              </a:rPr>
              <a:t>反馈评价</a:t>
            </a:r>
            <a:endParaRPr sz="695" b="1">
              <a:solidFill>
                <a:srgbClr val="333333"/>
              </a:solidFill>
              <a:latin typeface="微软雅黑"/>
              <a:ea typeface="微软雅黑"/>
              <a:cs typeface="微软雅黑"/>
            </a:endParaRPr>
          </a:p>
        </p:txBody>
      </p:sp>
      <p:sp>
        <p:nvSpPr>
          <p:cNvPr id="1058" name="蓝图-Text 119"/>
          <p:cNvSpPr>
            <a:spLocks noGrp="1"/>
          </p:cNvSpPr>
          <p:nvPr/>
        </p:nvSpPr>
        <p:spPr>
          <a:xfrm>
            <a:off x="1698043" y="3692134"/>
            <a:ext cx="602963"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总体</a:t>
            </a:r>
            <a:endParaRPr sz="595" b="1" dirty="0">
              <a:solidFill>
                <a:srgbClr val="333333"/>
              </a:solidFill>
              <a:latin typeface="微软雅黑"/>
              <a:ea typeface="微软雅黑"/>
              <a:cs typeface="微软雅黑"/>
            </a:endParaRPr>
          </a:p>
        </p:txBody>
      </p:sp>
      <p:sp>
        <p:nvSpPr>
          <p:cNvPr id="1059" name="蓝图-Text 121"/>
          <p:cNvSpPr>
            <a:spLocks noGrp="1"/>
          </p:cNvSpPr>
          <p:nvPr/>
        </p:nvSpPr>
        <p:spPr>
          <a:xfrm>
            <a:off x="2368587" y="3701245"/>
            <a:ext cx="558388"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设施设备</a:t>
            </a:r>
            <a:endParaRPr sz="595" b="1">
              <a:solidFill>
                <a:srgbClr val="333333"/>
              </a:solidFill>
              <a:latin typeface="微软雅黑"/>
              <a:ea typeface="微软雅黑"/>
              <a:cs typeface="微软雅黑"/>
            </a:endParaRPr>
          </a:p>
        </p:txBody>
      </p:sp>
      <p:sp>
        <p:nvSpPr>
          <p:cNvPr id="1060" name="蓝图-Text 123"/>
          <p:cNvSpPr>
            <a:spLocks noGrp="1"/>
          </p:cNvSpPr>
          <p:nvPr/>
        </p:nvSpPr>
        <p:spPr>
          <a:xfrm>
            <a:off x="2994557" y="3701559"/>
            <a:ext cx="508061"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烘烤师</a:t>
            </a:r>
            <a:endParaRPr sz="595" b="1">
              <a:solidFill>
                <a:srgbClr val="333333"/>
              </a:solidFill>
              <a:latin typeface="微软雅黑"/>
              <a:ea typeface="微软雅黑"/>
              <a:cs typeface="微软雅黑"/>
            </a:endParaRPr>
          </a:p>
        </p:txBody>
      </p:sp>
      <p:sp>
        <p:nvSpPr>
          <p:cNvPr id="1061" name="蓝图-Text 125"/>
          <p:cNvSpPr>
            <a:spLocks noGrp="1"/>
          </p:cNvSpPr>
          <p:nvPr/>
        </p:nvSpPr>
        <p:spPr>
          <a:xfrm>
            <a:off x="3570199" y="3700931"/>
            <a:ext cx="507582"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服务</a:t>
            </a:r>
            <a:endParaRPr sz="595" b="1">
              <a:solidFill>
                <a:srgbClr val="333333"/>
              </a:solidFill>
              <a:latin typeface="微软雅黑"/>
              <a:ea typeface="微软雅黑"/>
              <a:cs typeface="微软雅黑"/>
            </a:endParaRPr>
          </a:p>
        </p:txBody>
      </p:sp>
      <p:sp>
        <p:nvSpPr>
          <p:cNvPr id="1062" name="蓝图-Text 131"/>
          <p:cNvSpPr>
            <a:spLocks noGrp="1"/>
          </p:cNvSpPr>
          <p:nvPr/>
        </p:nvSpPr>
        <p:spPr>
          <a:xfrm>
            <a:off x="169545" y="4022960"/>
            <a:ext cx="572288" cy="650341"/>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dirty="0" err="1">
                <a:solidFill>
                  <a:schemeClr val="bg1"/>
                </a:solidFill>
                <a:latin typeface="微软雅黑"/>
                <a:ea typeface="微软雅黑"/>
                <a:cs typeface="微软雅黑"/>
              </a:rPr>
              <a:t>数据层</a:t>
            </a:r>
            <a:endParaRPr sz="990" b="1" dirty="0">
              <a:solidFill>
                <a:schemeClr val="bg1"/>
              </a:solidFill>
              <a:latin typeface="微软雅黑"/>
              <a:ea typeface="微软雅黑"/>
              <a:cs typeface="微软雅黑"/>
            </a:endParaRPr>
          </a:p>
        </p:txBody>
      </p:sp>
      <p:sp>
        <p:nvSpPr>
          <p:cNvPr id="1063" name="蓝图-Shape 132"/>
          <p:cNvSpPr>
            <a:spLocks noGrp="1"/>
          </p:cNvSpPr>
          <p:nvPr/>
        </p:nvSpPr>
        <p:spPr>
          <a:xfrm>
            <a:off x="736081" y="4032700"/>
            <a:ext cx="7367365" cy="640603"/>
          </a:xfrm>
          <a:prstGeom prst="roundRect">
            <a:avLst>
              <a:gd name="adj" fmla="val 400"/>
            </a:avLst>
          </a:prstGeom>
          <a:solidFill>
            <a:srgbClr val="FFFFFF"/>
          </a:solidFill>
          <a:ln w="1270">
            <a:solidFill>
              <a:schemeClr val="accent6">
                <a:lumMod val="40000"/>
                <a:lumOff val="60000"/>
              </a:schemeClr>
            </a:solidFill>
            <a:prstDash val="solid"/>
          </a:ln>
        </p:spPr>
      </p:sp>
      <p:sp>
        <p:nvSpPr>
          <p:cNvPr id="1064" name="蓝图-Shape 88"/>
          <p:cNvSpPr>
            <a:spLocks noGrp="1"/>
          </p:cNvSpPr>
          <p:nvPr/>
        </p:nvSpPr>
        <p:spPr>
          <a:xfrm>
            <a:off x="1116569" y="4067496"/>
            <a:ext cx="4300949" cy="271221"/>
          </a:xfrm>
          <a:prstGeom prst="can">
            <a:avLst/>
          </a:prstGeom>
          <a:solidFill>
            <a:srgbClr val="F5F5F5"/>
          </a:solidFill>
          <a:ln w="8378">
            <a:solidFill>
              <a:schemeClr val="bg2">
                <a:lumMod val="90000"/>
              </a:schemeClr>
            </a:solidFill>
            <a:prstDash val="solid"/>
          </a:ln>
        </p:spPr>
        <p:txBody>
          <a:bodyPr anchor="ctr"/>
          <a:lstStyle/>
          <a:p>
            <a:pPr algn="ctr">
              <a:buNone/>
            </a:pPr>
            <a:r>
              <a:rPr sz="695" b="1" dirty="0" err="1">
                <a:latin typeface="微软雅黑"/>
                <a:ea typeface="微软雅黑"/>
                <a:cs typeface="微软雅黑"/>
              </a:rPr>
              <a:t>烤房信息</a:t>
            </a:r>
            <a:endParaRPr sz="695" b="1" dirty="0">
              <a:latin typeface="微软雅黑"/>
              <a:ea typeface="微软雅黑"/>
              <a:cs typeface="微软雅黑"/>
            </a:endParaRPr>
          </a:p>
        </p:txBody>
      </p:sp>
      <p:sp>
        <p:nvSpPr>
          <p:cNvPr id="1065" name="蓝图-Text 142"/>
          <p:cNvSpPr>
            <a:spLocks noGrp="1"/>
          </p:cNvSpPr>
          <p:nvPr/>
        </p:nvSpPr>
        <p:spPr>
          <a:xfrm>
            <a:off x="8279995" y="4064285"/>
            <a:ext cx="558304" cy="548864"/>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GIS</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接入</a:t>
            </a:r>
            <a:endParaRPr sz="790" b="1">
              <a:solidFill>
                <a:srgbClr val="333333"/>
              </a:solidFill>
              <a:latin typeface="微软雅黑"/>
              <a:ea typeface="微软雅黑"/>
              <a:cs typeface="微软雅黑"/>
            </a:endParaRPr>
          </a:p>
        </p:txBody>
      </p:sp>
      <p:sp>
        <p:nvSpPr>
          <p:cNvPr id="1066" name="蓝图-Text 144"/>
          <p:cNvSpPr>
            <a:spLocks noGrp="1"/>
          </p:cNvSpPr>
          <p:nvPr/>
        </p:nvSpPr>
        <p:spPr>
          <a:xfrm>
            <a:off x="3530251" y="4120328"/>
            <a:ext cx="790931" cy="182980"/>
          </a:xfrm>
          <a:prstGeom prst="rect">
            <a:avLst/>
          </a:prstGeom>
          <a:noFill/>
        </p:spPr>
        <p:txBody>
          <a:bodyPr wrap="square" lIns="0" tIns="0" rIns="0" bIns="0" anchor="ctr"/>
          <a:lstStyle/>
          <a:p>
            <a:pPr algn="ctr"/>
            <a:r>
              <a:rPr sz="690" dirty="0">
                <a:solidFill>
                  <a:srgbClr val="333333"/>
                </a:solidFill>
                <a:latin typeface="微软雅黑"/>
                <a:ea typeface="微软雅黑"/>
                <a:cs typeface="微软雅黑"/>
              </a:rPr>
              <a:t>2442座烤房</a:t>
            </a:r>
            <a:endParaRPr sz="690" dirty="0">
              <a:solidFill>
                <a:srgbClr val="333333"/>
              </a:solidFill>
              <a:latin typeface="微软雅黑"/>
              <a:ea typeface="微软雅黑"/>
              <a:cs typeface="微软雅黑"/>
            </a:endParaRPr>
          </a:p>
        </p:txBody>
      </p:sp>
      <p:sp>
        <p:nvSpPr>
          <p:cNvPr id="1067" name="蓝图-Text 146"/>
          <p:cNvSpPr>
            <a:spLocks noGrp="1"/>
          </p:cNvSpPr>
          <p:nvPr/>
        </p:nvSpPr>
        <p:spPr>
          <a:xfrm>
            <a:off x="2268223" y="4126700"/>
            <a:ext cx="604830" cy="167732"/>
          </a:xfrm>
          <a:prstGeom prst="rect">
            <a:avLst/>
          </a:prstGeom>
          <a:noFill/>
        </p:spPr>
        <p:txBody>
          <a:bodyPr wrap="square" lIns="0" tIns="0" rIns="0" bIns="0" anchor="ctr"/>
          <a:lstStyle/>
          <a:p>
            <a:pPr algn="ctr"/>
            <a:r>
              <a:rPr sz="695" dirty="0">
                <a:solidFill>
                  <a:srgbClr val="333333"/>
                </a:solidFill>
                <a:latin typeface="微软雅黑"/>
                <a:ea typeface="微软雅黑"/>
                <a:cs typeface="微软雅黑"/>
              </a:rPr>
              <a:t>7个乡镇</a:t>
            </a:r>
            <a:endParaRPr sz="695" dirty="0">
              <a:solidFill>
                <a:srgbClr val="333333"/>
              </a:solidFill>
              <a:latin typeface="微软雅黑"/>
              <a:ea typeface="微软雅黑"/>
              <a:cs typeface="微软雅黑"/>
            </a:endParaRPr>
          </a:p>
        </p:txBody>
      </p:sp>
      <p:sp>
        <p:nvSpPr>
          <p:cNvPr id="1068" name="蓝图-Text 151"/>
          <p:cNvSpPr>
            <a:spLocks noGrp="1"/>
          </p:cNvSpPr>
          <p:nvPr/>
        </p:nvSpPr>
        <p:spPr>
          <a:xfrm>
            <a:off x="1116569" y="4425399"/>
            <a:ext cx="2163428" cy="182980"/>
          </a:xfrm>
          <a:prstGeom prst="rect">
            <a:avLst/>
          </a:prstGeom>
          <a:solidFill>
            <a:srgbClr val="F5F5F5"/>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低代码平台</a:t>
            </a:r>
            <a:endParaRPr sz="695" b="1">
              <a:solidFill>
                <a:srgbClr val="333333"/>
              </a:solidFill>
              <a:latin typeface="微软雅黑"/>
              <a:ea typeface="微软雅黑"/>
              <a:cs typeface="微软雅黑"/>
            </a:endParaRPr>
          </a:p>
        </p:txBody>
      </p:sp>
      <p:sp>
        <p:nvSpPr>
          <p:cNvPr id="1069" name="蓝图-Text 153"/>
          <p:cNvSpPr>
            <a:spLocks noGrp="1"/>
          </p:cNvSpPr>
          <p:nvPr/>
        </p:nvSpPr>
        <p:spPr>
          <a:xfrm>
            <a:off x="3570462" y="4425399"/>
            <a:ext cx="1847056"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物联网传感器</a:t>
            </a:r>
            <a:endParaRPr sz="695" b="1">
              <a:solidFill>
                <a:srgbClr val="333333"/>
              </a:solidFill>
              <a:latin typeface="微软雅黑"/>
              <a:ea typeface="微软雅黑"/>
              <a:cs typeface="微软雅黑"/>
            </a:endParaRPr>
          </a:p>
        </p:txBody>
      </p:sp>
      <p:sp>
        <p:nvSpPr>
          <p:cNvPr id="1070" name="蓝图-Text 155"/>
          <p:cNvSpPr>
            <a:spLocks noGrp="1"/>
          </p:cNvSpPr>
          <p:nvPr/>
        </p:nvSpPr>
        <p:spPr>
          <a:xfrm>
            <a:off x="6155037" y="4425399"/>
            <a:ext cx="1395761"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表单导入</a:t>
            </a:r>
            <a:endParaRPr sz="695" b="1">
              <a:solidFill>
                <a:srgbClr val="333333"/>
              </a:solidFill>
              <a:latin typeface="微软雅黑"/>
              <a:ea typeface="微软雅黑"/>
              <a:cs typeface="微软雅黑"/>
            </a:endParaRPr>
          </a:p>
        </p:txBody>
      </p:sp>
      <p:sp>
        <p:nvSpPr>
          <p:cNvPr id="1071" name="蓝图-Shape 90"/>
          <p:cNvSpPr>
            <a:spLocks noGrp="1"/>
          </p:cNvSpPr>
          <p:nvPr/>
        </p:nvSpPr>
        <p:spPr>
          <a:xfrm>
            <a:off x="6359830" y="4067495"/>
            <a:ext cx="997655" cy="271221"/>
          </a:xfrm>
          <a:prstGeom prst="can">
            <a:avLst/>
          </a:prstGeom>
          <a:solidFill>
            <a:srgbClr val="F5F5F5"/>
          </a:solidFill>
          <a:ln w="8378">
            <a:solidFill>
              <a:schemeClr val="bg2">
                <a:lumMod val="90000"/>
              </a:schemeClr>
            </a:solidFill>
            <a:prstDash val="solid"/>
          </a:ln>
        </p:spPr>
        <p:txBody>
          <a:bodyPr/>
          <a:lstStyle/>
          <a:p>
            <a:pPr algn="ctr">
              <a:buNone/>
            </a:pPr>
            <a:r>
              <a:rPr sz="695">
                <a:latin typeface="微软雅黑"/>
                <a:ea typeface="微软雅黑"/>
                <a:cs typeface="微软雅黑"/>
              </a:rPr>
              <a:t>维修记录</a:t>
            </a:r>
            <a:endParaRPr sz="695">
              <a:latin typeface="微软雅黑"/>
              <a:ea typeface="微软雅黑"/>
              <a:cs typeface="微软雅黑"/>
            </a:endParaRPr>
          </a:p>
        </p:txBody>
      </p:sp>
      <p:sp>
        <p:nvSpPr>
          <p:cNvPr id="1075" name="蓝图-Text 54"/>
          <p:cNvSpPr>
            <a:spLocks noGrp="1"/>
          </p:cNvSpPr>
          <p:nvPr/>
        </p:nvSpPr>
        <p:spPr>
          <a:xfrm>
            <a:off x="1288718" y="2009413"/>
            <a:ext cx="6087147" cy="123785"/>
          </a:xfrm>
          <a:prstGeom prst="rect">
            <a:avLst/>
          </a:prstGeom>
          <a:solidFill>
            <a:schemeClr val="bg2">
              <a:lumMod val="90000"/>
            </a:schemeClr>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六大场景</a:t>
            </a:r>
            <a:endParaRPr sz="695" b="1">
              <a:solidFill>
                <a:srgbClr val="333333"/>
              </a:solidFill>
              <a:latin typeface="微软雅黑"/>
              <a:ea typeface="微软雅黑"/>
              <a:cs typeface="微软雅黑"/>
            </a:endParaRPr>
          </a:p>
        </p:txBody>
      </p:sp>
      <p:sp>
        <p:nvSpPr>
          <p:cNvPr id="1079" name="蓝图-Text 66"/>
          <p:cNvSpPr>
            <a:spLocks noGrp="1"/>
          </p:cNvSpPr>
          <p:nvPr/>
        </p:nvSpPr>
        <p:spPr>
          <a:xfrm>
            <a:off x="4471288" y="2304737"/>
            <a:ext cx="790850" cy="102735"/>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寿命预测</a:t>
            </a:r>
            <a:endParaRPr sz="595" b="1" dirty="0">
              <a:solidFill>
                <a:srgbClr val="333333"/>
              </a:solidFill>
              <a:latin typeface="微软雅黑"/>
              <a:ea typeface="微软雅黑"/>
              <a:cs typeface="微软雅黑"/>
            </a:endParaRPr>
          </a:p>
        </p:txBody>
      </p:sp>
      <p:sp>
        <p:nvSpPr>
          <p:cNvPr id="1080" name="蓝图-Shape 67"/>
          <p:cNvSpPr>
            <a:spLocks noGrp="1"/>
          </p:cNvSpPr>
          <p:nvPr/>
        </p:nvSpPr>
        <p:spPr>
          <a:xfrm>
            <a:off x="5775952" y="2371970"/>
            <a:ext cx="938954" cy="710036"/>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81" name="蓝图-Shape 46"/>
          <p:cNvSpPr>
            <a:spLocks noGrp="1"/>
          </p:cNvSpPr>
          <p:nvPr/>
        </p:nvSpPr>
        <p:spPr>
          <a:xfrm>
            <a:off x="3571270" y="1935253"/>
            <a:ext cx="134015" cy="182980"/>
          </a:xfrm>
          <a:prstGeom prst="upArrow">
            <a:avLst/>
          </a:prstGeom>
          <a:solidFill>
            <a:srgbClr val="A20025"/>
          </a:solidFill>
          <a:ln w="1270">
            <a:noFill/>
            <a:prstDash val="solid"/>
          </a:ln>
        </p:spPr>
      </p:sp>
      <p:sp>
        <p:nvSpPr>
          <p:cNvPr id="1082" name="蓝图-Shape 45"/>
          <p:cNvSpPr>
            <a:spLocks noGrp="1"/>
          </p:cNvSpPr>
          <p:nvPr/>
        </p:nvSpPr>
        <p:spPr>
          <a:xfrm>
            <a:off x="1602259" y="1883114"/>
            <a:ext cx="134015" cy="241337"/>
          </a:xfrm>
          <a:prstGeom prst="upArrow">
            <a:avLst/>
          </a:prstGeom>
          <a:solidFill>
            <a:srgbClr val="A20025"/>
          </a:solidFill>
          <a:ln w="1270">
            <a:noFill/>
            <a:prstDash val="solid"/>
          </a:ln>
        </p:spPr>
      </p:sp>
      <p:sp>
        <p:nvSpPr>
          <p:cNvPr id="1085" name="蓝图-Shape 67"/>
          <p:cNvSpPr>
            <a:spLocks noGrp="1"/>
          </p:cNvSpPr>
          <p:nvPr/>
        </p:nvSpPr>
        <p:spPr>
          <a:xfrm>
            <a:off x="1068849" y="2371656"/>
            <a:ext cx="1305142" cy="1018240"/>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noFill/>
            </a:endParaRPr>
          </a:p>
        </p:txBody>
      </p:sp>
      <p:sp>
        <p:nvSpPr>
          <p:cNvPr id="1089" name="蓝图-Text 66"/>
          <p:cNvSpPr>
            <a:spLocks noGrp="1"/>
          </p:cNvSpPr>
          <p:nvPr/>
        </p:nvSpPr>
        <p:spPr>
          <a:xfrm>
            <a:off x="5887030" y="2310706"/>
            <a:ext cx="736209" cy="109647"/>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维修资金投入</a:t>
            </a:r>
            <a:endParaRPr sz="595" b="1">
              <a:solidFill>
                <a:srgbClr val="333333"/>
              </a:solidFill>
              <a:latin typeface="微软雅黑"/>
              <a:ea typeface="微软雅黑"/>
              <a:cs typeface="微软雅黑"/>
            </a:endParaRPr>
          </a:p>
        </p:txBody>
      </p:sp>
      <p:sp>
        <p:nvSpPr>
          <p:cNvPr id="1090" name="蓝图-Shape 67"/>
          <p:cNvSpPr>
            <a:spLocks noGrp="1"/>
          </p:cNvSpPr>
          <p:nvPr/>
        </p:nvSpPr>
        <p:spPr>
          <a:xfrm>
            <a:off x="6815559" y="2349035"/>
            <a:ext cx="1063094" cy="1063501"/>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p>
        </p:txBody>
      </p:sp>
      <p:sp>
        <p:nvSpPr>
          <p:cNvPr id="1091" name="蓝图-Text 66"/>
          <p:cNvSpPr>
            <a:spLocks noGrp="1"/>
          </p:cNvSpPr>
          <p:nvPr/>
        </p:nvSpPr>
        <p:spPr>
          <a:xfrm>
            <a:off x="6953119" y="2297197"/>
            <a:ext cx="760175" cy="9142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新建个数</a:t>
            </a:r>
            <a:endParaRPr sz="595" b="1">
              <a:solidFill>
                <a:srgbClr val="333333"/>
              </a:solidFill>
              <a:latin typeface="微软雅黑"/>
              <a:ea typeface="微软雅黑"/>
              <a:cs typeface="微软雅黑"/>
            </a:endParaRPr>
          </a:p>
        </p:txBody>
      </p:sp>
      <p:sp>
        <p:nvSpPr>
          <p:cNvPr id="1096" name="蓝图-直接连接符 181"/>
          <p:cNvSpPr>
            <a:spLocks noGrp="1"/>
          </p:cNvSpPr>
          <p:nvPr/>
        </p:nvSpPr>
        <p:spPr>
          <a:xfrm>
            <a:off x="167149" y="3967351"/>
            <a:ext cx="7936297"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sp>
      <p:sp>
        <p:nvSpPr>
          <p:cNvPr id="1098" name="蓝图-任意多边形 182"/>
          <p:cNvSpPr>
            <a:spLocks noGrp="1"/>
          </p:cNvSpPr>
          <p:nvPr/>
        </p:nvSpPr>
        <p:spPr>
          <a:xfrm>
            <a:off x="811331" y="806749"/>
            <a:ext cx="3412940" cy="3138295"/>
          </a:xfrm>
          <a:custGeom>
            <a:avLst/>
            <a:gdLst>
              <a:gd name="connisteX0" fmla="*/ 49530 w 4537710"/>
              <a:gd name="connsiteY0" fmla="*/ 24765 h 6442075"/>
              <a:gd name="connisteX1" fmla="*/ 2497455 w 4537710"/>
              <a:gd name="connsiteY1" fmla="*/ 0 h 6442075"/>
              <a:gd name="connisteX2" fmla="*/ 2534920 w 4537710"/>
              <a:gd name="connsiteY2" fmla="*/ 2769870 h 6442075"/>
              <a:gd name="connisteX3" fmla="*/ 4512945 w 4537710"/>
              <a:gd name="connsiteY3" fmla="*/ 2757170 h 6442075"/>
              <a:gd name="connisteX4" fmla="*/ 4537710 w 4537710"/>
              <a:gd name="connsiteY4" fmla="*/ 6442075 h 6442075"/>
              <a:gd name="connisteX5" fmla="*/ 0 w 4537710"/>
              <a:gd name="connsiteY5" fmla="*/ 6392545 h 6442075"/>
              <a:gd name="connisteX6" fmla="*/ 49530 w 4537710"/>
              <a:gd name="connsiteY6" fmla="*/ 24765 h 6442075"/>
            </a:gdLst>
            <a:ahLst/>
            <a:cxnLst/>
            <a:rect l="l" t="t" r="r" b="b"/>
            <a:pathLst>
              <a:path w="4537710" h="6442075">
                <a:moveTo>
                  <a:pt x="49530" y="24765"/>
                </a:moveTo>
                <a:lnTo>
                  <a:pt x="2497455" y="0"/>
                </a:lnTo>
                <a:lnTo>
                  <a:pt x="2534920" y="2769870"/>
                </a:lnTo>
                <a:lnTo>
                  <a:pt x="4512945" y="2757170"/>
                </a:lnTo>
                <a:lnTo>
                  <a:pt x="4537710" y="6442075"/>
                </a:lnTo>
                <a:lnTo>
                  <a:pt x="0" y="6392545"/>
                </a:lnTo>
                <a:lnTo>
                  <a:pt x="49530" y="24765"/>
                </a:lnTo>
                <a:close/>
              </a:path>
            </a:pathLst>
          </a:custGeom>
          <a:noFill/>
          <a:ln w="18851" cmpd="sng">
            <a:solidFill>
              <a:srgbClr val="0070C0"/>
            </a:solidFill>
            <a:prstDash val="lgDash"/>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sz="1015"/>
          </a:p>
        </p:txBody>
      </p:sp>
      <p:sp>
        <p:nvSpPr>
          <p:cNvPr id="1099" name="蓝图-矩形 183"/>
          <p:cNvSpPr>
            <a:spLocks noGrp="1"/>
          </p:cNvSpPr>
          <p:nvPr/>
        </p:nvSpPr>
        <p:spPr>
          <a:xfrm>
            <a:off x="5597650" y="799211"/>
            <a:ext cx="2471191" cy="2659278"/>
          </a:xfrm>
          <a:prstGeom prst="rect">
            <a:avLst/>
          </a:prstGeom>
          <a:noFill/>
          <a:ln w="18851" cmpd="sng">
            <a:solidFill>
              <a:schemeClr val="accent2"/>
            </a:solidFill>
            <a:prstDash val="lgDash"/>
          </a:ln>
        </p:spPr>
        <p:style>
          <a:lnRef idx="2">
            <a:schemeClr val="accent1">
              <a:lumMod val="75000"/>
            </a:schemeClr>
          </a:lnRef>
          <a:fillRef idx="1">
            <a:schemeClr val="accent1"/>
          </a:fillRef>
          <a:effectRef idx="0">
            <a:srgbClr val="FFFFFF"/>
          </a:effectRef>
          <a:fontRef idx="minor">
            <a:schemeClr val="lt1"/>
          </a:fontRef>
        </p:style>
        <p:txBody>
          <a:bodyPr vert="horz" wrap="square" anchor="ctr">
            <a:noAutofit/>
          </a:bodyPr>
          <a:lstStyle/>
          <a:p>
            <a:pPr lvl="0" algn="ctr">
              <a:buClrTx/>
              <a:buSzTx/>
              <a:buFontTx/>
              <a:buNone/>
            </a:pPr>
            <a:endParaRPr sz="1015"/>
          </a:p>
        </p:txBody>
      </p:sp>
      <p:sp>
        <p:nvSpPr>
          <p:cNvPr id="1100" name="蓝图-Text 64"/>
          <p:cNvSpPr>
            <a:spLocks noGrp="1"/>
          </p:cNvSpPr>
          <p:nvPr/>
        </p:nvSpPr>
        <p:spPr>
          <a:xfrm>
            <a:off x="3280221" y="2164929"/>
            <a:ext cx="1973769" cy="12786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烤房维护</a:t>
            </a:r>
            <a:endParaRPr sz="790" b="1">
              <a:solidFill>
                <a:srgbClr val="FFFFFF"/>
              </a:solidFill>
              <a:latin typeface="微软雅黑"/>
              <a:ea typeface="微软雅黑"/>
              <a:cs typeface="微软雅黑"/>
            </a:endParaRPr>
          </a:p>
        </p:txBody>
      </p:sp>
      <p:sp>
        <p:nvSpPr>
          <p:cNvPr id="1101" name="蓝图-Text 36"/>
          <p:cNvSpPr>
            <a:spLocks noGrp="1"/>
          </p:cNvSpPr>
          <p:nvPr/>
        </p:nvSpPr>
        <p:spPr>
          <a:xfrm>
            <a:off x="4438696" y="1532809"/>
            <a:ext cx="2136253" cy="129440"/>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Web端</a:t>
            </a:r>
            <a:endParaRPr sz="695" b="1">
              <a:solidFill>
                <a:srgbClr val="333333"/>
              </a:solidFill>
              <a:latin typeface="微软雅黑"/>
              <a:ea typeface="微软雅黑"/>
              <a:cs typeface="微软雅黑"/>
            </a:endParaRPr>
          </a:p>
        </p:txBody>
      </p:sp>
      <p:sp>
        <p:nvSpPr>
          <p:cNvPr id="1017" name="蓝图-Text 23"/>
          <p:cNvSpPr>
            <a:spLocks noGrp="1"/>
          </p:cNvSpPr>
          <p:nvPr/>
        </p:nvSpPr>
        <p:spPr>
          <a:xfrm>
            <a:off x="3780657" y="1582464"/>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1018" name="蓝图-Text 24"/>
          <p:cNvSpPr>
            <a:spLocks noGrp="1"/>
          </p:cNvSpPr>
          <p:nvPr/>
        </p:nvSpPr>
        <p:spPr>
          <a:xfrm>
            <a:off x="6703882" y="1589989"/>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查看</a:t>
            </a:r>
            <a:endParaRPr sz="595" b="1" dirty="0">
              <a:solidFill>
                <a:srgbClr val="333333"/>
              </a:solidFill>
              <a:latin typeface="微软雅黑"/>
              <a:ea typeface="微软雅黑"/>
              <a:cs typeface="微软雅黑"/>
            </a:endParaRPr>
          </a:p>
        </p:txBody>
      </p:sp>
      <p:sp>
        <p:nvSpPr>
          <p:cNvPr id="1097" name="蓝图-Text 26"/>
          <p:cNvSpPr>
            <a:spLocks noGrp="1"/>
          </p:cNvSpPr>
          <p:nvPr/>
        </p:nvSpPr>
        <p:spPr>
          <a:xfrm>
            <a:off x="1643716" y="1529826"/>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3" name="蓝图-Shape 46"/>
          <p:cNvSpPr>
            <a:spLocks noGrp="1"/>
          </p:cNvSpPr>
          <p:nvPr/>
        </p:nvSpPr>
        <p:spPr>
          <a:xfrm>
            <a:off x="6724643" y="1953749"/>
            <a:ext cx="134015" cy="182980"/>
          </a:xfrm>
          <a:prstGeom prst="upArrow">
            <a:avLst/>
          </a:prstGeom>
          <a:solidFill>
            <a:srgbClr val="A20025"/>
          </a:solidFill>
          <a:ln w="1270">
            <a:noFill/>
            <a:prstDash val="solid"/>
          </a:ln>
        </p:spPr>
      </p:sp>
      <p:sp>
        <p:nvSpPr>
          <p:cNvPr id="5" name="蓝图-Shape 45"/>
          <p:cNvSpPr>
            <a:spLocks noGrp="1"/>
          </p:cNvSpPr>
          <p:nvPr/>
        </p:nvSpPr>
        <p:spPr>
          <a:xfrm>
            <a:off x="1595069" y="1400152"/>
            <a:ext cx="148394" cy="214549"/>
          </a:xfrm>
          <a:prstGeom prst="upArrow">
            <a:avLst/>
          </a:prstGeom>
          <a:solidFill>
            <a:srgbClr val="A20025"/>
          </a:solidFill>
          <a:ln w="1270">
            <a:noFill/>
            <a:prstDash val="solid"/>
          </a:ln>
        </p:spPr>
      </p:sp>
      <p:sp>
        <p:nvSpPr>
          <p:cNvPr id="8" name="蓝图-Shape 45"/>
          <p:cNvSpPr>
            <a:spLocks noGrp="1"/>
          </p:cNvSpPr>
          <p:nvPr/>
        </p:nvSpPr>
        <p:spPr>
          <a:xfrm>
            <a:off x="3775915" y="1406831"/>
            <a:ext cx="148394" cy="162422"/>
          </a:xfrm>
          <a:prstGeom prst="upArrow">
            <a:avLst/>
          </a:prstGeom>
          <a:solidFill>
            <a:srgbClr val="A20025"/>
          </a:solidFill>
          <a:ln w="1270">
            <a:noFill/>
            <a:prstDash val="solid"/>
          </a:ln>
        </p:spPr>
      </p:sp>
      <p:sp>
        <p:nvSpPr>
          <p:cNvPr id="10" name="蓝图-Shape 45"/>
          <p:cNvSpPr>
            <a:spLocks noGrp="1"/>
          </p:cNvSpPr>
          <p:nvPr/>
        </p:nvSpPr>
        <p:spPr>
          <a:xfrm>
            <a:off x="6696199" y="1418947"/>
            <a:ext cx="148394" cy="158028"/>
          </a:xfrm>
          <a:prstGeom prst="upArrow">
            <a:avLst/>
          </a:prstGeom>
          <a:solidFill>
            <a:srgbClr val="A20025"/>
          </a:solidFill>
          <a:ln w="1270">
            <a:noFill/>
            <a:prstDash val="solid"/>
          </a:ln>
        </p:spPr>
      </p:sp>
      <p:sp>
        <p:nvSpPr>
          <p:cNvPr id="16" name="蓝图-Shape 104"/>
          <p:cNvSpPr>
            <a:spLocks noGrp="1"/>
          </p:cNvSpPr>
          <p:nvPr/>
        </p:nvSpPr>
        <p:spPr>
          <a:xfrm>
            <a:off x="3610412" y="3421230"/>
            <a:ext cx="115384" cy="129611"/>
          </a:xfrm>
          <a:prstGeom prst="upArrow">
            <a:avLst/>
          </a:prstGeom>
          <a:solidFill>
            <a:srgbClr val="6D8764"/>
          </a:solidFill>
          <a:ln w="1270">
            <a:noFill/>
            <a:prstDash val="solid"/>
          </a:ln>
        </p:spPr>
      </p:sp>
      <p:sp>
        <p:nvSpPr>
          <p:cNvPr id="18" name="蓝图-Shape 104"/>
          <p:cNvSpPr>
            <a:spLocks noGrp="1"/>
          </p:cNvSpPr>
          <p:nvPr/>
        </p:nvSpPr>
        <p:spPr>
          <a:xfrm>
            <a:off x="2089269" y="4303167"/>
            <a:ext cx="115384" cy="129611"/>
          </a:xfrm>
          <a:prstGeom prst="upArrow">
            <a:avLst/>
          </a:prstGeom>
          <a:solidFill>
            <a:srgbClr val="6D8764"/>
          </a:solidFill>
          <a:ln w="1270">
            <a:noFill/>
            <a:prstDash val="solid"/>
          </a:ln>
        </p:spPr>
      </p:sp>
      <p:sp>
        <p:nvSpPr>
          <p:cNvPr id="20" name="蓝图-Shape 104"/>
          <p:cNvSpPr>
            <a:spLocks noGrp="1"/>
          </p:cNvSpPr>
          <p:nvPr/>
        </p:nvSpPr>
        <p:spPr>
          <a:xfrm>
            <a:off x="4403004" y="4295386"/>
            <a:ext cx="115384" cy="129611"/>
          </a:xfrm>
          <a:prstGeom prst="upArrow">
            <a:avLst/>
          </a:prstGeom>
          <a:solidFill>
            <a:srgbClr val="6D8764"/>
          </a:solidFill>
          <a:ln w="1270">
            <a:noFill/>
            <a:prstDash val="solid"/>
          </a:ln>
        </p:spPr>
      </p:sp>
      <p:sp>
        <p:nvSpPr>
          <p:cNvPr id="22" name="蓝图-Shape 104"/>
          <p:cNvSpPr>
            <a:spLocks noGrp="1"/>
          </p:cNvSpPr>
          <p:nvPr/>
        </p:nvSpPr>
        <p:spPr>
          <a:xfrm>
            <a:off x="6804126" y="4303308"/>
            <a:ext cx="115384" cy="129611"/>
          </a:xfrm>
          <a:prstGeom prst="upArrow">
            <a:avLst/>
          </a:prstGeom>
          <a:solidFill>
            <a:srgbClr val="6D8764"/>
          </a:solidFill>
          <a:ln w="1270">
            <a:noFill/>
            <a:prstDash val="solid"/>
          </a:ln>
        </p:spPr>
        <p:txBody>
          <a:bodyPr/>
          <a:lstStyle/>
          <a:p>
            <a:endParaRPr lang="zh-CN" altLang="en-US" dirty="0"/>
          </a:p>
        </p:txBody>
      </p:sp>
      <p:sp>
        <p:nvSpPr>
          <p:cNvPr id="24" name="蓝图-Shape 45"/>
          <p:cNvSpPr>
            <a:spLocks noGrp="1"/>
          </p:cNvSpPr>
          <p:nvPr/>
        </p:nvSpPr>
        <p:spPr>
          <a:xfrm rot="10800000">
            <a:off x="1635663" y="2407368"/>
            <a:ext cx="134015" cy="988997"/>
          </a:xfrm>
          <a:prstGeom prst="upArrow">
            <a:avLst/>
          </a:prstGeom>
          <a:solidFill>
            <a:srgbClr val="FFC000"/>
          </a:solidFill>
          <a:ln w="1270">
            <a:noFill/>
            <a:prstDash val="solid"/>
          </a:ln>
        </p:spPr>
      </p:sp>
      <p:sp>
        <p:nvSpPr>
          <p:cNvPr id="26" name="蓝图-Shape 45"/>
          <p:cNvSpPr>
            <a:spLocks noGrp="1"/>
          </p:cNvSpPr>
          <p:nvPr/>
        </p:nvSpPr>
        <p:spPr>
          <a:xfrm rot="10800000">
            <a:off x="3490666" y="2398601"/>
            <a:ext cx="134015" cy="990040"/>
          </a:xfrm>
          <a:prstGeom prst="upArrow">
            <a:avLst/>
          </a:prstGeom>
          <a:solidFill>
            <a:srgbClr val="FFC000"/>
          </a:solidFill>
          <a:ln w="1270">
            <a:noFill/>
            <a:prstDash val="solid"/>
          </a:ln>
        </p:spPr>
      </p:sp>
      <p:sp>
        <p:nvSpPr>
          <p:cNvPr id="28" name="蓝图-Shape 45"/>
          <p:cNvSpPr>
            <a:spLocks noGrp="1"/>
          </p:cNvSpPr>
          <p:nvPr/>
        </p:nvSpPr>
        <p:spPr>
          <a:xfrm rot="10800000">
            <a:off x="4813934" y="2394430"/>
            <a:ext cx="134015" cy="915361"/>
          </a:xfrm>
          <a:prstGeom prst="upArrow">
            <a:avLst/>
          </a:prstGeom>
          <a:solidFill>
            <a:srgbClr val="FFC000"/>
          </a:solidFill>
          <a:ln w="1270">
            <a:noFill/>
            <a:prstDash val="solid"/>
          </a:ln>
        </p:spPr>
      </p:sp>
      <p:sp>
        <p:nvSpPr>
          <p:cNvPr id="30" name="蓝图-Shape 45"/>
          <p:cNvSpPr>
            <a:spLocks noGrp="1"/>
          </p:cNvSpPr>
          <p:nvPr/>
        </p:nvSpPr>
        <p:spPr>
          <a:xfrm rot="10800000">
            <a:off x="6188125" y="2422866"/>
            <a:ext cx="134015" cy="668880"/>
          </a:xfrm>
          <a:prstGeom prst="upArrow">
            <a:avLst/>
          </a:prstGeom>
          <a:solidFill>
            <a:srgbClr val="FFC000"/>
          </a:solidFill>
          <a:ln w="1270">
            <a:noFill/>
            <a:prstDash val="solid"/>
          </a:ln>
        </p:spPr>
      </p:sp>
      <p:sp>
        <p:nvSpPr>
          <p:cNvPr id="32" name="蓝图-Shape 45"/>
          <p:cNvSpPr>
            <a:spLocks noGrp="1"/>
          </p:cNvSpPr>
          <p:nvPr/>
        </p:nvSpPr>
        <p:spPr>
          <a:xfrm rot="10800000">
            <a:off x="7266198" y="2385114"/>
            <a:ext cx="134015" cy="1023583"/>
          </a:xfrm>
          <a:prstGeom prst="upArrow">
            <a:avLst/>
          </a:prstGeom>
          <a:solidFill>
            <a:srgbClr val="FFC000"/>
          </a:solidFill>
          <a:ln w="1270">
            <a:noFill/>
            <a:prstDash val="solid"/>
          </a:ln>
        </p:spPr>
      </p:sp>
      <p:sp>
        <p:nvSpPr>
          <p:cNvPr id="1039" name="蓝图-Text 76"/>
          <p:cNvSpPr>
            <a:spLocks noGrp="1"/>
          </p:cNvSpPr>
          <p:nvPr/>
        </p:nvSpPr>
        <p:spPr>
          <a:xfrm>
            <a:off x="4361535" y="2487292"/>
            <a:ext cx="1064285" cy="254168"/>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健康评分</a:t>
            </a:r>
            <a:r>
              <a:rPr sz="695" b="1" dirty="0">
                <a:solidFill>
                  <a:srgbClr val="F8F7F7"/>
                </a:solidFill>
                <a:latin typeface="微软雅黑"/>
                <a:ea typeface="微软雅黑"/>
                <a:cs typeface="微软雅黑"/>
              </a:rPr>
              <a:t> &amp; </a:t>
            </a:r>
            <a:r>
              <a:rPr sz="695" b="1" dirty="0" err="1">
                <a:solidFill>
                  <a:srgbClr val="F8F7F7"/>
                </a:solidFill>
                <a:latin typeface="微软雅黑"/>
                <a:ea typeface="微软雅黑"/>
                <a:cs typeface="微软雅黑"/>
              </a:rPr>
              <a:t>寿命预测算法</a:t>
            </a:r>
            <a:endParaRPr sz="695" b="1" dirty="0">
              <a:solidFill>
                <a:srgbClr val="F8F7F7"/>
              </a:solidFill>
              <a:latin typeface="微软雅黑"/>
              <a:ea typeface="微软雅黑"/>
              <a:cs typeface="微软雅黑"/>
            </a:endParaRPr>
          </a:p>
        </p:txBody>
      </p:sp>
      <p:sp>
        <p:nvSpPr>
          <p:cNvPr id="1043" name="蓝图-Text 86"/>
          <p:cNvSpPr>
            <a:spLocks noGrp="1"/>
          </p:cNvSpPr>
          <p:nvPr/>
        </p:nvSpPr>
        <p:spPr>
          <a:xfrm>
            <a:off x="4418086" y="2821452"/>
            <a:ext cx="897255" cy="197300"/>
          </a:xfrm>
          <a:prstGeom prst="rect">
            <a:avLst/>
          </a:prstGeom>
          <a:solidFill>
            <a:schemeClr val="accent4">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健康分・剩余寿命等优先级安排维修</a:t>
            </a:r>
            <a:endParaRPr sz="595" dirty="0"/>
          </a:p>
        </p:txBody>
      </p:sp>
      <p:sp>
        <p:nvSpPr>
          <p:cNvPr id="1048" name="蓝图-Text 96"/>
          <p:cNvSpPr>
            <a:spLocks noGrp="1"/>
          </p:cNvSpPr>
          <p:nvPr/>
        </p:nvSpPr>
        <p:spPr>
          <a:xfrm>
            <a:off x="4428391" y="3098657"/>
            <a:ext cx="876645" cy="111846"/>
          </a:xfrm>
          <a:prstGeom prst="rect">
            <a:avLst/>
          </a:prstGeom>
          <a:solidFill>
            <a:schemeClr val="accent4">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维修完成</a:t>
            </a:r>
            <a:endParaRPr sz="595" b="1">
              <a:solidFill>
                <a:srgbClr val="333333"/>
              </a:solidFill>
              <a:latin typeface="微软雅黑"/>
              <a:ea typeface="微软雅黑"/>
              <a:cs typeface="微软雅黑"/>
            </a:endParaRPr>
          </a:p>
        </p:txBody>
      </p:sp>
      <p:sp>
        <p:nvSpPr>
          <p:cNvPr id="1040" name="蓝图-Text 78"/>
          <p:cNvSpPr>
            <a:spLocks noGrp="1"/>
          </p:cNvSpPr>
          <p:nvPr/>
        </p:nvSpPr>
        <p:spPr>
          <a:xfrm>
            <a:off x="3175919" y="2450325"/>
            <a:ext cx="790850" cy="109333"/>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一键报修</a:t>
            </a:r>
            <a:endParaRPr sz="595" b="1">
              <a:solidFill>
                <a:srgbClr val="333333"/>
              </a:solidFill>
              <a:latin typeface="微软雅黑"/>
              <a:ea typeface="微软雅黑"/>
              <a:cs typeface="微软雅黑"/>
            </a:endParaRPr>
          </a:p>
        </p:txBody>
      </p:sp>
      <p:sp>
        <p:nvSpPr>
          <p:cNvPr id="1044" name="蓝图-Text 88"/>
          <p:cNvSpPr>
            <a:spLocks noGrp="1"/>
          </p:cNvSpPr>
          <p:nvPr/>
        </p:nvSpPr>
        <p:spPr>
          <a:xfrm>
            <a:off x="3175919" y="2825701"/>
            <a:ext cx="790850" cy="115931"/>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查看维修进度</a:t>
            </a:r>
            <a:endParaRPr sz="595" b="1">
              <a:solidFill>
                <a:srgbClr val="333333"/>
              </a:solidFill>
              <a:latin typeface="微软雅黑"/>
              <a:ea typeface="微软雅黑"/>
              <a:cs typeface="微软雅黑"/>
            </a:endParaRPr>
          </a:p>
        </p:txBody>
      </p:sp>
      <p:sp>
        <p:nvSpPr>
          <p:cNvPr id="1047" name="蓝图-Text 94"/>
          <p:cNvSpPr>
            <a:spLocks noGrp="1"/>
          </p:cNvSpPr>
          <p:nvPr/>
        </p:nvSpPr>
        <p:spPr>
          <a:xfrm>
            <a:off x="3158425" y="2996424"/>
            <a:ext cx="825839" cy="123785"/>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匹配到维修人员</a:t>
            </a:r>
            <a:endParaRPr sz="595" b="1">
              <a:solidFill>
                <a:srgbClr val="333333"/>
              </a:solidFill>
              <a:latin typeface="微软雅黑"/>
              <a:ea typeface="微软雅黑"/>
              <a:cs typeface="微软雅黑"/>
            </a:endParaRPr>
          </a:p>
        </p:txBody>
      </p:sp>
      <p:sp>
        <p:nvSpPr>
          <p:cNvPr id="1078" name="蓝图-Text 66"/>
          <p:cNvSpPr>
            <a:spLocks noGrp="1"/>
          </p:cNvSpPr>
          <p:nvPr/>
        </p:nvSpPr>
        <p:spPr>
          <a:xfrm>
            <a:off x="3175919" y="2292798"/>
            <a:ext cx="790850" cy="10273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主动报修</a:t>
            </a:r>
            <a:endParaRPr sz="595" b="1">
              <a:solidFill>
                <a:srgbClr val="333333"/>
              </a:solidFill>
              <a:latin typeface="微软雅黑"/>
              <a:ea typeface="微软雅黑"/>
              <a:cs typeface="微软雅黑"/>
            </a:endParaRPr>
          </a:p>
        </p:txBody>
      </p:sp>
      <p:sp>
        <p:nvSpPr>
          <p:cNvPr id="1087" name="蓝图-Text 94"/>
          <p:cNvSpPr>
            <a:spLocks noGrp="1"/>
          </p:cNvSpPr>
          <p:nvPr/>
        </p:nvSpPr>
        <p:spPr>
          <a:xfrm>
            <a:off x="3164416" y="3175001"/>
            <a:ext cx="813857" cy="134153"/>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匹配到维修部件</a:t>
            </a:r>
            <a:endParaRPr sz="595" b="1" dirty="0">
              <a:solidFill>
                <a:srgbClr val="333333"/>
              </a:solidFill>
              <a:latin typeface="微软雅黑"/>
              <a:ea typeface="微软雅黑"/>
              <a:cs typeface="微软雅黑"/>
            </a:endParaRPr>
          </a:p>
        </p:txBody>
      </p:sp>
      <p:sp>
        <p:nvSpPr>
          <p:cNvPr id="1088" name="蓝图-Text 76"/>
          <p:cNvSpPr>
            <a:spLocks noGrp="1"/>
          </p:cNvSpPr>
          <p:nvPr/>
        </p:nvSpPr>
        <p:spPr>
          <a:xfrm>
            <a:off x="3132782" y="2614450"/>
            <a:ext cx="877124" cy="156459"/>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自动匹配算法</a:t>
            </a:r>
            <a:endParaRPr sz="695" b="1" dirty="0">
              <a:solidFill>
                <a:srgbClr val="F8F7F7"/>
              </a:solidFill>
              <a:latin typeface="微软雅黑"/>
              <a:ea typeface="微软雅黑"/>
              <a:cs typeface="微软雅黑"/>
            </a:endParaRPr>
          </a:p>
        </p:txBody>
      </p:sp>
      <p:sp>
        <p:nvSpPr>
          <p:cNvPr id="1035" name="蓝图-Text 66"/>
          <p:cNvSpPr>
            <a:spLocks noGrp="1"/>
          </p:cNvSpPr>
          <p:nvPr/>
        </p:nvSpPr>
        <p:spPr>
          <a:xfrm>
            <a:off x="1243795" y="2473397"/>
            <a:ext cx="938954" cy="116245"/>
          </a:xfrm>
          <a:prstGeom prst="rect">
            <a:avLst/>
          </a:prstGeom>
          <a:solidFill>
            <a:schemeClr val="accent6">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发起烤房申请</a:t>
            </a:r>
            <a:endParaRPr sz="595" b="1" dirty="0">
              <a:solidFill>
                <a:srgbClr val="333333"/>
              </a:solidFill>
              <a:latin typeface="微软雅黑"/>
              <a:ea typeface="微软雅黑"/>
              <a:cs typeface="微软雅黑"/>
            </a:endParaRPr>
          </a:p>
        </p:txBody>
      </p:sp>
      <p:sp>
        <p:nvSpPr>
          <p:cNvPr id="1041" name="蓝图-Text 80"/>
          <p:cNvSpPr>
            <a:spLocks noGrp="1"/>
          </p:cNvSpPr>
          <p:nvPr/>
        </p:nvSpPr>
        <p:spPr>
          <a:xfrm>
            <a:off x="1184361" y="2663735"/>
            <a:ext cx="1057822" cy="140330"/>
          </a:xfrm>
          <a:prstGeom prst="roundRect">
            <a:avLst/>
          </a:prstGeom>
          <a:solidFill>
            <a:srgbClr val="FA6800"/>
          </a:solidFill>
        </p:spPr>
        <p:txBody>
          <a:bodyPr wrap="square" lIns="0" tIns="0" rIns="0" bIns="0" anchor="ctr"/>
          <a:lstStyle/>
          <a:p>
            <a:pPr algn="ctr"/>
            <a:r>
              <a:rPr sz="695" b="1">
                <a:solidFill>
                  <a:srgbClr val="F8F7F7"/>
                </a:solidFill>
                <a:latin typeface="微软雅黑"/>
                <a:ea typeface="微软雅黑"/>
                <a:cs typeface="微软雅黑"/>
              </a:rPr>
              <a:t>烤房推荐算法</a:t>
            </a:r>
            <a:endParaRPr sz="695" b="1">
              <a:solidFill>
                <a:srgbClr val="F8F7F7"/>
              </a:solidFill>
              <a:latin typeface="微软雅黑"/>
              <a:ea typeface="微软雅黑"/>
              <a:cs typeface="微软雅黑"/>
            </a:endParaRPr>
          </a:p>
        </p:txBody>
      </p:sp>
      <p:sp>
        <p:nvSpPr>
          <p:cNvPr id="1045" name="蓝图-Text 90"/>
          <p:cNvSpPr>
            <a:spLocks noGrp="1"/>
          </p:cNvSpPr>
          <p:nvPr/>
        </p:nvSpPr>
        <p:spPr>
          <a:xfrm>
            <a:off x="1243555" y="2878158"/>
            <a:ext cx="939434" cy="204842"/>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使用状态・容量・距离・健康状态优先级排序</a:t>
            </a:r>
            <a:endParaRPr sz="595" b="1">
              <a:solidFill>
                <a:srgbClr val="333333"/>
              </a:solidFill>
              <a:latin typeface="微软雅黑"/>
              <a:ea typeface="微软雅黑"/>
              <a:cs typeface="微软雅黑"/>
            </a:endParaRPr>
          </a:p>
        </p:txBody>
      </p:sp>
      <p:sp>
        <p:nvSpPr>
          <p:cNvPr id="1050" name="蓝图-Text 100"/>
          <p:cNvSpPr>
            <a:spLocks noGrp="1"/>
          </p:cNvSpPr>
          <p:nvPr/>
        </p:nvSpPr>
        <p:spPr>
          <a:xfrm>
            <a:off x="1235887" y="3157094"/>
            <a:ext cx="954771" cy="145149"/>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调剂到烤房</a:t>
            </a:r>
            <a:endParaRPr sz="595"/>
          </a:p>
        </p:txBody>
      </p:sp>
      <p:sp>
        <p:nvSpPr>
          <p:cNvPr id="1086" name="蓝图-Text 66"/>
          <p:cNvSpPr>
            <a:spLocks noGrp="1"/>
          </p:cNvSpPr>
          <p:nvPr/>
        </p:nvSpPr>
        <p:spPr>
          <a:xfrm>
            <a:off x="1217194" y="2306308"/>
            <a:ext cx="992157" cy="92996"/>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烤房预约</a:t>
            </a:r>
            <a:endParaRPr sz="595" b="1" dirty="0">
              <a:solidFill>
                <a:srgbClr val="333333"/>
              </a:solidFill>
              <a:latin typeface="微软雅黑"/>
              <a:ea typeface="微软雅黑"/>
              <a:cs typeface="微软雅黑"/>
            </a:endParaRPr>
          </a:p>
        </p:txBody>
      </p:sp>
      <p:sp>
        <p:nvSpPr>
          <p:cNvPr id="1092" name="蓝图-Text 74"/>
          <p:cNvSpPr>
            <a:spLocks noGrp="1"/>
          </p:cNvSpPr>
          <p:nvPr/>
        </p:nvSpPr>
        <p:spPr>
          <a:xfrm>
            <a:off x="5881278" y="2472611"/>
            <a:ext cx="747713" cy="111846"/>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分析维修数据</a:t>
            </a:r>
            <a:endParaRPr sz="595" b="1">
              <a:solidFill>
                <a:srgbClr val="333333"/>
              </a:solidFill>
              <a:latin typeface="微软雅黑"/>
              <a:ea typeface="微软雅黑"/>
              <a:cs typeface="微软雅黑"/>
            </a:endParaRPr>
          </a:p>
        </p:txBody>
      </p:sp>
      <p:sp>
        <p:nvSpPr>
          <p:cNvPr id="1093" name="蓝图-Text 74"/>
          <p:cNvSpPr>
            <a:spLocks noGrp="1"/>
          </p:cNvSpPr>
          <p:nvPr/>
        </p:nvSpPr>
        <p:spPr>
          <a:xfrm>
            <a:off x="5873849" y="2636715"/>
            <a:ext cx="762571" cy="181593"/>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生成维修建议</a:t>
            </a:r>
            <a:endParaRPr sz="595" b="1">
              <a:solidFill>
                <a:srgbClr val="333333"/>
              </a:solidFill>
              <a:latin typeface="微软雅黑"/>
              <a:ea typeface="微软雅黑"/>
              <a:cs typeface="微软雅黑"/>
            </a:endParaRPr>
          </a:p>
          <a:p>
            <a:pPr lvl="0" algn="ctr">
              <a:buClrTx/>
              <a:buSzTx/>
              <a:buFontTx/>
              <a:buNone/>
            </a:pPr>
            <a:r>
              <a:rPr sz="595" b="1">
                <a:solidFill>
                  <a:srgbClr val="333333"/>
                </a:solidFill>
                <a:latin typeface="微软雅黑"/>
                <a:ea typeface="微软雅黑"/>
                <a:cs typeface="微软雅黑"/>
              </a:rPr>
              <a:t>报告</a:t>
            </a:r>
            <a:endParaRPr sz="595" b="1">
              <a:solidFill>
                <a:srgbClr val="333333"/>
              </a:solidFill>
              <a:latin typeface="微软雅黑"/>
              <a:ea typeface="微软雅黑"/>
              <a:cs typeface="微软雅黑"/>
            </a:endParaRPr>
          </a:p>
        </p:txBody>
      </p:sp>
      <p:sp>
        <p:nvSpPr>
          <p:cNvPr id="1094" name="蓝图-Text 74"/>
          <p:cNvSpPr>
            <a:spLocks noGrp="1"/>
          </p:cNvSpPr>
          <p:nvPr/>
        </p:nvSpPr>
        <p:spPr>
          <a:xfrm>
            <a:off x="5867857" y="2870566"/>
            <a:ext cx="774554" cy="12975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分配资金</a:t>
            </a:r>
            <a:endParaRPr sz="595" b="1">
              <a:solidFill>
                <a:srgbClr val="333333"/>
              </a:solidFill>
              <a:latin typeface="微软雅黑"/>
              <a:ea typeface="微软雅黑"/>
              <a:cs typeface="微软雅黑"/>
            </a:endParaRPr>
          </a:p>
        </p:txBody>
      </p:sp>
      <p:sp>
        <p:nvSpPr>
          <p:cNvPr id="1038" name="蓝图-Text 74"/>
          <p:cNvSpPr>
            <a:spLocks noGrp="1"/>
          </p:cNvSpPr>
          <p:nvPr/>
        </p:nvSpPr>
        <p:spPr>
          <a:xfrm>
            <a:off x="6894644" y="2428585"/>
            <a:ext cx="877124" cy="136667"/>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逐个新增烤房点</a:t>
            </a:r>
            <a:endParaRPr sz="595" b="1">
              <a:solidFill>
                <a:srgbClr val="333333"/>
              </a:solidFill>
              <a:latin typeface="微软雅黑"/>
              <a:ea typeface="微软雅黑"/>
              <a:cs typeface="微软雅黑"/>
            </a:endParaRPr>
          </a:p>
        </p:txBody>
      </p:sp>
      <p:sp>
        <p:nvSpPr>
          <p:cNvPr id="1042" name="蓝图-Text 82"/>
          <p:cNvSpPr>
            <a:spLocks noGrp="1"/>
          </p:cNvSpPr>
          <p:nvPr/>
        </p:nvSpPr>
        <p:spPr>
          <a:xfrm>
            <a:off x="6837128" y="2736917"/>
            <a:ext cx="992157" cy="192904"/>
          </a:xfrm>
          <a:prstGeom prst="roundRect">
            <a:avLst/>
          </a:prstGeom>
          <a:solidFill>
            <a:srgbClr val="FA6800"/>
          </a:solidFill>
        </p:spPr>
        <p:txBody>
          <a:bodyPr wrap="square" lIns="0" tIns="0" rIns="0" bIns="0" anchor="ctr">
            <a:noAutofit/>
          </a:bodyPr>
          <a:lstStyle/>
          <a:p>
            <a:pPr lvl="0" algn="ctr">
              <a:buClrTx/>
              <a:buSzTx/>
              <a:buFontTx/>
              <a:buNone/>
            </a:pPr>
            <a:r>
              <a:rPr sz="695" b="1">
                <a:solidFill>
                  <a:srgbClr val="F8F7F7"/>
                </a:solidFill>
                <a:latin typeface="微软雅黑"/>
                <a:ea typeface="微软雅黑"/>
                <a:cs typeface="微软雅黑"/>
              </a:rPr>
              <a:t>烤房负载度算法</a:t>
            </a:r>
            <a:endParaRPr sz="695" b="1">
              <a:solidFill>
                <a:srgbClr val="F8F7F7"/>
              </a:solidFill>
              <a:latin typeface="微软雅黑"/>
              <a:ea typeface="微软雅黑"/>
              <a:cs typeface="微软雅黑"/>
            </a:endParaRPr>
          </a:p>
        </p:txBody>
      </p:sp>
      <p:sp>
        <p:nvSpPr>
          <p:cNvPr id="1046" name="蓝图-Text 92"/>
          <p:cNvSpPr>
            <a:spLocks noGrp="1"/>
          </p:cNvSpPr>
          <p:nvPr/>
        </p:nvSpPr>
        <p:spPr>
          <a:xfrm>
            <a:off x="6898478" y="2969784"/>
            <a:ext cx="869456" cy="1771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对比全县全市平均烤房负载度</a:t>
            </a:r>
            <a:endParaRPr sz="595" b="1">
              <a:solidFill>
                <a:srgbClr val="333333"/>
              </a:solidFill>
              <a:latin typeface="微软雅黑"/>
              <a:ea typeface="微软雅黑"/>
              <a:cs typeface="微软雅黑"/>
            </a:endParaRPr>
          </a:p>
        </p:txBody>
      </p:sp>
      <p:sp>
        <p:nvSpPr>
          <p:cNvPr id="1051" name="蓝图-Text 102"/>
          <p:cNvSpPr>
            <a:spLocks noGrp="1"/>
          </p:cNvSpPr>
          <p:nvPr/>
        </p:nvSpPr>
        <p:spPr>
          <a:xfrm>
            <a:off x="6887694" y="3186941"/>
            <a:ext cx="891024" cy="14137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确定新建个数等</a:t>
            </a:r>
            <a:endParaRPr sz="595" b="1">
              <a:solidFill>
                <a:srgbClr val="333333"/>
              </a:solidFill>
              <a:latin typeface="微软雅黑"/>
              <a:ea typeface="微软雅黑"/>
              <a:cs typeface="微软雅黑"/>
            </a:endParaRPr>
          </a:p>
        </p:txBody>
      </p:sp>
      <p:sp>
        <p:nvSpPr>
          <p:cNvPr id="1095" name="蓝图-Text 92"/>
          <p:cNvSpPr>
            <a:spLocks noGrp="1"/>
          </p:cNvSpPr>
          <p:nvPr/>
        </p:nvSpPr>
        <p:spPr>
          <a:xfrm>
            <a:off x="6898239" y="2605215"/>
            <a:ext cx="869935" cy="9173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沙盘演练</a:t>
            </a:r>
            <a:endParaRPr sz="595" b="1" dirty="0">
              <a:solidFill>
                <a:srgbClr val="333333"/>
              </a:solidFill>
              <a:latin typeface="微软雅黑"/>
              <a:ea typeface="微软雅黑"/>
              <a:cs typeface="微软雅黑"/>
            </a:endParaRPr>
          </a:p>
        </p:txBody>
      </p:sp>
      <p:sp>
        <p:nvSpPr>
          <p:cNvPr id="35" name="文本框 34"/>
          <p:cNvSpPr txBox="1"/>
          <p:nvPr/>
        </p:nvSpPr>
        <p:spPr>
          <a:xfrm>
            <a:off x="4905307" y="3574526"/>
            <a:ext cx="2751238" cy="300082"/>
          </a:xfrm>
          <a:prstGeom prst="rect">
            <a:avLst/>
          </a:prstGeom>
          <a:noFill/>
        </p:spPr>
        <p:txBody>
          <a:bodyPr wrap="square" rtlCol="0">
            <a:spAutoFit/>
          </a:bodyPr>
          <a:lstStyle/>
          <a:p>
            <a:r>
              <a:rPr lang="zh-CN" altLang="en-US" b="1" spc="600" dirty="0"/>
              <a:t>一切以服务烟农为目标</a:t>
            </a:r>
            <a:endParaRPr lang="zh-CN" altLang="en-US" b="1" spc="600" dirty="0"/>
          </a:p>
        </p:txBody>
      </p:sp>
      <p:sp>
        <p:nvSpPr>
          <p:cNvPr id="9" name="文本框 8"/>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项目</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蓝图</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Tree>
  </p:cSld>
  <p:clrMapOvr>
    <a:overrideClrMapping bg1="lt1" tx1="dk1" bg2="lt2" tx2="dk2" accent1="accent1" accent2="accent2" accent3="accent3" accent4="accent4" accent5="accent5" accent6="accent6" hlink="hlink" folHlink="folHlink"/>
  </p:clrMapOvr>
  <p:transition spd="slow" advTm="46738">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13"/>
          <p:cNvSpPr/>
          <p:nvPr/>
        </p:nvSpPr>
        <p:spPr>
          <a:xfrm>
            <a:off x="163195" y="930910"/>
            <a:ext cx="4361180" cy="375285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 name="文本框 8"/>
          <p:cNvSpPr txBox="1"/>
          <p:nvPr/>
        </p:nvSpPr>
        <p:spPr>
          <a:xfrm>
            <a:off x="353171" y="4314149"/>
            <a:ext cx="3795214" cy="337185"/>
          </a:xfrm>
          <a:prstGeom prst="rect">
            <a:avLst/>
          </a:prstGeom>
          <a:noFill/>
        </p:spPr>
        <p:txBody>
          <a:bodyPr wrap="square">
            <a:spAutoFit/>
          </a:bodyPr>
          <a:lstStyle/>
          <a:p>
            <a:pPr marL="0" indent="0" algn="ctr">
              <a:buNone/>
            </a:pPr>
            <a:r>
              <a:rPr lang="zh-CN" altLang="en-US" sz="1600" b="1" dirty="0">
                <a:solidFill>
                  <a:schemeClr val="bg1"/>
                </a:solidFill>
                <a:latin typeface="微软雅黑" pitchFamily="34" charset="0"/>
                <a:ea typeface="微软雅黑" pitchFamily="34" charset="-122"/>
                <a:cs typeface="微软雅黑" pitchFamily="34" charset="-120"/>
              </a:rPr>
              <a:t>低门槛采集    可持续更新</a:t>
            </a:r>
            <a:endParaRPr lang="zh-CN" altLang="en-US" sz="1600" b="1" dirty="0">
              <a:solidFill>
                <a:schemeClr val="bg1"/>
              </a:solidFill>
              <a:latin typeface="微软雅黑" pitchFamily="34" charset="0"/>
              <a:ea typeface="微软雅黑" pitchFamily="34" charset="-122"/>
              <a:cs typeface="微软雅黑" pitchFamily="34" charset="-120"/>
            </a:endParaRPr>
          </a:p>
        </p:txBody>
      </p:sp>
      <p:sp>
        <p:nvSpPr>
          <p:cNvPr id="12" name="矩形: 圆角 11"/>
          <p:cNvSpPr/>
          <p:nvPr/>
        </p:nvSpPr>
        <p:spPr>
          <a:xfrm>
            <a:off x="6340466" y="114092"/>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itchFamily="34" charset="-122"/>
                <a:ea typeface="微软雅黑" pitchFamily="34" charset="-122"/>
              </a:rPr>
              <a:t>智享</a:t>
            </a:r>
            <a:endParaRPr lang="zh-CN" altLang="en-US" sz="900" b="1" dirty="0">
              <a:latin typeface="微软雅黑" pitchFamily="34" charset="-122"/>
              <a:ea typeface="微软雅黑" pitchFamily="34" charset="-122"/>
            </a:endParaRPr>
          </a:p>
        </p:txBody>
      </p:sp>
      <p:sp>
        <p:nvSpPr>
          <p:cNvPr id="14" name="矩形: 圆角 13"/>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16" name="矩形: 圆角 15"/>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24" name="Text 14"/>
          <p:cNvSpPr/>
          <p:nvPr/>
        </p:nvSpPr>
        <p:spPr>
          <a:xfrm>
            <a:off x="1395311" y="1013120"/>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多源低代码采数</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34" name="Text 19"/>
          <p:cNvSpPr/>
          <p:nvPr/>
        </p:nvSpPr>
        <p:spPr>
          <a:xfrm>
            <a:off x="1395311" y="2232063"/>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统一入库</a:t>
            </a:r>
            <a:endParaRPr lang="en-US" sz="1250" b="1" dirty="0" err="1">
              <a:solidFill>
                <a:schemeClr val="bg1"/>
              </a:solidFill>
              <a:latin typeface="微软雅黑" pitchFamily="34" charset="0"/>
              <a:ea typeface="微软雅黑" pitchFamily="34" charset="-122"/>
            </a:endParaRPr>
          </a:p>
        </p:txBody>
      </p:sp>
      <p:sp>
        <p:nvSpPr>
          <p:cNvPr id="44" name="Text 24"/>
          <p:cNvSpPr/>
          <p:nvPr/>
        </p:nvSpPr>
        <p:spPr>
          <a:xfrm>
            <a:off x="1395311" y="3562339"/>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持续回写</a:t>
            </a:r>
            <a:endParaRPr lang="en-US" sz="1250" b="1" dirty="0" err="1">
              <a:solidFill>
                <a:schemeClr val="bg1"/>
              </a:solidFill>
              <a:latin typeface="微软雅黑" pitchFamily="34" charset="0"/>
              <a:ea typeface="微软雅黑" pitchFamily="34" charset="-122"/>
            </a:endParaRPr>
          </a:p>
        </p:txBody>
      </p:sp>
      <p:sp>
        <p:nvSpPr>
          <p:cNvPr id="49" name="矩形 48"/>
          <p:cNvSpPr/>
          <p:nvPr/>
        </p:nvSpPr>
        <p:spPr>
          <a:xfrm>
            <a:off x="5742247" y="1398018"/>
            <a:ext cx="1651000" cy="650637"/>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p:cNvCxnSpPr/>
          <p:nvPr/>
        </p:nvCxnSpPr>
        <p:spPr>
          <a:xfrm flipV="1">
            <a:off x="7385034" y="1694558"/>
            <a:ext cx="922671" cy="905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282305" y="1654113"/>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8338407" y="1571447"/>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日期选择</a:t>
            </a:r>
            <a:endParaRPr lang="zh-CN" altLang="en-US" sz="1000" dirty="0">
              <a:solidFill>
                <a:schemeClr val="bg1"/>
              </a:solidFill>
              <a:latin typeface="微软雅黑" pitchFamily="34" charset="-122"/>
              <a:ea typeface="微软雅黑" pitchFamily="34" charset="-122"/>
            </a:endParaRPr>
          </a:p>
        </p:txBody>
      </p:sp>
      <p:sp>
        <p:nvSpPr>
          <p:cNvPr id="55" name="矩形 54"/>
          <p:cNvSpPr/>
          <p:nvPr/>
        </p:nvSpPr>
        <p:spPr>
          <a:xfrm>
            <a:off x="5762987" y="3048948"/>
            <a:ext cx="499279" cy="121480"/>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a:stCxn id="57" idx="6"/>
          </p:cNvCxnSpPr>
          <p:nvPr/>
        </p:nvCxnSpPr>
        <p:spPr>
          <a:xfrm flipV="1">
            <a:off x="5328440" y="3120138"/>
            <a:ext cx="458470" cy="508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5238209" y="3080487"/>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4636862" y="3014286"/>
            <a:ext cx="56938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烘烤师</a:t>
            </a:r>
            <a:endParaRPr lang="zh-CN" altLang="en-US" sz="1000" dirty="0">
              <a:solidFill>
                <a:schemeClr val="bg1"/>
              </a:solidFill>
              <a:latin typeface="微软雅黑" pitchFamily="34" charset="-122"/>
              <a:ea typeface="微软雅黑" pitchFamily="34" charset="-122"/>
            </a:endParaRPr>
          </a:p>
        </p:txBody>
      </p:sp>
      <p:cxnSp>
        <p:nvCxnSpPr>
          <p:cNvPr id="59" name="直接连接符 58"/>
          <p:cNvCxnSpPr/>
          <p:nvPr/>
        </p:nvCxnSpPr>
        <p:spPr>
          <a:xfrm flipV="1">
            <a:off x="6877350" y="2932027"/>
            <a:ext cx="922671" cy="905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7774621" y="2891582"/>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7819591" y="2817966"/>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预约人数</a:t>
            </a:r>
            <a:endParaRPr lang="zh-CN" altLang="en-US" sz="1000" dirty="0">
              <a:solidFill>
                <a:schemeClr val="bg1"/>
              </a:solidFill>
              <a:latin typeface="微软雅黑" pitchFamily="34" charset="-122"/>
              <a:ea typeface="微软雅黑" pitchFamily="34" charset="-122"/>
            </a:endParaRPr>
          </a:p>
        </p:txBody>
      </p:sp>
      <p:sp>
        <p:nvSpPr>
          <p:cNvPr id="63" name="矩形 62"/>
          <p:cNvSpPr/>
          <p:nvPr/>
        </p:nvSpPr>
        <p:spPr>
          <a:xfrm>
            <a:off x="5742247" y="2278506"/>
            <a:ext cx="1449409" cy="197762"/>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p:cNvCxnSpPr>
            <a:stCxn id="65" idx="6"/>
          </p:cNvCxnSpPr>
          <p:nvPr/>
        </p:nvCxnSpPr>
        <p:spPr>
          <a:xfrm flipV="1">
            <a:off x="5328440" y="2369007"/>
            <a:ext cx="458470" cy="508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5" name="椭圆 64"/>
          <p:cNvSpPr/>
          <p:nvPr/>
        </p:nvSpPr>
        <p:spPr>
          <a:xfrm>
            <a:off x="5238209" y="2329356"/>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524452" y="2256637"/>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智能匹配</a:t>
            </a:r>
            <a:endParaRPr lang="zh-CN" altLang="en-US" sz="1000" dirty="0">
              <a:solidFill>
                <a:schemeClr val="bg1"/>
              </a:solidFill>
              <a:latin typeface="微软雅黑" pitchFamily="34" charset="-122"/>
              <a:ea typeface="微软雅黑" pitchFamily="34" charset="-122"/>
            </a:endParaRPr>
          </a:p>
        </p:txBody>
      </p:sp>
      <p:sp>
        <p:nvSpPr>
          <p:cNvPr id="68" name="矩形 67"/>
          <p:cNvSpPr/>
          <p:nvPr/>
        </p:nvSpPr>
        <p:spPr>
          <a:xfrm>
            <a:off x="6509998" y="2876695"/>
            <a:ext cx="366866" cy="121480"/>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a:spLocks noGrp="1"/>
          </p:cNvSpPr>
          <p:nvPr/>
        </p:nvSpPr>
        <p:spPr>
          <a:xfrm>
            <a:off x="1395311" y="2587884"/>
            <a:ext cx="942975"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cs typeface="微软雅黑" pitchFamily="34" charset="-120"/>
                <a:sym typeface="+mn-ea"/>
              </a:rPr>
              <a:t>统一烤房编号</a:t>
            </a:r>
            <a:endParaRPr lang="zh-CN" altLang="en-US" sz="1000" b="1" dirty="0">
              <a:solidFill>
                <a:srgbClr val="33423A"/>
              </a:solidFill>
              <a:latin typeface="微软雅黑" pitchFamily="34" charset="0"/>
              <a:ea typeface="微软雅黑" pitchFamily="34" charset="0"/>
              <a:cs typeface="微软雅黑" pitchFamily="34" charset="-120"/>
              <a:sym typeface="+mn-ea"/>
            </a:endParaRPr>
          </a:p>
        </p:txBody>
      </p:sp>
      <p:sp>
        <p:nvSpPr>
          <p:cNvPr id="6" name="矩形 5"/>
          <p:cNvSpPr>
            <a:spLocks noGrp="1"/>
          </p:cNvSpPr>
          <p:nvPr/>
        </p:nvSpPr>
        <p:spPr>
          <a:xfrm>
            <a:off x="2507562" y="2587884"/>
            <a:ext cx="170307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lvl="0" algn="ctr">
              <a:buClrTx/>
              <a:buSzTx/>
              <a:buFontTx/>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cs typeface="微软雅黑" pitchFamily="34" charset="-120"/>
                <a:sym typeface="+mn-ea"/>
              </a:rPr>
              <a:t>字段标准化 · 批量导入</a:t>
            </a:r>
            <a:r>
              <a:rPr lang="en-US" altLang="zh-CN" sz="1000" b="1" dirty="0">
                <a:solidFill>
                  <a:srgbClr val="33423A"/>
                </a:solidFill>
                <a:latin typeface="微软雅黑" pitchFamily="34" charset="0"/>
                <a:ea typeface="微软雅黑" pitchFamily="34" charset="0"/>
                <a:cs typeface="微软雅黑" pitchFamily="34" charset="-120"/>
                <a:sym typeface="+mn-ea"/>
              </a:rPr>
              <a:t/>
            </a:r>
            <a:r>
              <a:rPr lang="zh-CN" altLang="en-US" sz="1000" b="1" dirty="0">
                <a:solidFill>
                  <a:srgbClr val="33423A"/>
                </a:solidFill>
                <a:latin typeface="微软雅黑" pitchFamily="34" charset="0"/>
                <a:ea typeface="微软雅黑" pitchFamily="34" charset="0"/>
                <a:cs typeface="微软雅黑" pitchFamily="34" charset="-120"/>
                <a:sym typeface="+mn-ea"/>
              </a:rPr>
              <a:t/>
            </a:r>
            <a:endParaRPr lang="zh-CN" altLang="en-US" sz="1000" b="1" dirty="0">
              <a:solidFill>
                <a:srgbClr val="33423A"/>
              </a:solidFill>
              <a:latin typeface="微软雅黑" pitchFamily="34" charset="0"/>
              <a:ea typeface="微软雅黑" pitchFamily="34" charset="0"/>
              <a:cs typeface="微软雅黑" pitchFamily="34" charset="-120"/>
              <a:sym typeface="+mn-ea"/>
            </a:endParaRPr>
          </a:p>
        </p:txBody>
      </p:sp>
      <p:sp>
        <p:nvSpPr>
          <p:cNvPr id="8" name="矩形 7"/>
          <p:cNvSpPr>
            <a:spLocks noGrp="1"/>
          </p:cNvSpPr>
          <p:nvPr/>
        </p:nvSpPr>
        <p:spPr>
          <a:xfrm>
            <a:off x="1395311" y="2986664"/>
            <a:ext cx="136271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移动端核验</a:t>
            </a:r>
            <a:endParaRPr lang="zh-CN" altLang="en-US" sz="1000" b="1" dirty="0">
              <a:solidFill>
                <a:srgbClr val="33423A"/>
              </a:solidFill>
              <a:latin typeface="微软雅黑" pitchFamily="34" charset="0"/>
              <a:ea typeface="微软雅黑" pitchFamily="34" charset="0"/>
              <a:sym typeface="+mn-ea"/>
            </a:endParaRPr>
          </a:p>
        </p:txBody>
      </p:sp>
      <p:sp>
        <p:nvSpPr>
          <p:cNvPr id="11" name="矩形 10"/>
          <p:cNvSpPr>
            <a:spLocks noGrp="1"/>
          </p:cNvSpPr>
          <p:nvPr/>
        </p:nvSpPr>
        <p:spPr>
          <a:xfrm>
            <a:off x="3010595" y="2986664"/>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异常校验</a:t>
            </a:r>
            <a:endParaRPr lang="zh-CN" altLang="en-US" sz="1000" b="1" dirty="0">
              <a:solidFill>
                <a:srgbClr val="33423A"/>
              </a:solidFill>
              <a:latin typeface="微软雅黑" pitchFamily="34" charset="0"/>
              <a:ea typeface="微软雅黑" pitchFamily="34" charset="0"/>
              <a:sym typeface="+mn-ea"/>
            </a:endParaRPr>
          </a:p>
        </p:txBody>
      </p:sp>
      <p:sp>
        <p:nvSpPr>
          <p:cNvPr id="15" name="矩形 14"/>
          <p:cNvSpPr>
            <a:spLocks noGrp="1"/>
          </p:cNvSpPr>
          <p:nvPr/>
        </p:nvSpPr>
        <p:spPr>
          <a:xfrm>
            <a:off x="1395311" y="3916996"/>
            <a:ext cx="1047115"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2442座完整档案</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22" name="矩形 21"/>
          <p:cNvSpPr>
            <a:spLocks noGrp="1"/>
          </p:cNvSpPr>
          <p:nvPr/>
        </p:nvSpPr>
        <p:spPr>
          <a:xfrm>
            <a:off x="1395311"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建设年份</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5" name="矩形 24"/>
          <p:cNvSpPr>
            <a:spLocks noGrp="1"/>
          </p:cNvSpPr>
          <p:nvPr/>
        </p:nvSpPr>
        <p:spPr>
          <a:xfrm>
            <a:off x="2573574" y="1325683"/>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部件状态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9" name="矩形 28"/>
          <p:cNvSpPr>
            <a:spLocks noGrp="1"/>
          </p:cNvSpPr>
          <p:nvPr/>
        </p:nvSpPr>
        <p:spPr>
          <a:xfrm>
            <a:off x="1395310" y="1691406"/>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维修历史</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2" name="矩形 31"/>
          <p:cNvSpPr>
            <a:spLocks noGrp="1"/>
          </p:cNvSpPr>
          <p:nvPr/>
        </p:nvSpPr>
        <p:spPr>
          <a:xfrm>
            <a:off x="3457677" y="132794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使用记录</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5" name="矩形 34"/>
          <p:cNvSpPr>
            <a:spLocks noGrp="1"/>
          </p:cNvSpPr>
          <p:nvPr/>
        </p:nvSpPr>
        <p:spPr>
          <a:xfrm>
            <a:off x="2565460" y="1693004"/>
            <a:ext cx="1645172"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管护评价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96" name="Text 2"/>
          <p:cNvSpPr/>
          <p:nvPr/>
        </p:nvSpPr>
        <p:spPr>
          <a:xfrm>
            <a:off x="163830" y="1327785"/>
            <a:ext cx="531495" cy="2153285"/>
          </a:xfrm>
          <a:prstGeom prst="rect">
            <a:avLst/>
          </a:prstGeom>
          <a:noFill/>
        </p:spPr>
        <p:txBody>
          <a:bodyPr vert="eaVert" wrap="square" lIns="0" tIns="0" rIns="0" bIns="0" rtlCol="0" anchor="ctr"/>
          <a:lstStyle/>
          <a:p>
            <a:pPr marL="0" indent="0">
              <a:buNone/>
            </a:pPr>
            <a:r>
              <a:rPr lang="zh-CN" altLang="en-US" sz="2000" b="1" kern="0" spc="50" dirty="0">
                <a:solidFill>
                  <a:srgbClr val="FFC000"/>
                </a:solidFill>
                <a:latin typeface="微软雅黑" pitchFamily="34" charset="0"/>
                <a:ea typeface="微软雅黑" pitchFamily="34" charset="0"/>
                <a:cs typeface="微软雅黑" pitchFamily="34" charset="-120"/>
              </a:rPr>
              <a:t>数据底座</a:t>
            </a:r>
            <a:r>
              <a:rPr lang="en-US" altLang="zh-CN" sz="2000" b="1" dirty="0">
                <a:solidFill>
                  <a:srgbClr val="FFC000"/>
                </a:solidFill>
                <a:effectLst/>
                <a:latin typeface="微软雅黑" pitchFamily="34" charset="0"/>
                <a:ea typeface="微软雅黑" pitchFamily="34" charset="0"/>
                <a:cs typeface="微软雅黑" pitchFamily="34" charset="0"/>
              </a:rPr>
              <a:t/>
            </a:r>
            <a:r>
              <a:rPr lang="zh-CN" altLang="en-US" sz="2000" b="1" kern="0" spc="50" dirty="0">
                <a:solidFill>
                  <a:srgbClr val="FFC000"/>
                </a:solidFill>
                <a:latin typeface="微软雅黑" pitchFamily="34" charset="0"/>
                <a:ea typeface="微软雅黑" pitchFamily="34" charset="0"/>
                <a:cs typeface="微软雅黑" pitchFamily="34" charset="-120"/>
              </a:rPr>
              <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846963" y="3481197"/>
            <a:ext cx="384048" cy="384048"/>
          </a:xfrm>
          <a:prstGeom prst="ellipse">
            <a:avLst/>
          </a:prstGeom>
          <a:solidFill>
            <a:srgbClr val="499B67"/>
          </a:solidFill>
        </p:spPr>
      </p:sp>
      <p:sp>
        <p:nvSpPr>
          <p:cNvPr id="2" name="Text 22"/>
          <p:cNvSpPr/>
          <p:nvPr/>
        </p:nvSpPr>
        <p:spPr>
          <a:xfrm>
            <a:off x="846963" y="348119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 name="Shape 11"/>
          <p:cNvSpPr/>
          <p:nvPr/>
        </p:nvSpPr>
        <p:spPr>
          <a:xfrm>
            <a:off x="846963" y="986957"/>
            <a:ext cx="384048" cy="384048"/>
          </a:xfrm>
          <a:prstGeom prst="ellipse">
            <a:avLst/>
          </a:prstGeom>
          <a:solidFill>
            <a:srgbClr val="173F2A"/>
          </a:solidFill>
        </p:spPr>
      </p:sp>
      <p:sp>
        <p:nvSpPr>
          <p:cNvPr id="7" name="Text 12"/>
          <p:cNvSpPr/>
          <p:nvPr/>
        </p:nvSpPr>
        <p:spPr>
          <a:xfrm>
            <a:off x="846963" y="98695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10" name="Shape 16"/>
          <p:cNvSpPr/>
          <p:nvPr/>
        </p:nvSpPr>
        <p:spPr>
          <a:xfrm>
            <a:off x="846963" y="2272156"/>
            <a:ext cx="384048" cy="384048"/>
          </a:xfrm>
          <a:prstGeom prst="ellipse">
            <a:avLst/>
          </a:prstGeom>
          <a:solidFill>
            <a:srgbClr val="2F7A4F"/>
          </a:solidFill>
        </p:spPr>
        <p:txBody>
          <a:bodyPr/>
          <a:p>
            <a:endParaRPr lang="zh-CN" altLang="en-US"/>
          </a:p>
        </p:txBody>
      </p:sp>
      <p:sp>
        <p:nvSpPr>
          <p:cNvPr id="13" name="Text 17"/>
          <p:cNvSpPr/>
          <p:nvPr/>
        </p:nvSpPr>
        <p:spPr>
          <a:xfrm>
            <a:off x="846963" y="227215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101" name="等腰三角形 100"/>
          <p:cNvSpPr/>
          <p:nvPr/>
        </p:nvSpPr>
        <p:spPr>
          <a:xfrm rot="10800000">
            <a:off x="2303780" y="202438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10800000">
            <a:off x="2338070" y="332422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0" y="141031"/>
            <a:ext cx="9144000" cy="645160"/>
          </a:xfrm>
          <a:prstGeom prst="rect">
            <a:avLst/>
          </a:prstGeom>
          <a:noFill/>
        </p:spPr>
        <p:txBody>
          <a:bodyPr wrap="square">
            <a:spAutoFit/>
          </a:bodyPr>
          <a:lstStyle/>
          <a:p>
            <a:pPr algn="ctr"/>
            <a:r>
              <a:rPr lang="en-US" altLang="zh-CN" sz="3600" b="1" dirty="0">
                <a:solidFill>
                  <a:srgbClr val="F1A63A"/>
                </a:solidFill>
                <a:effectLst/>
                <a:latin typeface="微软雅黑" pitchFamily="34" charset="0"/>
                <a:ea typeface="微软雅黑" pitchFamily="34" charset="0"/>
                <a:cs typeface="微软雅黑" pitchFamily="34" charset="0"/>
                <a:sym typeface="+mn-ea"/>
              </a:rPr>
              <a:t>1库  低代码采数 · 一房一档</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3" name="组合 22"/>
          <p:cNvGrpSpPr/>
          <p:nvPr/>
        </p:nvGrpSpPr>
        <p:grpSpPr>
          <a:xfrm flipV="1">
            <a:off x="600075" y="444709"/>
            <a:ext cx="7943849" cy="255680"/>
            <a:chOff x="1137172" y="327660"/>
            <a:chExt cx="9917656" cy="342102"/>
          </a:xfrm>
          <a:solidFill>
            <a:srgbClr val="02F3FE"/>
          </a:solidFill>
        </p:grpSpPr>
        <p:sp>
          <p:nvSpPr>
            <p:cNvPr id="26" name="平行四边形 25"/>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7" name="平行四边形 26"/>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1" name="平行四边形 30"/>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3" name="平行四边形 32"/>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6" name="直接连接符 35"/>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37" name="平行四边形 36"/>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9" name="平行四边形 38"/>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1" name="平行四边形 40"/>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3" name="平行四边形 42"/>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5" name="直接连接符 4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46" name="组合 45"/>
            <p:cNvGrpSpPr/>
            <p:nvPr/>
          </p:nvGrpSpPr>
          <p:grpSpPr>
            <a:xfrm>
              <a:off x="3648369" y="327660"/>
              <a:ext cx="4895262" cy="118835"/>
              <a:chOff x="-1626523" y="327660"/>
              <a:chExt cx="4895262" cy="118835"/>
            </a:xfrm>
            <a:grpFill/>
          </p:grpSpPr>
          <p:cxnSp>
            <p:nvCxnSpPr>
              <p:cNvPr id="47" name="直接连接符 46"/>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50" name="直接连接符 49"/>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54" name="直接连接符 5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79" name="文本框 78"/>
          <p:cNvSpPr txBox="1"/>
          <p:nvPr/>
        </p:nvSpPr>
        <p:spPr>
          <a:xfrm>
            <a:off x="774700" y="4760595"/>
            <a:ext cx="3061335" cy="337185"/>
          </a:xfrm>
          <a:prstGeom prst="rect">
            <a:avLst/>
          </a:prstGeom>
          <a:noFill/>
        </p:spPr>
        <p:txBody>
          <a:bodyPr wrap="square">
            <a:spAutoFit/>
          </a:bodyPr>
          <a:lstStyle/>
          <a:p>
            <a:pPr algn="ctr"/>
            <a:r>
              <a:rPr lang="en-US" altLang="zh-CN" sz="1600" b="1" dirty="0" err="1">
                <a:solidFill>
                  <a:schemeClr val="bg1"/>
                </a:solidFill>
                <a:latin typeface="黑体" charset="0"/>
                <a:ea typeface="黑体" charset="0"/>
                <a:cs typeface="黑体" charset="0"/>
                <a:sym typeface="+mn-ea"/>
              </a:rPr>
              <a:t>让模型的每一个判断，都有真实数据支撑</a:t>
            </a:r>
            <a:r>
              <a:rPr lang="zh-CN" altLang="en-US" sz="1600" b="1" dirty="0" err="1">
                <a:solidFill>
                  <a:schemeClr val="bg1"/>
                </a:solidFill>
                <a:latin typeface="黑体" charset="0"/>
                <a:ea typeface="黑体" charset="0"/>
                <a:cs typeface="黑体" charset="0"/>
                <a:sym typeface="+mn-ea"/>
              </a:rPr>
              <a:t/>
            </a:r>
            <a:r>
              <a:rPr lang="en-US" altLang="zh-CN" sz="1600" b="1" dirty="0" err="1">
                <a:solidFill>
                  <a:schemeClr val="bg1"/>
                </a:solidFill>
                <a:latin typeface="黑体" charset="0"/>
                <a:ea typeface="黑体" charset="0"/>
                <a:cs typeface="黑体" charset="0"/>
                <a:sym typeface="+mn-ea"/>
              </a:rPr>
              <a:t/>
            </a:r>
            <a:r>
              <a:rPr lang="en-US" altLang="zh-CN" sz="1600" b="1" dirty="0">
                <a:solidFill>
                  <a:schemeClr val="bg1"/>
                </a:solidFill>
                <a:latin typeface="黑体" charset="0"/>
                <a:ea typeface="黑体" charset="0"/>
                <a:cs typeface="黑体" charset="0"/>
                <a:sym typeface="+mn-ea"/>
              </a:rPr>
              <a:t/>
            </a:r>
            <a:r>
              <a:rPr lang="en-US" altLang="zh-CN" sz="1600" b="1" dirty="0">
                <a:solidFill>
                  <a:schemeClr val="accent6">
                    <a:lumMod val="60000"/>
                    <a:lumOff val="40000"/>
                  </a:schemeClr>
                </a:solidFill>
                <a:latin typeface="黑体" charset="0"/>
                <a:ea typeface="黑体" charset="0"/>
                <a:cs typeface="黑体" charset="0"/>
                <a:sym typeface="+mn-ea"/>
              </a:rPr>
              <a:t/>
            </a:r>
            <a:r>
              <a:rPr lang="en-US" altLang="zh-CN" sz="1600" b="1" dirty="0" err="1">
                <a:solidFill>
                  <a:schemeClr val="accent6">
                    <a:lumMod val="60000"/>
                    <a:lumOff val="40000"/>
                  </a:schemeClr>
                </a:solidFill>
                <a:latin typeface="黑体" charset="0"/>
                <a:ea typeface="黑体" charset="0"/>
                <a:cs typeface="黑体" charset="0"/>
                <a:sym typeface="+mn-ea"/>
              </a:rPr>
              <a:t/>
            </a:r>
            <a:r>
              <a:rPr lang="en-US" altLang="zh-CN" sz="1600" b="1" dirty="0">
                <a:solidFill>
                  <a:schemeClr val="accent6">
                    <a:lumMod val="60000"/>
                    <a:lumOff val="40000"/>
                  </a:schemeClr>
                </a:solidFill>
                <a:latin typeface="黑体" charset="0"/>
                <a:ea typeface="黑体" charset="0"/>
                <a:cs typeface="黑体" charset="0"/>
                <a:sym typeface="+mn-ea"/>
              </a:rPr>
              <a:t/>
            </a:r>
            <a:endParaRPr lang="zh-CN" altLang="en-US" sz="1200" dirty="0">
              <a:solidFill>
                <a:schemeClr val="accent6">
                  <a:lumMod val="60000"/>
                  <a:lumOff val="40000"/>
                </a:schemeClr>
              </a:solidFill>
              <a:latin typeface="黑体" charset="0"/>
              <a:ea typeface="黑体" charset="0"/>
              <a:cs typeface="黑体" charset="0"/>
            </a:endParaRPr>
          </a:p>
        </p:txBody>
      </p:sp>
      <p:sp>
        <p:nvSpPr>
          <p:cNvPr id="102" name="Rounded Rectangle 101"/>
          <p:cNvSpPr/>
          <p:nvPr/>
        </p:nvSpPr>
        <p:spPr>
          <a:xfrm>
            <a:off x="4800600" y="1033271"/>
            <a:ext cx="2011680" cy="333756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Picture 102" descr="image.jpeg"/>
          <p:cNvPicPr>
            <a:picLocks noChangeAspect="1"/>
          </p:cNvPicPr>
          <p:nvPr/>
        </p:nvPicPr>
        <p:blipFill>
          <a:blip r:embed="rId1"/>
          <a:stretch>
            <a:fillRect/>
          </a:stretch>
        </p:blipFill>
        <p:spPr>
          <a:xfrm>
            <a:off x="4919472" y="1143000"/>
            <a:ext cx="1773936" cy="3090672"/>
          </a:xfrm>
          <a:prstGeom prst="rect">
            <a:avLst/>
          </a:prstGeom>
        </p:spPr>
      </p:pic>
      <p:sp>
        <p:nvSpPr>
          <p:cNvPr id="104" name="TextBox 103"/>
          <p:cNvSpPr txBox="1"/>
          <p:nvPr/>
        </p:nvSpPr>
        <p:spPr>
          <a:xfrm>
            <a:off x="7059168" y="1371600"/>
            <a:ext cx="1325880" cy="310896"/>
          </a:xfrm>
          <a:prstGeom prst="rect">
            <a:avLst/>
          </a:prstGeom>
          <a:noFill/>
        </p:spPr>
        <p:txBody>
          <a:bodyPr wrap="none">
            <a:spAutoFit/>
          </a:bodyPr>
          <a:lstStyle/>
          <a:p>
            <a:pPr algn="l"/>
            <a:r>
              <a:rPr sz="1700" b="1">
                <a:solidFill>
                  <a:srgbClr val="FFCB00"/>
                </a:solidFill>
                <a:latin typeface="Microsoft YaHei"/>
              </a:rPr>
              <a:t>低代码采数</a:t>
            </a:r>
          </a:p>
        </p:txBody>
      </p:sp>
      <p:sp>
        <p:nvSpPr>
          <p:cNvPr id="105" name="TextBox 104"/>
          <p:cNvSpPr txBox="1"/>
          <p:nvPr/>
        </p:nvSpPr>
        <p:spPr>
          <a:xfrm>
            <a:off x="6995160" y="1874519"/>
            <a:ext cx="1508760" cy="777240"/>
          </a:xfrm>
          <a:prstGeom prst="rect">
            <a:avLst/>
          </a:prstGeom>
          <a:noFill/>
        </p:spPr>
        <p:txBody>
          <a:bodyPr wrap="none">
            <a:spAutoFit/>
          </a:bodyPr>
          <a:lstStyle/>
          <a:p>
            <a:pPr algn="ctr"/>
            <a:r>
              <a:rPr sz="2100" b="1">
                <a:solidFill>
                  <a:srgbClr val="FFFFFF"/>
                </a:solidFill>
                <a:latin typeface="Microsoft YaHei"/>
              </a:rPr>
              <a:t>一次建档
持续回写</a:t>
            </a:r>
          </a:p>
        </p:txBody>
      </p:sp>
    </p:spTree>
  </p:cSld>
  <p:clrMapOvr>
    <a:masterClrMapping/>
  </p:clrMapOvr>
  <mc:AlternateContent xmlns:mc="http://schemas.openxmlformats.org/markup-compatibility/2006">
    <mc:Choice xmlns:p14="http://schemas.microsoft.com/office/powerpoint/2010/main" Requires="p14">
      <p:transition spd="slow" p14:dur="2000" advTm="22109">
        <p14:ferris dir="l"/>
      </p:transition>
    </mc:Choice>
    <mc:Fallback>
      <p:transition spd="slow" advTm="2210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strips(downLeft)">
                                      <p:cBhvr>
                                        <p:cTn id="7" dur="500"/>
                                        <p:tgtEl>
                                          <p:spTgt spid="49"/>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2.77778E-6 -2.59259E-6 L -2.77778E-6 -0.56636 " pathEditMode="relative" rAng="0" ptsTypes="AA">
                                      <p:cBhvr>
                                        <p:cTn id="10" dur="2000" fill="hold"/>
                                        <p:tgtEl>
                                          <p:spTgt spid="70"/>
                                        </p:tgtEl>
                                        <p:attrNameLst>
                                          <p:attrName>ppt_x</p:attrName>
                                          <p:attrName>ppt_y</p:attrName>
                                        </p:attrNameLst>
                                      </p:cBhvr>
                                      <p:rCtr x="0" y="-28333"/>
                                    </p:animMotion>
                                  </p:childTnLst>
                                </p:cTn>
                              </p:par>
                            </p:childTnLst>
                          </p:cTn>
                        </p:par>
                        <p:par>
                          <p:cTn id="11" fill="hold">
                            <p:stCondLst>
                              <p:cond delay="2500"/>
                            </p:stCondLst>
                            <p:childTnLst>
                              <p:par>
                                <p:cTn id="12" presetID="27" presetClass="emph" presetSubtype="0" repeatCount="indefinite" fill="remove" grpId="0" nodeType="afterEffect">
                                  <p:stCondLst>
                                    <p:cond delay="0"/>
                                  </p:stCondLst>
                                  <p:endCondLst>
                                    <p:cond evt="onNext" delay="0">
                                      <p:tgtEl>
                                        <p:sldTgt/>
                                      </p:tgtEl>
                                    </p:cond>
                                  </p:endCondLst>
                                  <p:childTnLst>
                                    <p:animClr clrSpc="rgb" dir="cw">
                                      <p:cBhvr override="childStyle">
                                        <p:cTn id="13" dur="250" autoRev="1" fill="remove"/>
                                        <p:tgtEl>
                                          <p:spTgt spid="52"/>
                                        </p:tgtEl>
                                        <p:attrNameLst>
                                          <p:attrName>style.color</p:attrName>
                                        </p:attrNameLst>
                                      </p:cBhvr>
                                      <p:to>
                                        <a:srgbClr val="FFFF00"/>
                                      </p:to>
                                    </p:animClr>
                                    <p:animClr clrSpc="rgb" dir="cw">
                                      <p:cBhvr>
                                        <p:cTn id="14" dur="250" autoRev="1" fill="remove"/>
                                        <p:tgtEl>
                                          <p:spTgt spid="52"/>
                                        </p:tgtEl>
                                        <p:attrNameLst>
                                          <p:attrName>fillcolor</p:attrName>
                                        </p:attrNameLst>
                                      </p:cBhvr>
                                      <p:to>
                                        <a:srgbClr val="FFFF00"/>
                                      </p:to>
                                    </p:animClr>
                                    <p:set>
                                      <p:cBhvr>
                                        <p:cTn id="15" dur="250" autoRev="1" fill="remove"/>
                                        <p:tgtEl>
                                          <p:spTgt spid="52"/>
                                        </p:tgtEl>
                                        <p:attrNameLst>
                                          <p:attrName>fill.type</p:attrName>
                                        </p:attrNameLst>
                                      </p:cBhvr>
                                      <p:to>
                                        <p:strVal val="solid"/>
                                      </p:to>
                                    </p:set>
                                    <p:set>
                                      <p:cBhvr>
                                        <p:cTn id="16" dur="250" autoRev="1" fill="remove"/>
                                        <p:tgtEl>
                                          <p:spTgt spid="52"/>
                                        </p:tgtEl>
                                        <p:attrNameLst>
                                          <p:attrName>fill.on</p:attrName>
                                        </p:attrNameLst>
                                      </p:cBhvr>
                                      <p:to>
                                        <p:strVal val="true"/>
                                      </p:to>
                                    </p:set>
                                  </p:childTnLst>
                                </p:cTn>
                              </p:par>
                            </p:childTnLst>
                          </p:cTn>
                        </p:par>
                        <p:par>
                          <p:cTn id="17" fill="hold">
                            <p:stCondLst>
                              <p:cond delay="3000"/>
                            </p:stCondLst>
                            <p:childTnLst>
                              <p:par>
                                <p:cTn id="18" presetID="2" presetClass="entr" presetSubtype="1" fill="hold" grpId="0" nodeType="afterEffect">
                                  <p:stCondLst>
                                    <p:cond delay="0"/>
                                  </p:stCondLst>
                                  <p:childTnLst>
                                    <p:set>
                                      <p:cBhvr>
                                        <p:cTn id="19" dur="1" fill="hold">
                                          <p:stCondLst>
                                            <p:cond delay="0"/>
                                          </p:stCondLst>
                                        </p:cTn>
                                        <p:tgtEl>
                                          <p:spTgt spid="101"/>
                                        </p:tgtEl>
                                        <p:attrNameLst>
                                          <p:attrName>style.visibility</p:attrName>
                                        </p:attrNameLst>
                                      </p:cBhvr>
                                      <p:to>
                                        <p:strVal val="visible"/>
                                      </p:to>
                                    </p:set>
                                    <p:anim calcmode="lin" valueType="num">
                                      <p:cBhvr additive="base">
                                        <p:cTn id="20" dur="500" fill="hold"/>
                                        <p:tgtEl>
                                          <p:spTgt spid="101"/>
                                        </p:tgtEl>
                                        <p:attrNameLst>
                                          <p:attrName>ppt_x</p:attrName>
                                        </p:attrNameLst>
                                      </p:cBhvr>
                                      <p:tavLst>
                                        <p:tav tm="0">
                                          <p:val>
                                            <p:strVal val="#ppt_x"/>
                                          </p:val>
                                        </p:tav>
                                        <p:tav tm="100000">
                                          <p:val>
                                            <p:strVal val="#ppt_x"/>
                                          </p:val>
                                        </p:tav>
                                      </p:tavLst>
                                    </p:anim>
                                    <p:anim calcmode="lin" valueType="num">
                                      <p:cBhvr additive="base">
                                        <p:cTn id="21" dur="500" fill="hold"/>
                                        <p:tgtEl>
                                          <p:spTgt spid="101"/>
                                        </p:tgtEl>
                                        <p:attrNameLst>
                                          <p:attrName>ppt_y</p:attrName>
                                        </p:attrNameLst>
                                      </p:cBhvr>
                                      <p:tavLst>
                                        <p:tav tm="0">
                                          <p:val>
                                            <p:strVal val="0-#ppt_h/2"/>
                                          </p:val>
                                        </p:tav>
                                        <p:tav tm="100000">
                                          <p:val>
                                            <p:strVal val="#ppt_y"/>
                                          </p:val>
                                        </p:tav>
                                      </p:tavLst>
                                    </p:anim>
                                  </p:childTnLst>
                                </p:cTn>
                              </p:par>
                            </p:childTnLst>
                          </p:cTn>
                        </p:par>
                        <p:par>
                          <p:cTn id="22" fill="hold">
                            <p:stCondLst>
                              <p:cond delay="3500"/>
                            </p:stCondLst>
                            <p:childTnLst>
                              <p:par>
                                <p:cTn id="23" presetID="2" presetClass="exit" presetSubtype="4" fill="hold" grpId="1" nodeType="afterEffect">
                                  <p:stCondLst>
                                    <p:cond delay="0"/>
                                  </p:stCondLst>
                                  <p:childTnLst>
                                    <p:anim calcmode="lin" valueType="num">
                                      <p:cBhvr additive="base">
                                        <p:cTn id="24" dur="500"/>
                                        <p:tgtEl>
                                          <p:spTgt spid="101"/>
                                        </p:tgtEl>
                                        <p:attrNameLst>
                                          <p:attrName>ppt_x</p:attrName>
                                        </p:attrNameLst>
                                      </p:cBhvr>
                                      <p:tavLst>
                                        <p:tav tm="0">
                                          <p:val>
                                            <p:strVal val="ppt_x"/>
                                          </p:val>
                                        </p:tav>
                                        <p:tav tm="100000">
                                          <p:val>
                                            <p:strVal val="ppt_x"/>
                                          </p:val>
                                        </p:tav>
                                      </p:tavLst>
                                    </p:anim>
                                    <p:anim calcmode="lin" valueType="num">
                                      <p:cBhvr additive="base">
                                        <p:cTn id="25" dur="500"/>
                                        <p:tgtEl>
                                          <p:spTgt spid="101"/>
                                        </p:tgtEl>
                                        <p:attrNameLst>
                                          <p:attrName>ppt_y</p:attrName>
                                        </p:attrNameLst>
                                      </p:cBhvr>
                                      <p:tavLst>
                                        <p:tav tm="0">
                                          <p:val>
                                            <p:strVal val="ppt_y"/>
                                          </p:val>
                                        </p:tav>
                                        <p:tav tm="100000">
                                          <p:val>
                                            <p:strVal val="1+ppt_h/2"/>
                                          </p:val>
                                        </p:tav>
                                      </p:tavLst>
                                    </p:anim>
                                    <p:set>
                                      <p:cBhvr>
                                        <p:cTn id="26" dur="1" fill="hold">
                                          <p:stCondLst>
                                            <p:cond delay="499"/>
                                          </p:stCondLst>
                                        </p:cTn>
                                        <p:tgtEl>
                                          <p:spTgt spid="101"/>
                                        </p:tgtEl>
                                        <p:attrNameLst>
                                          <p:attrName>style.visibility</p:attrName>
                                        </p:attrNameLst>
                                      </p:cBhvr>
                                      <p:to>
                                        <p:strVal val="hidden"/>
                                      </p:to>
                                    </p:set>
                                  </p:childTnLst>
                                </p:cTn>
                              </p:par>
                            </p:childTnLst>
                          </p:cTn>
                        </p:par>
                        <p:par>
                          <p:cTn id="27" fill="hold">
                            <p:stCondLst>
                              <p:cond delay="4000"/>
                            </p:stCondLst>
                            <p:childTnLst>
                              <p:par>
                                <p:cTn id="28" presetID="2" presetClass="entr" presetSubtype="1"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0-#ppt_h/2"/>
                                          </p:val>
                                        </p:tav>
                                        <p:tav tm="100000">
                                          <p:val>
                                            <p:strVal val="#ppt_y"/>
                                          </p:val>
                                        </p:tav>
                                      </p:tavLst>
                                    </p:anim>
                                  </p:childTnLst>
                                </p:cTn>
                              </p:par>
                            </p:childTnLst>
                          </p:cTn>
                        </p:par>
                        <p:par>
                          <p:cTn id="32" fill="hold">
                            <p:stCondLst>
                              <p:cond delay="4500"/>
                            </p:stCondLst>
                            <p:childTnLst>
                              <p:par>
                                <p:cTn id="33" presetID="2" presetClass="exit" presetSubtype="4" fill="hold" grpId="1" nodeType="afterEffect">
                                  <p:stCondLst>
                                    <p:cond delay="0"/>
                                  </p:stCondLst>
                                  <p:childTnLst>
                                    <p:anim calcmode="lin" valueType="num">
                                      <p:cBhvr additive="base">
                                        <p:cTn id="34" dur="500"/>
                                        <p:tgtEl>
                                          <p:spTgt spid="19"/>
                                        </p:tgtEl>
                                        <p:attrNameLst>
                                          <p:attrName>ppt_x</p:attrName>
                                        </p:attrNameLst>
                                      </p:cBhvr>
                                      <p:tavLst>
                                        <p:tav tm="0">
                                          <p:val>
                                            <p:strVal val="ppt_x"/>
                                          </p:val>
                                        </p:tav>
                                        <p:tav tm="100000">
                                          <p:val>
                                            <p:strVal val="ppt_x"/>
                                          </p:val>
                                        </p:tav>
                                      </p:tavLst>
                                    </p:anim>
                                    <p:anim calcmode="lin" valueType="num">
                                      <p:cBhvr additive="base">
                                        <p:cTn id="35" dur="500"/>
                                        <p:tgtEl>
                                          <p:spTgt spid="19"/>
                                        </p:tgtEl>
                                        <p:attrNameLst>
                                          <p:attrName>ppt_y</p:attrName>
                                        </p:attrNameLst>
                                      </p:cBhvr>
                                      <p:tavLst>
                                        <p:tav tm="0">
                                          <p:val>
                                            <p:strVal val="ppt_y"/>
                                          </p:val>
                                        </p:tav>
                                        <p:tav tm="100000">
                                          <p:val>
                                            <p:strVal val="1+ppt_h/2"/>
                                          </p:val>
                                        </p:tav>
                                      </p:tavLst>
                                    </p:anim>
                                    <p:set>
                                      <p:cBhvr>
                                        <p:cTn id="36" dur="1" fill="hold">
                                          <p:stCondLst>
                                            <p:cond delay="499"/>
                                          </p:stCondLst>
                                        </p:cTn>
                                        <p:tgtEl>
                                          <p:spTgt spid="19"/>
                                        </p:tgtEl>
                                        <p:attrNameLst>
                                          <p:attrName>style.visibility</p:attrName>
                                        </p:attrNameLst>
                                      </p:cBhvr>
                                      <p:to>
                                        <p:strVal val="hidden"/>
                                      </p:to>
                                    </p:se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500" fill="hold">
                                          <p:stCondLst>
                                            <p:cond delay="0"/>
                                          </p:stCondLst>
                                        </p:cTn>
                                        <p:tgtEl>
                                          <p:spTgt spid="79"/>
                                        </p:tgtEl>
                                        <p:attrNameLst>
                                          <p:attrName>style.visibility</p:attrName>
                                        </p:attrNameLst>
                                      </p:cBhvr>
                                      <p:to>
                                        <p:strVal val="visible"/>
                                      </p:to>
                                    </p:set>
                                    <p:animEffect transition="in" filter="fade">
                                      <p:cBhvr>
                                        <p:cTn id="40" dur="500"/>
                                        <p:tgtEl>
                                          <p:spTgt spid="79"/>
                                        </p:tgtEl>
                                      </p:cBhvr>
                                    </p:animEffect>
                                    <p:anim calcmode="lin" valueType="num">
                                      <p:cBhvr>
                                        <p:cTn id="41" dur="500" fill="hold"/>
                                        <p:tgtEl>
                                          <p:spTgt spid="79"/>
                                        </p:tgtEl>
                                        <p:attrNameLst>
                                          <p:attrName>ppt_x</p:attrName>
                                        </p:attrNameLst>
                                      </p:cBhvr>
                                      <p:tavLst>
                                        <p:tav tm="0">
                                          <p:val>
                                            <p:strVal val="#ppt_x"/>
                                          </p:val>
                                        </p:tav>
                                        <p:tav tm="100000">
                                          <p:val>
                                            <p:strVal val="#ppt_x"/>
                                          </p:val>
                                        </p:tav>
                                      </p:tavLst>
                                    </p:anim>
                                    <p:anim calcmode="lin" valueType="num">
                                      <p:cBhvr>
                                        <p:cTn id="42" dur="5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2" grpId="0" bldLvl="0" animBg="1"/>
      <p:bldP spid="101" grpId="0" bldLvl="0" animBg="1"/>
      <p:bldP spid="101" grpId="1" bldLvl="0" animBg="1"/>
      <p:bldP spid="19" grpId="0" bldLvl="0" animBg="1"/>
      <p:bldP spid="19" grpId="1" bldLvl="0" animBg="1"/>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7"/>
          <p:cNvSpPr/>
          <p:nvPr/>
        </p:nvSpPr>
        <p:spPr bwMode="auto">
          <a:xfrm>
            <a:off x="4501515" y="1151890"/>
            <a:ext cx="1965960" cy="92138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31" name="文本框 30"/>
          <p:cNvSpPr txBox="1"/>
          <p:nvPr/>
        </p:nvSpPr>
        <p:spPr>
          <a:xfrm>
            <a:off x="4650105" y="1722755"/>
            <a:ext cx="1736090" cy="323850"/>
          </a:xfrm>
          <a:prstGeom prst="rect">
            <a:avLst/>
          </a:prstGeom>
          <a:noFill/>
        </p:spPr>
        <p:txBody>
          <a:bodyPr wrap="square">
            <a:no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全量入库并完成健康评价</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33" name="文本框 32"/>
          <p:cNvSpPr txBox="1"/>
          <p:nvPr/>
        </p:nvSpPr>
        <p:spPr>
          <a:xfrm>
            <a:off x="4650064" y="1197873"/>
            <a:ext cx="1735915" cy="553085"/>
          </a:xfrm>
          <a:prstGeom prst="rect">
            <a:avLst/>
          </a:prstGeom>
          <a:noFill/>
        </p:spPr>
        <p:txBody>
          <a:bodyPr wrap="square">
            <a:spAutoFit/>
          </a:bodyPr>
          <a:lstStyle/>
          <a:p>
            <a:pPr algn="ctr"/>
            <a:r>
              <a:rPr lang="en-US" sz="3000" b="1" kern="0" spc="50" dirty="0">
                <a:solidFill>
                  <a:srgbClr val="FFC000"/>
                </a:solidFill>
                <a:latin typeface="微软雅黑" pitchFamily="34" charset="0"/>
                <a:ea typeface="微软雅黑" pitchFamily="34" charset="-122"/>
                <a:cs typeface="微软雅黑" pitchFamily="34" charset="-120"/>
                <a:sym typeface="+mn-ea"/>
              </a:rPr>
              <a:t>2442座</a:t>
            </a:r>
            <a:r>
              <a:rPr lang="en-US" altLang="zh-CN" sz="3000" b="1" kern="0" spc="50" dirty="0">
                <a:solidFill>
                  <a:srgbClr val="FFC000"/>
                </a:solidFill>
                <a:latin typeface="微软雅黑" pitchFamily="34" charset="0"/>
                <a:ea typeface="微软雅黑" pitchFamily="34" charset="-122"/>
                <a:cs typeface="微软雅黑" pitchFamily="34" charset="-120"/>
              </a:rPr>
              <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37" name="Shape 7"/>
          <p:cNvSpPr/>
          <p:nvPr/>
        </p:nvSpPr>
        <p:spPr bwMode="auto">
          <a:xfrm>
            <a:off x="6567170" y="1864360"/>
            <a:ext cx="2390140" cy="91249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43" name="文本框 42"/>
          <p:cNvSpPr txBox="1"/>
          <p:nvPr/>
        </p:nvSpPr>
        <p:spPr>
          <a:xfrm>
            <a:off x="6679565" y="2431415"/>
            <a:ext cx="2046605" cy="252730"/>
          </a:xfrm>
          <a:prstGeom prst="rect">
            <a:avLst/>
          </a:prstGeom>
          <a:noFill/>
        </p:spPr>
        <p:txBody>
          <a:bodyPr wrap="square">
            <a:sp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综合满意度</a:t>
            </a:r>
            <a:r>
              <a:rPr lang="en-US" sz="1050" b="1" kern="0" spc="50" dirty="0">
                <a:solidFill>
                  <a:schemeClr val="bg1"/>
                </a:solidFill>
                <a:latin typeface="微软雅黑" pitchFamily="34" charset="0"/>
                <a:ea typeface="微软雅黑" pitchFamily="34" charset="-122"/>
                <a:cs typeface="微软雅黑" pitchFamily="34" charset="-120"/>
                <a:sym typeface="+mn-ea"/>
              </a:rPr>
              <a:t/>
            </a:r>
            <a:r>
              <a:rPr lang="zh-CN" altLang="en-US" sz="1050" b="1" kern="0" spc="50" dirty="0">
                <a:solidFill>
                  <a:schemeClr val="bg1"/>
                </a:solidFill>
                <a:latin typeface="微软雅黑" pitchFamily="34" charset="0"/>
                <a:ea typeface="微软雅黑" pitchFamily="34" charset="-122"/>
                <a:cs typeface="微软雅黑" pitchFamily="34" charset="-120"/>
                <a:sym typeface="+mn-ea"/>
              </a:rPr>
              <a:t/>
            </a:r>
            <a:r>
              <a:rPr lang="zh-CN" altLang="en-US" sz="1050" b="1" kern="0" spc="50" dirty="0">
                <a:solidFill>
                  <a:schemeClr val="bg1"/>
                </a:solidFill>
                <a:latin typeface="微软雅黑" pitchFamily="34" charset="0"/>
                <a:ea typeface="微软雅黑" pitchFamily="34" charset="-122"/>
                <a:cs typeface="微软雅黑" pitchFamily="34" charset="-120"/>
                <a:sym typeface="+mn-ea"/>
              </a:rPr>
              <a:t/>
            </a:r>
            <a:endParaRPr lang="zh-CN" altLang="en-US" sz="1050" b="1" kern="0" spc="50" dirty="0">
              <a:solidFill>
                <a:schemeClr val="bg1"/>
              </a:solidFill>
              <a:latin typeface="微软雅黑" pitchFamily="34" charset="0"/>
              <a:ea typeface="微软雅黑" pitchFamily="34" charset="-122"/>
              <a:cs typeface="微软雅黑" pitchFamily="34" charset="-120"/>
              <a:sym typeface="+mn-ea"/>
            </a:endParaRPr>
          </a:p>
        </p:txBody>
      </p:sp>
      <p:sp>
        <p:nvSpPr>
          <p:cNvPr id="47" name="文本框 46"/>
          <p:cNvSpPr txBox="1"/>
          <p:nvPr/>
        </p:nvSpPr>
        <p:spPr>
          <a:xfrm>
            <a:off x="6567805" y="1910080"/>
            <a:ext cx="2481580" cy="553085"/>
          </a:xfrm>
          <a:prstGeom prst="rect">
            <a:avLst/>
          </a:prstGeom>
          <a:noFill/>
        </p:spPr>
        <p:txBody>
          <a:bodyPr wrap="square">
            <a:spAutoFit/>
          </a:bodyPr>
          <a:lstStyle/>
          <a:p>
            <a:pPr algn="ctr"/>
            <a:r>
              <a:rPr lang="en-US" sz="3000" b="1" kern="0" spc="50" dirty="0">
                <a:solidFill>
                  <a:srgbClr val="FFC000"/>
                </a:solidFill>
                <a:latin typeface="微软雅黑" pitchFamily="34" charset="0"/>
                <a:ea typeface="微软雅黑" pitchFamily="34" charset="-122"/>
                <a:cs typeface="微软雅黑" pitchFamily="34" charset="-120"/>
                <a:sym typeface="+mn-ea"/>
              </a:rPr>
              <a:t>96.8%</a:t>
            </a:r>
            <a:r>
              <a:rPr lang="en-US" altLang="zh-CN" sz="3000" b="1" kern="0" spc="50" dirty="0">
                <a:solidFill>
                  <a:srgbClr val="FFC000"/>
                </a:solidFill>
                <a:latin typeface="微软雅黑" pitchFamily="34" charset="0"/>
                <a:ea typeface="微软雅黑" pitchFamily="34" charset="-122"/>
                <a:cs typeface="微软雅黑" pitchFamily="34" charset="-120"/>
              </a:rPr>
              <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2"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4"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7"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落地成效｜结果经得起数字验证</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8" name="文本框 47"/>
          <p:cNvSpPr txBox="1"/>
          <p:nvPr/>
        </p:nvSpPr>
        <p:spPr>
          <a:xfrm>
            <a:off x="154305" y="2214245"/>
            <a:ext cx="1397635" cy="715645"/>
          </a:xfrm>
          <a:prstGeom prst="rect">
            <a:avLst/>
          </a:prstGeom>
          <a:noFill/>
        </p:spPr>
        <p:txBody>
          <a:bodyPr vert="horz" wrap="square" rtlCol="0">
            <a:noAutofit/>
          </a:bodyPr>
          <a:lstStyle/>
          <a:p>
            <a:pPr algn="ctr"/>
            <a:r>
              <a:rPr sz="2000" b="1">
                <a:latin typeface="微软雅黑"/>
              </a:rPr>
              <a:t>过去</a:t>
            </a:r>
            <a:endParaRPr lang="zh-CN" altLang="en-US" sz="2000" b="1" dirty="0">
              <a:solidFill>
                <a:schemeClr val="bg1"/>
              </a:solidFill>
              <a:latin typeface="微软雅黑" pitchFamily="34" charset="-122"/>
              <a:ea typeface="微软雅黑" pitchFamily="34" charset="-122"/>
            </a:endParaRPr>
          </a:p>
          <a:p>
            <a:pPr algn="ctr"/>
            <a:r>
              <a:rPr sz="2000" b="1">
                <a:latin typeface="微软雅黑"/>
              </a:rPr>
              <a:t>经验分散</a:t>
            </a:r>
          </a:p>
        </p:txBody>
      </p:sp>
      <p:sp>
        <p:nvSpPr>
          <p:cNvPr id="49" name="箭头: 燕尾形 10"/>
          <p:cNvSpPr/>
          <p:nvPr/>
        </p:nvSpPr>
        <p:spPr>
          <a:xfrm>
            <a:off x="1343858" y="2340421"/>
            <a:ext cx="1587500" cy="463550"/>
          </a:xfrm>
          <a:prstGeom prst="notchedRightArrow">
            <a:avLst>
              <a:gd name="adj1" fmla="val 41780"/>
              <a:gd name="adj2" fmla="val 59589"/>
            </a:avLst>
          </a:prstGeom>
          <a:gradFill>
            <a:gsLst>
              <a:gs pos="1000">
                <a:srgbClr val="2DBEFF">
                  <a:alpha val="53000"/>
                </a:srgbClr>
              </a:gs>
              <a:gs pos="2000">
                <a:schemeClr val="accent4">
                  <a:alpha val="100000"/>
                </a:schemeClr>
              </a:gs>
              <a:gs pos="91000">
                <a:srgbClr val="2DBEFF">
                  <a:alpha val="2000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672715" y="2224405"/>
            <a:ext cx="1736090" cy="706755"/>
          </a:xfrm>
          <a:prstGeom prst="rect">
            <a:avLst/>
          </a:prstGeom>
          <a:noFill/>
        </p:spPr>
        <p:txBody>
          <a:bodyPr vert="horz" wrap="square" rtlCol="0">
            <a:spAutoFit/>
          </a:bodyPr>
          <a:lstStyle/>
          <a:p>
            <a:pPr algn="ctr"/>
            <a:r>
              <a:rPr sz="2000" b="1">
                <a:latin typeface="微软雅黑"/>
              </a:rPr>
              <a:t>现在</a:t>
            </a:r>
            <a:endParaRPr lang="zh-CN" altLang="en-US" sz="2000" b="1" dirty="0">
              <a:solidFill>
                <a:schemeClr val="bg1"/>
              </a:solidFill>
              <a:latin typeface="微软雅黑" pitchFamily="34" charset="-122"/>
              <a:ea typeface="微软雅黑" pitchFamily="34" charset="-122"/>
            </a:endParaRPr>
          </a:p>
          <a:p>
            <a:pPr algn="ctr"/>
            <a:r>
              <a:rPr sz="2000" b="1">
                <a:latin typeface="微软雅黑"/>
              </a:rPr>
              <a:t>数据决策</a:t>
            </a:r>
          </a:p>
        </p:txBody>
      </p:sp>
      <p:sp>
        <p:nvSpPr>
          <p:cNvPr id="51" name="文本框 50"/>
          <p:cNvSpPr txBox="1"/>
          <p:nvPr/>
        </p:nvSpPr>
        <p:spPr>
          <a:xfrm>
            <a:off x="1863463" y="2214405"/>
            <a:ext cx="357790" cy="715581"/>
          </a:xfrm>
          <a:prstGeom prst="rect">
            <a:avLst/>
          </a:prstGeom>
          <a:noFill/>
        </p:spPr>
        <p:txBody>
          <a:bodyPr wrap="none" rtlCol="0">
            <a:spAutoFit/>
          </a:bodyPr>
          <a:lstStyle/>
          <a:p>
            <a:pPr/>
            <a:r>
              <a:rPr b="1">
                <a:latin typeface="微软雅黑"/>
              </a:rPr>
              <a:t>转</a:t>
            </a:r>
            <a:endParaRPr lang="en-US" altLang="zh-CN" b="1" dirty="0">
              <a:solidFill>
                <a:schemeClr val="bg1"/>
              </a:solidFill>
              <a:latin typeface="微软雅黑" pitchFamily="34" charset="-122"/>
              <a:ea typeface="微软雅黑" pitchFamily="34" charset="-122"/>
            </a:endParaRPr>
          </a:p>
          <a:p>
            <a:pPr/>
            <a:r>
              <a:rPr b="1">
                <a:latin typeface="微软雅黑"/>
              </a:rPr>
              <a:t/>
            </a:r>
          </a:p>
          <a:p>
            <a:pPr/>
            <a:r>
              <a:rPr b="1">
                <a:latin typeface="微软雅黑"/>
              </a:rPr>
              <a:t>变</a:t>
            </a:r>
          </a:p>
        </p:txBody>
      </p:sp>
      <p:sp>
        <p:nvSpPr>
          <p:cNvPr id="3" name="Shape 7"/>
          <p:cNvSpPr/>
          <p:nvPr/>
        </p:nvSpPr>
        <p:spPr bwMode="auto">
          <a:xfrm>
            <a:off x="4487810" y="2903714"/>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5" name="文本框 4"/>
          <p:cNvSpPr txBox="1"/>
          <p:nvPr/>
        </p:nvSpPr>
        <p:spPr>
          <a:xfrm>
            <a:off x="4636346" y="3402144"/>
            <a:ext cx="1741786" cy="284693"/>
          </a:xfrm>
          <a:prstGeom prst="rect">
            <a:avLst/>
          </a:prstGeom>
          <a:noFill/>
        </p:spPr>
        <p:txBody>
          <a:bodyPr wrap="square">
            <a:spAutoFit/>
          </a:bodyPr>
          <a:lstStyle/>
          <a:p>
            <a:pPr marL="0" indent="0" algn="ctr">
              <a:buNone/>
            </a:pPr>
            <a:r>
              <a:rPr lang="zh-CN" altLang="en-US" sz="1250" b="1" dirty="0">
                <a:solidFill>
                  <a:schemeClr val="bg1"/>
                </a:solidFill>
                <a:latin typeface="微软雅黑" pitchFamily="34" charset="0"/>
                <a:ea typeface="微软雅黑" pitchFamily="34" charset="-122"/>
                <a:cs typeface="微软雅黑" pitchFamily="34" charset="-120"/>
              </a:rPr>
              <a:t>合作社统筹管护</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6" name="文本框 5"/>
          <p:cNvSpPr txBox="1"/>
          <p:nvPr/>
        </p:nvSpPr>
        <p:spPr>
          <a:xfrm>
            <a:off x="4636346" y="2949384"/>
            <a:ext cx="1741786" cy="553085"/>
          </a:xfrm>
          <a:prstGeom prst="rect">
            <a:avLst/>
          </a:prstGeom>
          <a:noFill/>
        </p:spPr>
        <p:txBody>
          <a:bodyPr wrap="square">
            <a:spAutoFit/>
          </a:bodyPr>
          <a:lstStyle/>
          <a:p>
            <a:pPr algn="ctr"/>
            <a:r>
              <a:rPr lang="zh-CN" sz="3000" b="1">
                <a:solidFill>
                  <a:srgbClr val="FFC000"/>
                </a:solidFill>
                <a:sym typeface="+mn-ea"/>
              </a:rPr>
              <a:t>81%</a:t>
            </a:r>
            <a:endParaRPr lang="zh-CN" sz="3000" b="1">
              <a:solidFill>
                <a:srgbClr val="FFC000"/>
              </a:solidFill>
              <a:sym typeface="+mn-ea"/>
            </a:endParaRPr>
          </a:p>
        </p:txBody>
      </p:sp>
      <p:sp>
        <p:nvSpPr>
          <p:cNvPr id="8" name="Shape 7"/>
          <p:cNvSpPr/>
          <p:nvPr/>
        </p:nvSpPr>
        <p:spPr bwMode="auto">
          <a:xfrm>
            <a:off x="6679195" y="3402554"/>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9" name="文本框 8"/>
          <p:cNvSpPr txBox="1"/>
          <p:nvPr/>
        </p:nvSpPr>
        <p:spPr>
          <a:xfrm>
            <a:off x="6827731" y="3900984"/>
            <a:ext cx="1735916" cy="283210"/>
          </a:xfrm>
          <a:prstGeom prst="rect">
            <a:avLst/>
          </a:prstGeom>
          <a:noFill/>
        </p:spPr>
        <p:txBody>
          <a:bodyPr wrap="square">
            <a:spAutoFit/>
          </a:bodyPr>
          <a:lstStyle/>
          <a:p>
            <a:pPr algn="ctr"/>
            <a:r>
              <a:rPr lang="zh-CN" altLang="en-US" sz="1250" b="1" dirty="0">
                <a:solidFill>
                  <a:schemeClr val="bg1"/>
                </a:solidFill>
                <a:latin typeface="微软雅黑" pitchFamily="34" charset="0"/>
                <a:ea typeface="微软雅黑" pitchFamily="34" charset="-122"/>
                <a:cs typeface="微软雅黑" pitchFamily="34" charset="-120"/>
              </a:rPr>
              <a:t>管护基金累计</a:t>
            </a:r>
            <a:r>
              <a:rPr lang="zh-CN" altLang="en-US" sz="1250" b="1" dirty="0">
                <a:solidFill>
                  <a:schemeClr val="bg1"/>
                </a:solidFill>
                <a:latin typeface="微软雅黑" pitchFamily="34" charset="0"/>
                <a:ea typeface="微软雅黑" pitchFamily="34" charset="-122"/>
                <a:cs typeface="微软雅黑" pitchFamily="34" charset="-120"/>
              </a:rPr>
              <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10" name="文本框 9"/>
          <p:cNvSpPr txBox="1"/>
          <p:nvPr/>
        </p:nvSpPr>
        <p:spPr>
          <a:xfrm>
            <a:off x="6827730" y="3448224"/>
            <a:ext cx="1735915" cy="553085"/>
          </a:xfrm>
          <a:prstGeom prst="rect">
            <a:avLst/>
          </a:prstGeom>
          <a:noFill/>
        </p:spPr>
        <p:txBody>
          <a:bodyPr wrap="square">
            <a:spAutoFit/>
          </a:bodyPr>
          <a:lstStyle/>
          <a:p>
            <a:pPr algn="ctr"/>
            <a:r>
              <a:rPr lang="en-US" altLang="zh-CN" sz="3000" b="1" kern="0" spc="50" dirty="0">
                <a:solidFill>
                  <a:srgbClr val="FFC000"/>
                </a:solidFill>
                <a:latin typeface="微软雅黑" pitchFamily="34" charset="0"/>
                <a:ea typeface="微软雅黑" pitchFamily="34" charset="-122"/>
                <a:cs typeface="微软雅黑" pitchFamily="34" charset="-120"/>
              </a:rPr>
              <a:t>≈190万</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5" name="Shape 13"/>
          <p:cNvSpPr/>
          <p:nvPr/>
        </p:nvSpPr>
        <p:spPr>
          <a:xfrm>
            <a:off x="163195" y="930910"/>
            <a:ext cx="4242435" cy="3847465"/>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6" name="Text 2"/>
          <p:cNvSpPr/>
          <p:nvPr/>
        </p:nvSpPr>
        <p:spPr>
          <a:xfrm>
            <a:off x="307340" y="1208405"/>
            <a:ext cx="531495" cy="2153285"/>
          </a:xfrm>
          <a:prstGeom prst="rect">
            <a:avLst/>
          </a:prstGeom>
          <a:noFill/>
        </p:spPr>
        <p:txBody>
          <a:bodyPr vert="eaVert" wrap="square" lIns="0" tIns="0" rIns="0" bIns="0" rtlCol="0" anchor="ctr"/>
          <a:lstStyle/>
          <a:p>
            <a:pPr marL="0" indent="0">
              <a:buNone/>
            </a:pPr>
            <a:r>
              <a:rPr lang="zh-CN" altLang="en-US" sz="2000" b="1" kern="0" spc="50" dirty="0">
                <a:solidFill>
                  <a:srgbClr val="FFC000"/>
                </a:solidFill>
                <a:latin typeface="微软雅黑" pitchFamily="34" charset="0"/>
                <a:ea typeface="微软雅黑" pitchFamily="34" charset="0"/>
                <a:cs typeface="微软雅黑" pitchFamily="34" charset="-120"/>
              </a:rPr>
              <a:t>单栋体检</a:t>
            </a:r>
            <a:r>
              <a:rPr lang="zh-CN" altLang="en-US" sz="2000" b="1" kern="0" spc="50" dirty="0">
                <a:solidFill>
                  <a:srgbClr val="FFC000"/>
                </a:solidFill>
                <a:latin typeface="微软雅黑" pitchFamily="34" charset="0"/>
                <a:ea typeface="微软雅黑" pitchFamily="34" charset="0"/>
                <a:cs typeface="微软雅黑" pitchFamily="34" charset="-120"/>
              </a:rPr>
              <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33" name="Text 14"/>
          <p:cNvSpPr/>
          <p:nvPr/>
        </p:nvSpPr>
        <p:spPr>
          <a:xfrm>
            <a:off x="1476023" y="982640"/>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STEP 1  输入</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45" name="Text 19"/>
          <p:cNvSpPr/>
          <p:nvPr/>
        </p:nvSpPr>
        <p:spPr>
          <a:xfrm>
            <a:off x="1476023" y="2103247"/>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STEP 2  综合评分</a:t>
            </a:r>
            <a:endParaRPr lang="zh-CN" altLang="en-US" sz="1250" b="1" dirty="0">
              <a:solidFill>
                <a:schemeClr val="bg1"/>
              </a:solidFill>
              <a:latin typeface="微软雅黑" pitchFamily="34" charset="0"/>
              <a:ea typeface="微软雅黑" pitchFamily="34" charset="-122"/>
            </a:endParaRPr>
          </a:p>
        </p:txBody>
      </p:sp>
      <p:sp>
        <p:nvSpPr>
          <p:cNvPr id="53" name="Text 24"/>
          <p:cNvSpPr/>
          <p:nvPr/>
        </p:nvSpPr>
        <p:spPr>
          <a:xfrm>
            <a:off x="1476023" y="3697993"/>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STEP 3  寿命与风险</a:t>
            </a:r>
            <a:endParaRPr lang="en-US" sz="1250" b="1" dirty="0" err="1">
              <a:solidFill>
                <a:schemeClr val="bg1"/>
              </a:solidFill>
              <a:latin typeface="微软雅黑" pitchFamily="34" charset="0"/>
              <a:ea typeface="微软雅黑" pitchFamily="34" charset="-122"/>
            </a:endParaRPr>
          </a:p>
        </p:txBody>
      </p:sp>
      <p:sp>
        <p:nvSpPr>
          <p:cNvPr id="15" name="矩形 14"/>
          <p:cNvSpPr>
            <a:spLocks noGrp="1"/>
          </p:cNvSpPr>
          <p:nvPr/>
        </p:nvSpPr>
        <p:spPr>
          <a:xfrm>
            <a:off x="1476023" y="2487295"/>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健康分评估</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17" name="矩形 16"/>
          <p:cNvSpPr>
            <a:spLocks noGrp="1"/>
          </p:cNvSpPr>
          <p:nvPr/>
        </p:nvSpPr>
        <p:spPr>
          <a:xfrm>
            <a:off x="1475867" y="2886075"/>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剩余寿命预测</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21" name="矩形 20"/>
          <p:cNvSpPr>
            <a:spLocks noGrp="1"/>
          </p:cNvSpPr>
          <p:nvPr/>
        </p:nvSpPr>
        <p:spPr>
          <a:xfrm>
            <a:off x="1986407" y="330073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风险部位排序</a:t>
            </a:r>
            <a:endParaRPr lang="zh-CN" altLang="en-US" sz="1000" b="1" dirty="0">
              <a:solidFill>
                <a:srgbClr val="33423A"/>
              </a:solidFill>
              <a:latin typeface="微软雅黑" pitchFamily="34" charset="0"/>
              <a:ea typeface="微软雅黑" pitchFamily="34" charset="0"/>
              <a:sym typeface="+mn-ea"/>
            </a:endParaRPr>
          </a:p>
        </p:txBody>
      </p:sp>
      <p:sp>
        <p:nvSpPr>
          <p:cNvPr id="23" name="矩形 22"/>
          <p:cNvSpPr>
            <a:spLocks noGrp="1"/>
          </p:cNvSpPr>
          <p:nvPr/>
        </p:nvSpPr>
        <p:spPr>
          <a:xfrm>
            <a:off x="2906043" y="2487284"/>
            <a:ext cx="1245601" cy="266400"/>
          </a:xfrm>
          <a:prstGeom prst="rect">
            <a:avLst/>
          </a:prstGeom>
          <a:noFill/>
          <a:ln w="9525">
            <a:noFill/>
            <a:prstDash val="solid"/>
          </a:ln>
          <a:effectLst/>
          <a:extLst>
            <a:ext uri="{909E8E84-426E-40DD-AFC4-6F175D3DCCD1}">
              <a14:hiddenFill xmlns:a14="http://schemas.microsoft.com/office/drawing/2010/main">
                <a:solidFill>
                  <a:schemeClr val="accent6">
                    <a:lumMod val="40000"/>
                    <a:lumOff val="60000"/>
                  </a:schemeClr>
                </a:solidFill>
              </a14:hiddenFill>
            </a:ext>
          </a:ex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en-US" altLang="zh-CN" sz="1000" b="1" dirty="0">
                <a:solidFill>
                  <a:schemeClr val="bg1"/>
                </a:solidFill>
                <a:latin typeface="微软雅黑" pitchFamily="34" charset="0"/>
                <a:ea typeface="微软雅黑" pitchFamily="34" charset="0"/>
                <a:sym typeface="+mn-ea"/>
              </a:rPr>
              <a:t>AHP层次分析法</a:t>
            </a:r>
            <a:r>
              <a:rPr lang="zh-CN" altLang="en-US" sz="1000" b="1" dirty="0">
                <a:solidFill>
                  <a:schemeClr val="bg1"/>
                </a:solidFill>
                <a:latin typeface="微软雅黑" pitchFamily="34" charset="0"/>
                <a:ea typeface="微软雅黑" pitchFamily="34" charset="0"/>
                <a:sym typeface="+mn-ea"/>
              </a:rPr>
              <a:t/>
            </a:r>
            <a:endParaRPr lang="zh-CN" altLang="en-US" sz="1000" b="1" dirty="0">
              <a:solidFill>
                <a:schemeClr val="bg1"/>
              </a:solidFill>
              <a:latin typeface="微软雅黑" pitchFamily="34" charset="0"/>
              <a:ea typeface="微软雅黑" pitchFamily="34" charset="0"/>
              <a:sym typeface="+mn-ea"/>
            </a:endParaRPr>
          </a:p>
        </p:txBody>
      </p:sp>
      <p:sp>
        <p:nvSpPr>
          <p:cNvPr id="25" name="矩形 24"/>
          <p:cNvSpPr>
            <a:spLocks noGrp="1"/>
          </p:cNvSpPr>
          <p:nvPr/>
        </p:nvSpPr>
        <p:spPr>
          <a:xfrm>
            <a:off x="2905887" y="2886064"/>
            <a:ext cx="1203960" cy="266400"/>
          </a:xfrm>
          <a:prstGeom prst="rect">
            <a:avLst/>
          </a:prstGeom>
          <a:noFill/>
          <a:ln w="9525">
            <a:noFill/>
            <a:prstDash val="solid"/>
          </a:ln>
          <a:effectLst/>
          <a:extLst>
            <a:ext uri="{909E8E84-426E-40DD-AFC4-6F175D3DCCD1}">
              <a14:hiddenFill xmlns:a14="http://schemas.microsoft.com/office/drawing/2010/main">
                <a:solidFill>
                  <a:schemeClr val="accent6">
                    <a:lumMod val="40000"/>
                    <a:lumOff val="60000"/>
                  </a:schemeClr>
                </a:solidFill>
              </a14:hiddenFill>
            </a:ext>
          </a:ex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lvl="0" algn="ctr">
              <a:buClrTx/>
              <a:buSzTx/>
              <a:buFontTx/>
              <a:defRPr sz="975" b="1">
                <a:solidFill>
                  <a:srgbClr val="102015"/>
                </a:solidFill>
                <a:latin typeface="PingFang SC" panose="020B0400000000000000" charset="-122"/>
                <a:ea typeface="PingFang SC" panose="020B0400000000000000" charset="-122"/>
                <a:cs typeface="PingFang SC" panose="020B0400000000000000" charset="-122"/>
              </a:defRPr>
            </a:pPr>
            <a:r>
              <a:rPr lang="en-US" altLang="zh-CN" sz="1000" dirty="0">
                <a:solidFill>
                  <a:schemeClr val="bg1"/>
                </a:solidFill>
                <a:latin typeface="微软雅黑" pitchFamily="34" charset="0"/>
                <a:ea typeface="微软雅黑" pitchFamily="34" charset="0"/>
                <a:sym typeface="+mn-ea"/>
              </a:rPr>
              <a:t>威布尔寿命分布</a:t>
            </a:r>
            <a:r>
              <a:rPr lang="zh-CN" altLang="en-US" sz="1000" dirty="0">
                <a:solidFill>
                  <a:schemeClr val="bg1"/>
                </a:solidFill>
                <a:latin typeface="微软雅黑" pitchFamily="34" charset="0"/>
                <a:ea typeface="微软雅黑" pitchFamily="34" charset="0"/>
                <a:sym typeface="+mn-ea"/>
              </a:rPr>
              <a:t/>
            </a:r>
            <a:r>
              <a:rPr lang="zh-CN" altLang="en-US" sz="1000" dirty="0">
                <a:solidFill>
                  <a:schemeClr val="bg1"/>
                </a:solidFill>
                <a:latin typeface="微软雅黑" pitchFamily="34" charset="0"/>
                <a:ea typeface="微软雅黑" pitchFamily="34" charset="0"/>
                <a:sym typeface="+mn-ea"/>
              </a:rPr>
              <a:t/>
            </a:r>
            <a:endParaRPr lang="zh-CN" altLang="en-US" sz="1000" dirty="0">
              <a:solidFill>
                <a:schemeClr val="bg1"/>
              </a:solidFill>
              <a:latin typeface="微软雅黑" pitchFamily="34" charset="0"/>
              <a:ea typeface="微软雅黑" pitchFamily="34" charset="0"/>
              <a:sym typeface="+mn-ea"/>
            </a:endParaRPr>
          </a:p>
        </p:txBody>
      </p:sp>
      <p:sp>
        <p:nvSpPr>
          <p:cNvPr id="28" name="矩形 27"/>
          <p:cNvSpPr>
            <a:spLocks noGrp="1"/>
          </p:cNvSpPr>
          <p:nvPr/>
        </p:nvSpPr>
        <p:spPr>
          <a:xfrm>
            <a:off x="1475740" y="4097020"/>
            <a:ext cx="1111250" cy="26606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健康等级</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1" name="矩形 30"/>
          <p:cNvSpPr>
            <a:spLocks noGrp="1"/>
          </p:cNvSpPr>
          <p:nvPr/>
        </p:nvSpPr>
        <p:spPr>
          <a:xfrm>
            <a:off x="2854960" y="4103370"/>
            <a:ext cx="1110615" cy="24193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剩余寿命</a:t>
            </a:r>
            <a:r>
              <a:rPr lang="zh-CN" altLang="en-US" sz="1000" b="1" dirty="0">
                <a:solidFill>
                  <a:schemeClr val="bg1"/>
                </a:solidFill>
                <a:latin typeface="微软雅黑" pitchFamily="34" charset="0"/>
                <a:ea typeface="微软雅黑" pitchFamily="34" charset="0"/>
                <a:cs typeface="微软雅黑" pitchFamily="34" charset="-120"/>
                <a:sym typeface="+mn-ea"/>
              </a:rPr>
              <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4" name="矩形 33"/>
          <p:cNvSpPr>
            <a:spLocks noGrp="1"/>
          </p:cNvSpPr>
          <p:nvPr/>
        </p:nvSpPr>
        <p:spPr>
          <a:xfrm>
            <a:off x="1475740" y="4446270"/>
            <a:ext cx="1109980" cy="24257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风险部位</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7" name="矩形 36"/>
          <p:cNvSpPr>
            <a:spLocks noGrp="1"/>
          </p:cNvSpPr>
          <p:nvPr/>
        </p:nvSpPr>
        <p:spPr>
          <a:xfrm>
            <a:off x="2905760" y="4427220"/>
            <a:ext cx="1036320" cy="27368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维修优先序</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40" name="矩形 39"/>
          <p:cNvSpPr>
            <a:spLocks noGrp="1"/>
          </p:cNvSpPr>
          <p:nvPr/>
        </p:nvSpPr>
        <p:spPr>
          <a:xfrm>
            <a:off x="1476023" y="129520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12个关键部件</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43" name="矩形 42"/>
          <p:cNvSpPr>
            <a:spLocks noGrp="1"/>
          </p:cNvSpPr>
          <p:nvPr/>
        </p:nvSpPr>
        <p:spPr>
          <a:xfrm>
            <a:off x="2654300" y="1295400"/>
            <a:ext cx="103695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部件状态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46" name="矩形 45"/>
          <p:cNvSpPr>
            <a:spLocks noGrp="1"/>
          </p:cNvSpPr>
          <p:nvPr/>
        </p:nvSpPr>
        <p:spPr>
          <a:xfrm>
            <a:off x="1476022" y="1660926"/>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指导寿命</a:t>
            </a:r>
            <a:r>
              <a:rPr lang="zh-CN" altLang="en-US" sz="1200" b="1" dirty="0">
                <a:solidFill>
                  <a:srgbClr val="2F7A4F"/>
                </a:solidFill>
                <a:latin typeface="微软雅黑" pitchFamily="34" charset="0"/>
                <a:ea typeface="微软雅黑" pitchFamily="34" charset="-122"/>
                <a:cs typeface="微软雅黑" pitchFamily="34" charset="-120"/>
                <a:sym typeface="+mn-ea"/>
              </a:rPr>
              <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54" name="矩形 53"/>
          <p:cNvSpPr>
            <a:spLocks noGrp="1"/>
          </p:cNvSpPr>
          <p:nvPr/>
        </p:nvSpPr>
        <p:spPr>
          <a:xfrm>
            <a:off x="2646045" y="1662430"/>
            <a:ext cx="1319530"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现场评价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59" name="文本框 58"/>
          <p:cNvSpPr txBox="1"/>
          <p:nvPr/>
        </p:nvSpPr>
        <p:spPr>
          <a:xfrm>
            <a:off x="5244637" y="4378284"/>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不是“打一个分”，而是回答：健不健康？还能用多久？先修哪里？</a:t>
            </a:r>
            <a:r>
              <a:rPr lang="ja-JP" altLang="en-US" sz="2000" b="1" dirty="0">
                <a:solidFill>
                  <a:schemeClr val="bg1"/>
                </a:solidFill>
                <a:latin typeface="微软雅黑" pitchFamily="34" charset="0"/>
                <a:ea typeface="微软雅黑" pitchFamily="34" charset="-122"/>
                <a:cs typeface="微软雅黑" pitchFamily="34" charset="-120"/>
              </a:rPr>
              <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ctr"/>
            <a:r>
              <a:rPr lang="en-US" altLang="zh-CN" sz="3600" b="1" dirty="0">
                <a:solidFill>
                  <a:srgbClr val="F1A63A"/>
                </a:solidFill>
                <a:effectLst/>
                <a:latin typeface="微软雅黑" pitchFamily="34" charset="0"/>
                <a:ea typeface="微软雅黑" pitchFamily="34" charset="0"/>
                <a:cs typeface="微软雅黑" pitchFamily="34" charset="0"/>
                <a:sym typeface="+mn-ea"/>
              </a:rPr>
              <a:t>2模①  烤房健康评估模型</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7" name="组合 6"/>
          <p:cNvGrpSpPr/>
          <p:nvPr/>
        </p:nvGrpSpPr>
        <p:grpSpPr>
          <a:xfrm flipV="1">
            <a:off x="600075" y="444709"/>
            <a:ext cx="7943849" cy="255680"/>
            <a:chOff x="1137172" y="327660"/>
            <a:chExt cx="9917656" cy="342102"/>
          </a:xfrm>
          <a:solidFill>
            <a:srgbClr val="02F3FE"/>
          </a:solidFill>
        </p:grpSpPr>
        <p:sp>
          <p:nvSpPr>
            <p:cNvPr id="10" name="平行四边形 9"/>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1" name="平行四边形 1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 name="平行四边形 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 name="平行四边形 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2" name="直接连接符 1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13" name="平行四边形 12"/>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4" name="平行四边形 13"/>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8" name="直接连接符 17"/>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6" name="组合 35"/>
            <p:cNvGrpSpPr/>
            <p:nvPr/>
          </p:nvGrpSpPr>
          <p:grpSpPr>
            <a:xfrm>
              <a:off x="3648369" y="327660"/>
              <a:ext cx="4895262" cy="118835"/>
              <a:chOff x="-1626523" y="327660"/>
              <a:chExt cx="4895262" cy="118835"/>
            </a:xfrm>
            <a:grpFill/>
          </p:grpSpPr>
          <p:cxnSp>
            <p:nvCxnSpPr>
              <p:cNvPr id="20" name="直接连接符 1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22" name="直接连接符 2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85" name="Shape 21"/>
          <p:cNvSpPr/>
          <p:nvPr/>
        </p:nvSpPr>
        <p:spPr>
          <a:xfrm>
            <a:off x="899668" y="3719322"/>
            <a:ext cx="384048" cy="384048"/>
          </a:xfrm>
          <a:prstGeom prst="ellipse">
            <a:avLst/>
          </a:prstGeom>
          <a:solidFill>
            <a:srgbClr val="499B67"/>
          </a:solidFill>
        </p:spPr>
      </p:sp>
      <p:sp>
        <p:nvSpPr>
          <p:cNvPr id="32" name="Text 22"/>
          <p:cNvSpPr/>
          <p:nvPr/>
        </p:nvSpPr>
        <p:spPr>
          <a:xfrm>
            <a:off x="899668" y="37193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35" name="Shape 11"/>
          <p:cNvSpPr/>
          <p:nvPr/>
        </p:nvSpPr>
        <p:spPr>
          <a:xfrm>
            <a:off x="910463" y="1000927"/>
            <a:ext cx="384048" cy="384048"/>
          </a:xfrm>
          <a:prstGeom prst="ellipse">
            <a:avLst/>
          </a:prstGeom>
          <a:solidFill>
            <a:srgbClr val="173F2A"/>
          </a:solidFill>
        </p:spPr>
      </p:sp>
      <p:sp>
        <p:nvSpPr>
          <p:cNvPr id="38" name="Text 12"/>
          <p:cNvSpPr/>
          <p:nvPr/>
        </p:nvSpPr>
        <p:spPr>
          <a:xfrm>
            <a:off x="910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910463" y="2103246"/>
            <a:ext cx="384048" cy="384048"/>
          </a:xfrm>
          <a:prstGeom prst="ellipse">
            <a:avLst/>
          </a:prstGeom>
          <a:solidFill>
            <a:srgbClr val="2F7A4F"/>
          </a:solidFill>
        </p:spPr>
        <p:txBody>
          <a:bodyPr/>
          <a:p>
            <a:endParaRPr lang="zh-CN" altLang="en-US"/>
          </a:p>
        </p:txBody>
      </p:sp>
      <p:sp>
        <p:nvSpPr>
          <p:cNvPr id="68" name="Text 17"/>
          <p:cNvSpPr/>
          <p:nvPr/>
        </p:nvSpPr>
        <p:spPr>
          <a:xfrm>
            <a:off x="910463" y="210324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101" name="等腰三角形 100"/>
          <p:cNvSpPr/>
          <p:nvPr/>
        </p:nvSpPr>
        <p:spPr>
          <a:xfrm rot="10800000">
            <a:off x="2494280" y="202438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0800000">
            <a:off x="2494280" y="364807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1012825" y="4772025"/>
            <a:ext cx="2780030" cy="337185"/>
          </a:xfrm>
          <a:prstGeom prst="rect">
            <a:avLst/>
          </a:prstGeom>
          <a:noFill/>
        </p:spPr>
        <p:txBody>
          <a:bodyPr wrap="square">
            <a:spAutoFit/>
          </a:bodyPr>
          <a:lstStyle/>
          <a:p>
            <a:pPr algn="ctr"/>
            <a:r>
              <a:rPr lang="zh-CN" altLang="en-US" sz="1600" b="1" dirty="0">
                <a:solidFill>
                  <a:schemeClr val="bg1"/>
                </a:solidFill>
                <a:latin typeface="黑体" charset="0"/>
                <a:ea typeface="黑体" charset="0"/>
                <a:cs typeface="黑体" charset="0"/>
                <a:sym typeface="+mn-ea"/>
              </a:rPr>
              <a:t>把静态台账变成动态体检</a:t>
            </a:r>
            <a:r>
              <a:rPr lang="zh-CN" altLang="en-US" sz="1600" b="1" dirty="0">
                <a:solidFill>
                  <a:schemeClr val="accent6">
                    <a:lumMod val="60000"/>
                    <a:lumOff val="40000"/>
                  </a:schemeClr>
                </a:solidFill>
                <a:latin typeface="黑体" charset="0"/>
                <a:ea typeface="黑体" charset="0"/>
                <a:cs typeface="黑体" charset="0"/>
                <a:sym typeface="+mn-ea"/>
              </a:rPr>
              <a:t/>
            </a:r>
            <a:endParaRPr lang="zh-CN" altLang="en-US" sz="1600" b="1" dirty="0">
              <a:solidFill>
                <a:schemeClr val="accent6">
                  <a:lumMod val="60000"/>
                  <a:lumOff val="40000"/>
                </a:schemeClr>
              </a:solidFill>
              <a:latin typeface="黑体" charset="0"/>
              <a:ea typeface="黑体" charset="0"/>
              <a:cs typeface="黑体" charset="0"/>
              <a:sym typeface="+mn-ea"/>
            </a:endParaRPr>
          </a:p>
        </p:txBody>
      </p:sp>
      <p:sp>
        <p:nvSpPr>
          <p:cNvPr id="102" name="Rounded Rectangle 101"/>
          <p:cNvSpPr/>
          <p:nvPr/>
        </p:nvSpPr>
        <p:spPr>
          <a:xfrm>
            <a:off x="4892040" y="914400"/>
            <a:ext cx="1828800" cy="114300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Picture 102" descr="image.png"/>
          <p:cNvPicPr>
            <a:picLocks noChangeAspect="1"/>
          </p:cNvPicPr>
          <p:nvPr/>
        </p:nvPicPr>
        <p:blipFill>
          <a:blip r:embed="rId2"/>
          <a:stretch>
            <a:fillRect/>
          </a:stretch>
        </p:blipFill>
        <p:spPr>
          <a:xfrm>
            <a:off x="4965192" y="987552"/>
            <a:ext cx="1682496" cy="996696"/>
          </a:xfrm>
          <a:prstGeom prst="rect">
            <a:avLst/>
          </a:prstGeom>
        </p:spPr>
      </p:pic>
      <p:sp>
        <p:nvSpPr>
          <p:cNvPr id="104" name="Rounded Rectangle 103"/>
          <p:cNvSpPr/>
          <p:nvPr/>
        </p:nvSpPr>
        <p:spPr>
          <a:xfrm>
            <a:off x="6858000" y="914400"/>
            <a:ext cx="1828800" cy="114300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5" name="Picture 104" descr="image.png"/>
          <p:cNvPicPr>
            <a:picLocks noChangeAspect="1"/>
          </p:cNvPicPr>
          <p:nvPr/>
        </p:nvPicPr>
        <p:blipFill>
          <a:blip r:embed="rId3"/>
          <a:stretch>
            <a:fillRect/>
          </a:stretch>
        </p:blipFill>
        <p:spPr>
          <a:xfrm>
            <a:off x="6931152" y="987552"/>
            <a:ext cx="1682496" cy="996696"/>
          </a:xfrm>
          <a:prstGeom prst="rect">
            <a:avLst/>
          </a:prstGeom>
        </p:spPr>
      </p:pic>
      <p:sp>
        <p:nvSpPr>
          <p:cNvPr id="106" name="Rounded Rectangle 105"/>
          <p:cNvSpPr/>
          <p:nvPr/>
        </p:nvSpPr>
        <p:spPr>
          <a:xfrm>
            <a:off x="4892040" y="2240280"/>
            <a:ext cx="3794760" cy="214884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7" name="Picture 106" descr="image.png"/>
          <p:cNvPicPr>
            <a:picLocks noChangeAspect="1"/>
          </p:cNvPicPr>
          <p:nvPr/>
        </p:nvPicPr>
        <p:blipFill>
          <a:blip r:embed="rId4"/>
          <a:stretch>
            <a:fillRect/>
          </a:stretch>
        </p:blipFill>
        <p:spPr>
          <a:xfrm>
            <a:off x="4965192" y="2313432"/>
            <a:ext cx="3648456" cy="2002536"/>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fill="hold"/>
                                        <p:tgtEl>
                                          <p:spTgt spid="101"/>
                                        </p:tgtEl>
                                        <p:attrNameLst>
                                          <p:attrName>ppt_x</p:attrName>
                                        </p:attrNameLst>
                                      </p:cBhvr>
                                      <p:tavLst>
                                        <p:tav tm="0">
                                          <p:val>
                                            <p:strVal val="#ppt_x"/>
                                          </p:val>
                                        </p:tav>
                                        <p:tav tm="100000">
                                          <p:val>
                                            <p:strVal val="#ppt_x"/>
                                          </p:val>
                                        </p:tav>
                                      </p:tavLst>
                                    </p:anim>
                                    <p:anim calcmode="lin" valueType="num">
                                      <p:cBhvr additive="base">
                                        <p:cTn id="8" dur="500" fill="hold"/>
                                        <p:tgtEl>
                                          <p:spTgt spid="101"/>
                                        </p:tgtEl>
                                        <p:attrNameLst>
                                          <p:attrName>ppt_y</p:attrName>
                                        </p:attrNameLst>
                                      </p:cBhvr>
                                      <p:tavLst>
                                        <p:tav tm="0">
                                          <p:val>
                                            <p:strVal val="0-#ppt_h/2"/>
                                          </p:val>
                                        </p:tav>
                                        <p:tav tm="100000">
                                          <p:val>
                                            <p:strVal val="#ppt_y"/>
                                          </p:val>
                                        </p:tav>
                                      </p:tavLst>
                                    </p:anim>
                                  </p:childTnLst>
                                </p:cTn>
                              </p:par>
                              <p:par>
                                <p:cTn id="9" presetID="2" presetClass="exit" presetSubtype="4" fill="hold" grpId="1" nodeType="withEffect">
                                  <p:stCondLst>
                                    <p:cond delay="0"/>
                                  </p:stCondLst>
                                  <p:childTnLst>
                                    <p:anim calcmode="lin" valueType="num">
                                      <p:cBhvr additive="base">
                                        <p:cTn id="10" dur="500"/>
                                        <p:tgtEl>
                                          <p:spTgt spid="101"/>
                                        </p:tgtEl>
                                        <p:attrNameLst>
                                          <p:attrName>ppt_x</p:attrName>
                                        </p:attrNameLst>
                                      </p:cBhvr>
                                      <p:tavLst>
                                        <p:tav tm="0">
                                          <p:val>
                                            <p:strVal val="ppt_x"/>
                                          </p:val>
                                        </p:tav>
                                        <p:tav tm="100000">
                                          <p:val>
                                            <p:strVal val="ppt_x"/>
                                          </p:val>
                                        </p:tav>
                                      </p:tavLst>
                                    </p:anim>
                                    <p:anim calcmode="lin" valueType="num">
                                      <p:cBhvr additive="base">
                                        <p:cTn id="11" dur="500"/>
                                        <p:tgtEl>
                                          <p:spTgt spid="101"/>
                                        </p:tgtEl>
                                        <p:attrNameLst>
                                          <p:attrName>ppt_y</p:attrName>
                                        </p:attrNameLst>
                                      </p:cBhvr>
                                      <p:tavLst>
                                        <p:tav tm="0">
                                          <p:val>
                                            <p:strVal val="ppt_y"/>
                                          </p:val>
                                        </p:tav>
                                        <p:tav tm="100000">
                                          <p:val>
                                            <p:strVal val="1+ppt_h/2"/>
                                          </p:val>
                                        </p:tav>
                                      </p:tavLst>
                                    </p:anim>
                                    <p:set>
                                      <p:cBhvr>
                                        <p:cTn id="12" dur="1" fill="hold">
                                          <p:stCondLst>
                                            <p:cond delay="499"/>
                                          </p:stCondLst>
                                        </p:cTn>
                                        <p:tgtEl>
                                          <p:spTgt spid="101"/>
                                        </p:tgtEl>
                                        <p:attrNameLst>
                                          <p:attrName>style.visibility</p:attrName>
                                        </p:attrNameLst>
                                      </p:cBhvr>
                                      <p:to>
                                        <p:strVal val="hidden"/>
                                      </p:to>
                                    </p:set>
                                  </p:childTnLst>
                                </p:cTn>
                              </p:par>
                              <p:par>
                                <p:cTn id="13" presetID="2" presetClass="entr" presetSubtype="1"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0-#ppt_h/2"/>
                                          </p:val>
                                        </p:tav>
                                        <p:tav tm="100000">
                                          <p:val>
                                            <p:strVal val="#ppt_y"/>
                                          </p:val>
                                        </p:tav>
                                      </p:tavLst>
                                    </p:anim>
                                  </p:childTnLst>
                                </p:cTn>
                              </p:par>
                              <p:par>
                                <p:cTn id="17" presetID="2" presetClass="exit" presetSubtype="4" fill="hold" grpId="1" nodeType="withEffect">
                                  <p:stCondLst>
                                    <p:cond delay="0"/>
                                  </p:stCondLst>
                                  <p:childTnLst>
                                    <p:anim calcmode="lin" valueType="num">
                                      <p:cBhvr additive="base">
                                        <p:cTn id="18" dur="500"/>
                                        <p:tgtEl>
                                          <p:spTgt spid="47"/>
                                        </p:tgtEl>
                                        <p:attrNameLst>
                                          <p:attrName>ppt_x</p:attrName>
                                        </p:attrNameLst>
                                      </p:cBhvr>
                                      <p:tavLst>
                                        <p:tav tm="0">
                                          <p:val>
                                            <p:strVal val="ppt_x"/>
                                          </p:val>
                                        </p:tav>
                                        <p:tav tm="100000">
                                          <p:val>
                                            <p:strVal val="ppt_x"/>
                                          </p:val>
                                        </p:tav>
                                      </p:tavLst>
                                    </p:anim>
                                    <p:anim calcmode="lin" valueType="num">
                                      <p:cBhvr additive="base">
                                        <p:cTn id="19" dur="500"/>
                                        <p:tgtEl>
                                          <p:spTgt spid="47"/>
                                        </p:tgtEl>
                                        <p:attrNameLst>
                                          <p:attrName>ppt_y</p:attrName>
                                        </p:attrNameLst>
                                      </p:cBhvr>
                                      <p:tavLst>
                                        <p:tav tm="0">
                                          <p:val>
                                            <p:strVal val="ppt_y"/>
                                          </p:val>
                                        </p:tav>
                                        <p:tav tm="100000">
                                          <p:val>
                                            <p:strVal val="1+ppt_h/2"/>
                                          </p:val>
                                        </p:tav>
                                      </p:tavLst>
                                    </p:anim>
                                    <p:set>
                                      <p:cBhvr>
                                        <p:cTn id="20" dur="1" fill="hold">
                                          <p:stCondLst>
                                            <p:cond delay="499"/>
                                          </p:stCondLst>
                                        </p:cTn>
                                        <p:tgtEl>
                                          <p:spTgt spid="47"/>
                                        </p:tgtEl>
                                        <p:attrNameLst>
                                          <p:attrName>style.visibility</p:attrName>
                                        </p:attrNameLst>
                                      </p:cBhvr>
                                      <p:to>
                                        <p:strVal val="hidden"/>
                                      </p:to>
                                    </p:se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500" fill="hold">
                                          <p:stCondLst>
                                            <p:cond delay="0"/>
                                          </p:stCondLst>
                                        </p:cTn>
                                        <p:tgtEl>
                                          <p:spTgt spid="66"/>
                                        </p:tgtEl>
                                        <p:attrNameLst>
                                          <p:attrName>style.visibility</p:attrName>
                                        </p:attrNameLst>
                                      </p:cBhvr>
                                      <p:to>
                                        <p:strVal val="visible"/>
                                      </p:to>
                                    </p:set>
                                    <p:animEffect transition="in" filter="fade">
                                      <p:cBhvr>
                                        <p:cTn id="24" dur="500"/>
                                        <p:tgtEl>
                                          <p:spTgt spid="66"/>
                                        </p:tgtEl>
                                      </p:cBhvr>
                                    </p:animEffect>
                                    <p:anim calcmode="lin" valueType="num">
                                      <p:cBhvr>
                                        <p:cTn id="25" dur="500" fill="hold"/>
                                        <p:tgtEl>
                                          <p:spTgt spid="66"/>
                                        </p:tgtEl>
                                        <p:attrNameLst>
                                          <p:attrName>ppt_x</p:attrName>
                                        </p:attrNameLst>
                                      </p:cBhvr>
                                      <p:tavLst>
                                        <p:tav tm="0">
                                          <p:val>
                                            <p:strVal val="#ppt_x"/>
                                          </p:val>
                                        </p:tav>
                                        <p:tav tm="100000">
                                          <p:val>
                                            <p:strVal val="#ppt_x"/>
                                          </p:val>
                                        </p:tav>
                                      </p:tavLst>
                                    </p:anim>
                                    <p:anim calcmode="lin" valueType="num">
                                      <p:cBhvr>
                                        <p:cTn id="26"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1" grpId="1" bldLvl="0" animBg="1"/>
      <p:bldP spid="47" grpId="0" bldLvl="0" animBg="1"/>
      <p:bldP spid="47" grpId="1" bldLvl="0" animBg="1"/>
      <p:bldP spid="6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hape 13"/>
          <p:cNvSpPr/>
          <p:nvPr/>
        </p:nvSpPr>
        <p:spPr>
          <a:xfrm>
            <a:off x="163195" y="930910"/>
            <a:ext cx="3985895" cy="3676015"/>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6" name="Text 2"/>
          <p:cNvSpPr/>
          <p:nvPr/>
        </p:nvSpPr>
        <p:spPr>
          <a:xfrm>
            <a:off x="307340" y="1208405"/>
            <a:ext cx="531495" cy="2153285"/>
          </a:xfrm>
          <a:prstGeom prst="rect">
            <a:avLst/>
          </a:prstGeom>
          <a:noFill/>
        </p:spPr>
        <p:txBody>
          <a:bodyPr vert="eaVert" wrap="square" lIns="0" tIns="0" rIns="0" bIns="0" rtlCol="0" anchor="ctr"/>
          <a:lstStyle/>
          <a:p>
            <a:pPr marL="0" indent="0">
              <a:buNone/>
            </a:pPr>
            <a:r>
              <a:rPr lang="zh-CN" altLang="en-US" sz="2000" b="1" kern="0" spc="50" dirty="0">
                <a:solidFill>
                  <a:srgbClr val="FFC000"/>
                </a:solidFill>
                <a:latin typeface="微软雅黑" pitchFamily="34" charset="0"/>
                <a:ea typeface="微软雅黑" pitchFamily="34" charset="0"/>
                <a:cs typeface="微软雅黑" pitchFamily="34" charset="-120"/>
              </a:rPr>
              <a:t>智用</a:t>
            </a:r>
            <a:r>
              <a:rPr lang="zh-CN" altLang="en-US" sz="2000" b="1" kern="0" spc="50" dirty="0">
                <a:solidFill>
                  <a:srgbClr val="FFC000"/>
                </a:solidFill>
                <a:latin typeface="微软雅黑" pitchFamily="34" charset="0"/>
                <a:ea typeface="微软雅黑" pitchFamily="34" charset="0"/>
                <a:cs typeface="微软雅黑" pitchFamily="34" charset="-120"/>
              </a:rPr>
              <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9" name="Shape 11"/>
          <p:cNvSpPr/>
          <p:nvPr/>
        </p:nvSpPr>
        <p:spPr>
          <a:xfrm>
            <a:off x="879983" y="1275247"/>
            <a:ext cx="384048" cy="384048"/>
          </a:xfrm>
          <a:prstGeom prst="ellipse">
            <a:avLst/>
          </a:prstGeom>
          <a:solidFill>
            <a:srgbClr val="173F2A"/>
          </a:solidFill>
        </p:spPr>
      </p:sp>
      <p:sp>
        <p:nvSpPr>
          <p:cNvPr id="13" name="Text 12"/>
          <p:cNvSpPr/>
          <p:nvPr/>
        </p:nvSpPr>
        <p:spPr>
          <a:xfrm>
            <a:off x="879983" y="127524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16" name="Text 14"/>
          <p:cNvSpPr/>
          <p:nvPr/>
        </p:nvSpPr>
        <p:spPr>
          <a:xfrm>
            <a:off x="1456055" y="1256959"/>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查房调剂</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50" name="矩形 49"/>
          <p:cNvSpPr/>
          <p:nvPr/>
        </p:nvSpPr>
        <p:spPr>
          <a:xfrm>
            <a:off x="4587892" y="1549037"/>
            <a:ext cx="1745925" cy="338929"/>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4587892" y="2295819"/>
            <a:ext cx="1745925" cy="578443"/>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Text 19"/>
          <p:cNvSpPr/>
          <p:nvPr/>
        </p:nvSpPr>
        <p:spPr>
          <a:xfrm>
            <a:off x="1456055" y="3370706"/>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进度可见</a:t>
            </a:r>
            <a:endParaRPr lang="zh-CN" altLang="en-US" sz="1250" b="1" dirty="0">
              <a:solidFill>
                <a:schemeClr val="bg1"/>
              </a:solidFill>
              <a:latin typeface="微软雅黑" pitchFamily="34" charset="0"/>
              <a:ea typeface="微软雅黑" pitchFamily="34" charset="-122"/>
            </a:endParaRPr>
          </a:p>
        </p:txBody>
      </p:sp>
      <p:sp>
        <p:nvSpPr>
          <p:cNvPr id="82" name="矩形 81"/>
          <p:cNvSpPr/>
          <p:nvPr/>
        </p:nvSpPr>
        <p:spPr>
          <a:xfrm>
            <a:off x="6841619" y="2779352"/>
            <a:ext cx="1603134" cy="1091915"/>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6841619" y="3953435"/>
            <a:ext cx="1603134" cy="189336"/>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07451" y="4180799"/>
            <a:ext cx="3795214" cy="337185"/>
          </a:xfrm>
          <a:prstGeom prst="rect">
            <a:avLst/>
          </a:prstGeom>
          <a:noFill/>
        </p:spPr>
        <p:txBody>
          <a:bodyPr wrap="square">
            <a:spAutoFit/>
          </a:bodyPr>
          <a:lstStyle/>
          <a:p>
            <a:pPr algn="ctr"/>
            <a:r>
              <a:rPr lang="ja-JP" altLang="en-US" sz="1600" b="1" dirty="0">
                <a:solidFill>
                  <a:schemeClr val="bg1"/>
                </a:solidFill>
                <a:latin typeface="微软雅黑" pitchFamily="34" charset="0"/>
                <a:ea typeface="微软雅黑" pitchFamily="34" charset="-122"/>
                <a:cs typeface="微软雅黑" pitchFamily="34" charset="-120"/>
              </a:rPr>
              <a:t>少打电话    少跑腿    少等待</a:t>
            </a:r>
            <a:endParaRPr lang="ja-JP" altLang="en-US" sz="1600" b="1" dirty="0">
              <a:solidFill>
                <a:schemeClr val="bg1"/>
              </a:solidFill>
              <a:latin typeface="微软雅黑" pitchFamily="34" charset="0"/>
              <a:ea typeface="微软雅黑" pitchFamily="34" charset="-122"/>
              <a:cs typeface="微软雅黑" pitchFamily="34" charset="-120"/>
            </a:endParaRPr>
          </a:p>
        </p:txBody>
      </p:sp>
      <p:sp>
        <p:nvSpPr>
          <p:cNvPr id="23" name="矩形 22"/>
          <p:cNvSpPr>
            <a:spLocks noGrp="1"/>
          </p:cNvSpPr>
          <p:nvPr/>
        </p:nvSpPr>
        <p:spPr>
          <a:xfrm>
            <a:off x="1456055" y="1569522"/>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附近烤房</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5" name="矩形 24"/>
          <p:cNvSpPr>
            <a:spLocks noGrp="1"/>
          </p:cNvSpPr>
          <p:nvPr/>
        </p:nvSpPr>
        <p:spPr>
          <a:xfrm>
            <a:off x="2638864" y="1569522"/>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可用状态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9" name="矩形 28"/>
          <p:cNvSpPr>
            <a:spLocks noGrp="1"/>
          </p:cNvSpPr>
          <p:nvPr/>
        </p:nvSpPr>
        <p:spPr>
          <a:xfrm>
            <a:off x="1456055" y="196079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在线预约</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3" name="矩形 32"/>
          <p:cNvSpPr>
            <a:spLocks noGrp="1"/>
          </p:cNvSpPr>
          <p:nvPr/>
        </p:nvSpPr>
        <p:spPr>
          <a:xfrm>
            <a:off x="2338868" y="196079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调剂申请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5" name="矩形 34"/>
          <p:cNvSpPr>
            <a:spLocks noGrp="1"/>
          </p:cNvSpPr>
          <p:nvPr/>
        </p:nvSpPr>
        <p:spPr>
          <a:xfrm>
            <a:off x="1456055" y="3698516"/>
            <a:ext cx="752956"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快速派单</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7" name="矩形 36"/>
          <p:cNvSpPr>
            <a:spLocks noGrp="1"/>
          </p:cNvSpPr>
          <p:nvPr/>
        </p:nvSpPr>
        <p:spPr>
          <a:xfrm>
            <a:off x="2338867" y="3698516"/>
            <a:ext cx="752956"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验收评价</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2" name="文本框 1"/>
          <p:cNvSpPr txBox="1"/>
          <p:nvPr/>
        </p:nvSpPr>
        <p:spPr>
          <a:xfrm>
            <a:off x="0" y="141031"/>
            <a:ext cx="9144000" cy="645160"/>
          </a:xfrm>
          <a:prstGeom prst="rect">
            <a:avLst/>
          </a:prstGeom>
          <a:noFill/>
        </p:spPr>
        <p:txBody>
          <a:bodyPr wrap="square">
            <a:spAutoFit/>
          </a:bodyPr>
          <a:lstStyle/>
          <a:p>
            <a:pPr algn="ctr"/>
            <a:r>
              <a:rPr lang="en-US" altLang="zh-CN" sz="3600" b="1" dirty="0">
                <a:solidFill>
                  <a:srgbClr val="F1A63A"/>
                </a:solidFill>
                <a:effectLst/>
                <a:latin typeface="微软雅黑" pitchFamily="34" charset="0"/>
                <a:ea typeface="微软雅黑" pitchFamily="34" charset="0"/>
                <a:cs typeface="微软雅黑" pitchFamily="34" charset="0"/>
                <a:sym typeface="+mn-ea"/>
              </a:rPr>
              <a:t>3智①  智用｜烟农一部手机完成调剂与报修</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7" name="组合 6"/>
          <p:cNvGrpSpPr/>
          <p:nvPr/>
        </p:nvGrpSpPr>
        <p:grpSpPr>
          <a:xfrm flipV="1">
            <a:off x="600075" y="444709"/>
            <a:ext cx="7943849" cy="255680"/>
            <a:chOff x="1137172" y="327660"/>
            <a:chExt cx="9917656" cy="342102"/>
          </a:xfrm>
          <a:solidFill>
            <a:srgbClr val="02F3FE"/>
          </a:solidFill>
        </p:grpSpPr>
        <p:sp>
          <p:nvSpPr>
            <p:cNvPr id="10" name="平行四边形 9"/>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1" name="平行四边形 1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7" name="平行四边形 1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1" name="直接连接符 20"/>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12" name="平行四边形 11"/>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7" name="平行四边形 26"/>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1" name="平行四边形 30"/>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4" name="直接连接符 1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6" name="组合 35"/>
            <p:cNvGrpSpPr/>
            <p:nvPr/>
          </p:nvGrpSpPr>
          <p:grpSpPr>
            <a:xfrm>
              <a:off x="3648369" y="327660"/>
              <a:ext cx="4895262" cy="118835"/>
              <a:chOff x="-1626523" y="327660"/>
              <a:chExt cx="4895262" cy="118835"/>
            </a:xfrm>
            <a:grpFill/>
          </p:grpSpPr>
          <p:cxnSp>
            <p:nvCxnSpPr>
              <p:cNvPr id="15" name="直接连接符 1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7" name="等腰三角形 46"/>
          <p:cNvSpPr/>
          <p:nvPr/>
        </p:nvSpPr>
        <p:spPr>
          <a:xfrm rot="10800000">
            <a:off x="2142490" y="230886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1012825" y="4772025"/>
            <a:ext cx="2780030" cy="337185"/>
          </a:xfrm>
          <a:prstGeom prst="rect">
            <a:avLst/>
          </a:prstGeom>
          <a:noFill/>
        </p:spPr>
        <p:txBody>
          <a:bodyPr wrap="square">
            <a:spAutoFit/>
          </a:bodyPr>
          <a:lstStyle/>
          <a:p>
            <a:pPr algn="ctr"/>
            <a:r>
              <a:rPr lang="zh-CN" altLang="en-US" sz="1600" b="1" dirty="0">
                <a:solidFill>
                  <a:schemeClr val="bg1"/>
                </a:solidFill>
                <a:latin typeface="黑体" charset="0"/>
                <a:ea typeface="黑体" charset="0"/>
                <a:cs typeface="黑体" charset="0"/>
                <a:sym typeface="+mn-ea"/>
              </a:rPr>
              <a:t>把服务真正送到烟农手机里</a:t>
            </a:r>
            <a:r>
              <a:rPr lang="zh-CN" altLang="en-US" sz="1600" b="1" dirty="0">
                <a:solidFill>
                  <a:schemeClr val="accent6">
                    <a:lumMod val="60000"/>
                    <a:lumOff val="40000"/>
                  </a:schemeClr>
                </a:solidFill>
                <a:latin typeface="黑体" charset="0"/>
                <a:ea typeface="黑体" charset="0"/>
                <a:cs typeface="黑体" charset="0"/>
                <a:sym typeface="+mn-ea"/>
              </a:rPr>
              <a:t/>
            </a:r>
            <a:endParaRPr lang="zh-CN" altLang="en-US" sz="1600" b="1" dirty="0">
              <a:solidFill>
                <a:schemeClr val="accent6">
                  <a:lumMod val="60000"/>
                  <a:lumOff val="40000"/>
                </a:schemeClr>
              </a:solidFill>
              <a:latin typeface="黑体" charset="0"/>
              <a:ea typeface="黑体" charset="0"/>
              <a:cs typeface="黑体" charset="0"/>
              <a:sym typeface="+mn-ea"/>
            </a:endParaRPr>
          </a:p>
        </p:txBody>
      </p:sp>
      <p:sp>
        <p:nvSpPr>
          <p:cNvPr id="45" name="Text 19"/>
          <p:cNvSpPr/>
          <p:nvPr/>
        </p:nvSpPr>
        <p:spPr>
          <a:xfrm>
            <a:off x="1476023" y="2433447"/>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一键报修</a:t>
            </a:r>
            <a:endParaRPr lang="zh-CN" altLang="en-US" sz="1250" b="1" dirty="0">
              <a:solidFill>
                <a:schemeClr val="bg1"/>
              </a:solidFill>
              <a:latin typeface="微软雅黑" pitchFamily="34" charset="0"/>
              <a:ea typeface="微软雅黑" pitchFamily="34" charset="-122"/>
            </a:endParaRPr>
          </a:p>
        </p:txBody>
      </p:sp>
      <p:sp>
        <p:nvSpPr>
          <p:cNvPr id="24" name="矩形 23"/>
          <p:cNvSpPr>
            <a:spLocks noGrp="1"/>
          </p:cNvSpPr>
          <p:nvPr/>
        </p:nvSpPr>
        <p:spPr>
          <a:xfrm>
            <a:off x="1660173" y="2906395"/>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风险部位提示</a:t>
            </a:r>
            <a:r>
              <a:rPr lang="en-US" altLang="zh-CN" sz="1000" b="1" dirty="0">
                <a:solidFill>
                  <a:srgbClr val="33423A"/>
                </a:solidFill>
                <a:latin typeface="微软雅黑" pitchFamily="34" charset="0"/>
                <a:ea typeface="微软雅黑" pitchFamily="34" charset="0"/>
                <a:sym typeface="+mn-ea"/>
              </a:rPr>
              <a:t/>
            </a:r>
            <a:endParaRPr lang="en-US" altLang="zh-CN" sz="1000" b="1" dirty="0">
              <a:solidFill>
                <a:srgbClr val="33423A"/>
              </a:solidFill>
              <a:latin typeface="微软雅黑" pitchFamily="34" charset="0"/>
              <a:ea typeface="微软雅黑" pitchFamily="34" charset="0"/>
              <a:sym typeface="+mn-ea"/>
            </a:endParaRPr>
          </a:p>
        </p:txBody>
      </p:sp>
      <p:sp>
        <p:nvSpPr>
          <p:cNvPr id="34" name="Shape 16"/>
          <p:cNvSpPr/>
          <p:nvPr/>
        </p:nvSpPr>
        <p:spPr>
          <a:xfrm>
            <a:off x="910463" y="2433446"/>
            <a:ext cx="384048" cy="384048"/>
          </a:xfrm>
          <a:prstGeom prst="ellipse">
            <a:avLst/>
          </a:prstGeom>
          <a:solidFill>
            <a:srgbClr val="2F7A4F"/>
          </a:solidFill>
        </p:spPr>
        <p:txBody>
          <a:bodyPr/>
          <a:p>
            <a:endParaRPr lang="zh-CN" altLang="en-US"/>
          </a:p>
        </p:txBody>
      </p:sp>
      <p:sp>
        <p:nvSpPr>
          <p:cNvPr id="38" name="Text 17"/>
          <p:cNvSpPr/>
          <p:nvPr/>
        </p:nvSpPr>
        <p:spPr>
          <a:xfrm>
            <a:off x="910463" y="245884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85" name="Shape 21"/>
          <p:cNvSpPr/>
          <p:nvPr/>
        </p:nvSpPr>
        <p:spPr>
          <a:xfrm>
            <a:off x="899668" y="3414522"/>
            <a:ext cx="384048" cy="384048"/>
          </a:xfrm>
          <a:prstGeom prst="ellipse">
            <a:avLst/>
          </a:prstGeom>
          <a:solidFill>
            <a:srgbClr val="499B67"/>
          </a:solidFill>
        </p:spPr>
      </p:sp>
      <p:sp>
        <p:nvSpPr>
          <p:cNvPr id="42" name="Text 22"/>
          <p:cNvSpPr/>
          <p:nvPr/>
        </p:nvSpPr>
        <p:spPr>
          <a:xfrm>
            <a:off x="899668" y="34145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3" name="等腰三角形 42"/>
          <p:cNvSpPr/>
          <p:nvPr/>
        </p:nvSpPr>
        <p:spPr>
          <a:xfrm rot="10800000">
            <a:off x="2142490" y="336169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Rounded Rectangle 96"/>
          <p:cNvSpPr/>
          <p:nvPr/>
        </p:nvSpPr>
        <p:spPr>
          <a:xfrm>
            <a:off x="5120640" y="1097280"/>
            <a:ext cx="1417320" cy="333756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image.jpeg"/>
          <p:cNvPicPr>
            <a:picLocks noChangeAspect="1"/>
          </p:cNvPicPr>
          <p:nvPr/>
        </p:nvPicPr>
        <p:blipFill>
          <a:blip r:embed="rId2"/>
          <a:stretch>
            <a:fillRect/>
          </a:stretch>
        </p:blipFill>
        <p:spPr>
          <a:xfrm>
            <a:off x="5193792" y="1170432"/>
            <a:ext cx="1271016" cy="3191256"/>
          </a:xfrm>
          <a:prstGeom prst="rect">
            <a:avLst/>
          </a:prstGeom>
        </p:spPr>
      </p:pic>
      <p:sp>
        <p:nvSpPr>
          <p:cNvPr id="99" name="Rounded Rectangle 98"/>
          <p:cNvSpPr/>
          <p:nvPr/>
        </p:nvSpPr>
        <p:spPr>
          <a:xfrm>
            <a:off x="6903720" y="1097280"/>
            <a:ext cx="1417320" cy="333756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Picture 99" descr="image.jpeg"/>
          <p:cNvPicPr>
            <a:picLocks noChangeAspect="1"/>
          </p:cNvPicPr>
          <p:nvPr/>
        </p:nvPicPr>
        <p:blipFill>
          <a:blip r:embed="rId3"/>
          <a:stretch>
            <a:fillRect/>
          </a:stretch>
        </p:blipFill>
        <p:spPr>
          <a:xfrm>
            <a:off x="6976872" y="1170432"/>
            <a:ext cx="1271016" cy="3191256"/>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xit" presetSubtype="4" fill="hold" grpId="1" nodeType="afterEffect">
                                  <p:stCondLst>
                                    <p:cond delay="0"/>
                                  </p:stCondLst>
                                  <p:childTnLst>
                                    <p:anim calcmode="lin" valueType="num">
                                      <p:cBhvr additive="base">
                                        <p:cTn id="11" dur="500"/>
                                        <p:tgtEl>
                                          <p:spTgt spid="47"/>
                                        </p:tgtEl>
                                        <p:attrNameLst>
                                          <p:attrName>ppt_x</p:attrName>
                                        </p:attrNameLst>
                                      </p:cBhvr>
                                      <p:tavLst>
                                        <p:tav tm="0">
                                          <p:val>
                                            <p:strVal val="ppt_x"/>
                                          </p:val>
                                        </p:tav>
                                        <p:tav tm="100000">
                                          <p:val>
                                            <p:strVal val="ppt_x"/>
                                          </p:val>
                                        </p:tav>
                                      </p:tavLst>
                                    </p:anim>
                                    <p:anim calcmode="lin" valueType="num">
                                      <p:cBhvr additive="base">
                                        <p:cTn id="12" dur="500"/>
                                        <p:tgtEl>
                                          <p:spTgt spid="47"/>
                                        </p:tgtEl>
                                        <p:attrNameLst>
                                          <p:attrName>ppt_y</p:attrName>
                                        </p:attrNameLst>
                                      </p:cBhvr>
                                      <p:tavLst>
                                        <p:tav tm="0">
                                          <p:val>
                                            <p:strVal val="ppt_y"/>
                                          </p:val>
                                        </p:tav>
                                        <p:tav tm="100000">
                                          <p:val>
                                            <p:strVal val="1+ppt_h/2"/>
                                          </p:val>
                                        </p:tav>
                                      </p:tavLst>
                                    </p:anim>
                                    <p:set>
                                      <p:cBhvr>
                                        <p:cTn id="13" dur="1" fill="hold">
                                          <p:stCondLst>
                                            <p:cond delay="499"/>
                                          </p:stCondLst>
                                        </p:cTn>
                                        <p:tgtEl>
                                          <p:spTgt spid="47"/>
                                        </p:tgtEl>
                                        <p:attrNameLst>
                                          <p:attrName>style.visibility</p:attrName>
                                        </p:attrNameLst>
                                      </p:cBhvr>
                                      <p:to>
                                        <p:strVal val="hidden"/>
                                      </p:to>
                                    </p:se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500" fill="hold">
                                          <p:stCondLst>
                                            <p:cond delay="0"/>
                                          </p:stCondLst>
                                        </p:cTn>
                                        <p:tgtEl>
                                          <p:spTgt spid="66"/>
                                        </p:tgtEl>
                                        <p:attrNameLst>
                                          <p:attrName>style.visibility</p:attrName>
                                        </p:attrNameLst>
                                      </p:cBhvr>
                                      <p:to>
                                        <p:strVal val="visible"/>
                                      </p:to>
                                    </p:set>
                                    <p:animEffect transition="in" filter="fade">
                                      <p:cBhvr>
                                        <p:cTn id="17" dur="500"/>
                                        <p:tgtEl>
                                          <p:spTgt spid="66"/>
                                        </p:tgtEl>
                                      </p:cBhvr>
                                    </p:animEffect>
                                    <p:anim calcmode="lin" valueType="num">
                                      <p:cBhvr>
                                        <p:cTn id="18" dur="500" fill="hold"/>
                                        <p:tgtEl>
                                          <p:spTgt spid="66"/>
                                        </p:tgtEl>
                                        <p:attrNameLst>
                                          <p:attrName>ppt_x</p:attrName>
                                        </p:attrNameLst>
                                      </p:cBhvr>
                                      <p:tavLst>
                                        <p:tav tm="0">
                                          <p:val>
                                            <p:strVal val="#ppt_x"/>
                                          </p:val>
                                        </p:tav>
                                        <p:tav tm="100000">
                                          <p:val>
                                            <p:strVal val="#ppt_x"/>
                                          </p:val>
                                        </p:tav>
                                      </p:tavLst>
                                    </p:anim>
                                    <p:anim calcmode="lin" valueType="num">
                                      <p:cBhvr>
                                        <p:cTn id="19" dur="500" fill="hold"/>
                                        <p:tgtEl>
                                          <p:spTgt spid="66"/>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xit" presetSubtype="4" fill="hold" grpId="1" nodeType="afterEffect">
                                  <p:stCondLst>
                                    <p:cond delay="0"/>
                                  </p:stCondLst>
                                  <p:childTnLst>
                                    <p:anim calcmode="lin" valueType="num">
                                      <p:cBhvr additive="base">
                                        <p:cTn id="27" dur="500"/>
                                        <p:tgtEl>
                                          <p:spTgt spid="43"/>
                                        </p:tgtEl>
                                        <p:attrNameLst>
                                          <p:attrName>ppt_x</p:attrName>
                                        </p:attrNameLst>
                                      </p:cBhvr>
                                      <p:tavLst>
                                        <p:tav tm="0">
                                          <p:val>
                                            <p:strVal val="ppt_x"/>
                                          </p:val>
                                        </p:tav>
                                        <p:tav tm="100000">
                                          <p:val>
                                            <p:strVal val="ppt_x"/>
                                          </p:val>
                                        </p:tav>
                                      </p:tavLst>
                                    </p:anim>
                                    <p:anim calcmode="lin" valueType="num">
                                      <p:cBhvr additive="base">
                                        <p:cTn id="28" dur="500"/>
                                        <p:tgtEl>
                                          <p:spTgt spid="43"/>
                                        </p:tgtEl>
                                        <p:attrNameLst>
                                          <p:attrName>ppt_y</p:attrName>
                                        </p:attrNameLst>
                                      </p:cBhvr>
                                      <p:tavLst>
                                        <p:tav tm="0">
                                          <p:val>
                                            <p:strVal val="ppt_y"/>
                                          </p:val>
                                        </p:tav>
                                        <p:tav tm="100000">
                                          <p:val>
                                            <p:strVal val="1+ppt_h/2"/>
                                          </p:val>
                                        </p:tav>
                                      </p:tavLst>
                                    </p:anim>
                                    <p:set>
                                      <p:cBhvr>
                                        <p:cTn id="29"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7" grpId="1" bldLvl="0" animBg="1"/>
      <p:bldP spid="66" grpId="0"/>
      <p:bldP spid="43" grpId="0" bldLvl="0" animBg="1"/>
      <p:bldP spid="43" grpId="1"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7"/>
          <p:cNvSpPr/>
          <p:nvPr/>
        </p:nvSpPr>
        <p:spPr bwMode="auto">
          <a:xfrm>
            <a:off x="4501529" y="1152203"/>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31" name="文本框 30"/>
          <p:cNvSpPr txBox="1"/>
          <p:nvPr/>
        </p:nvSpPr>
        <p:spPr>
          <a:xfrm>
            <a:off x="4547235" y="1652905"/>
            <a:ext cx="1817370" cy="284480"/>
          </a:xfrm>
          <a:prstGeom prst="rect">
            <a:avLst/>
          </a:prstGeom>
          <a:noFill/>
        </p:spPr>
        <p:txBody>
          <a:bodyPr wrap="square">
            <a:no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报修抢修全部控制</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33" name="文本框 32"/>
          <p:cNvSpPr txBox="1"/>
          <p:nvPr/>
        </p:nvSpPr>
        <p:spPr>
          <a:xfrm>
            <a:off x="4650064" y="1197873"/>
            <a:ext cx="1735915" cy="553085"/>
          </a:xfrm>
          <a:prstGeom prst="rect">
            <a:avLst/>
          </a:prstGeom>
          <a:noFill/>
        </p:spPr>
        <p:txBody>
          <a:bodyPr wrap="square">
            <a:spAutoFit/>
          </a:bodyPr>
          <a:lstStyle/>
          <a:p>
            <a:pPr algn="ctr"/>
            <a:r>
              <a:rPr lang="en-US" sz="3000" b="1" dirty="0">
                <a:solidFill>
                  <a:srgbClr val="FFC000"/>
                </a:solidFill>
                <a:latin typeface="微软雅黑" pitchFamily="34" charset="0"/>
                <a:ea typeface="微软雅黑" pitchFamily="34" charset="-122"/>
                <a:cs typeface="微软雅黑" pitchFamily="34" charset="-120"/>
                <a:sym typeface="+mn-ea"/>
              </a:rPr>
              <a:t>≤3小时</a:t>
            </a:r>
            <a:r>
              <a:rPr lang="en-US" altLang="zh-CN" sz="3000" b="1" kern="0" spc="50" dirty="0">
                <a:solidFill>
                  <a:srgbClr val="FFC000"/>
                </a:solidFill>
                <a:latin typeface="微软雅黑" pitchFamily="34" charset="0"/>
                <a:ea typeface="微软雅黑" pitchFamily="34" charset="-122"/>
                <a:cs typeface="微软雅黑" pitchFamily="34" charset="-120"/>
              </a:rPr>
              <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54" name="Shape 7"/>
          <p:cNvSpPr/>
          <p:nvPr/>
        </p:nvSpPr>
        <p:spPr bwMode="auto">
          <a:xfrm>
            <a:off x="4501515" y="2434590"/>
            <a:ext cx="2292350" cy="116649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71" name="文本框 70"/>
          <p:cNvSpPr txBox="1"/>
          <p:nvPr/>
        </p:nvSpPr>
        <p:spPr>
          <a:xfrm>
            <a:off x="4731385" y="3025775"/>
            <a:ext cx="1736090" cy="462915"/>
          </a:xfrm>
          <a:prstGeom prst="rect">
            <a:avLst/>
          </a:prstGeom>
          <a:noFill/>
        </p:spPr>
        <p:txBody>
          <a:bodyPr wrap="square">
            <a:no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健康分低于60分</a:t>
            </a:r>
            <a:r>
              <a:rPr lang="en-US" altLang="zh-CN" sz="1050" b="1" dirty="0">
                <a:solidFill>
                  <a:schemeClr val="bg1"/>
                </a:solidFill>
                <a:latin typeface="微软雅黑" pitchFamily="34" charset="0"/>
                <a:ea typeface="微软雅黑" pitchFamily="34" charset="-122"/>
                <a:cs typeface="微软雅黑" pitchFamily="34" charset="-120"/>
              </a:rPr>
              <a:t/>
            </a:r>
            <a:r>
              <a:rPr lang="zh-CN" altLang="en-US" sz="1050" b="1" dirty="0">
                <a:solidFill>
                  <a:schemeClr val="bg1"/>
                </a:solidFill>
                <a:latin typeface="微软雅黑" pitchFamily="34" charset="0"/>
                <a:ea typeface="微软雅黑" pitchFamily="34" charset="-122"/>
                <a:cs typeface="微软雅黑" pitchFamily="34" charset="-120"/>
              </a:rPr>
              <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73" name="文本框 72"/>
          <p:cNvSpPr txBox="1"/>
          <p:nvPr/>
        </p:nvSpPr>
        <p:spPr>
          <a:xfrm>
            <a:off x="4452620" y="2471420"/>
            <a:ext cx="2349500" cy="554355"/>
          </a:xfrm>
          <a:prstGeom prst="rect">
            <a:avLst/>
          </a:prstGeom>
          <a:noFill/>
        </p:spPr>
        <p:txBody>
          <a:bodyPr wrap="square">
            <a:noAutofit/>
          </a:bodyPr>
          <a:lstStyle/>
          <a:p>
            <a:pPr algn="ctr"/>
            <a:r>
              <a:rPr lang="en-US" altLang="zh-CN" sz="2400" b="1" kern="0" spc="50" dirty="0">
                <a:solidFill>
                  <a:srgbClr val="FFC000"/>
                </a:solidFill>
                <a:latin typeface="微软雅黑" pitchFamily="34" charset="0"/>
                <a:ea typeface="微软雅黑" pitchFamily="34" charset="-122"/>
                <a:cs typeface="微软雅黑" pitchFamily="34" charset="-120"/>
              </a:rPr>
              <a:t>340+栋</a:t>
            </a:r>
            <a:r>
              <a:rPr lang="zh-CN" altLang="en-US" sz="2400" b="1" kern="0" spc="50" dirty="0">
                <a:solidFill>
                  <a:srgbClr val="FFC000"/>
                </a:solidFill>
                <a:latin typeface="微软雅黑" pitchFamily="34" charset="0"/>
                <a:ea typeface="微软雅黑" pitchFamily="34" charset="-122"/>
                <a:cs typeface="微软雅黑" pitchFamily="34" charset="-120"/>
              </a:rPr>
              <a:t/>
            </a:r>
            <a:endParaRPr lang="zh-CN" altLang="en-US" sz="2400" b="1" kern="0" spc="50" dirty="0">
              <a:solidFill>
                <a:srgbClr val="FFC000"/>
              </a:solidFill>
              <a:latin typeface="微软雅黑" pitchFamily="34" charset="0"/>
              <a:ea typeface="微软雅黑" pitchFamily="34" charset="-122"/>
              <a:cs typeface="微软雅黑" pitchFamily="34" charset="-120"/>
            </a:endParaRPr>
          </a:p>
        </p:txBody>
      </p:sp>
      <p:sp>
        <p:nvSpPr>
          <p:cNvPr id="2"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4"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7"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模型①落地｜从“坏了再修”到“风险前置”</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8" name="文本框 47"/>
          <p:cNvSpPr txBox="1"/>
          <p:nvPr/>
        </p:nvSpPr>
        <p:spPr>
          <a:xfrm>
            <a:off x="0" y="2341245"/>
            <a:ext cx="1587500" cy="462915"/>
          </a:xfrm>
          <a:prstGeom prst="rect">
            <a:avLst/>
          </a:prstGeom>
          <a:noFill/>
        </p:spPr>
        <p:txBody>
          <a:bodyPr vert="horz" wrap="square" rtlCol="0">
            <a:noAutofit/>
          </a:bodyPr>
          <a:lstStyle/>
          <a:p>
            <a:pPr algn="ctr"/>
            <a:r>
              <a:rPr sz="2000" b="1">
                <a:latin typeface="微软雅黑"/>
              </a:rPr>
              <a:t>过去</a:t>
            </a:r>
            <a:endParaRPr lang="en-US" altLang="zh-CN" sz="2000" b="1" dirty="0">
              <a:solidFill>
                <a:schemeClr val="bg1"/>
              </a:solidFill>
              <a:latin typeface="微软雅黑" pitchFamily="34" charset="-122"/>
              <a:ea typeface="微软雅黑" pitchFamily="34" charset="-122"/>
            </a:endParaRPr>
          </a:p>
          <a:p>
            <a:pPr algn="ctr"/>
            <a:r>
              <a:rPr sz="2000" b="1">
                <a:latin typeface="微软雅黑"/>
              </a:rPr>
              <a:t>故障后再找人</a:t>
            </a:r>
          </a:p>
        </p:txBody>
      </p:sp>
      <p:sp>
        <p:nvSpPr>
          <p:cNvPr id="49" name="箭头: 燕尾形 10"/>
          <p:cNvSpPr/>
          <p:nvPr/>
        </p:nvSpPr>
        <p:spPr>
          <a:xfrm>
            <a:off x="1343858" y="2340421"/>
            <a:ext cx="1587500" cy="463550"/>
          </a:xfrm>
          <a:prstGeom prst="notchedRightArrow">
            <a:avLst>
              <a:gd name="adj1" fmla="val 41780"/>
              <a:gd name="adj2" fmla="val 59589"/>
            </a:avLst>
          </a:prstGeom>
          <a:gradFill>
            <a:gsLst>
              <a:gs pos="1000">
                <a:srgbClr val="2DBEFF">
                  <a:alpha val="53000"/>
                </a:srgbClr>
              </a:gs>
              <a:gs pos="2000">
                <a:schemeClr val="accent4">
                  <a:alpha val="100000"/>
                </a:schemeClr>
              </a:gs>
              <a:gs pos="91000">
                <a:srgbClr val="2DBEFF">
                  <a:alpha val="2000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609215" y="2179955"/>
            <a:ext cx="1587500" cy="829945"/>
          </a:xfrm>
          <a:prstGeom prst="rect">
            <a:avLst/>
          </a:prstGeom>
          <a:noFill/>
        </p:spPr>
        <p:txBody>
          <a:bodyPr vert="horz" wrap="square" rtlCol="0">
            <a:noAutofit/>
          </a:bodyPr>
          <a:lstStyle/>
          <a:p>
            <a:pPr algn="ctr"/>
            <a:r>
              <a:rPr sz="2000" b="1">
                <a:latin typeface="微软雅黑"/>
              </a:rPr>
              <a:t>现在</a:t>
            </a:r>
            <a:endParaRPr lang="zh-CN" altLang="en-US" sz="2000" b="1" dirty="0">
              <a:solidFill>
                <a:schemeClr val="bg1"/>
              </a:solidFill>
              <a:latin typeface="微软雅黑" pitchFamily="34" charset="-122"/>
              <a:ea typeface="微软雅黑" pitchFamily="34" charset="-122"/>
            </a:endParaRPr>
          </a:p>
          <a:p>
            <a:pPr algn="ctr"/>
            <a:r>
              <a:rPr sz="2000" b="1">
                <a:latin typeface="微软雅黑"/>
              </a:rPr>
              <a:t>模型预警 + 协同派单</a:t>
            </a:r>
          </a:p>
        </p:txBody>
      </p:sp>
      <p:sp>
        <p:nvSpPr>
          <p:cNvPr id="51" name="文本框 50"/>
          <p:cNvSpPr txBox="1"/>
          <p:nvPr/>
        </p:nvSpPr>
        <p:spPr>
          <a:xfrm>
            <a:off x="1863463" y="2214405"/>
            <a:ext cx="357790" cy="715581"/>
          </a:xfrm>
          <a:prstGeom prst="rect">
            <a:avLst/>
          </a:prstGeom>
          <a:noFill/>
        </p:spPr>
        <p:txBody>
          <a:bodyPr wrap="none" rtlCol="0">
            <a:spAutoFit/>
          </a:bodyPr>
          <a:lstStyle/>
          <a:p>
            <a:r>
              <a:rPr lang="zh-CN" altLang="en-US" b="1" dirty="0">
                <a:solidFill>
                  <a:schemeClr val="bg1"/>
                </a:solidFill>
                <a:latin typeface="微软雅黑" pitchFamily="34" charset="-122"/>
                <a:ea typeface="微软雅黑" pitchFamily="34" charset="-122"/>
              </a:rPr>
              <a:t>转</a:t>
            </a:r>
            <a:endParaRPr lang="en-US" altLang="zh-CN" b="1" dirty="0">
              <a:solidFill>
                <a:schemeClr val="bg1"/>
              </a:solidFill>
              <a:latin typeface="微软雅黑" pitchFamily="34" charset="-122"/>
              <a:ea typeface="微软雅黑" pitchFamily="34" charset="-122"/>
            </a:endParaRPr>
          </a:p>
          <a:p>
            <a:endParaRPr lang="en-US" altLang="zh-CN" b="1" dirty="0">
              <a:solidFill>
                <a:schemeClr val="bg1"/>
              </a:solidFill>
              <a:latin typeface="微软雅黑" pitchFamily="34" charset="-122"/>
              <a:ea typeface="微软雅黑" pitchFamily="34" charset="-122"/>
            </a:endParaRPr>
          </a:p>
          <a:p>
            <a:r>
              <a:rPr lang="zh-CN" altLang="en-US" b="1" dirty="0">
                <a:solidFill>
                  <a:schemeClr val="bg1"/>
                </a:solidFill>
                <a:latin typeface="微软雅黑" pitchFamily="34" charset="-122"/>
                <a:ea typeface="微软雅黑" pitchFamily="34" charset="-122"/>
              </a:rPr>
              <a:t>变</a:t>
            </a:r>
            <a:endParaRPr lang="zh-CN" altLang="en-US" b="1" dirty="0">
              <a:solidFill>
                <a:schemeClr val="bg1"/>
              </a:solidFill>
              <a:latin typeface="微软雅黑" pitchFamily="34" charset="-122"/>
              <a:ea typeface="微软雅黑" pitchFamily="34" charset="-122"/>
            </a:endParaRPr>
          </a:p>
        </p:txBody>
      </p:sp>
      <p:sp>
        <p:nvSpPr>
          <p:cNvPr id="82" name="Watermark"/>
          <p:cNvSpPr txBox="1"/>
          <p:nvPr/>
        </p:nvSpPr>
        <p:spPr>
          <a:xfrm>
            <a:off x="6836000" y="4685500"/>
            <a:ext cx="2200000" cy="350000"/>
          </a:xfrm>
          <a:prstGeom prst="rect">
            <a:avLst/>
          </a:prstGeom>
          <a:noFill/>
          <a:ln>
            <a:noFill/>
          </a:ln>
        </p:spPr>
        <p:txBody>
          <a:bodyPr wrap="square" lIns="0" tIns="0" rIns="91440" bIns="45720" rtlCol="0" anchor="b"/>
          <a:lstStyle/>
          <a:p>
            <a:pPr algn="r"/>
            <a:r>
              <a:rPr lang="zh-CN" sz="1600" dirty="0">
                <a:solidFill>
                  <a:srgbClr val="808080">
                    <a:alpha val="19999"/>
                  </a:srgbClr>
                </a:solidFill>
                <a:latin typeface="Arial" panose="020B0604020202090204"/>
                <a:ea typeface="宋体"/>
              </a:rPr>
              <a:t>AI 生成</a:t>
            </a:r>
            <a:endParaRPr lang="zh-CN" sz="1600" dirty="0">
              <a:solidFill>
                <a:srgbClr val="808080">
                  <a:alpha val="19999"/>
                </a:srgbClr>
              </a:solidFill>
              <a:latin typeface="Arial" panose="020B0604020202090204"/>
              <a:ea typeface="宋体"/>
            </a:endParaRPr>
          </a:p>
        </p:txBody>
      </p:sp>
      <p:sp>
        <p:nvSpPr>
          <p:cNvPr id="3" name="Shape 7"/>
          <p:cNvSpPr/>
          <p:nvPr/>
        </p:nvSpPr>
        <p:spPr bwMode="auto">
          <a:xfrm>
            <a:off x="6926845" y="3647299"/>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5" name="文本框 4"/>
          <p:cNvSpPr txBox="1"/>
          <p:nvPr/>
        </p:nvSpPr>
        <p:spPr>
          <a:xfrm>
            <a:off x="7075381" y="4145729"/>
            <a:ext cx="1741786" cy="284693"/>
          </a:xfrm>
          <a:prstGeom prst="rect">
            <a:avLst/>
          </a:prstGeom>
          <a:noFill/>
        </p:spPr>
        <p:txBody>
          <a:bodyPr wrap="square">
            <a:spAutoFit/>
          </a:bodyPr>
          <a:lstStyle/>
          <a:p>
            <a:pPr marL="0" indent="0" algn="ctr">
              <a:buNone/>
            </a:pPr>
            <a:r>
              <a:rPr lang="zh-CN" altLang="en-US" sz="1250" b="1" dirty="0">
                <a:solidFill>
                  <a:schemeClr val="bg1"/>
                </a:solidFill>
                <a:latin typeface="微软雅黑" pitchFamily="34" charset="0"/>
                <a:ea typeface="微软雅黑" pitchFamily="34" charset="-122"/>
                <a:cs typeface="微软雅黑" pitchFamily="34" charset="-120"/>
              </a:rPr>
              <a:t>平台工单平均响应</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6" name="文本框 5"/>
          <p:cNvSpPr txBox="1"/>
          <p:nvPr/>
        </p:nvSpPr>
        <p:spPr>
          <a:xfrm>
            <a:off x="7075381" y="3692969"/>
            <a:ext cx="1741786" cy="553998"/>
          </a:xfrm>
          <a:prstGeom prst="rect">
            <a:avLst/>
          </a:prstGeom>
          <a:noFill/>
        </p:spPr>
        <p:txBody>
          <a:bodyPr wrap="square">
            <a:spAutoFit/>
          </a:bodyPr>
          <a:lstStyle/>
          <a:p>
            <a:pPr algn="ctr"/>
            <a:r>
              <a:rPr lang="en-US" altLang="zh-CN" sz="3000" b="1" kern="0" spc="50" dirty="0">
                <a:solidFill>
                  <a:srgbClr val="FFC000"/>
                </a:solidFill>
                <a:latin typeface="微软雅黑" pitchFamily="34" charset="0"/>
                <a:ea typeface="微软雅黑" pitchFamily="34" charset="-122"/>
                <a:cs typeface="微软雅黑" pitchFamily="34" charset="-120"/>
              </a:rPr>
              <a:t>0.38小时</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8" name="Shape 7"/>
          <p:cNvSpPr/>
          <p:nvPr/>
        </p:nvSpPr>
        <p:spPr bwMode="auto">
          <a:xfrm>
            <a:off x="7006604" y="1682428"/>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9" name="文本框 8"/>
          <p:cNvSpPr txBox="1"/>
          <p:nvPr/>
        </p:nvSpPr>
        <p:spPr>
          <a:xfrm>
            <a:off x="7164665" y="2169428"/>
            <a:ext cx="1735914" cy="283210"/>
          </a:xfrm>
          <a:prstGeom prst="rect">
            <a:avLst/>
          </a:prstGeom>
          <a:noFill/>
        </p:spPr>
        <p:txBody>
          <a:bodyPr wrap="square">
            <a:spAutoFit/>
          </a:bodyPr>
          <a:lstStyle/>
          <a:p>
            <a:pPr marL="0" indent="0" algn="ctr">
              <a:buNone/>
            </a:pPr>
            <a:r>
              <a:rPr lang="zh-CN" altLang="en-US" sz="1250" b="1" dirty="0">
                <a:solidFill>
                  <a:schemeClr val="bg1"/>
                </a:solidFill>
                <a:latin typeface="微软雅黑" pitchFamily="34" charset="0"/>
                <a:ea typeface="微软雅黑" pitchFamily="34" charset="-122"/>
                <a:cs typeface="微软雅黑" pitchFamily="34" charset="-120"/>
              </a:rPr>
              <a:t>报修抢修</a:t>
            </a:r>
            <a:r>
              <a:rPr lang="zh-CN" altLang="en-US" sz="1250" b="1" dirty="0">
                <a:solidFill>
                  <a:schemeClr val="bg1"/>
                </a:solidFill>
                <a:latin typeface="微软雅黑" pitchFamily="34" charset="0"/>
                <a:ea typeface="微软雅黑" pitchFamily="34" charset="-122"/>
                <a:cs typeface="微软雅黑" pitchFamily="34" charset="-120"/>
              </a:rPr>
              <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10" name="文本框 9"/>
          <p:cNvSpPr txBox="1"/>
          <p:nvPr/>
        </p:nvSpPr>
        <p:spPr>
          <a:xfrm>
            <a:off x="7220544" y="1649358"/>
            <a:ext cx="1735915" cy="553998"/>
          </a:xfrm>
          <a:prstGeom prst="rect">
            <a:avLst/>
          </a:prstGeom>
          <a:noFill/>
        </p:spPr>
        <p:txBody>
          <a:bodyPr wrap="square">
            <a:spAutoFit/>
          </a:bodyPr>
          <a:lstStyle/>
          <a:p>
            <a:pPr algn="ctr"/>
            <a:r>
              <a:rPr lang="en-US" altLang="zh-CN" sz="3000" b="1" kern="0" spc="50" dirty="0">
                <a:solidFill>
                  <a:srgbClr val="FFC000"/>
                </a:solidFill>
                <a:latin typeface="微软雅黑" pitchFamily="34" charset="0"/>
                <a:ea typeface="微软雅黑" pitchFamily="34" charset="-122"/>
                <a:cs typeface="微软雅黑" pitchFamily="34" charset="-120"/>
              </a:rPr>
              <a:t>18次</a:t>
            </a:r>
            <a:r>
              <a:rPr lang="zh-CN" altLang="en-US" sz="3000" b="1" kern="0" spc="50" dirty="0">
                <a:solidFill>
                  <a:srgbClr val="FFC000"/>
                </a:solidFill>
                <a:latin typeface="微软雅黑" pitchFamily="34" charset="0"/>
                <a:ea typeface="微软雅黑" pitchFamily="34" charset="-122"/>
                <a:cs typeface="微软雅黑" pitchFamily="34" charset="-120"/>
              </a:rPr>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7" name="Shape 13"/>
          <p:cNvSpPr/>
          <p:nvPr/>
        </p:nvSpPr>
        <p:spPr>
          <a:xfrm>
            <a:off x="163195" y="930910"/>
            <a:ext cx="3696970" cy="357759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0" name="Text 12"/>
          <p:cNvSpPr/>
          <p:nvPr/>
        </p:nvSpPr>
        <p:spPr>
          <a:xfrm>
            <a:off x="648843" y="1031408"/>
            <a:ext cx="384048" cy="384048"/>
          </a:xfrm>
          <a:prstGeom prst="rect">
            <a:avLst/>
          </a:prstGeom>
          <a:noFill/>
        </p:spPr>
        <p:txBody>
          <a:bodyPr wrap="square" lIns="0" tIns="0" rIns="0" bIns="0" rtlCol="0" anchor="ctr">
            <a:normAutofit/>
          </a:bodyPr>
          <a:lstStyle/>
          <a:p>
            <a:pPr marL="0" indent="0" algn="ctr">
              <a:buNone/>
            </a:pPr>
            <a:endParaRPr lang="en-US" sz="1400" dirty="0"/>
          </a:p>
        </p:txBody>
      </p:sp>
      <p:sp>
        <p:nvSpPr>
          <p:cNvPr id="12" name="Text 14"/>
          <p:cNvSpPr/>
          <p:nvPr/>
        </p:nvSpPr>
        <p:spPr>
          <a:xfrm>
            <a:off x="1224915" y="1013120"/>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STEP 1  有效烤能</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23" name="Text 19"/>
          <p:cNvSpPr/>
          <p:nvPr/>
        </p:nvSpPr>
        <p:spPr>
          <a:xfrm>
            <a:off x="1214120" y="2213102"/>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STEP 2  组合评价</a:t>
            </a:r>
            <a:endParaRPr lang="zh-CN" altLang="en-US" sz="1250" b="1" dirty="0">
              <a:solidFill>
                <a:schemeClr val="bg1"/>
              </a:solidFill>
              <a:latin typeface="微软雅黑" pitchFamily="34" charset="0"/>
              <a:ea typeface="微软雅黑" pitchFamily="34" charset="-122"/>
            </a:endParaRPr>
          </a:p>
        </p:txBody>
      </p:sp>
      <p:sp>
        <p:nvSpPr>
          <p:cNvPr id="31" name="Text 24"/>
          <p:cNvSpPr/>
          <p:nvPr/>
        </p:nvSpPr>
        <p:spPr>
          <a:xfrm>
            <a:off x="1224915" y="3718948"/>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STEP 3  建设建议</a:t>
            </a:r>
            <a:endParaRPr lang="en-US" sz="1250" b="1" dirty="0" err="1">
              <a:solidFill>
                <a:schemeClr val="bg1"/>
              </a:solidFill>
              <a:latin typeface="微软雅黑" pitchFamily="34" charset="0"/>
              <a:ea typeface="微软雅黑" pitchFamily="34" charset="-122"/>
            </a:endParaRPr>
          </a:p>
        </p:txBody>
      </p:sp>
      <p:sp>
        <p:nvSpPr>
          <p:cNvPr id="7" name="矩形 6"/>
          <p:cNvSpPr>
            <a:spLocks noGrp="1"/>
          </p:cNvSpPr>
          <p:nvPr/>
        </p:nvSpPr>
        <p:spPr>
          <a:xfrm>
            <a:off x="1224915"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健康结果</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1" name="矩形 10"/>
          <p:cNvSpPr>
            <a:spLocks noGrp="1"/>
          </p:cNvSpPr>
          <p:nvPr/>
        </p:nvSpPr>
        <p:spPr>
          <a:xfrm>
            <a:off x="1224915" y="1717040"/>
            <a:ext cx="104711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种烟规模</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4" name="矩形 13"/>
          <p:cNvSpPr>
            <a:spLocks noGrp="1"/>
          </p:cNvSpPr>
          <p:nvPr/>
        </p:nvSpPr>
        <p:spPr>
          <a:xfrm>
            <a:off x="2509520" y="1716405"/>
            <a:ext cx="104711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发展条件</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7" name="矩形 16"/>
          <p:cNvSpPr>
            <a:spLocks noGrp="1"/>
          </p:cNvSpPr>
          <p:nvPr/>
        </p:nvSpPr>
        <p:spPr>
          <a:xfrm>
            <a:off x="2479040" y="1325164"/>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容量 / 使用状态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4" name="矩形 23"/>
          <p:cNvSpPr>
            <a:spLocks noGrp="1"/>
          </p:cNvSpPr>
          <p:nvPr/>
        </p:nvSpPr>
        <p:spPr>
          <a:xfrm>
            <a:off x="1911350" y="4103631"/>
            <a:ext cx="962024"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选址与新建建议</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6" name="矩形 35"/>
          <p:cNvSpPr>
            <a:spLocks noGrp="1"/>
          </p:cNvSpPr>
          <p:nvPr/>
        </p:nvSpPr>
        <p:spPr>
          <a:xfrm>
            <a:off x="1224915" y="2485390"/>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AHP主观权重</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38" name="矩形 37"/>
          <p:cNvSpPr>
            <a:spLocks noGrp="1"/>
          </p:cNvSpPr>
          <p:nvPr/>
        </p:nvSpPr>
        <p:spPr>
          <a:xfrm>
            <a:off x="2576039" y="248031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熵权客观校正</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44" name="矩形 43"/>
          <p:cNvSpPr>
            <a:spLocks noGrp="1"/>
          </p:cNvSpPr>
          <p:nvPr/>
        </p:nvSpPr>
        <p:spPr>
          <a:xfrm>
            <a:off x="1521460" y="2913380"/>
            <a:ext cx="1501140" cy="2667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有效烤能 + 真实缺口</a:t>
            </a:r>
            <a:r>
              <a:rPr lang="en-US" altLang="zh-CN" sz="1000" b="1" dirty="0">
                <a:solidFill>
                  <a:srgbClr val="33423A"/>
                </a:solidFill>
                <a:latin typeface="微软雅黑" pitchFamily="34" charset="0"/>
                <a:ea typeface="微软雅黑" pitchFamily="34" charset="0"/>
                <a:sym typeface="+mn-ea"/>
              </a:rPr>
              <a:t/>
            </a:r>
            <a:r>
              <a:rPr lang="zh-CN" altLang="en-US" sz="1000" b="1" dirty="0">
                <a:solidFill>
                  <a:srgbClr val="33423A"/>
                </a:solidFill>
                <a:latin typeface="微软雅黑" pitchFamily="34" charset="0"/>
                <a:ea typeface="微软雅黑" pitchFamily="34" charset="0"/>
                <a:sym typeface="+mn-ea"/>
              </a:rPr>
              <a:t/>
            </a:r>
            <a:endParaRPr lang="zh-CN" altLang="en-US" sz="1000" b="1" dirty="0">
              <a:solidFill>
                <a:srgbClr val="33423A"/>
              </a:solidFill>
              <a:latin typeface="微软雅黑" pitchFamily="34" charset="0"/>
              <a:ea typeface="微软雅黑" pitchFamily="34" charset="0"/>
              <a:sym typeface="+mn-ea"/>
            </a:endParaRPr>
          </a:p>
        </p:txBody>
      </p:sp>
      <p:sp>
        <p:nvSpPr>
          <p:cNvPr id="48" name="文本框 47"/>
          <p:cNvSpPr txBox="1"/>
          <p:nvPr/>
        </p:nvSpPr>
        <p:spPr>
          <a:xfrm>
            <a:off x="5161452" y="4212549"/>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助力决策    合理配置</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ctr"/>
            <a:r>
              <a:rPr lang="en-US" altLang="zh-CN" sz="3600" b="1" dirty="0">
                <a:solidFill>
                  <a:srgbClr val="F1A63A"/>
                </a:solidFill>
                <a:effectLst/>
                <a:latin typeface="微软雅黑" pitchFamily="34" charset="0"/>
                <a:ea typeface="微软雅黑" pitchFamily="34" charset="0"/>
                <a:cs typeface="微软雅黑" pitchFamily="34" charset="0"/>
                <a:sym typeface="+mn-ea"/>
              </a:rPr>
              <a:t>2模②  千亩村发展导引模型</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9" name="组合 8"/>
          <p:cNvGrpSpPr/>
          <p:nvPr/>
        </p:nvGrpSpPr>
        <p:grpSpPr>
          <a:xfrm flipV="1">
            <a:off x="600075" y="444709"/>
            <a:ext cx="7943849" cy="255680"/>
            <a:chOff x="1137172" y="327660"/>
            <a:chExt cx="9917656" cy="342102"/>
          </a:xfrm>
          <a:solidFill>
            <a:srgbClr val="02F3FE"/>
          </a:solidFill>
        </p:grpSpPr>
        <p:sp>
          <p:nvSpPr>
            <p:cNvPr id="13" name="平行四边形 12"/>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5" name="平行四边形 14"/>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2" name="直接连接符 2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5" name="平行四边形 2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8" name="平行四边形 27"/>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3" name="直接连接符 32"/>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4" name="组合 33"/>
            <p:cNvGrpSpPr/>
            <p:nvPr/>
          </p:nvGrpSpPr>
          <p:grpSpPr>
            <a:xfrm>
              <a:off x="3648369" y="327660"/>
              <a:ext cx="4895262" cy="118835"/>
              <a:chOff x="-1626523" y="327660"/>
              <a:chExt cx="4895262" cy="118835"/>
            </a:xfrm>
            <a:grpFill/>
          </p:grpSpPr>
          <p:cxnSp>
            <p:nvCxnSpPr>
              <p:cNvPr id="35" name="直接连接符 3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96" name="Text 2"/>
          <p:cNvSpPr/>
          <p:nvPr/>
        </p:nvSpPr>
        <p:spPr>
          <a:xfrm>
            <a:off x="121920" y="1208405"/>
            <a:ext cx="595630" cy="2153285"/>
          </a:xfrm>
          <a:prstGeom prst="rect">
            <a:avLst/>
          </a:prstGeom>
          <a:noFill/>
        </p:spPr>
        <p:txBody>
          <a:bodyPr vert="eaVert" wrap="square" lIns="0" tIns="0" rIns="0" bIns="0" rtlCol="0" anchor="ctr"/>
          <a:lstStyle/>
          <a:p>
            <a:pPr marL="0" indent="0">
              <a:buNone/>
            </a:pPr>
            <a:r>
              <a:rPr lang="zh-CN" altLang="en-US" sz="2000" b="1" kern="0" spc="50" dirty="0">
                <a:solidFill>
                  <a:srgbClr val="FFC000"/>
                </a:solidFill>
                <a:latin typeface="微软雅黑" pitchFamily="34" charset="0"/>
                <a:ea typeface="微软雅黑" pitchFamily="34" charset="0"/>
                <a:cs typeface="微软雅黑" pitchFamily="34" charset="-120"/>
              </a:rPr>
              <a:t>村级决策</a:t>
            </a:r>
            <a:r>
              <a:rPr lang="zh-CN" altLang="en-US" sz="2000" b="1" kern="0" spc="50" dirty="0">
                <a:solidFill>
                  <a:srgbClr val="FFC000"/>
                </a:solidFill>
                <a:latin typeface="微软雅黑" pitchFamily="34" charset="0"/>
                <a:ea typeface="微软雅黑" pitchFamily="34" charset="0"/>
                <a:cs typeface="微软雅黑" pitchFamily="34" charset="-120"/>
              </a:rPr>
              <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645668" y="3719322"/>
            <a:ext cx="384048" cy="384048"/>
          </a:xfrm>
          <a:prstGeom prst="ellipse">
            <a:avLst/>
          </a:prstGeom>
          <a:solidFill>
            <a:srgbClr val="499B67"/>
          </a:solidFill>
        </p:spPr>
      </p:sp>
      <p:sp>
        <p:nvSpPr>
          <p:cNvPr id="46" name="Text 22"/>
          <p:cNvSpPr/>
          <p:nvPr/>
        </p:nvSpPr>
        <p:spPr>
          <a:xfrm>
            <a:off x="645668" y="37193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7" name="Shape 11"/>
          <p:cNvSpPr/>
          <p:nvPr/>
        </p:nvSpPr>
        <p:spPr>
          <a:xfrm>
            <a:off x="656463" y="1000927"/>
            <a:ext cx="384048" cy="384048"/>
          </a:xfrm>
          <a:prstGeom prst="ellipse">
            <a:avLst/>
          </a:prstGeom>
          <a:solidFill>
            <a:srgbClr val="173F2A"/>
          </a:solidFill>
        </p:spPr>
      </p:sp>
      <p:sp>
        <p:nvSpPr>
          <p:cNvPr id="49" name="Text 12"/>
          <p:cNvSpPr/>
          <p:nvPr/>
        </p:nvSpPr>
        <p:spPr>
          <a:xfrm>
            <a:off x="656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645668" y="2487421"/>
            <a:ext cx="384048" cy="384048"/>
          </a:xfrm>
          <a:prstGeom prst="ellipse">
            <a:avLst/>
          </a:prstGeom>
          <a:solidFill>
            <a:srgbClr val="2F7A4F"/>
          </a:solidFill>
        </p:spPr>
        <p:txBody>
          <a:bodyPr/>
          <a:p>
            <a:endParaRPr lang="zh-CN" altLang="en-US"/>
          </a:p>
        </p:txBody>
      </p:sp>
      <p:sp>
        <p:nvSpPr>
          <p:cNvPr id="50" name="Text 17"/>
          <p:cNvSpPr/>
          <p:nvPr/>
        </p:nvSpPr>
        <p:spPr>
          <a:xfrm>
            <a:off x="645795" y="2487295"/>
            <a:ext cx="373380" cy="384175"/>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52" name="等腰三角形 51"/>
          <p:cNvSpPr/>
          <p:nvPr/>
        </p:nvSpPr>
        <p:spPr>
          <a:xfrm rot="10800000">
            <a:off x="2148840" y="343725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nvSpPr>
        <p:spPr>
          <a:xfrm rot="10800000">
            <a:off x="2148840" y="211391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717550" y="4612640"/>
            <a:ext cx="2670175" cy="337185"/>
          </a:xfrm>
          <a:prstGeom prst="rect">
            <a:avLst/>
          </a:prstGeom>
          <a:noFill/>
        </p:spPr>
        <p:txBody>
          <a:bodyPr wrap="square">
            <a:spAutoFit/>
          </a:bodyPr>
          <a:lstStyle/>
          <a:p>
            <a:pPr algn="ctr"/>
            <a:r>
              <a:rPr lang="zh-CN" altLang="en-US" sz="1600" b="1" dirty="0">
                <a:solidFill>
                  <a:schemeClr val="bg1"/>
                </a:solidFill>
                <a:latin typeface="黑体" charset="0"/>
                <a:ea typeface="黑体" charset="0"/>
                <a:cs typeface="黑体" charset="0"/>
                <a:sym typeface="+mn-ea"/>
              </a:rPr>
              <a:t>回答：真缺吗？缺多少？建哪里？</a:t>
            </a:r>
            <a:r>
              <a:rPr lang="zh-CN" altLang="en-US" sz="1600" b="1" dirty="0">
                <a:solidFill>
                  <a:schemeClr val="accent6">
                    <a:lumMod val="60000"/>
                    <a:lumOff val="40000"/>
                  </a:schemeClr>
                </a:solidFill>
                <a:latin typeface="黑体" charset="0"/>
                <a:ea typeface="黑体" charset="0"/>
                <a:cs typeface="黑体" charset="0"/>
                <a:sym typeface="+mn-ea"/>
              </a:rPr>
              <a:t/>
            </a:r>
            <a:endParaRPr lang="zh-CN" altLang="en-US" sz="1200" dirty="0">
              <a:solidFill>
                <a:schemeClr val="accent6">
                  <a:lumMod val="60000"/>
                  <a:lumOff val="40000"/>
                </a:schemeClr>
              </a:solidFill>
              <a:latin typeface="黑体" charset="0"/>
              <a:ea typeface="黑体" charset="0"/>
              <a:cs typeface="黑体" charset="0"/>
            </a:endParaRPr>
          </a:p>
        </p:txBody>
      </p:sp>
      <p:sp>
        <p:nvSpPr>
          <p:cNvPr id="97" name="Rounded Rectangle 96"/>
          <p:cNvSpPr/>
          <p:nvPr/>
        </p:nvSpPr>
        <p:spPr>
          <a:xfrm>
            <a:off x="4434840" y="914400"/>
            <a:ext cx="4343400" cy="333756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image.png"/>
          <p:cNvPicPr>
            <a:picLocks noChangeAspect="1"/>
          </p:cNvPicPr>
          <p:nvPr/>
        </p:nvPicPr>
        <p:blipFill>
          <a:blip r:embed="rId5"/>
          <a:stretch>
            <a:fillRect/>
          </a:stretch>
        </p:blipFill>
        <p:spPr>
          <a:xfrm>
            <a:off x="4535424" y="1024128"/>
            <a:ext cx="4142232" cy="310896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xit" presetSubtype="4" fill="hold" grpId="1" nodeType="afterEffect">
                                  <p:stCondLst>
                                    <p:cond delay="0"/>
                                  </p:stCondLst>
                                  <p:childTnLst>
                                    <p:anim calcmode="lin" valueType="num">
                                      <p:cBhvr additive="base">
                                        <p:cTn id="11" dur="500"/>
                                        <p:tgtEl>
                                          <p:spTgt spid="52"/>
                                        </p:tgtEl>
                                        <p:attrNameLst>
                                          <p:attrName>ppt_x</p:attrName>
                                        </p:attrNameLst>
                                      </p:cBhvr>
                                      <p:tavLst>
                                        <p:tav tm="0">
                                          <p:val>
                                            <p:strVal val="ppt_x"/>
                                          </p:val>
                                        </p:tav>
                                        <p:tav tm="100000">
                                          <p:val>
                                            <p:strVal val="ppt_x"/>
                                          </p:val>
                                        </p:tav>
                                      </p:tavLst>
                                    </p:anim>
                                    <p:anim calcmode="lin" valueType="num">
                                      <p:cBhvr additive="base">
                                        <p:cTn id="12" dur="500"/>
                                        <p:tgtEl>
                                          <p:spTgt spid="52"/>
                                        </p:tgtEl>
                                        <p:attrNameLst>
                                          <p:attrName>ppt_y</p:attrName>
                                        </p:attrNameLst>
                                      </p:cBhvr>
                                      <p:tavLst>
                                        <p:tav tm="0">
                                          <p:val>
                                            <p:strVal val="ppt_y"/>
                                          </p:val>
                                        </p:tav>
                                        <p:tav tm="100000">
                                          <p:val>
                                            <p:strVal val="1+ppt_h/2"/>
                                          </p:val>
                                        </p:tav>
                                      </p:tavLst>
                                    </p:anim>
                                    <p:set>
                                      <p:cBhvr>
                                        <p:cTn id="13" dur="1" fill="hold">
                                          <p:stCondLst>
                                            <p:cond delay="499"/>
                                          </p:stCondLst>
                                        </p:cTn>
                                        <p:tgtEl>
                                          <p:spTgt spid="52"/>
                                        </p:tgtEl>
                                        <p:attrNameLst>
                                          <p:attrName>style.visibility</p:attrName>
                                        </p:attrNameLst>
                                      </p:cBhvr>
                                      <p:to>
                                        <p:strVal val="hidden"/>
                                      </p:to>
                                    </p:set>
                                  </p:childTnLst>
                                </p:cTn>
                              </p:par>
                            </p:childTnLst>
                          </p:cTn>
                        </p:par>
                        <p:par>
                          <p:cTn id="14" fill="hold">
                            <p:stCondLst>
                              <p:cond delay="1000"/>
                            </p:stCondLst>
                            <p:childTnLst>
                              <p:par>
                                <p:cTn id="15" presetID="2" presetClass="entr" presetSubtype="1" fill="hold" grpId="0" nodeType="after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ppt_x"/>
                                          </p:val>
                                        </p:tav>
                                        <p:tav tm="100000">
                                          <p:val>
                                            <p:strVal val="#ppt_x"/>
                                          </p:val>
                                        </p:tav>
                                      </p:tavLst>
                                    </p:anim>
                                    <p:anim calcmode="lin" valueType="num">
                                      <p:cBhvr additive="base">
                                        <p:cTn id="18" dur="500" fill="hold"/>
                                        <p:tgtEl>
                                          <p:spTgt spid="54"/>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xit" presetSubtype="4" fill="hold" grpId="1" nodeType="afterEffect">
                                  <p:stCondLst>
                                    <p:cond delay="0"/>
                                  </p:stCondLst>
                                  <p:childTnLst>
                                    <p:anim calcmode="lin" valueType="num">
                                      <p:cBhvr additive="base">
                                        <p:cTn id="21" dur="500"/>
                                        <p:tgtEl>
                                          <p:spTgt spid="54"/>
                                        </p:tgtEl>
                                        <p:attrNameLst>
                                          <p:attrName>ppt_x</p:attrName>
                                        </p:attrNameLst>
                                      </p:cBhvr>
                                      <p:tavLst>
                                        <p:tav tm="0">
                                          <p:val>
                                            <p:strVal val="ppt_x"/>
                                          </p:val>
                                        </p:tav>
                                        <p:tav tm="100000">
                                          <p:val>
                                            <p:strVal val="ppt_x"/>
                                          </p:val>
                                        </p:tav>
                                      </p:tavLst>
                                    </p:anim>
                                    <p:anim calcmode="lin" valueType="num">
                                      <p:cBhvr additive="base">
                                        <p:cTn id="22" dur="500"/>
                                        <p:tgtEl>
                                          <p:spTgt spid="54"/>
                                        </p:tgtEl>
                                        <p:attrNameLst>
                                          <p:attrName>ppt_y</p:attrName>
                                        </p:attrNameLst>
                                      </p:cBhvr>
                                      <p:tavLst>
                                        <p:tav tm="0">
                                          <p:val>
                                            <p:strVal val="ppt_y"/>
                                          </p:val>
                                        </p:tav>
                                        <p:tav tm="100000">
                                          <p:val>
                                            <p:strVal val="1+ppt_h/2"/>
                                          </p:val>
                                        </p:tav>
                                      </p:tavLst>
                                    </p:anim>
                                    <p:set>
                                      <p:cBhvr>
                                        <p:cTn id="23" dur="1" fill="hold">
                                          <p:stCondLst>
                                            <p:cond delay="499"/>
                                          </p:stCondLst>
                                        </p:cTn>
                                        <p:tgtEl>
                                          <p:spTgt spid="54"/>
                                        </p:tgtEl>
                                        <p:attrNameLst>
                                          <p:attrName>style.visibility</p:attrName>
                                        </p:attrNameLst>
                                      </p:cBhvr>
                                      <p:to>
                                        <p:strVal val="hidden"/>
                                      </p:to>
                                    </p:set>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500"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anim calcmode="lin" valueType="num">
                                      <p:cBhvr>
                                        <p:cTn id="28" dur="500" fill="hold"/>
                                        <p:tgtEl>
                                          <p:spTgt spid="57"/>
                                        </p:tgtEl>
                                        <p:attrNameLst>
                                          <p:attrName>ppt_x</p:attrName>
                                        </p:attrNameLst>
                                      </p:cBhvr>
                                      <p:tavLst>
                                        <p:tav tm="0">
                                          <p:val>
                                            <p:strVal val="#ppt_x"/>
                                          </p:val>
                                        </p:tav>
                                        <p:tav tm="100000">
                                          <p:val>
                                            <p:strVal val="#ppt_x"/>
                                          </p:val>
                                        </p:tav>
                                      </p:tavLst>
                                    </p:anim>
                                    <p:anim calcmode="lin" valueType="num">
                                      <p:cBhvr>
                                        <p:cTn id="29" dur="5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2" grpId="1" bldLvl="0" animBg="1"/>
      <p:bldP spid="54" grpId="0" bldLvl="0" animBg="1"/>
      <p:bldP spid="54" grpId="1" bldLvl="0" animBg="1"/>
      <p:bldP spid="5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7" name="Shape 13"/>
          <p:cNvSpPr/>
          <p:nvPr/>
        </p:nvSpPr>
        <p:spPr>
          <a:xfrm>
            <a:off x="163195" y="930910"/>
            <a:ext cx="3728085" cy="357759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0" name="Text 12"/>
          <p:cNvSpPr/>
          <p:nvPr/>
        </p:nvSpPr>
        <p:spPr>
          <a:xfrm>
            <a:off x="902843" y="1031408"/>
            <a:ext cx="384048" cy="384048"/>
          </a:xfrm>
          <a:prstGeom prst="rect">
            <a:avLst/>
          </a:prstGeom>
          <a:noFill/>
        </p:spPr>
        <p:txBody>
          <a:bodyPr wrap="square" lIns="0" tIns="0" rIns="0" bIns="0" rtlCol="0" anchor="ctr">
            <a:normAutofit/>
          </a:bodyPr>
          <a:lstStyle/>
          <a:p>
            <a:pPr marL="0" indent="0" algn="ctr">
              <a:buNone/>
            </a:pPr>
            <a:endParaRPr lang="en-US" sz="1400" dirty="0"/>
          </a:p>
        </p:txBody>
      </p:sp>
      <p:sp>
        <p:nvSpPr>
          <p:cNvPr id="12" name="Text 14"/>
          <p:cNvSpPr/>
          <p:nvPr/>
        </p:nvSpPr>
        <p:spPr>
          <a:xfrm>
            <a:off x="1478915" y="1013120"/>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STEP 1  设情景</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23" name="Text 19"/>
          <p:cNvSpPr/>
          <p:nvPr/>
        </p:nvSpPr>
        <p:spPr>
          <a:xfrm>
            <a:off x="1468120" y="2213102"/>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STEP 2  动态重算</a:t>
            </a:r>
            <a:endParaRPr lang="zh-CN" altLang="en-US" sz="1250" b="1" dirty="0">
              <a:solidFill>
                <a:schemeClr val="bg1"/>
              </a:solidFill>
              <a:latin typeface="微软雅黑" pitchFamily="34" charset="0"/>
              <a:ea typeface="微软雅黑" pitchFamily="34" charset="-122"/>
            </a:endParaRPr>
          </a:p>
        </p:txBody>
      </p:sp>
      <p:sp>
        <p:nvSpPr>
          <p:cNvPr id="31" name="Text 24"/>
          <p:cNvSpPr/>
          <p:nvPr/>
        </p:nvSpPr>
        <p:spPr>
          <a:xfrm>
            <a:off x="1478915" y="3718948"/>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STEP 3  看改善</a:t>
            </a:r>
            <a:endParaRPr lang="en-US" sz="1250" b="1" dirty="0" err="1">
              <a:solidFill>
                <a:schemeClr val="bg1"/>
              </a:solidFill>
              <a:latin typeface="微软雅黑" pitchFamily="34" charset="0"/>
              <a:ea typeface="微软雅黑" pitchFamily="34" charset="-122"/>
            </a:endParaRPr>
          </a:p>
        </p:txBody>
      </p:sp>
      <p:sp>
        <p:nvSpPr>
          <p:cNvPr id="7" name="矩形 6"/>
          <p:cNvSpPr>
            <a:spLocks noGrp="1"/>
          </p:cNvSpPr>
          <p:nvPr/>
        </p:nvSpPr>
        <p:spPr>
          <a:xfrm>
            <a:off x="1444625"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当前规模</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7" name="矩形 16"/>
          <p:cNvSpPr>
            <a:spLocks noGrp="1"/>
          </p:cNvSpPr>
          <p:nvPr/>
        </p:nvSpPr>
        <p:spPr>
          <a:xfrm>
            <a:off x="2621280" y="1315639"/>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+2% / +5% / +10%</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0" name="矩形 19"/>
          <p:cNvSpPr>
            <a:spLocks noGrp="1"/>
          </p:cNvSpPr>
          <p:nvPr/>
        </p:nvSpPr>
        <p:spPr>
          <a:xfrm>
            <a:off x="2095203" y="1753200"/>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新增烤房数量</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2" name="矩形 31"/>
          <p:cNvSpPr>
            <a:spLocks noGrp="1"/>
          </p:cNvSpPr>
          <p:nvPr/>
        </p:nvSpPr>
        <p:spPr>
          <a:xfrm>
            <a:off x="2217419" y="4061139"/>
            <a:ext cx="962025"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输出建设建议</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40" name="矩形 39"/>
          <p:cNvSpPr>
            <a:spLocks noGrp="1"/>
          </p:cNvSpPr>
          <p:nvPr/>
        </p:nvSpPr>
        <p:spPr>
          <a:xfrm>
            <a:off x="2072005" y="2604770"/>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重算烤能 / 负载 / 缺口</a:t>
            </a:r>
            <a:endParaRPr lang="zh-CN" altLang="en-US" sz="1000" b="1" dirty="0">
              <a:solidFill>
                <a:srgbClr val="33423A"/>
              </a:solidFill>
              <a:latin typeface="微软雅黑" pitchFamily="34" charset="0"/>
              <a:ea typeface="微软雅黑" pitchFamily="34" charset="0"/>
              <a:sym typeface="+mn-ea"/>
            </a:endParaRPr>
          </a:p>
        </p:txBody>
      </p:sp>
      <p:sp>
        <p:nvSpPr>
          <p:cNvPr id="42" name="矩形 41"/>
          <p:cNvSpPr>
            <a:spLocks noGrp="1"/>
          </p:cNvSpPr>
          <p:nvPr/>
        </p:nvSpPr>
        <p:spPr>
          <a:xfrm>
            <a:off x="2113759" y="307213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比较建设前后</a:t>
            </a:r>
            <a:endParaRPr lang="zh-CN" altLang="en-US" sz="1000" b="1" dirty="0">
              <a:solidFill>
                <a:srgbClr val="33423A"/>
              </a:solidFill>
              <a:latin typeface="微软雅黑" pitchFamily="34" charset="0"/>
              <a:ea typeface="微软雅黑" pitchFamily="34" charset="0"/>
              <a:sym typeface="+mn-ea"/>
            </a:endParaRPr>
          </a:p>
        </p:txBody>
      </p:sp>
      <p:sp>
        <p:nvSpPr>
          <p:cNvPr id="48" name="文本框 47"/>
          <p:cNvSpPr txBox="1"/>
          <p:nvPr/>
        </p:nvSpPr>
        <p:spPr>
          <a:xfrm>
            <a:off x="5161452" y="4212549"/>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回答：建不建、建多少、建后有没有改善</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ctr"/>
            <a:r>
              <a:rPr lang="en-US" altLang="zh-CN" sz="3600" b="1" dirty="0">
                <a:solidFill>
                  <a:srgbClr val="F1A63A"/>
                </a:solidFill>
                <a:effectLst/>
                <a:latin typeface="微软雅黑" pitchFamily="34" charset="0"/>
                <a:ea typeface="微软雅黑" pitchFamily="34" charset="0"/>
                <a:cs typeface="微软雅黑" pitchFamily="34" charset="0"/>
                <a:sym typeface="+mn-ea"/>
              </a:rPr>
              <a:t>2模②  情景沙盘｜先把未来演一遍</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9" name="组合 8"/>
          <p:cNvGrpSpPr/>
          <p:nvPr/>
        </p:nvGrpSpPr>
        <p:grpSpPr>
          <a:xfrm flipV="1">
            <a:off x="600075" y="444709"/>
            <a:ext cx="7943849" cy="255680"/>
            <a:chOff x="1137172" y="327660"/>
            <a:chExt cx="9917656" cy="342102"/>
          </a:xfrm>
          <a:solidFill>
            <a:srgbClr val="02F3FE"/>
          </a:solidFill>
        </p:grpSpPr>
        <p:sp>
          <p:nvSpPr>
            <p:cNvPr id="13" name="平行四边形 12"/>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5" name="平行四边形 14"/>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2" name="直接连接符 2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5" name="平行四边形 2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8" name="平行四边形 27"/>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3" name="直接连接符 32"/>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4" name="组合 33"/>
            <p:cNvGrpSpPr/>
            <p:nvPr/>
          </p:nvGrpSpPr>
          <p:grpSpPr>
            <a:xfrm>
              <a:off x="3648369" y="327660"/>
              <a:ext cx="4895262" cy="118835"/>
              <a:chOff x="-1626523" y="327660"/>
              <a:chExt cx="4895262" cy="118835"/>
            </a:xfrm>
            <a:grpFill/>
          </p:grpSpPr>
          <p:cxnSp>
            <p:nvCxnSpPr>
              <p:cNvPr id="35" name="直接连接符 3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96" name="Text 2"/>
          <p:cNvSpPr/>
          <p:nvPr/>
        </p:nvSpPr>
        <p:spPr>
          <a:xfrm>
            <a:off x="307340" y="1208405"/>
            <a:ext cx="595630" cy="2153285"/>
          </a:xfrm>
          <a:prstGeom prst="rect">
            <a:avLst/>
          </a:prstGeom>
          <a:noFill/>
        </p:spPr>
        <p:txBody>
          <a:bodyPr vert="eaVert" wrap="square" lIns="0" tIns="0" rIns="0" bIns="0" rtlCol="0" anchor="ctr"/>
          <a:lstStyle/>
          <a:p>
            <a:pPr marL="0" indent="0">
              <a:buNone/>
            </a:pPr>
            <a:r>
              <a:rPr lang="zh-CN" altLang="en-US" sz="2000" b="1" kern="0" spc="50" dirty="0">
                <a:solidFill>
                  <a:srgbClr val="FFC000"/>
                </a:solidFill>
                <a:latin typeface="微软雅黑" pitchFamily="34" charset="0"/>
                <a:ea typeface="微软雅黑" pitchFamily="34" charset="0"/>
                <a:cs typeface="微软雅黑" pitchFamily="34" charset="-120"/>
              </a:rPr>
              <a:t>沙盘推演</a:t>
            </a:r>
            <a:r>
              <a:rPr lang="zh-CN" altLang="en-US" sz="2000" b="1" kern="0" spc="50" dirty="0">
                <a:solidFill>
                  <a:srgbClr val="FFC000"/>
                </a:solidFill>
                <a:latin typeface="微软雅黑" pitchFamily="34" charset="0"/>
                <a:ea typeface="微软雅黑" pitchFamily="34" charset="0"/>
                <a:cs typeface="微软雅黑" pitchFamily="34" charset="-120"/>
              </a:rPr>
              <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910463" y="3609467"/>
            <a:ext cx="384048" cy="384048"/>
          </a:xfrm>
          <a:prstGeom prst="ellipse">
            <a:avLst/>
          </a:prstGeom>
          <a:solidFill>
            <a:srgbClr val="499B67"/>
          </a:solidFill>
        </p:spPr>
      </p:sp>
      <p:sp>
        <p:nvSpPr>
          <p:cNvPr id="46" name="Text 22"/>
          <p:cNvSpPr/>
          <p:nvPr/>
        </p:nvSpPr>
        <p:spPr>
          <a:xfrm>
            <a:off x="910463" y="360946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7" name="Shape 11"/>
          <p:cNvSpPr/>
          <p:nvPr/>
        </p:nvSpPr>
        <p:spPr>
          <a:xfrm>
            <a:off x="910463" y="1000927"/>
            <a:ext cx="384048" cy="384048"/>
          </a:xfrm>
          <a:prstGeom prst="ellipse">
            <a:avLst/>
          </a:prstGeom>
          <a:solidFill>
            <a:srgbClr val="173F2A"/>
          </a:solidFill>
        </p:spPr>
      </p:sp>
      <p:sp>
        <p:nvSpPr>
          <p:cNvPr id="49" name="Text 12"/>
          <p:cNvSpPr/>
          <p:nvPr/>
        </p:nvSpPr>
        <p:spPr>
          <a:xfrm>
            <a:off x="910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888873" y="2103246"/>
            <a:ext cx="384048" cy="384048"/>
          </a:xfrm>
          <a:prstGeom prst="ellipse">
            <a:avLst/>
          </a:prstGeom>
          <a:solidFill>
            <a:srgbClr val="2F7A4F"/>
          </a:solidFill>
        </p:spPr>
        <p:txBody>
          <a:bodyPr/>
          <a:p>
            <a:endParaRPr lang="zh-CN" altLang="en-US"/>
          </a:p>
        </p:txBody>
      </p:sp>
      <p:sp>
        <p:nvSpPr>
          <p:cNvPr id="50" name="Text 17"/>
          <p:cNvSpPr/>
          <p:nvPr/>
        </p:nvSpPr>
        <p:spPr>
          <a:xfrm>
            <a:off x="889000" y="2103120"/>
            <a:ext cx="373380" cy="384175"/>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53" name="等腰三角形 52"/>
          <p:cNvSpPr/>
          <p:nvPr/>
        </p:nvSpPr>
        <p:spPr>
          <a:xfrm rot="10800000">
            <a:off x="2526030" y="353949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rot="10800000">
            <a:off x="2465070" y="225234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717550" y="4612640"/>
            <a:ext cx="2670175" cy="337185"/>
          </a:xfrm>
          <a:prstGeom prst="rect">
            <a:avLst/>
          </a:prstGeom>
          <a:noFill/>
        </p:spPr>
        <p:txBody>
          <a:bodyPr wrap="square">
            <a:spAutoFit/>
          </a:bodyPr>
          <a:lstStyle/>
          <a:p>
            <a:pPr algn="ctr"/>
            <a:r>
              <a:rPr lang="zh-CN" altLang="en-US" sz="1600" b="1" dirty="0">
                <a:solidFill>
                  <a:schemeClr val="bg1"/>
                </a:solidFill>
                <a:latin typeface="黑体" charset="0"/>
                <a:ea typeface="黑体" charset="0"/>
                <a:cs typeface="黑体" charset="0"/>
                <a:sym typeface="+mn-ea"/>
              </a:rPr>
              <a:t>投入之前，先看清“建后有没有用”</a:t>
            </a:r>
            <a:r>
              <a:rPr lang="zh-CN" altLang="en-US" sz="1600" b="1" dirty="0">
                <a:solidFill>
                  <a:schemeClr val="accent6">
                    <a:lumMod val="60000"/>
                    <a:lumOff val="40000"/>
                  </a:schemeClr>
                </a:solidFill>
                <a:latin typeface="黑体" charset="0"/>
                <a:ea typeface="黑体" charset="0"/>
                <a:cs typeface="黑体" charset="0"/>
                <a:sym typeface="+mn-ea"/>
              </a:rPr>
              <a:t/>
            </a:r>
            <a:endParaRPr lang="zh-CN" altLang="en-US" sz="1200" dirty="0">
              <a:solidFill>
                <a:schemeClr val="accent6">
                  <a:lumMod val="60000"/>
                  <a:lumOff val="40000"/>
                </a:schemeClr>
              </a:solidFill>
              <a:latin typeface="黑体" charset="0"/>
              <a:ea typeface="黑体" charset="0"/>
              <a:cs typeface="黑体" charset="0"/>
            </a:endParaRPr>
          </a:p>
        </p:txBody>
      </p:sp>
      <p:sp>
        <p:nvSpPr>
          <p:cNvPr id="97" name="Rounded Rectangle 96"/>
          <p:cNvSpPr/>
          <p:nvPr/>
        </p:nvSpPr>
        <p:spPr>
          <a:xfrm>
            <a:off x="4434840" y="914400"/>
            <a:ext cx="4343400" cy="333756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image.png"/>
          <p:cNvPicPr>
            <a:picLocks noChangeAspect="1"/>
          </p:cNvPicPr>
          <p:nvPr/>
        </p:nvPicPr>
        <p:blipFill>
          <a:blip r:embed="rId5"/>
          <a:stretch>
            <a:fillRect/>
          </a:stretch>
        </p:blipFill>
        <p:spPr>
          <a:xfrm>
            <a:off x="4535424" y="1024128"/>
            <a:ext cx="4142232" cy="310896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0-#ppt_h/2"/>
                                          </p:val>
                                        </p:tav>
                                        <p:tav tm="100000">
                                          <p:val>
                                            <p:strVal val="#ppt_y"/>
                                          </p:val>
                                        </p:tav>
                                      </p:tavLst>
                                    </p:anim>
                                  </p:childTnLst>
                                </p:cTn>
                              </p:par>
                              <p:par>
                                <p:cTn id="9" presetID="2" presetClass="exit" presetSubtype="4" fill="hold" grpId="1" nodeType="withEffect">
                                  <p:stCondLst>
                                    <p:cond delay="0"/>
                                  </p:stCondLst>
                                  <p:childTnLst>
                                    <p:anim calcmode="lin" valueType="num">
                                      <p:cBhvr additive="base">
                                        <p:cTn id="10" dur="500"/>
                                        <p:tgtEl>
                                          <p:spTgt spid="53"/>
                                        </p:tgtEl>
                                        <p:attrNameLst>
                                          <p:attrName>ppt_x</p:attrName>
                                        </p:attrNameLst>
                                      </p:cBhvr>
                                      <p:tavLst>
                                        <p:tav tm="0">
                                          <p:val>
                                            <p:strVal val="ppt_x"/>
                                          </p:val>
                                        </p:tav>
                                        <p:tav tm="100000">
                                          <p:val>
                                            <p:strVal val="ppt_x"/>
                                          </p:val>
                                        </p:tav>
                                      </p:tavLst>
                                    </p:anim>
                                    <p:anim calcmode="lin" valueType="num">
                                      <p:cBhvr additive="base">
                                        <p:cTn id="11" dur="500"/>
                                        <p:tgtEl>
                                          <p:spTgt spid="53"/>
                                        </p:tgtEl>
                                        <p:attrNameLst>
                                          <p:attrName>ppt_y</p:attrName>
                                        </p:attrNameLst>
                                      </p:cBhvr>
                                      <p:tavLst>
                                        <p:tav tm="0">
                                          <p:val>
                                            <p:strVal val="ppt_y"/>
                                          </p:val>
                                        </p:tav>
                                        <p:tav tm="100000">
                                          <p:val>
                                            <p:strVal val="1+ppt_h/2"/>
                                          </p:val>
                                        </p:tav>
                                      </p:tavLst>
                                    </p:anim>
                                    <p:set>
                                      <p:cBhvr>
                                        <p:cTn id="12" dur="1" fill="hold">
                                          <p:stCondLst>
                                            <p:cond delay="499"/>
                                          </p:stCondLst>
                                        </p:cTn>
                                        <p:tgtEl>
                                          <p:spTgt spid="53"/>
                                        </p:tgtEl>
                                        <p:attrNameLst>
                                          <p:attrName>style.visibility</p:attrName>
                                        </p:attrNameLst>
                                      </p:cBhvr>
                                      <p:to>
                                        <p:strVal val="hidden"/>
                                      </p:to>
                                    </p:set>
                                  </p:childTnLst>
                                </p:cTn>
                              </p:par>
                              <p:par>
                                <p:cTn id="13" presetID="2" presetClass="entr" presetSubtype="1"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anim calcmode="lin" valueType="num">
                                      <p:cBhvr additive="base">
                                        <p:cTn id="15" dur="500" fill="hold"/>
                                        <p:tgtEl>
                                          <p:spTgt spid="55"/>
                                        </p:tgtEl>
                                        <p:attrNameLst>
                                          <p:attrName>ppt_x</p:attrName>
                                        </p:attrNameLst>
                                      </p:cBhvr>
                                      <p:tavLst>
                                        <p:tav tm="0">
                                          <p:val>
                                            <p:strVal val="#ppt_x"/>
                                          </p:val>
                                        </p:tav>
                                        <p:tav tm="100000">
                                          <p:val>
                                            <p:strVal val="#ppt_x"/>
                                          </p:val>
                                        </p:tav>
                                      </p:tavLst>
                                    </p:anim>
                                    <p:anim calcmode="lin" valueType="num">
                                      <p:cBhvr additive="base">
                                        <p:cTn id="16" dur="500" fill="hold"/>
                                        <p:tgtEl>
                                          <p:spTgt spid="55"/>
                                        </p:tgtEl>
                                        <p:attrNameLst>
                                          <p:attrName>ppt_y</p:attrName>
                                        </p:attrNameLst>
                                      </p:cBhvr>
                                      <p:tavLst>
                                        <p:tav tm="0">
                                          <p:val>
                                            <p:strVal val="0-#ppt_h/2"/>
                                          </p:val>
                                        </p:tav>
                                        <p:tav tm="100000">
                                          <p:val>
                                            <p:strVal val="#ppt_y"/>
                                          </p:val>
                                        </p:tav>
                                      </p:tavLst>
                                    </p:anim>
                                  </p:childTnLst>
                                </p:cTn>
                              </p:par>
                              <p:par>
                                <p:cTn id="17" presetID="2" presetClass="exit" presetSubtype="4" fill="hold" grpId="1" nodeType="withEffect">
                                  <p:stCondLst>
                                    <p:cond delay="0"/>
                                  </p:stCondLst>
                                  <p:childTnLst>
                                    <p:anim calcmode="lin" valueType="num">
                                      <p:cBhvr additive="base">
                                        <p:cTn id="18" dur="500"/>
                                        <p:tgtEl>
                                          <p:spTgt spid="55"/>
                                        </p:tgtEl>
                                        <p:attrNameLst>
                                          <p:attrName>ppt_x</p:attrName>
                                        </p:attrNameLst>
                                      </p:cBhvr>
                                      <p:tavLst>
                                        <p:tav tm="0">
                                          <p:val>
                                            <p:strVal val="ppt_x"/>
                                          </p:val>
                                        </p:tav>
                                        <p:tav tm="100000">
                                          <p:val>
                                            <p:strVal val="ppt_x"/>
                                          </p:val>
                                        </p:tav>
                                      </p:tavLst>
                                    </p:anim>
                                    <p:anim calcmode="lin" valueType="num">
                                      <p:cBhvr additive="base">
                                        <p:cTn id="19" dur="500"/>
                                        <p:tgtEl>
                                          <p:spTgt spid="55"/>
                                        </p:tgtEl>
                                        <p:attrNameLst>
                                          <p:attrName>ppt_y</p:attrName>
                                        </p:attrNameLst>
                                      </p:cBhvr>
                                      <p:tavLst>
                                        <p:tav tm="0">
                                          <p:val>
                                            <p:strVal val="ppt_y"/>
                                          </p:val>
                                        </p:tav>
                                        <p:tav tm="100000">
                                          <p:val>
                                            <p:strVal val="1+ppt_h/2"/>
                                          </p:val>
                                        </p:tav>
                                      </p:tavLst>
                                    </p:anim>
                                    <p:set>
                                      <p:cBhvr>
                                        <p:cTn id="20" dur="1" fill="hold">
                                          <p:stCondLst>
                                            <p:cond delay="499"/>
                                          </p:stCondLst>
                                        </p:cTn>
                                        <p:tgtEl>
                                          <p:spTgt spid="55"/>
                                        </p:tgtEl>
                                        <p:attrNameLst>
                                          <p:attrName>style.visibility</p:attrName>
                                        </p:attrNameLst>
                                      </p:cBhvr>
                                      <p:to>
                                        <p:strVal val="hidden"/>
                                      </p:to>
                                    </p:se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500" fill="hold">
                                          <p:stCondLst>
                                            <p:cond delay="0"/>
                                          </p:stCondLst>
                                        </p:cTn>
                                        <p:tgtEl>
                                          <p:spTgt spid="57"/>
                                        </p:tgtEl>
                                        <p:attrNameLst>
                                          <p:attrName>style.visibility</p:attrName>
                                        </p:attrNameLst>
                                      </p:cBhvr>
                                      <p:to>
                                        <p:strVal val="visible"/>
                                      </p:to>
                                    </p:set>
                                    <p:animEffect transition="in" filter="fade">
                                      <p:cBhvr>
                                        <p:cTn id="24" dur="500"/>
                                        <p:tgtEl>
                                          <p:spTgt spid="57"/>
                                        </p:tgtEl>
                                      </p:cBhvr>
                                    </p:animEffect>
                                    <p:anim calcmode="lin" valueType="num">
                                      <p:cBhvr>
                                        <p:cTn id="25" dur="500" fill="hold"/>
                                        <p:tgtEl>
                                          <p:spTgt spid="57"/>
                                        </p:tgtEl>
                                        <p:attrNameLst>
                                          <p:attrName>ppt_x</p:attrName>
                                        </p:attrNameLst>
                                      </p:cBhvr>
                                      <p:tavLst>
                                        <p:tav tm="0">
                                          <p:val>
                                            <p:strVal val="#ppt_x"/>
                                          </p:val>
                                        </p:tav>
                                        <p:tav tm="100000">
                                          <p:val>
                                            <p:strVal val="#ppt_x"/>
                                          </p:val>
                                        </p:tav>
                                      </p:tavLst>
                                    </p:anim>
                                    <p:anim calcmode="lin" valueType="num">
                                      <p:cBhvr>
                                        <p:cTn id="26" dur="5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3" grpId="1" bldLvl="0" animBg="1"/>
      <p:bldP spid="55" grpId="0" bldLvl="0" animBg="1"/>
      <p:bldP spid="55" grpId="1" bldLvl="0" animBg="1"/>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12"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13"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ctr"/>
            <a:r>
              <a:rPr lang="en-US" altLang="zh-CN"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模型算清楚以后，还要真正跑起来</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grpSp>
        <p:nvGrpSpPr>
          <p:cNvPr id="16" name="组合 15"/>
          <p:cNvGrpSpPr/>
          <p:nvPr/>
        </p:nvGrpSpPr>
        <p:grpSpPr>
          <a:xfrm>
            <a:off x="901700" y="178435"/>
            <a:ext cx="455930" cy="484505"/>
            <a:chOff x="4557485" y="2285774"/>
            <a:chExt cx="3483430" cy="3458235"/>
          </a:xfrm>
        </p:grpSpPr>
        <p:sp>
          <p:nvSpPr>
            <p:cNvPr id="2" name="椭圆 1"/>
            <p:cNvSpPr/>
            <p:nvPr/>
          </p:nvSpPr>
          <p:spPr>
            <a:xfrm>
              <a:off x="4557485" y="4760686"/>
              <a:ext cx="3483430" cy="983323"/>
            </a:xfrm>
            <a:prstGeom prst="ellipse">
              <a:avLst/>
            </a:prstGeom>
            <a:gradFill flip="none" rotWithShape="1">
              <a:gsLst>
                <a:gs pos="0">
                  <a:srgbClr val="25E0E7"/>
                </a:gs>
                <a:gs pos="100000">
                  <a:srgbClr val="25E0E7">
                    <a:alpha val="0"/>
                  </a:srgbClr>
                </a:gs>
              </a:gsLst>
              <a:lin ang="5400000" scaled="1"/>
            </a:gradFill>
            <a:ln>
              <a:noFill/>
            </a:ln>
            <a:effectLst>
              <a:outerShdw blurRad="3683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chemeClr val="bg1"/>
                </a:solidFill>
                <a:latin typeface="方正正大黑简体" panose="02000000000000000000" pitchFamily="2" charset="-122"/>
                <a:ea typeface="方正正大黑简体" panose="02000000000000000000" pitchFamily="2" charset="-122"/>
                <a:cs typeface="+mn-ea"/>
              </a:endParaRPr>
            </a:p>
          </p:txBody>
        </p:sp>
        <p:pic>
          <p:nvPicPr>
            <p:cNvPr id="3" name="图片 2"/>
            <p:cNvPicPr>
              <a:picLocks noChangeAspect="1"/>
            </p:cNvPicPr>
            <p:nvPr/>
          </p:nvPicPr>
          <p:blipFill>
            <a:blip r:embed="rId2"/>
            <a:stretch>
              <a:fillRect/>
            </a:stretch>
          </p:blipFill>
          <p:spPr>
            <a:xfrm>
              <a:off x="5294313" y="2285774"/>
              <a:ext cx="2060988" cy="3215142"/>
            </a:xfrm>
            <a:prstGeom prst="rect">
              <a:avLst/>
            </a:prstGeom>
          </p:spPr>
        </p:pic>
      </p:grpSp>
      <p:sp>
        <p:nvSpPr>
          <p:cNvPr id="45" name="TextBox 44"/>
          <p:cNvSpPr txBox="1"/>
          <p:nvPr/>
        </p:nvSpPr>
        <p:spPr>
          <a:xfrm>
            <a:off x="3246120" y="1874519"/>
            <a:ext cx="2651760" cy="411480"/>
          </a:xfrm>
          <a:prstGeom prst="rect">
            <a:avLst/>
          </a:prstGeom>
          <a:noFill/>
        </p:spPr>
        <p:txBody>
          <a:bodyPr wrap="none">
            <a:spAutoFit/>
          </a:bodyPr>
          <a:lstStyle/>
          <a:p>
            <a:pPr algn="ctr"/>
            <a:r>
              <a:rPr sz="2000" b="1">
                <a:solidFill>
                  <a:srgbClr val="FFC900"/>
                </a:solidFill>
                <a:latin typeface="Microsoft YaHei"/>
              </a:rPr>
              <a:t>VIDEO · 约1分钟</a:t>
            </a:r>
          </a:p>
        </p:txBody>
      </p:sp>
      <p:sp>
        <p:nvSpPr>
          <p:cNvPr id="46" name="TextBox 45"/>
          <p:cNvSpPr txBox="1"/>
          <p:nvPr/>
        </p:nvSpPr>
        <p:spPr>
          <a:xfrm>
            <a:off x="2057400" y="2834640"/>
            <a:ext cx="5029200" cy="502920"/>
          </a:xfrm>
          <a:prstGeom prst="rect">
            <a:avLst/>
          </a:prstGeom>
          <a:noFill/>
        </p:spPr>
        <p:txBody>
          <a:bodyPr wrap="none">
            <a:spAutoFit/>
          </a:bodyPr>
          <a:lstStyle/>
          <a:p>
            <a:pPr algn="ctr"/>
            <a:r>
              <a:rPr sz="2400" b="1">
                <a:solidFill>
                  <a:srgbClr val="FFFFFF"/>
                </a:solidFill>
                <a:latin typeface="Microsoft YaHei"/>
              </a:rPr>
              <a:t>从模型判断 → 平台协同 → 烟区一线</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7"/>
          <a:stretch>
            <a:fillRect/>
          </a:stretch>
        </p:blipFill>
        <p:spPr>
          <a:xfrm>
            <a:off x="0" y="0"/>
            <a:ext cx="9144000" cy="5143500"/>
          </a:xfrm>
          <a:prstGeom prst="rect">
            <a:avLst/>
          </a:prstGeom>
        </p:spPr>
      </p:pic>
      <p:sp>
        <p:nvSpPr>
          <p:cNvPr id="3" name="TextBox 2"/>
          <p:cNvSpPr txBox="1"/>
          <p:nvPr/>
        </p:nvSpPr>
        <p:spPr>
          <a:xfrm>
            <a:off x="502920" y="146304"/>
            <a:ext cx="8138160" cy="502920"/>
          </a:xfrm>
          <a:prstGeom prst="rect">
            <a:avLst/>
          </a:prstGeom>
          <a:noFill/>
        </p:spPr>
        <p:txBody>
          <a:bodyPr wrap="none">
            <a:spAutoFit/>
          </a:bodyPr>
          <a:lstStyle/>
          <a:p>
            <a:pPr algn="ctr"/>
            <a:r>
              <a:rPr sz="2500" b="1">
                <a:solidFill>
                  <a:srgbClr val="3DDCFF"/>
                </a:solidFill>
                <a:latin typeface="Microsoft YaHei"/>
              </a:rPr>
              <a:t>3智融合｜一端服务烟农 · 一屏管理全域</a:t>
            </a:r>
          </a:p>
        </p:txBody>
      </p:sp>
      <p:sp>
        <p:nvSpPr>
          <p:cNvPr id="4" name="Rounded Rectangle 3"/>
          <p:cNvSpPr/>
          <p:nvPr/>
        </p:nvSpPr>
        <p:spPr>
          <a:xfrm>
            <a:off x="502920" y="914400"/>
            <a:ext cx="2651760" cy="347472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24128"/>
            <a:ext cx="2377440" cy="320040"/>
          </a:xfrm>
          <a:prstGeom prst="rect">
            <a:avLst/>
          </a:prstGeom>
          <a:noFill/>
        </p:spPr>
        <p:txBody>
          <a:bodyPr wrap="none">
            <a:spAutoFit/>
          </a:bodyPr>
          <a:lstStyle/>
          <a:p>
            <a:pPr algn="l"/>
            <a:r>
              <a:rPr sz="1600" b="1">
                <a:solidFill>
                  <a:srgbClr val="FFC900"/>
                </a:solidFill>
                <a:latin typeface="Microsoft YaHei"/>
              </a:rPr>
              <a:t>智用｜烟农端</a:t>
            </a:r>
          </a:p>
        </p:txBody>
      </p:sp>
      <p:pic>
        <p:nvPicPr>
          <p:cNvPr id="6" name="Picture 5" descr="image.png"/>
          <p:cNvPicPr>
            <a:picLocks noChangeAspect="1"/>
          </p:cNvPicPr>
          <p:nvPr/>
        </p:nvPicPr>
        <p:blipFill>
          <a:blip r:embed="rId8"/>
          <a:stretch>
            <a:fillRect/>
          </a:stretch>
        </p:blipFill>
        <p:spPr>
          <a:xfrm>
            <a:off x="649224" y="1417320"/>
            <a:ext cx="2359152" cy="2697480"/>
          </a:xfrm>
          <a:prstGeom prst="rect">
            <a:avLst/>
          </a:prstGeom>
        </p:spPr>
      </p:pic>
      <p:sp>
        <p:nvSpPr>
          <p:cNvPr id="7" name="Rounded Rectangle 6"/>
          <p:cNvSpPr/>
          <p:nvPr/>
        </p:nvSpPr>
        <p:spPr>
          <a:xfrm>
            <a:off x="3246120" y="914400"/>
            <a:ext cx="2651760" cy="347472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024128"/>
            <a:ext cx="2377440" cy="320040"/>
          </a:xfrm>
          <a:prstGeom prst="rect">
            <a:avLst/>
          </a:prstGeom>
          <a:noFill/>
        </p:spPr>
        <p:txBody>
          <a:bodyPr wrap="none">
            <a:spAutoFit/>
          </a:bodyPr>
          <a:lstStyle/>
          <a:p>
            <a:pPr algn="l"/>
            <a:r>
              <a:rPr sz="1600" b="1">
                <a:solidFill>
                  <a:srgbClr val="FFC900"/>
                </a:solidFill>
                <a:latin typeface="Microsoft YaHei"/>
              </a:rPr>
              <a:t>智投｜管理端</a:t>
            </a:r>
          </a:p>
        </p:txBody>
      </p:sp>
      <p:pic>
        <p:nvPicPr>
          <p:cNvPr id="9" name="Picture 8" descr="image.png"/>
          <p:cNvPicPr>
            <a:picLocks noChangeAspect="1"/>
          </p:cNvPicPr>
          <p:nvPr/>
        </p:nvPicPr>
        <p:blipFill>
          <a:blip r:embed="rId9"/>
          <a:stretch>
            <a:fillRect/>
          </a:stretch>
        </p:blipFill>
        <p:spPr>
          <a:xfrm>
            <a:off x="3392424" y="1417320"/>
            <a:ext cx="2359152" cy="2697480"/>
          </a:xfrm>
          <a:prstGeom prst="rect">
            <a:avLst/>
          </a:prstGeom>
        </p:spPr>
      </p:pic>
      <p:sp>
        <p:nvSpPr>
          <p:cNvPr id="10" name="Rounded Rectangle 9"/>
          <p:cNvSpPr/>
          <p:nvPr/>
        </p:nvSpPr>
        <p:spPr>
          <a:xfrm>
            <a:off x="5989320" y="914400"/>
            <a:ext cx="2651760" cy="3474720"/>
          </a:xfrm>
          <a:prstGeom prst="roundRect">
            <a:avLst/>
          </a:prstGeom>
          <a:solidFill>
            <a:srgbClr val="022140"/>
          </a:solidFill>
          <a:ln w="15240">
            <a:solidFill>
              <a:srgbClr val="0F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024128"/>
            <a:ext cx="2377440" cy="320040"/>
          </a:xfrm>
          <a:prstGeom prst="rect">
            <a:avLst/>
          </a:prstGeom>
          <a:noFill/>
        </p:spPr>
        <p:txBody>
          <a:bodyPr wrap="none">
            <a:spAutoFit/>
          </a:bodyPr>
          <a:lstStyle/>
          <a:p>
            <a:pPr algn="l"/>
            <a:r>
              <a:rPr sz="1600" b="1">
                <a:solidFill>
                  <a:srgbClr val="FFC900"/>
                </a:solidFill>
                <a:latin typeface="Microsoft YaHei"/>
              </a:rPr>
              <a:t>智管｜协同端</a:t>
            </a:r>
          </a:p>
        </p:txBody>
      </p:sp>
      <p:pic>
        <p:nvPicPr>
          <p:cNvPr id="12" name="Picture 11" descr="image.png"/>
          <p:cNvPicPr>
            <a:picLocks noChangeAspect="1"/>
          </p:cNvPicPr>
          <p:nvPr/>
        </p:nvPicPr>
        <p:blipFill>
          <a:blip r:embed="rId10"/>
          <a:stretch>
            <a:fillRect/>
          </a:stretch>
        </p:blipFill>
        <p:spPr>
          <a:xfrm>
            <a:off x="6135624" y="1417320"/>
            <a:ext cx="2359152" cy="2697480"/>
          </a:xfrm>
          <a:prstGeom prst="rect">
            <a:avLst/>
          </a:prstGeom>
        </p:spPr>
      </p:pic>
      <p:sp>
        <p:nvSpPr>
          <p:cNvPr id="13" name="TextBox 12"/>
          <p:cNvSpPr txBox="1"/>
          <p:nvPr/>
        </p:nvSpPr>
        <p:spPr>
          <a:xfrm>
            <a:off x="822960" y="4590288"/>
            <a:ext cx="1828800" cy="256032"/>
          </a:xfrm>
          <a:prstGeom prst="rect">
            <a:avLst/>
          </a:prstGeom>
          <a:noFill/>
        </p:spPr>
        <p:txBody>
          <a:bodyPr wrap="none">
            <a:spAutoFit/>
          </a:bodyPr>
          <a:lstStyle/>
          <a:p>
            <a:pPr algn="ctr"/>
            <a:r>
              <a:rPr sz="1500" b="1">
                <a:solidFill>
                  <a:srgbClr val="FFFFFF"/>
                </a:solidFill>
                <a:latin typeface="Microsoft YaHei"/>
              </a:rPr>
              <a:t>查房 / 报修</a:t>
            </a:r>
          </a:p>
        </p:txBody>
      </p:sp>
      <p:sp>
        <p:nvSpPr>
          <p:cNvPr id="14" name="TextBox 13"/>
          <p:cNvSpPr txBox="1"/>
          <p:nvPr/>
        </p:nvSpPr>
        <p:spPr>
          <a:xfrm>
            <a:off x="3657600" y="4590288"/>
            <a:ext cx="1828800" cy="256032"/>
          </a:xfrm>
          <a:prstGeom prst="rect">
            <a:avLst/>
          </a:prstGeom>
          <a:noFill/>
        </p:spPr>
        <p:txBody>
          <a:bodyPr wrap="none">
            <a:spAutoFit/>
          </a:bodyPr>
          <a:lstStyle/>
          <a:p>
            <a:pPr algn="ctr"/>
            <a:r>
              <a:rPr sz="1500" b="1">
                <a:solidFill>
                  <a:srgbClr val="FFFFFF"/>
                </a:solidFill>
                <a:latin typeface="Microsoft YaHei"/>
              </a:rPr>
              <a:t>健康 / 缺口 / 投入</a:t>
            </a:r>
          </a:p>
        </p:txBody>
      </p:sp>
      <p:sp>
        <p:nvSpPr>
          <p:cNvPr id="15" name="TextBox 14"/>
          <p:cNvSpPr txBox="1"/>
          <p:nvPr/>
        </p:nvSpPr>
        <p:spPr>
          <a:xfrm>
            <a:off x="6400800" y="4590288"/>
            <a:ext cx="1828800" cy="256032"/>
          </a:xfrm>
          <a:prstGeom prst="rect">
            <a:avLst/>
          </a:prstGeom>
          <a:noFill/>
        </p:spPr>
        <p:txBody>
          <a:bodyPr wrap="none">
            <a:spAutoFit/>
          </a:bodyPr>
          <a:lstStyle/>
          <a:p>
            <a:pPr algn="ctr"/>
            <a:r>
              <a:rPr sz="1500" b="1">
                <a:solidFill>
                  <a:srgbClr val="FFFFFF"/>
                </a:solidFill>
                <a:latin typeface="Microsoft YaHei"/>
              </a:rPr>
              <a:t>派单 / 验收 / 回写</a:t>
            </a:r>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0" y="141031"/>
            <a:ext cx="9144000" cy="521970"/>
          </a:xfrm>
          <a:prstGeom prst="rect">
            <a:avLst/>
          </a:prstGeom>
          <a:noFill/>
        </p:spPr>
        <p:txBody>
          <a:bodyPr wrap="square">
            <a:spAutoFit/>
          </a:bodyPr>
          <a:lstStyle/>
          <a:p>
            <a:pPr algn="ctr"/>
            <a:r>
              <a:rPr lang="zh-CN" sz="2800" b="1">
                <a:solidFill>
                  <a:srgbClr val="54F8FF"/>
                </a:solidFill>
              </a:rPr>
              <a:t>4队长效｜技术算得准，还要让机制跑得久</a:t>
            </a:r>
            <a:r>
              <a:rPr lang="en-US" altLang="zh-CN" sz="2800" b="1">
                <a:solidFill>
                  <a:srgbClr val="54F8FF"/>
                </a:solidFill>
              </a:rPr>
              <a:t/>
            </a:r>
            <a:r>
              <a:rPr lang="zh-CN" altLang="en-US" sz="2800" b="1">
                <a:solidFill>
                  <a:srgbClr val="54F8FF"/>
                </a:solidFill>
              </a:rPr>
              <a:t/>
            </a:r>
            <a:r>
              <a:rPr lang="zh-CN" sz="2800" b="1">
                <a:solidFill>
                  <a:srgbClr val="54F8FF"/>
                </a:solidFill>
              </a:rPr>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36244" name="b_35744"/>
          <p:cNvSpPr/>
          <p:nvPr/>
        </p:nvSpPr>
        <p:spPr bwMode="auto">
          <a:xfrm>
            <a:off x="765175" y="868045"/>
            <a:ext cx="3041650" cy="1703705"/>
          </a:xfrm>
          <a:prstGeom prst="roundRect">
            <a:avLst>
              <a:gd name="adj" fmla="val 5500"/>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vertOverflow="overflow" wrap="square" rtlCol="0" anchor="ctr"/>
          <a:lstStyle/>
          <a:p>
            <a:pPr algn="l">
              <a:spcBef>
                <a:spcPts val="0"/>
              </a:spcBef>
              <a:spcAft>
                <a:spcPts val="60"/>
              </a:spcAft>
            </a:pPr>
            <a:r>
              <a:rPr sz="1600" b="0">
                <a:latin typeface="微软雅黑"/>
              </a:rPr>
              <a:t>4支服务队</a:t>
            </a:r>
            <a:endParaRPr lang="zh-CN" sz="1600" b="0">
              <a:solidFill>
                <a:srgbClr val="FFC000"/>
              </a:solidFill>
              <a:latin typeface="微软雅黑" pitchFamily="34" charset="0"/>
              <a:ea typeface="微软雅黑" pitchFamily="34" charset="0"/>
              <a:cs typeface="微软雅黑" pitchFamily="34" charset="0"/>
            </a:endParaRPr>
          </a:p>
          <a:p>
            <a:pPr algn="l"/>
            <a:r>
              <a:rPr sz="1600" b="0">
                <a:latin typeface="微软雅黑"/>
              </a:rPr>
              <a:t>烟叶调制｜紧急抢修</a:t>
            </a:r>
          </a:p>
          <a:p>
            <a:pPr algn="l"/>
            <a:r>
              <a:rPr sz="1600" b="0">
                <a:latin typeface="微软雅黑"/>
              </a:rPr>
              <a:t>日常管护｜综合管理</a:t>
            </a:r>
          </a:p>
          <a:p>
            <a:pPr algn="l"/>
            <a:r>
              <a:rPr sz="1600" b="0">
                <a:latin typeface="微软雅黑"/>
              </a:rPr>
              <a:t/>
            </a:r>
          </a:p>
          <a:p>
            <a:pPr algn="l"/>
            <a:r>
              <a:rPr sz="1600" b="0">
                <a:latin typeface="微软雅黑"/>
              </a:rPr>
              <a:t>申请 → 派单 → 处置</a:t>
            </a:r>
          </a:p>
          <a:p>
            <a:pPr algn="l"/>
            <a:r>
              <a:rPr sz="1600" b="0">
                <a:latin typeface="微软雅黑"/>
              </a:rPr>
              <a:t>→ 验收 → 评价 → 回写</a:t>
            </a:r>
          </a:p>
        </p:txBody>
      </p:sp>
      <p:sp>
        <p:nvSpPr>
          <p:cNvPr id="36810" name="b_36310"/>
          <p:cNvSpPr/>
          <p:nvPr/>
        </p:nvSpPr>
        <p:spPr bwMode="auto">
          <a:xfrm>
            <a:off x="4771390" y="789305"/>
            <a:ext cx="3030855" cy="2312670"/>
          </a:xfrm>
          <a:prstGeom prst="roundRect">
            <a:avLst>
              <a:gd name="adj" fmla="val 5500"/>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vertOverflow="overflow" wrap="square" rtlCol="0" anchor="ctr">
            <a:noAutofit/>
          </a:bodyPr>
          <a:lstStyle/>
          <a:p>
            <a:pPr lvl="0" algn="l">
              <a:spcBef>
                <a:spcPts val="0"/>
              </a:spcBef>
              <a:spcAft>
                <a:spcPts val="60"/>
              </a:spcAft>
              <a:buClrTx/>
              <a:buSzTx/>
              <a:buFontTx/>
            </a:pPr>
            <a:r>
              <a:rPr sz="1600">
                <a:latin typeface="微软雅黑"/>
              </a:rPr>
              <a:t>长效机制</a:t>
            </a:r>
            <a:endParaRPr lang="zh-CN" sz="1600">
              <a:solidFill>
                <a:srgbClr val="FFC000"/>
              </a:solidFill>
              <a:latin typeface="微软雅黑" pitchFamily="34" charset="0"/>
              <a:ea typeface="微软雅黑" pitchFamily="34" charset="0"/>
              <a:cs typeface="微软雅黑" pitchFamily="34" charset="0"/>
              <a:sym typeface="+mn-ea"/>
            </a:endParaRPr>
          </a:p>
          <a:p>
            <a:pPr algn="l"/>
            <a:r>
              <a:rPr sz="1600">
                <a:latin typeface="微软雅黑"/>
              </a:rPr>
              <a:t>制度标准｜基金机制</a:t>
            </a:r>
          </a:p>
          <a:p>
            <a:pPr algn="l"/>
            <a:r>
              <a:rPr sz="1600">
                <a:latin typeface="微软雅黑"/>
              </a:rPr>
              <a:t>责任到人｜评价闭环</a:t>
            </a:r>
          </a:p>
          <a:p>
            <a:pPr algn="l"/>
            <a:r>
              <a:rPr sz="1600">
                <a:latin typeface="微软雅黑"/>
              </a:rPr>
              <a:t/>
            </a:r>
          </a:p>
          <a:p>
            <a:pPr algn="l"/>
            <a:r>
              <a:rPr sz="1600">
                <a:latin typeface="微软雅黑"/>
              </a:rPr>
              <a:t>两级合作社统筹管护1363栋</a:t>
            </a:r>
          </a:p>
          <a:p>
            <a:pPr algn="l"/>
            <a:r>
              <a:rPr sz="1600">
                <a:latin typeface="微软雅黑"/>
              </a:rPr>
              <a:t>占本年度在用烤房81%</a:t>
            </a:r>
          </a:p>
        </p:txBody>
      </p:sp>
      <p:sp>
        <p:nvSpPr>
          <p:cNvPr id="2" name="文本框 1"/>
          <p:cNvSpPr txBox="1"/>
          <p:nvPr/>
        </p:nvSpPr>
        <p:spPr>
          <a:xfrm>
            <a:off x="5046980" y="3344545"/>
            <a:ext cx="2256155" cy="662305"/>
          </a:xfrm>
          <a:prstGeom prst="rect">
            <a:avLst/>
          </a:prstGeom>
          <a:noFill/>
          <a:ln w="9525">
            <a:noFill/>
          </a:ln>
          <a:effectLst/>
        </p:spPr>
        <p:txBody>
          <a:bodyPr wrap="square" lIns="121140" tIns="60570" rIns="121140" bIns="60570">
            <a:noAutofit/>
          </a:bodyPr>
          <a:lstStyle/>
          <a:p>
            <a:pPr marL="0" marR="0" lvl="0" indent="0" algn="ctr" defTabSz="914400" rtl="0" eaLnBrk="1" fontAlgn="auto" latinLnBrk="0" hangingPunct="1">
              <a:lnSpc>
                <a:spcPct val="100000"/>
              </a:lnSpc>
              <a:spcBef>
                <a:spcPts val="0"/>
              </a:spcBef>
              <a:spcAft>
                <a:spcPct val="0"/>
              </a:spcAft>
              <a:buClrTx/>
              <a:buSzTx/>
              <a:buFontTx/>
              <a:buNone/>
              <a:defRPr/>
            </a:pPr>
            <a:r>
              <a:rPr kumimoji="0" lang="zh-CN" altLang="en-US" sz="1600" b="0" i="0" u="none" strike="noStrike" kern="0" cap="none" spc="0" normalizeH="0" baseline="0" noProof="0" dirty="0">
                <a:ln>
                  <a:noFill/>
                </a:ln>
                <a:solidFill>
                  <a:schemeClr val="bg1"/>
                </a:solidFill>
                <a:effectLst/>
                <a:uLnTx/>
                <a:uFillTx/>
                <a:latin typeface="微软雅黑" pitchFamily="34" charset="-122"/>
                <a:ea typeface="微软雅黑" pitchFamily="34" charset="-122"/>
                <a:cs typeface="阿里巴巴普惠体 Heavy" pitchFamily="18" charset="-122"/>
              </a:rPr>
              <a:t>管护基金累计近190万元</a:t>
            </a:r>
            <a:endParaRPr kumimoji="0" lang="zh-CN" altLang="en-US" sz="1600" b="0" i="0" u="none" strike="noStrike" kern="0" cap="none" spc="0" normalizeH="0" baseline="0" noProof="0" dirty="0">
              <a:ln>
                <a:noFill/>
              </a:ln>
              <a:solidFill>
                <a:schemeClr val="bg1"/>
              </a:solidFill>
              <a:effectLst/>
              <a:uLnTx/>
              <a:uFillTx/>
              <a:latin typeface="微软雅黑" pitchFamily="34" charset="-122"/>
              <a:ea typeface="微软雅黑" pitchFamily="34" charset="-122"/>
              <a:cs typeface="阿里巴巴普惠体 Heavy" pitchFamily="18" charset="-122"/>
            </a:endParaRPr>
          </a:p>
        </p:txBody>
      </p:sp>
      <p:sp>
        <p:nvSpPr>
          <p:cNvPr id="4" name="文本框 3"/>
          <p:cNvSpPr txBox="1"/>
          <p:nvPr/>
        </p:nvSpPr>
        <p:spPr>
          <a:xfrm>
            <a:off x="5046980" y="3752850"/>
            <a:ext cx="2520315" cy="635000"/>
          </a:xfrm>
          <a:prstGeom prst="rect">
            <a:avLst/>
          </a:prstGeom>
          <a:noFill/>
          <a:ln w="9525">
            <a:noFill/>
          </a:ln>
          <a:effectLst/>
        </p:spPr>
        <p:txBody>
          <a:bodyPr wrap="square" lIns="121140" tIns="60570" rIns="121140" bIns="60570">
            <a:noAutofit/>
          </a:bodyPr>
          <a:lstStyle/>
          <a:p>
            <a:pPr lvl="0" algn="ctr">
              <a:spcBef>
                <a:spcPts val="0"/>
              </a:spcBef>
              <a:buClrTx/>
              <a:buSzTx/>
              <a:buFontTx/>
              <a:defRPr/>
            </a:pPr>
            <a:r>
              <a:rPr lang="zh-CN" altLang="en-US" sz="1600" kern="0" noProof="0" dirty="0">
                <a:ln>
                  <a:noFill/>
                </a:ln>
                <a:solidFill>
                  <a:schemeClr val="bg1"/>
                </a:solidFill>
                <a:effectLst/>
                <a:uLnTx/>
                <a:uFillTx/>
                <a:latin typeface="微软雅黑" pitchFamily="34" charset="-122"/>
                <a:ea typeface="微软雅黑" pitchFamily="34" charset="-122"/>
                <a:cs typeface="阿里巴巴普惠体 Heavy" pitchFamily="18" charset="-122"/>
                <a:sym typeface="+mn-ea"/>
              </a:rPr>
              <a:t>把“平台有人用”变成“机制持续跑”</a:t>
            </a:r>
            <a:endParaRPr lang="zh-CN" altLang="en-US" sz="1600" kern="0" noProof="0" dirty="0">
              <a:ln>
                <a:noFill/>
              </a:ln>
              <a:solidFill>
                <a:schemeClr val="bg1"/>
              </a:solidFill>
              <a:effectLst/>
              <a:uLnTx/>
              <a:uFillTx/>
              <a:latin typeface="微软雅黑" pitchFamily="34" charset="-122"/>
              <a:ea typeface="微软雅黑" pitchFamily="34" charset="-122"/>
              <a:cs typeface="阿里巴巴普惠体 Heavy" pitchFamily="18" charset="-122"/>
              <a:sym typeface="+mn-ea"/>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731520" y="2658110"/>
            <a:ext cx="7680960" cy="685800"/>
          </a:xfrm>
          <a:prstGeom prst="rect">
            <a:avLst/>
          </a:prstGeom>
          <a:noFill/>
        </p:spPr>
        <p:txBody>
          <a:bodyPr wrap="square" lIns="0" tIns="0" rIns="0" bIns="0" rtlCol="0" anchor="ctr">
            <a:normAutofit/>
          </a:bodyPr>
          <a:lstStyle/>
          <a:p>
            <a:pPr marL="0" indent="0" algn="ctr">
              <a:buNone/>
            </a:pPr>
            <a:r>
              <a:rPr lang="en-US" sz="3200" b="1" kern="0" spc="250" dirty="0">
                <a:solidFill>
                  <a:srgbClr val="FFFFFF"/>
                </a:solidFill>
                <a:latin typeface="微软雅黑" pitchFamily="34" charset="0"/>
                <a:ea typeface="微软雅黑" pitchFamily="34" charset="-122"/>
                <a:cs typeface="微软雅黑" pitchFamily="34" charset="-120"/>
              </a:rPr>
              <a:t>让每一座烤房，都有“体检”、有“决策”、有“管家”</a:t>
            </a:r>
            <a:r>
              <a:rPr lang="zh-CN" altLang="en-US" sz="3200" b="1" kern="0" spc="250" dirty="0">
                <a:solidFill>
                  <a:srgbClr val="FFFFFF"/>
                </a:solidFill>
                <a:latin typeface="微软雅黑" pitchFamily="34" charset="0"/>
                <a:ea typeface="微软雅黑" pitchFamily="34" charset="-122"/>
                <a:cs typeface="微软雅黑" pitchFamily="34" charset="-120"/>
              </a:rPr>
              <a:t/>
            </a:r>
            <a:r>
              <a:rPr lang="en-US" sz="3200" b="1" kern="0" spc="250" dirty="0">
                <a:solidFill>
                  <a:srgbClr val="FFFFFF"/>
                </a:solidFill>
                <a:latin typeface="微软雅黑" pitchFamily="34" charset="0"/>
                <a:ea typeface="微软雅黑" pitchFamily="34" charset="-122"/>
                <a:cs typeface="微软雅黑" pitchFamily="34" charset="-120"/>
              </a:rPr>
              <a:t/>
            </a:r>
            <a:r>
              <a:rPr lang="zh-CN" altLang="en-US" sz="3200" b="1" kern="0" spc="250" dirty="0">
                <a:solidFill>
                  <a:srgbClr val="D9B64A"/>
                </a:solidFill>
                <a:latin typeface="微软雅黑" pitchFamily="34" charset="0"/>
                <a:ea typeface="微软雅黑" pitchFamily="34" charset="-122"/>
                <a:cs typeface="微软雅黑" pitchFamily="34" charset="-120"/>
                <a:sym typeface="+mn-ea"/>
              </a:rPr>
              <a:t/>
            </a:r>
            <a:r>
              <a:rPr lang="en-US" altLang="zh-CN" sz="3200" b="1" kern="0" spc="250" dirty="0">
                <a:solidFill>
                  <a:srgbClr val="D9B64A"/>
                </a:solidFill>
                <a:latin typeface="微软雅黑" pitchFamily="34" charset="0"/>
                <a:ea typeface="微软雅黑" pitchFamily="34" charset="-122"/>
                <a:cs typeface="微软雅黑" pitchFamily="34" charset="-120"/>
                <a:sym typeface="+mn-ea"/>
              </a:rPr>
              <a:t/>
            </a:r>
            <a:endParaRPr lang="en-US" sz="3200" dirty="0"/>
          </a:p>
        </p:txBody>
      </p:sp>
      <p:sp>
        <p:nvSpPr>
          <p:cNvPr id="6" name="Text 4"/>
          <p:cNvSpPr/>
          <p:nvPr/>
        </p:nvSpPr>
        <p:spPr>
          <a:xfrm>
            <a:off x="731520" y="2743200"/>
            <a:ext cx="7680960" cy="731520"/>
          </a:xfrm>
          <a:prstGeom prst="rect">
            <a:avLst/>
          </a:prstGeom>
          <a:noFill/>
        </p:spPr>
        <p:txBody>
          <a:bodyPr wrap="square" lIns="0" tIns="0" rIns="0" bIns="0" rtlCol="0" anchor="ctr">
            <a:normAutofit/>
          </a:bodyPr>
          <a:lstStyle/>
          <a:p>
            <a:pPr marL="0" indent="0" algn="ctr">
              <a:buNone/>
            </a:pPr>
            <a:endParaRPr lang="en-US" altLang="zh-CN" sz="3200" b="1" kern="0" spc="250" dirty="0">
              <a:solidFill>
                <a:srgbClr val="D9B64A"/>
              </a:solidFill>
              <a:latin typeface="微软雅黑" pitchFamily="34" charset="0"/>
              <a:ea typeface="微软雅黑" pitchFamily="34" charset="-122"/>
              <a:cs typeface="微软雅黑" pitchFamily="34" charset="-120"/>
            </a:endParaRPr>
          </a:p>
        </p:txBody>
      </p:sp>
      <p:sp>
        <p:nvSpPr>
          <p:cNvPr id="9" name="Text 7"/>
          <p:cNvSpPr/>
          <p:nvPr/>
        </p:nvSpPr>
        <p:spPr>
          <a:xfrm>
            <a:off x="731520" y="4206240"/>
            <a:ext cx="7680960" cy="365760"/>
          </a:xfrm>
          <a:prstGeom prst="rect">
            <a:avLst/>
          </a:prstGeom>
          <a:noFill/>
        </p:spPr>
        <p:txBody>
          <a:bodyPr wrap="square" lIns="0" tIns="0" rIns="0" bIns="0" rtlCol="0" anchor="ctr">
            <a:normAutofit/>
          </a:bodyPr>
          <a:lstStyle/>
          <a:p>
            <a:pPr marL="0" indent="0" algn="ctr">
              <a:buNone/>
            </a:pPr>
            <a:r>
              <a:rPr lang="en-US" sz="1300" b="1" kern="0" spc="200" dirty="0">
                <a:solidFill>
                  <a:srgbClr val="D7EEDF"/>
                </a:solidFill>
                <a:latin typeface="微软雅黑" pitchFamily="34" charset="0"/>
                <a:ea typeface="微软雅黑" pitchFamily="34" charset="-122"/>
                <a:cs typeface="微软雅黑" pitchFamily="34" charset="-120"/>
              </a:rPr>
              <a:t>一库清底 · 双模决策 · 三智落地 · 四队长效</a:t>
            </a:r>
            <a:endParaRPr lang="en-US" sz="1300" dirty="0"/>
          </a:p>
        </p:txBody>
      </p:sp>
      <p:pic>
        <p:nvPicPr>
          <p:cNvPr id="16" name="图片 15"/>
          <p:cNvPicPr/>
          <p:nvPr/>
        </p:nvPicPr>
        <p:blipFill>
          <a:blip r:embed="rId1">
            <a:extLst>
              <a:ext uri="{28A0092B-C50C-407E-A947-70E740481C1C}">
                <a14:useLocalDpi xmlns:a14="http://schemas.microsoft.com/office/drawing/2010/main" val="0"/>
              </a:ext>
            </a:extLst>
          </a:blip>
          <a:srcRect l="11100" t="31712" r="10677" b="40689"/>
          <a:stretch>
            <a:fillRect/>
          </a:stretch>
        </p:blipFill>
        <p:spPr>
          <a:xfrm>
            <a:off x="2349498" y="1225671"/>
            <a:ext cx="4236720" cy="11211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
</file>

<file path=ppt/tags/tag1.xml><?xml version="1.0" encoding="utf-8"?>
<p:tagLst xmlns:p="http://schemas.openxmlformats.org/presentationml/2006/main">
  <p:tag name="KSO_WM_FULL_TEXT_BEAUTIFY_COPY_ID" val="8"/>
</p:tagLst>
</file>

<file path=ppt/tags/tag2.xml><?xml version="1.0" encoding="utf-8"?>
<p:tagLst xmlns:p="http://schemas.openxmlformats.org/presentationml/2006/main">
  <p:tag name="KSO_WM_DIAGRAM_VIRTUALLY_FRAME" val="{&quot;height&quot;:292.7,&quot;left&quot;:59.05,&quot;top&quot;:142.95,&quot;width&quot;:817.2}"/>
</p:tagLst>
</file>

<file path=ppt/tags/tag3.xml><?xml version="1.0" encoding="utf-8"?>
<p:tagLst xmlns:p="http://schemas.openxmlformats.org/presentationml/2006/main">
  <p:tag name="KSO_WM_DIAGRAM_VIRTUALLY_FRAME" val="{&quot;height&quot;:292.7,&quot;left&quot;:59.05,&quot;top&quot;:142.95,&quot;width&quot;:817.2}"/>
</p:tagLst>
</file>

<file path=ppt/tags/tag4.xml><?xml version="1.0" encoding="utf-8"?>
<p:tagLst xmlns:p="http://schemas.openxmlformats.org/presentationml/2006/main">
  <p:tag name="KSO_WM_DIAGRAM_VIRTUALLY_FRAME" val="{&quot;height&quot;:292.7,&quot;left&quot;:59.05,&quot;top&quot;:142.95,&quot;width&quot;:817.2}"/>
</p:tagLst>
</file>

<file path=ppt/tags/tag5.xml><?xml version="1.0" encoding="utf-8"?>
<p:tagLst xmlns:p="http://schemas.openxmlformats.org/presentationml/2006/main">
  <p:tag name="TIMING" val="|48.97"/>
</p:tagLst>
</file>

<file path=ppt/tags/tag6.xml><?xml version="1.0" encoding="utf-8"?>
<p:tagLst xmlns:p="http://schemas.openxmlformats.org/presentationml/2006/main">
  <p:tag name="OPCH-99A71AD194F49CD88B70F5E7F8D94FA283A5B85718ED1DC830159ABEFDE4C712" val="[{&quot;GradientColorId&quot;:&quot;&quot;,&quot;IsFree&quot;:true,&quot;IsGradient&quot;:false,&quot;ImagePath&quot;:&quot;&quot;,&quot;GradientColor&quot;:null,&quot;SimpleColor&quot;:&quot;#EDEDED&quot;}]"/>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1844</Words>
  <Application>WPS 文字</Application>
  <PresentationFormat>全屏显示(16:9)</PresentationFormat>
  <Paragraphs>591</Paragraphs>
  <Slides>17</Slides>
  <Notes>3</Notes>
  <HiddenSlides>0</HiddenSlides>
  <MMClips>0</MMClips>
  <ScaleCrop>false</ScaleCrop>
  <HeadingPairs>
    <vt:vector size="6" baseType="variant">
      <vt:variant>
        <vt:lpstr>已用的字体</vt:lpstr>
      </vt:variant>
      <vt:variant>
        <vt:i4>45</vt:i4>
      </vt:variant>
      <vt:variant>
        <vt:lpstr>主题</vt:lpstr>
      </vt:variant>
      <vt:variant>
        <vt:i4>2</vt:i4>
      </vt:variant>
      <vt:variant>
        <vt:lpstr>幻灯片标题</vt:lpstr>
      </vt:variant>
      <vt:variant>
        <vt:i4>17</vt:i4>
      </vt:variant>
    </vt:vector>
  </HeadingPairs>
  <TitlesOfParts>
    <vt:vector size="64" baseType="lpstr">
      <vt:lpstr>Arial</vt:lpstr>
      <vt:lpstr>宋体</vt:lpstr>
      <vt:lpstr>Wingdings</vt:lpstr>
      <vt:lpstr>等线</vt:lpstr>
      <vt:lpstr>微软雅黑</vt:lpstr>
      <vt:lpstr>汉仪旗黑</vt:lpstr>
      <vt:lpstr>微软雅黑</vt:lpstr>
      <vt:lpstr>微软雅黑</vt:lpstr>
      <vt:lpstr>Roboto Regular</vt:lpstr>
      <vt:lpstr>思源宋体 CN Heavy</vt:lpstr>
      <vt:lpstr>汉仪综艺体简</vt:lpstr>
      <vt:lpstr>华文宋体</vt:lpstr>
      <vt:lpstr>阿里巴巴普惠体 B</vt:lpstr>
      <vt:lpstr>苹方-简</vt:lpstr>
      <vt:lpstr>黑体</vt:lpstr>
      <vt:lpstr>微软雅黑 Light</vt:lpstr>
      <vt:lpstr>Arial</vt:lpstr>
      <vt:lpstr>黑体</vt:lpstr>
      <vt:lpstr>阿里巴巴普惠体 Heavy</vt:lpstr>
      <vt:lpstr>阿里巴巴普惠体</vt:lpstr>
      <vt:lpstr>Wingdings</vt:lpstr>
      <vt:lpstr>微软雅黑</vt:lpstr>
      <vt:lpstr>PingFang SC</vt:lpstr>
      <vt:lpstr>宋体</vt:lpstr>
      <vt:lpstr>方正正大黑简体</vt:lpstr>
      <vt:lpstr>Calibri</vt:lpstr>
      <vt:lpstr>Helvetica Neue</vt:lpstr>
      <vt:lpstr>宋体</vt:lpstr>
      <vt:lpstr>Arial Unicode MS</vt:lpstr>
      <vt:lpstr>汉仪书宋二KW</vt:lpstr>
      <vt:lpstr>Calibri Light</vt:lpstr>
      <vt:lpstr>等线 Light</vt:lpstr>
      <vt:lpstr>汉仪中等线KW</vt:lpstr>
      <vt:lpstr>Apple SD Gothic Neo</vt:lpstr>
      <vt:lpstr>汉仪中黑KW</vt:lpstr>
      <vt:lpstr>Thonburi</vt:lpstr>
      <vt:lpstr>Roboto Regular</vt:lpstr>
      <vt:lpstr>微软雅黑 Light</vt:lpstr>
      <vt:lpstr>思源宋体 CN Heavy</vt:lpstr>
      <vt:lpstr>方正正大黑简体</vt:lpstr>
      <vt:lpstr>等线</vt:lpstr>
      <vt:lpstr>阿里巴巴普惠体</vt:lpstr>
      <vt:lpstr>阿里巴巴普惠体 B</vt:lpstr>
      <vt:lpstr>阿里巴巴普惠体 Heavy</vt:lpstr>
      <vt:lpstr>MS PGothic</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www.1ppt.com</dc:title>
  <dc:creator>www.1ppt.com</dc:creator>
  <cp:keywords>www.1ppt.com</cp:keywords>
  <cp:lastModifiedBy>上善若水</cp:lastModifiedBy>
  <cp:revision>1089</cp:revision>
  <dcterms:created xsi:type="dcterms:W3CDTF">2026-09-07T04:36:18Z</dcterms:created>
  <dcterms:modified xsi:type="dcterms:W3CDTF">2026-09-07T04:36:18Z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4FC2078A6B84B29A3F608C6A9F642047_42</vt:lpwstr>
  </property>
</Properties>
</file>