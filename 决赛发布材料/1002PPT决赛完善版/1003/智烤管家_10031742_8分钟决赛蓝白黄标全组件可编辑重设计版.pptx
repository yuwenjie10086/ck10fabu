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86784" y="813816"/>
            <a:ext cx="4251960" cy="310896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300" b="0">
                <a:solidFill>
                  <a:srgbClr val="DFF8FF"/>
                </a:solidFill>
                <a:latin typeface="Arial"/>
                <a:ea typeface="Microsoft YaHei"/>
              </a:rPr>
              <a:t>Z H I   K A O   M A N A G E 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44368" y="1344168"/>
            <a:ext cx="5669280" cy="111556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56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智烤 管家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64992" y="2670048"/>
            <a:ext cx="5449824" cy="38404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420" b="0">
                <a:solidFill>
                  <a:srgbClr val="F7FBFF"/>
                </a:solidFill>
                <a:latin typeface="Arial"/>
                <a:ea typeface="Microsoft YaHei"/>
              </a:rPr>
              <a:t>让每一座烤房，都有一份可计算的“健康档案”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3474720"/>
            <a:ext cx="6446520" cy="40233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330" b="1">
                <a:solidFill>
                  <a:srgbClr val="F7FBFF"/>
                </a:solidFill>
                <a:latin typeface="Arial"/>
                <a:ea typeface="Microsoft YaHei"/>
              </a:rPr>
              <a:t>一库清底</a:t>
            </a:r>
            <a:r>
              <a:rPr sz="1330" b="0">
                <a:solidFill>
                  <a:srgbClr val="42D2FF"/>
                </a:solidFill>
                <a:latin typeface="Arial"/>
                <a:ea typeface="Microsoft YaHei"/>
              </a:rPr>
              <a:t>   |   </a:t>
            </a:r>
            <a:r>
              <a:rPr sz="1330" b="1">
                <a:solidFill>
                  <a:srgbClr val="F7FBFF"/>
                </a:solidFill>
                <a:latin typeface="Arial"/>
                <a:ea typeface="Microsoft YaHei"/>
              </a:rPr>
              <a:t>双模决策</a:t>
            </a:r>
            <a:r>
              <a:rPr sz="1330" b="0">
                <a:solidFill>
                  <a:srgbClr val="42D2FF"/>
                </a:solidFill>
                <a:latin typeface="Arial"/>
                <a:ea typeface="Microsoft YaHei"/>
              </a:rPr>
              <a:t>   |   </a:t>
            </a:r>
            <a:r>
              <a:rPr sz="1330" b="1">
                <a:solidFill>
                  <a:srgbClr val="F7FBFF"/>
                </a:solidFill>
                <a:latin typeface="Arial"/>
                <a:ea typeface="Microsoft YaHei"/>
              </a:rPr>
              <a:t>三智落地</a:t>
            </a:r>
            <a:r>
              <a:rPr sz="1330" b="0">
                <a:solidFill>
                  <a:srgbClr val="42D2FF"/>
                </a:solidFill>
                <a:latin typeface="Arial"/>
                <a:ea typeface="Microsoft YaHei"/>
              </a:rPr>
              <a:t>   |   </a:t>
            </a:r>
            <a:r>
              <a:rPr sz="1330" b="1">
                <a:solidFill>
                  <a:srgbClr val="F7FBFF"/>
                </a:solidFill>
                <a:latin typeface="Arial"/>
                <a:ea typeface="Microsoft YaHei"/>
              </a:rPr>
              <a:t>四队长效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10128" y="4069080"/>
            <a:ext cx="5715000" cy="402336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32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基于健康评估的烤房用管管一体化解决方案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6025896"/>
            <a:ext cx="2697480" cy="2743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19" b="0">
                <a:solidFill>
                  <a:srgbClr val="DFF8FF"/>
                </a:solidFill>
                <a:latin typeface="Arial"/>
                <a:ea typeface="Microsoft YaHei"/>
              </a:rPr>
              <a:t>湖北烟草创客大赛  ·  决赛发布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50992" y="6025896"/>
            <a:ext cx="3218688" cy="2743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19" b="0">
                <a:solidFill>
                  <a:srgbClr val="DFF8FF"/>
                </a:solidFill>
                <a:latin typeface="Arial"/>
                <a:ea typeface="Microsoft YaHei"/>
              </a:rPr>
              <a:t>宜昌市烟草公司  ·  智同道合创客小组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6025896"/>
            <a:ext cx="822960" cy="2743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19" b="0">
                <a:solidFill>
                  <a:srgbClr val="DFF8FF"/>
                </a:solidFill>
                <a:latin typeface="Arial"/>
                <a:ea typeface="Microsoft YaHei"/>
              </a:rPr>
              <a:t>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43584"/>
          </a:xfrm>
          <a:prstGeom prst="rect">
            <a:avLst/>
          </a:prstGeom>
          <a:solidFill>
            <a:srgbClr val="09233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229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5661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9377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3093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525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4241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7957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" y="18288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2920" y="27432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2920" y="36576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2920" y="45720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2920" y="54864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2920" y="64008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" y="310896"/>
            <a:ext cx="868680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" y="310896"/>
            <a:ext cx="795528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01 问题</a:t>
            </a:r>
          </a:p>
        </p:txBody>
      </p:sp>
      <p:sp>
        <p:nvSpPr>
          <p:cNvPr id="21" name="页标题_可编辑"/>
          <p:cNvSpPr txBox="1"/>
          <p:nvPr/>
        </p:nvSpPr>
        <p:spPr>
          <a:xfrm>
            <a:off x="1938528" y="256032"/>
            <a:ext cx="9555480" cy="56692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24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烟区一线，最急的是这 3 件事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841248"/>
            <a:ext cx="10881360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20" b="0">
                <a:solidFill>
                  <a:srgbClr val="A9C5D9"/>
                </a:solidFill>
                <a:latin typeface="Arial"/>
                <a:ea typeface="Microsoft YaHei"/>
              </a:rPr>
              <a:t>用房、抢修、投入——看似三件事，本质是一条管理链没有打通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1188720"/>
            <a:ext cx="10881360" cy="0"/>
          </a:xfrm>
          <a:prstGeom prst="line">
            <a:avLst/>
          </a:prstGeom>
          <a:ln w="10160">
            <a:solidFill>
              <a:srgbClr val="2A6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8368" y="1554480"/>
            <a:ext cx="3364992" cy="3566160"/>
          </a:xfrm>
          <a:prstGeom prst="roundRect">
            <a:avLst/>
          </a:prstGeom>
          <a:solidFill>
            <a:srgbClr val="0A2747">
              <a:alpha val="93000"/>
            </a:srgbClr>
          </a:solidFill>
          <a:ln w="13970">
            <a:solidFill>
              <a:srgbClr val="2C7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>
            <a:off x="996695" y="1926457"/>
            <a:ext cx="603504" cy="313822"/>
          </a:xfrm>
          <a:prstGeom prst="triangle">
            <a:avLst/>
          </a:prstGeom>
          <a:solidFill>
            <a:srgbClr val="42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069116" y="2179929"/>
            <a:ext cx="458663" cy="331927"/>
          </a:xfrm>
          <a:prstGeom prst="rect">
            <a:avLst/>
          </a:prstGeom>
          <a:solidFill>
            <a:srgbClr val="0F466E">
              <a:alpha val="100000"/>
            </a:srgbClr>
          </a:solidFill>
          <a:ln w="12700">
            <a:solidFill>
              <a:srgbClr val="42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807208" y="1883664"/>
            <a:ext cx="841248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843784" y="1883664"/>
            <a:ext cx="768096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分不到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2670048"/>
            <a:ext cx="2487168" cy="43891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23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用房难</a:t>
            </a:r>
          </a:p>
        </p:txBody>
      </p:sp>
      <p:sp>
        <p:nvSpPr>
          <p:cNvPr id="30" name="Oval 29"/>
          <p:cNvSpPr/>
          <p:nvPr/>
        </p:nvSpPr>
        <p:spPr>
          <a:xfrm>
            <a:off x="1115568" y="3346704"/>
            <a:ext cx="109728" cy="109728"/>
          </a:xfrm>
          <a:prstGeom prst="ellipse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44168" y="3209544"/>
            <a:ext cx="2331720" cy="38404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20" b="0">
                <a:solidFill>
                  <a:srgbClr val="DFF8FF"/>
                </a:solidFill>
                <a:latin typeface="Arial"/>
                <a:ea typeface="Microsoft YaHei"/>
              </a:rPr>
              <a:t>旺季状态不透明</a:t>
            </a:r>
          </a:p>
        </p:txBody>
      </p:sp>
      <p:sp>
        <p:nvSpPr>
          <p:cNvPr id="32" name="Oval 31"/>
          <p:cNvSpPr/>
          <p:nvPr/>
        </p:nvSpPr>
        <p:spPr>
          <a:xfrm>
            <a:off x="1115568" y="3849624"/>
            <a:ext cx="109728" cy="109728"/>
          </a:xfrm>
          <a:prstGeom prst="ellipse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44168" y="3712463"/>
            <a:ext cx="2331720" cy="38404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20" b="0">
                <a:solidFill>
                  <a:srgbClr val="DFF8FF"/>
                </a:solidFill>
                <a:latin typeface="Arial"/>
                <a:ea typeface="Microsoft YaHei"/>
              </a:rPr>
              <a:t>口头协调慢</a:t>
            </a:r>
          </a:p>
        </p:txBody>
      </p:sp>
      <p:sp>
        <p:nvSpPr>
          <p:cNvPr id="34" name="Oval 33"/>
          <p:cNvSpPr/>
          <p:nvPr/>
        </p:nvSpPr>
        <p:spPr>
          <a:xfrm>
            <a:off x="1115568" y="4352544"/>
            <a:ext cx="109728" cy="109728"/>
          </a:xfrm>
          <a:prstGeom prst="ellipse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44168" y="4215383"/>
            <a:ext cx="2331720" cy="38404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20" b="0">
                <a:solidFill>
                  <a:srgbClr val="DFF8FF"/>
                </a:solidFill>
                <a:latin typeface="Arial"/>
                <a:ea typeface="Microsoft YaHei"/>
              </a:rPr>
              <a:t>紧张与闲置并存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453128" y="1554480"/>
            <a:ext cx="3364992" cy="3566160"/>
          </a:xfrm>
          <a:prstGeom prst="roundRect">
            <a:avLst/>
          </a:prstGeom>
          <a:solidFill>
            <a:srgbClr val="0A2747">
              <a:alpha val="93000"/>
            </a:srgbClr>
          </a:solidFill>
          <a:ln w="13970">
            <a:solidFill>
              <a:srgbClr val="2C7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 flipV="1">
            <a:off x="4912156" y="2083368"/>
            <a:ext cx="325892" cy="325893"/>
          </a:xfrm>
          <a:prstGeom prst="line">
            <a:avLst/>
          </a:prstGeom>
          <a:ln w="63500">
            <a:solidFill>
              <a:srgbClr val="42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Oval 37"/>
          <p:cNvSpPr/>
          <p:nvPr/>
        </p:nvSpPr>
        <p:spPr>
          <a:xfrm>
            <a:off x="5177698" y="2010948"/>
            <a:ext cx="181051" cy="181051"/>
          </a:xfrm>
          <a:prstGeom prst="ellipse">
            <a:avLst/>
          </a:prstGeom>
          <a:solidFill>
            <a:srgbClr val="061A33">
              <a:alpha val="100000"/>
            </a:srgbClr>
          </a:solidFill>
          <a:ln w="50800">
            <a:solidFill>
              <a:srgbClr val="42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4857841" y="2342875"/>
            <a:ext cx="114665" cy="114665"/>
          </a:xfrm>
          <a:prstGeom prst="ellipse">
            <a:avLst/>
          </a:prstGeom>
          <a:solidFill>
            <a:srgbClr val="061A33">
              <a:alpha val="100000"/>
            </a:srgbClr>
          </a:solidFill>
          <a:ln w="38100">
            <a:solidFill>
              <a:srgbClr val="42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601968" y="1883664"/>
            <a:ext cx="841248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38544" y="1883664"/>
            <a:ext cx="768096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修不及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892040" y="2670048"/>
            <a:ext cx="2487168" cy="43891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23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抢修慢</a:t>
            </a:r>
          </a:p>
        </p:txBody>
      </p:sp>
      <p:sp>
        <p:nvSpPr>
          <p:cNvPr id="43" name="Oval 42"/>
          <p:cNvSpPr/>
          <p:nvPr/>
        </p:nvSpPr>
        <p:spPr>
          <a:xfrm>
            <a:off x="4910328" y="3346704"/>
            <a:ext cx="109728" cy="109728"/>
          </a:xfrm>
          <a:prstGeom prst="ellipse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38928" y="3209544"/>
            <a:ext cx="2331720" cy="38404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20" b="0">
                <a:solidFill>
                  <a:srgbClr val="DFF8FF"/>
                </a:solidFill>
                <a:latin typeface="Arial"/>
                <a:ea typeface="Microsoft YaHei"/>
              </a:rPr>
              <a:t>报修—找人—找件环节多</a:t>
            </a:r>
          </a:p>
        </p:txBody>
      </p:sp>
      <p:sp>
        <p:nvSpPr>
          <p:cNvPr id="45" name="Oval 44"/>
          <p:cNvSpPr/>
          <p:nvPr/>
        </p:nvSpPr>
        <p:spPr>
          <a:xfrm>
            <a:off x="4910328" y="3849624"/>
            <a:ext cx="109728" cy="109728"/>
          </a:xfrm>
          <a:prstGeom prst="ellipse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138928" y="3712463"/>
            <a:ext cx="2331720" cy="38404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20" b="0">
                <a:solidFill>
                  <a:srgbClr val="DFF8FF"/>
                </a:solidFill>
                <a:latin typeface="Arial"/>
                <a:ea typeface="Microsoft YaHei"/>
              </a:rPr>
              <a:t>人工排查慢</a:t>
            </a:r>
          </a:p>
        </p:txBody>
      </p:sp>
      <p:sp>
        <p:nvSpPr>
          <p:cNvPr id="47" name="Oval 46"/>
          <p:cNvSpPr/>
          <p:nvPr/>
        </p:nvSpPr>
        <p:spPr>
          <a:xfrm>
            <a:off x="4910328" y="4352544"/>
            <a:ext cx="109728" cy="109728"/>
          </a:xfrm>
          <a:prstGeom prst="ellipse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138928" y="4215383"/>
            <a:ext cx="2331720" cy="38404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20" b="0">
                <a:solidFill>
                  <a:srgbClr val="DFF8FF"/>
                </a:solidFill>
                <a:latin typeface="Arial"/>
                <a:ea typeface="Microsoft YaHei"/>
              </a:rPr>
              <a:t>停运损失大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47888" y="1554480"/>
            <a:ext cx="3364992" cy="3566160"/>
          </a:xfrm>
          <a:prstGeom prst="roundRect">
            <a:avLst/>
          </a:prstGeom>
          <a:solidFill>
            <a:srgbClr val="0A2747">
              <a:alpha val="93000"/>
            </a:srgbClr>
          </a:solidFill>
          <a:ln w="13970">
            <a:solidFill>
              <a:srgbClr val="2C7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8616391" y="2320546"/>
            <a:ext cx="108630" cy="130960"/>
          </a:xfrm>
          <a:prstGeom prst="rect">
            <a:avLst/>
          </a:prstGeom>
          <a:solidFill>
            <a:srgbClr val="42D2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797442" y="2219519"/>
            <a:ext cx="108630" cy="231986"/>
          </a:xfrm>
          <a:prstGeom prst="rect">
            <a:avLst/>
          </a:prstGeom>
          <a:solidFill>
            <a:srgbClr val="42D2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978493" y="2107267"/>
            <a:ext cx="108630" cy="344238"/>
          </a:xfrm>
          <a:prstGeom prst="rect">
            <a:avLst/>
          </a:prstGeom>
          <a:solidFill>
            <a:srgbClr val="42D2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10396728" y="1883664"/>
            <a:ext cx="841248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433304" y="1883664"/>
            <a:ext cx="768096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投不准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686800" y="2670048"/>
            <a:ext cx="2487168" cy="43891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23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投入盲</a:t>
            </a:r>
          </a:p>
        </p:txBody>
      </p:sp>
      <p:sp>
        <p:nvSpPr>
          <p:cNvPr id="56" name="Oval 55"/>
          <p:cNvSpPr/>
          <p:nvPr/>
        </p:nvSpPr>
        <p:spPr>
          <a:xfrm>
            <a:off x="8705088" y="3346704"/>
            <a:ext cx="109728" cy="109728"/>
          </a:xfrm>
          <a:prstGeom prst="ellipse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933688" y="3209544"/>
            <a:ext cx="2331720" cy="38404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20" b="0">
                <a:solidFill>
                  <a:srgbClr val="DFF8FF"/>
                </a:solidFill>
                <a:latin typeface="Arial"/>
                <a:ea typeface="Microsoft YaHei"/>
              </a:rPr>
              <a:t>维修、新建靠经验</a:t>
            </a:r>
          </a:p>
        </p:txBody>
      </p:sp>
      <p:sp>
        <p:nvSpPr>
          <p:cNvPr id="58" name="Oval 57"/>
          <p:cNvSpPr/>
          <p:nvPr/>
        </p:nvSpPr>
        <p:spPr>
          <a:xfrm>
            <a:off x="8705088" y="3849624"/>
            <a:ext cx="109728" cy="109728"/>
          </a:xfrm>
          <a:prstGeom prst="ellipse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33688" y="3712463"/>
            <a:ext cx="2331720" cy="38404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20" b="0">
                <a:solidFill>
                  <a:srgbClr val="DFF8FF"/>
                </a:solidFill>
                <a:latin typeface="Arial"/>
                <a:ea typeface="Microsoft YaHei"/>
              </a:rPr>
              <a:t>供需脱节</a:t>
            </a:r>
          </a:p>
        </p:txBody>
      </p:sp>
      <p:sp>
        <p:nvSpPr>
          <p:cNvPr id="60" name="Oval 59"/>
          <p:cNvSpPr/>
          <p:nvPr/>
        </p:nvSpPr>
        <p:spPr>
          <a:xfrm>
            <a:off x="8705088" y="4352544"/>
            <a:ext cx="109728" cy="109728"/>
          </a:xfrm>
          <a:prstGeom prst="ellipse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933688" y="4215383"/>
            <a:ext cx="2331720" cy="38404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20" b="0">
                <a:solidFill>
                  <a:srgbClr val="DFF8FF"/>
                </a:solidFill>
                <a:latin typeface="Arial"/>
                <a:ea typeface="Microsoft YaHei"/>
              </a:rPr>
              <a:t>资金容易错配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234440" y="5413248"/>
            <a:ext cx="9738360" cy="676656"/>
          </a:xfrm>
          <a:prstGeom prst="roundRect">
            <a:avLst/>
          </a:prstGeom>
          <a:solidFill>
            <a:srgbClr val="0A3557">
              <a:alpha val="95000"/>
            </a:srgbClr>
          </a:solidFill>
          <a:ln w="13970">
            <a:solidFill>
              <a:srgbClr val="FFD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08760" y="5513832"/>
            <a:ext cx="923544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1">
                <a:solidFill>
                  <a:srgbClr val="FFD34E"/>
                </a:solidFill>
                <a:latin typeface="Arial"/>
                <a:ea typeface="Microsoft YaHei"/>
              </a:rPr>
              <a:t>根因：</a:t>
            </a:r>
            <a:r>
              <a:rPr sz="1500" b="1">
                <a:solidFill>
                  <a:srgbClr val="F7FBFF"/>
                </a:solidFill>
                <a:latin typeface="Arial"/>
                <a:ea typeface="Microsoft YaHei"/>
              </a:rPr>
              <a:t>资源无统筹  ｜  投入无量化  ｜  管护无闭环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43584"/>
          </a:xfrm>
          <a:prstGeom prst="rect">
            <a:avLst/>
          </a:prstGeom>
          <a:solidFill>
            <a:srgbClr val="09233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229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5661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9377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3093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525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4241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7957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" y="18288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2920" y="27432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2920" y="36576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2920" y="45720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2920" y="54864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2920" y="64008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" y="310896"/>
            <a:ext cx="868680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" y="310896"/>
            <a:ext cx="795528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02 方案</a:t>
            </a:r>
          </a:p>
        </p:txBody>
      </p:sp>
      <p:sp>
        <p:nvSpPr>
          <p:cNvPr id="21" name="页标题_可编辑"/>
          <p:cNvSpPr txBox="1"/>
          <p:nvPr/>
        </p:nvSpPr>
        <p:spPr>
          <a:xfrm>
            <a:off x="1938528" y="256032"/>
            <a:ext cx="9555480" cy="56692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24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一套“1234”，把三难串成一个闭环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841248"/>
            <a:ext cx="10881360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20" b="0">
                <a:solidFill>
                  <a:srgbClr val="A9C5D9"/>
                </a:solidFill>
                <a:latin typeface="Arial"/>
                <a:ea typeface="Microsoft YaHei"/>
              </a:rPr>
              <a:t>不是再加一个系统，而是重做一条从数据到服务的管理链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1188720"/>
            <a:ext cx="10881360" cy="0"/>
          </a:xfrm>
          <a:prstGeom prst="line">
            <a:avLst/>
          </a:prstGeom>
          <a:ln w="10160">
            <a:solidFill>
              <a:srgbClr val="2A6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8368" y="1737360"/>
            <a:ext cx="2450592" cy="3017520"/>
          </a:xfrm>
          <a:prstGeom prst="roundRect">
            <a:avLst/>
          </a:prstGeom>
          <a:solidFill>
            <a:srgbClr val="0A2747">
              <a:alpha val="92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1737360"/>
            <a:ext cx="694944" cy="64008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3000" b="1">
                <a:solidFill>
                  <a:srgbClr val="FFD34E"/>
                </a:solidFill>
                <a:latin typeface="Arial"/>
                <a:ea typeface="Microsoft YaHei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264" y="2450592"/>
            <a:ext cx="1847088" cy="5029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21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一库清底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" y="3063240"/>
            <a:ext cx="1847088" cy="5486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220" b="0">
                <a:solidFill>
                  <a:srgbClr val="DFF8FF"/>
                </a:solidFill>
                <a:latin typeface="Arial"/>
                <a:ea typeface="Microsoft YaHei"/>
              </a:rPr>
              <a:t>一房一档｜底数清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145536" y="3246120"/>
            <a:ext cx="256032" cy="0"/>
          </a:xfrm>
          <a:prstGeom prst="line">
            <a:avLst/>
          </a:prstGeom>
          <a:ln w="21590">
            <a:solidFill>
              <a:srgbClr val="42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493008" y="1737360"/>
            <a:ext cx="2450592" cy="3017520"/>
          </a:xfrm>
          <a:prstGeom prst="roundRect">
            <a:avLst/>
          </a:prstGeom>
          <a:solidFill>
            <a:srgbClr val="0A2747">
              <a:alpha val="92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02736" y="1737360"/>
            <a:ext cx="694944" cy="64008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3000" b="1">
                <a:solidFill>
                  <a:srgbClr val="FFD34E"/>
                </a:solidFill>
                <a:latin typeface="Arial"/>
                <a:ea typeface="Microsoft YaHei"/>
              </a:rPr>
              <a:t>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03904" y="2450592"/>
            <a:ext cx="1847088" cy="5029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21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双模决策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03904" y="3063240"/>
            <a:ext cx="1847088" cy="5486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220" b="0">
                <a:solidFill>
                  <a:srgbClr val="DFF8FF"/>
                </a:solidFill>
                <a:latin typeface="Arial"/>
                <a:ea typeface="Microsoft YaHei"/>
              </a:rPr>
              <a:t>健康评估｜发展导引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980176" y="3246120"/>
            <a:ext cx="256032" cy="0"/>
          </a:xfrm>
          <a:prstGeom prst="line">
            <a:avLst/>
          </a:prstGeom>
          <a:ln w="21590">
            <a:solidFill>
              <a:srgbClr val="42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6327648" y="1737360"/>
            <a:ext cx="2450592" cy="3017520"/>
          </a:xfrm>
          <a:prstGeom prst="roundRect">
            <a:avLst/>
          </a:prstGeom>
          <a:solidFill>
            <a:srgbClr val="0A2747">
              <a:alpha val="92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37376" y="1737360"/>
            <a:ext cx="694944" cy="64008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3000" b="1">
                <a:solidFill>
                  <a:srgbClr val="FFD34E"/>
                </a:solidFill>
                <a:latin typeface="Arial"/>
                <a:ea typeface="Microsoft YaHe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38544" y="2450592"/>
            <a:ext cx="1847088" cy="5029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21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三智落地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38544" y="3063240"/>
            <a:ext cx="1847088" cy="5486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220" b="0">
                <a:solidFill>
                  <a:srgbClr val="DFF8FF"/>
                </a:solidFill>
                <a:latin typeface="Arial"/>
                <a:ea typeface="Microsoft YaHei"/>
              </a:rPr>
              <a:t>智投｜智用｜智管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8814816" y="3246120"/>
            <a:ext cx="256032" cy="0"/>
          </a:xfrm>
          <a:prstGeom prst="line">
            <a:avLst/>
          </a:prstGeom>
          <a:ln w="21590">
            <a:solidFill>
              <a:srgbClr val="42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9162288" y="1737360"/>
            <a:ext cx="2450592" cy="3017520"/>
          </a:xfrm>
          <a:prstGeom prst="roundRect">
            <a:avLst/>
          </a:prstGeom>
          <a:solidFill>
            <a:srgbClr val="0A2747">
              <a:alpha val="92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272016" y="1737360"/>
            <a:ext cx="694944" cy="64008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3000" b="1">
                <a:solidFill>
                  <a:srgbClr val="FFD34E"/>
                </a:solidFill>
                <a:latin typeface="Arial"/>
                <a:ea typeface="Microsoft YaHei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73184" y="2450592"/>
            <a:ext cx="1847088" cy="5029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21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四队长效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73184" y="3063240"/>
            <a:ext cx="1847088" cy="5486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220" b="0">
                <a:solidFill>
                  <a:srgbClr val="DFF8FF"/>
                </a:solidFill>
                <a:latin typeface="Arial"/>
                <a:ea typeface="Microsoft YaHei"/>
              </a:rPr>
              <a:t>有人管｜有钱管｜有标准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691640" y="5120640"/>
            <a:ext cx="8732520" cy="768096"/>
          </a:xfrm>
          <a:prstGeom prst="roundRect">
            <a:avLst/>
          </a:prstGeom>
          <a:solidFill>
            <a:srgbClr val="0A3557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965960" y="5285232"/>
            <a:ext cx="8183879" cy="420624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700" b="1">
                <a:solidFill>
                  <a:srgbClr val="F7FBFF"/>
                </a:solidFill>
                <a:latin typeface="Arial"/>
                <a:ea typeface="Microsoft YaHei"/>
              </a:rPr>
              <a:t>数据</a:t>
            </a:r>
            <a:r>
              <a:rPr sz="1700" b="1">
                <a:solidFill>
                  <a:srgbClr val="42D2FF"/>
                </a:solidFill>
                <a:latin typeface="Arial"/>
                <a:ea typeface="Microsoft YaHei"/>
              </a:rPr>
              <a:t>  →  </a:t>
            </a:r>
            <a:r>
              <a:rPr sz="1700" b="1">
                <a:solidFill>
                  <a:srgbClr val="F7FBFF"/>
                </a:solidFill>
                <a:latin typeface="Arial"/>
                <a:ea typeface="Microsoft YaHei"/>
              </a:rPr>
              <a:t>决策</a:t>
            </a:r>
            <a:r>
              <a:rPr sz="1700" b="1">
                <a:solidFill>
                  <a:srgbClr val="42D2FF"/>
                </a:solidFill>
                <a:latin typeface="Arial"/>
                <a:ea typeface="Microsoft YaHei"/>
              </a:rPr>
              <a:t>  →  </a:t>
            </a:r>
            <a:r>
              <a:rPr sz="1700" b="1">
                <a:solidFill>
                  <a:srgbClr val="F7FBFF"/>
                </a:solidFill>
                <a:latin typeface="Arial"/>
                <a:ea typeface="Microsoft YaHei"/>
              </a:rPr>
              <a:t>服务</a:t>
            </a:r>
            <a:r>
              <a:rPr sz="1700" b="1">
                <a:solidFill>
                  <a:srgbClr val="42D2FF"/>
                </a:solidFill>
                <a:latin typeface="Arial"/>
                <a:ea typeface="Microsoft YaHei"/>
              </a:rPr>
              <a:t>  →  </a:t>
            </a:r>
            <a:r>
              <a:rPr sz="1700" b="1">
                <a:solidFill>
                  <a:srgbClr val="FFD34E"/>
                </a:solidFill>
                <a:latin typeface="Arial"/>
                <a:ea typeface="Microsoft YaHei"/>
              </a:rPr>
              <a:t>机制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43584"/>
          </a:xfrm>
          <a:prstGeom prst="rect">
            <a:avLst/>
          </a:prstGeom>
          <a:solidFill>
            <a:srgbClr val="09233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229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5661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9377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3093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525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4241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7957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" y="18288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2920" y="27432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2920" y="36576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2920" y="45720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2920" y="54864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2920" y="64008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" y="310896"/>
            <a:ext cx="868680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" y="310896"/>
            <a:ext cx="795528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03 数据</a:t>
            </a:r>
          </a:p>
        </p:txBody>
      </p:sp>
      <p:sp>
        <p:nvSpPr>
          <p:cNvPr id="21" name="页标题_可编辑"/>
          <p:cNvSpPr txBox="1"/>
          <p:nvPr/>
        </p:nvSpPr>
        <p:spPr>
          <a:xfrm>
            <a:off x="1938528" y="256032"/>
            <a:ext cx="9555480" cy="56692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24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一库清底：先把“家底”变成可用数据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841248"/>
            <a:ext cx="10881360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20" b="0">
                <a:solidFill>
                  <a:srgbClr val="A9C5D9"/>
                </a:solidFill>
                <a:latin typeface="Arial"/>
                <a:ea typeface="Microsoft YaHei"/>
              </a:rPr>
              <a:t>标准化判定 + 移动端采集 + 一房一档，为后面的模型提供同一套数据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1188720"/>
            <a:ext cx="10881360" cy="0"/>
          </a:xfrm>
          <a:prstGeom prst="line">
            <a:avLst/>
          </a:prstGeom>
          <a:ln w="10160">
            <a:solidFill>
              <a:srgbClr val="2A6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13232" y="1572768"/>
            <a:ext cx="4114800" cy="694944"/>
          </a:xfrm>
          <a:prstGeom prst="roundRect">
            <a:avLst/>
          </a:prstGeom>
          <a:solidFill>
            <a:srgbClr val="0A2747">
              <a:alpha val="96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77824" y="1746504"/>
            <a:ext cx="1078992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1746504"/>
            <a:ext cx="1005839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4大模块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04288" y="1682495"/>
            <a:ext cx="2267712" cy="45720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300" b="1">
                <a:solidFill>
                  <a:srgbClr val="F7FBFF"/>
                </a:solidFill>
                <a:latin typeface="Arial"/>
                <a:ea typeface="Microsoft YaHei"/>
              </a:rPr>
              <a:t>加热｜散热｜自控｜附属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2487168"/>
            <a:ext cx="4114800" cy="694944"/>
          </a:xfrm>
          <a:prstGeom prst="roundRect">
            <a:avLst/>
          </a:prstGeom>
          <a:solidFill>
            <a:srgbClr val="0A2747">
              <a:alpha val="96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77824" y="2660903"/>
            <a:ext cx="1261872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2660903"/>
            <a:ext cx="1188719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18个关键部件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04288" y="2596896"/>
            <a:ext cx="2267712" cy="45720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300" b="1">
                <a:solidFill>
                  <a:srgbClr val="F7FBFF"/>
                </a:solidFill>
                <a:latin typeface="Arial"/>
                <a:ea typeface="Microsoft YaHei"/>
              </a:rPr>
              <a:t>统一状态口径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3401568"/>
            <a:ext cx="4114800" cy="694944"/>
          </a:xfrm>
          <a:prstGeom prst="roundRect">
            <a:avLst/>
          </a:prstGeom>
          <a:solidFill>
            <a:srgbClr val="0A2747">
              <a:alpha val="96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77824" y="3575303"/>
            <a:ext cx="1261872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3575303"/>
            <a:ext cx="1188719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3类部件状态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04288" y="3511296"/>
            <a:ext cx="2267712" cy="45720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300" b="1">
                <a:solidFill>
                  <a:srgbClr val="F7FBFF"/>
                </a:solidFill>
                <a:latin typeface="Arial"/>
                <a:ea typeface="Microsoft YaHei"/>
              </a:rPr>
              <a:t>正常｜损坏｜缺失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4315968"/>
            <a:ext cx="4114800" cy="694944"/>
          </a:xfrm>
          <a:prstGeom prst="roundRect">
            <a:avLst/>
          </a:prstGeom>
          <a:solidFill>
            <a:srgbClr val="0A2747">
              <a:alpha val="96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77824" y="4489704"/>
            <a:ext cx="1261872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4400" y="4489704"/>
            <a:ext cx="1188719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3档烤房评价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04288" y="4425696"/>
            <a:ext cx="2267712" cy="45720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300" b="1">
                <a:solidFill>
                  <a:srgbClr val="F7FBFF"/>
                </a:solidFill>
                <a:latin typeface="Arial"/>
                <a:ea typeface="Microsoft YaHei"/>
              </a:rPr>
              <a:t>优良｜一般｜较差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577840" y="1572768"/>
            <a:ext cx="5504688" cy="3401568"/>
          </a:xfrm>
          <a:prstGeom prst="roundRect">
            <a:avLst/>
          </a:prstGeom>
          <a:solidFill>
            <a:srgbClr val="0B2D4D">
              <a:alpha val="98000"/>
            </a:srgbClr>
          </a:solidFill>
          <a:ln w="15240">
            <a:solidFill>
              <a:srgbClr val="42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03720" y="1783080"/>
            <a:ext cx="3401568" cy="53035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23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一房一档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44768" y="2633472"/>
            <a:ext cx="1005840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40" b="1">
                <a:solidFill>
                  <a:srgbClr val="FFD34E"/>
                </a:solidFill>
                <a:latin typeface="Arial"/>
                <a:ea typeface="Microsoft YaHei"/>
              </a:rPr>
              <a:t>基础信息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42048" y="2633472"/>
            <a:ext cx="3383280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20" b="0">
                <a:solidFill>
                  <a:srgbClr val="DFF8FF"/>
                </a:solidFill>
                <a:latin typeface="Arial"/>
                <a:ea typeface="Microsoft YaHei"/>
              </a:rPr>
              <a:t>位置 / 容量 / 建设年限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44768" y="3182112"/>
            <a:ext cx="1005840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40" b="1">
                <a:solidFill>
                  <a:srgbClr val="FFD34E"/>
                </a:solidFill>
                <a:latin typeface="Arial"/>
                <a:ea typeface="Microsoft YaHei"/>
              </a:rPr>
              <a:t>部件状态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42048" y="3182112"/>
            <a:ext cx="3383280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20" b="0">
                <a:solidFill>
                  <a:srgbClr val="DFF8FF"/>
                </a:solidFill>
                <a:latin typeface="Arial"/>
                <a:ea typeface="Microsoft YaHei"/>
              </a:rPr>
              <a:t>18部件逐项判定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44768" y="3730752"/>
            <a:ext cx="1005840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40" b="1">
                <a:solidFill>
                  <a:srgbClr val="FFD34E"/>
                </a:solidFill>
                <a:latin typeface="Arial"/>
                <a:ea typeface="Microsoft YaHei"/>
              </a:rPr>
              <a:t>维修记录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42048" y="3730752"/>
            <a:ext cx="3383280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20" b="0">
                <a:solidFill>
                  <a:srgbClr val="DFF8FF"/>
                </a:solidFill>
                <a:latin typeface="Arial"/>
                <a:ea typeface="Microsoft YaHei"/>
              </a:rPr>
              <a:t>工单 / 配件 / 结果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144768" y="4279392"/>
            <a:ext cx="1005840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40" b="1">
                <a:solidFill>
                  <a:srgbClr val="FFD34E"/>
                </a:solidFill>
                <a:latin typeface="Arial"/>
                <a:ea typeface="Microsoft YaHei"/>
              </a:rPr>
              <a:t>用户评价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242048" y="4279392"/>
            <a:ext cx="3383280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20" b="0">
                <a:solidFill>
                  <a:srgbClr val="DFF8FF"/>
                </a:solidFill>
                <a:latin typeface="Arial"/>
                <a:ea typeface="Microsoft YaHei"/>
              </a:rPr>
              <a:t>烘烤质量 / 运维服务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46120" y="5376672"/>
            <a:ext cx="5669280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82696" y="5376672"/>
            <a:ext cx="5596128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现场拍照录入 → 实时归档 → 全程可溯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43584"/>
          </a:xfrm>
          <a:prstGeom prst="rect">
            <a:avLst/>
          </a:prstGeom>
          <a:solidFill>
            <a:srgbClr val="09233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229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5661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9377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3093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525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4241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7957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" y="18288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2920" y="27432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2920" y="36576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2920" y="45720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2920" y="54864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2920" y="64008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" y="310896"/>
            <a:ext cx="868680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" y="310896"/>
            <a:ext cx="795528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04 模型1</a:t>
            </a:r>
          </a:p>
        </p:txBody>
      </p:sp>
      <p:sp>
        <p:nvSpPr>
          <p:cNvPr id="21" name="页标题_可编辑"/>
          <p:cNvSpPr txBox="1"/>
          <p:nvPr/>
        </p:nvSpPr>
        <p:spPr>
          <a:xfrm>
            <a:off x="1938528" y="256032"/>
            <a:ext cx="9555480" cy="56692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24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核心创新①：健康评估——先知道“谁最该修”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841248"/>
            <a:ext cx="10881360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20" b="0">
                <a:solidFill>
                  <a:srgbClr val="A9C5D9"/>
                </a:solidFill>
                <a:latin typeface="Arial"/>
                <a:ea typeface="Microsoft YaHei"/>
              </a:rPr>
              <a:t>把部件状态、管护情况、现场评价统一成一个可执行的维修优先序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1188720"/>
            <a:ext cx="10881360" cy="0"/>
          </a:xfrm>
          <a:prstGeom prst="line">
            <a:avLst/>
          </a:prstGeom>
          <a:ln w="10160">
            <a:solidFill>
              <a:srgbClr val="2A6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9808" y="1481328"/>
            <a:ext cx="987552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1481328"/>
            <a:ext cx="91440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核心创新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" y="1956816"/>
            <a:ext cx="2011680" cy="38404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6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评价依据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04672" y="2487168"/>
            <a:ext cx="3840480" cy="566928"/>
          </a:xfrm>
          <a:prstGeom prst="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2505456"/>
            <a:ext cx="3840480" cy="2743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300" b="1">
                <a:solidFill>
                  <a:srgbClr val="061A33"/>
                </a:solidFill>
                <a:latin typeface="Arial"/>
                <a:ea typeface="Microsoft YaHei"/>
              </a:rPr>
              <a:t>80%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2770632"/>
            <a:ext cx="3840480" cy="25603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980" b="1">
                <a:solidFill>
                  <a:srgbClr val="061A33"/>
                </a:solidFill>
                <a:latin typeface="Arial"/>
                <a:ea typeface="Microsoft YaHei"/>
              </a:rPr>
              <a:t>部件状态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81728" y="2487168"/>
            <a:ext cx="502920" cy="566928"/>
          </a:xfrm>
          <a:prstGeom prst="rect">
            <a:avLst/>
          </a:prstGeom>
          <a:solidFill>
            <a:srgbClr val="42D2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1728" y="2505456"/>
            <a:ext cx="502920" cy="2743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300" b="1">
                <a:solidFill>
                  <a:srgbClr val="061A33"/>
                </a:solidFill>
                <a:latin typeface="Arial"/>
                <a:ea typeface="Microsoft YaHei"/>
              </a:rPr>
              <a:t>10%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81728" y="2770632"/>
            <a:ext cx="502920" cy="25603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980" b="1">
                <a:solidFill>
                  <a:srgbClr val="061A33"/>
                </a:solidFill>
                <a:latin typeface="Arial"/>
                <a:ea typeface="Microsoft YaHei"/>
              </a:rPr>
              <a:t>管护情况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221224" y="2487168"/>
            <a:ext cx="502920" cy="566928"/>
          </a:xfrm>
          <a:prstGeom prst="rect">
            <a:avLst/>
          </a:prstGeom>
          <a:solidFill>
            <a:srgbClr val="DFF8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21224" y="2505456"/>
            <a:ext cx="502920" cy="2743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300" b="1">
                <a:solidFill>
                  <a:srgbClr val="061A33"/>
                </a:solidFill>
                <a:latin typeface="Arial"/>
                <a:ea typeface="Microsoft YaHei"/>
              </a:rPr>
              <a:t>10%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21224" y="2770632"/>
            <a:ext cx="502920" cy="25603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980" b="1">
                <a:solidFill>
                  <a:srgbClr val="061A33"/>
                </a:solidFill>
                <a:latin typeface="Arial"/>
                <a:ea typeface="Microsoft YaHei"/>
              </a:rPr>
              <a:t>现场评价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14416" y="1874519"/>
            <a:ext cx="2322576" cy="2212848"/>
          </a:xfrm>
          <a:prstGeom prst="roundRect">
            <a:avLst/>
          </a:prstGeom>
          <a:solidFill>
            <a:srgbClr val="0A2747">
              <a:alpha val="98000"/>
            </a:srgbClr>
          </a:solidFill>
          <a:ln w="15240">
            <a:solidFill>
              <a:srgbClr val="42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14416" y="2066543"/>
            <a:ext cx="2322576" cy="5486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27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AHP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14416" y="2606040"/>
            <a:ext cx="2322576" cy="32918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250" b="1">
                <a:solidFill>
                  <a:srgbClr val="FFD34E"/>
                </a:solidFill>
                <a:latin typeface="Arial"/>
                <a:ea typeface="Microsoft YaHei"/>
              </a:rPr>
              <a:t>层次分析法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788152" y="2990088"/>
            <a:ext cx="1975104" cy="676656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30" b="0">
                <a:solidFill>
                  <a:srgbClr val="DFF8FF"/>
                </a:solidFill>
                <a:latin typeface="Arial"/>
                <a:ea typeface="Microsoft YaHei"/>
              </a:rPr>
              <a:t>建设年限｜使用时长
养护记录｜实时工况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412480" y="1645920"/>
            <a:ext cx="3127248" cy="2907792"/>
          </a:xfrm>
          <a:prstGeom prst="roundRect">
            <a:avLst/>
          </a:prstGeom>
          <a:solidFill>
            <a:srgbClr val="0B2D4D">
              <a:alpha val="98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50224" y="1920240"/>
            <a:ext cx="1298448" cy="71323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3400" b="1">
                <a:solidFill>
                  <a:srgbClr val="FFD34E"/>
                </a:solidFill>
                <a:latin typeface="Arial"/>
                <a:ea typeface="Microsoft YaHei"/>
              </a:rPr>
              <a:t>60分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2066543"/>
            <a:ext cx="1188720" cy="402336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300" b="1">
                <a:solidFill>
                  <a:srgbClr val="F7FBFF"/>
                </a:solidFill>
                <a:latin typeface="Arial"/>
                <a:ea typeface="Microsoft YaHei"/>
              </a:rPr>
              <a:t>安全预警线</a:t>
            </a:r>
          </a:p>
        </p:txBody>
      </p:sp>
      <p:sp>
        <p:nvSpPr>
          <p:cNvPr id="43" name="Oval 42"/>
          <p:cNvSpPr/>
          <p:nvPr/>
        </p:nvSpPr>
        <p:spPr>
          <a:xfrm>
            <a:off x="8732520" y="2834640"/>
            <a:ext cx="109728" cy="109728"/>
          </a:xfrm>
          <a:prstGeom prst="ellipse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979408" y="2724912"/>
            <a:ext cx="1920240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40" b="0">
                <a:solidFill>
                  <a:srgbClr val="DFF8FF"/>
                </a:solidFill>
                <a:latin typeface="Arial"/>
                <a:ea typeface="Microsoft YaHei"/>
              </a:rPr>
              <a:t>健康评分</a:t>
            </a:r>
          </a:p>
        </p:txBody>
      </p:sp>
      <p:sp>
        <p:nvSpPr>
          <p:cNvPr id="45" name="Oval 44"/>
          <p:cNvSpPr/>
          <p:nvPr/>
        </p:nvSpPr>
        <p:spPr>
          <a:xfrm>
            <a:off x="8732520" y="3310128"/>
            <a:ext cx="109728" cy="109728"/>
          </a:xfrm>
          <a:prstGeom prst="ellipse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979408" y="3200400"/>
            <a:ext cx="1920240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40" b="0">
                <a:solidFill>
                  <a:srgbClr val="DFF8FF"/>
                </a:solidFill>
                <a:latin typeface="Arial"/>
                <a:ea typeface="Microsoft YaHei"/>
              </a:rPr>
              <a:t>风险状态</a:t>
            </a:r>
          </a:p>
        </p:txBody>
      </p:sp>
      <p:sp>
        <p:nvSpPr>
          <p:cNvPr id="47" name="Oval 46"/>
          <p:cNvSpPr/>
          <p:nvPr/>
        </p:nvSpPr>
        <p:spPr>
          <a:xfrm>
            <a:off x="8732520" y="3785616"/>
            <a:ext cx="109728" cy="109728"/>
          </a:xfrm>
          <a:prstGeom prst="ellipse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979408" y="3675887"/>
            <a:ext cx="1920240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40" b="0">
                <a:solidFill>
                  <a:srgbClr val="DFF8FF"/>
                </a:solidFill>
                <a:latin typeface="Arial"/>
                <a:ea typeface="Microsoft YaHei"/>
              </a:rPr>
              <a:t>维保优先清单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1335024" y="5065776"/>
            <a:ext cx="9464040" cy="749808"/>
          </a:xfrm>
          <a:prstGeom prst="roundRect">
            <a:avLst/>
          </a:prstGeom>
          <a:solidFill>
            <a:srgbClr val="0A3557">
              <a:alpha val="9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645920" y="5230368"/>
            <a:ext cx="8869680" cy="4114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00" b="0">
                <a:solidFill>
                  <a:srgbClr val="A9C5D9"/>
                </a:solidFill>
                <a:latin typeface="Arial"/>
                <a:ea typeface="Microsoft YaHei"/>
              </a:rPr>
              <a:t>过去：</a:t>
            </a:r>
            <a:r>
              <a:rPr sz="1500" b="1">
                <a:solidFill>
                  <a:srgbClr val="F7FBFF"/>
                </a:solidFill>
                <a:latin typeface="Arial"/>
                <a:ea typeface="Microsoft YaHei"/>
              </a:rPr>
              <a:t>盲目排查、被动抢修</a:t>
            </a:r>
            <a:r>
              <a:rPr sz="1500" b="1">
                <a:solidFill>
                  <a:srgbClr val="42D2FF"/>
                </a:solidFill>
                <a:latin typeface="Arial"/>
                <a:ea typeface="Microsoft YaHei"/>
              </a:rPr>
              <a:t>     →     </a:t>
            </a:r>
            <a:r>
              <a:rPr sz="1500" b="0">
                <a:solidFill>
                  <a:srgbClr val="A9C5D9"/>
                </a:solidFill>
                <a:latin typeface="Arial"/>
                <a:ea typeface="Microsoft YaHei"/>
              </a:rPr>
              <a:t>现在：</a:t>
            </a:r>
            <a:r>
              <a:rPr sz="1500" b="1">
                <a:solidFill>
                  <a:srgbClr val="FFD34E"/>
                </a:solidFill>
                <a:latin typeface="Arial"/>
                <a:ea typeface="Microsoft YaHei"/>
              </a:rPr>
              <a:t>预判风险、靶向维保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43584"/>
          </a:xfrm>
          <a:prstGeom prst="rect">
            <a:avLst/>
          </a:prstGeom>
          <a:solidFill>
            <a:srgbClr val="09233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229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5661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9377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3093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525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4241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7957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" y="18288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2920" y="27432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2920" y="36576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2920" y="45720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2920" y="54864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2920" y="64008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" y="310896"/>
            <a:ext cx="868680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" y="310896"/>
            <a:ext cx="795528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05 模型2</a:t>
            </a:r>
          </a:p>
        </p:txBody>
      </p:sp>
      <p:sp>
        <p:nvSpPr>
          <p:cNvPr id="21" name="页标题_可编辑"/>
          <p:cNvSpPr txBox="1"/>
          <p:nvPr/>
        </p:nvSpPr>
        <p:spPr>
          <a:xfrm>
            <a:off x="1938528" y="256032"/>
            <a:ext cx="9555480" cy="56692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24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核心创新②：发展导引——先算“有效烤能”，再决定建不建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841248"/>
            <a:ext cx="10881360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20" b="0">
                <a:solidFill>
                  <a:srgbClr val="A9C5D9"/>
                </a:solidFill>
                <a:latin typeface="Arial"/>
                <a:ea typeface="Microsoft YaHei"/>
              </a:rPr>
              <a:t>把单栋健康结果折算到村级产能，再用客观算法识别真实缺口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1188720"/>
            <a:ext cx="10881360" cy="0"/>
          </a:xfrm>
          <a:prstGeom prst="line">
            <a:avLst/>
          </a:prstGeom>
          <a:ln w="10160">
            <a:solidFill>
              <a:srgbClr val="2A6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9808" y="1481328"/>
            <a:ext cx="987552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" y="1481328"/>
            <a:ext cx="91440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原创模型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2057400"/>
            <a:ext cx="1664208" cy="1389888"/>
          </a:xfrm>
          <a:prstGeom prst="roundRect">
            <a:avLst/>
          </a:prstGeom>
          <a:solidFill>
            <a:srgbClr val="0A2747">
              <a:alpha val="96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3271" y="2276856"/>
            <a:ext cx="1426464" cy="84124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600" b="1">
                <a:solidFill>
                  <a:srgbClr val="F7FBFF"/>
                </a:solidFill>
                <a:latin typeface="Arial"/>
                <a:ea typeface="Microsoft YaHei"/>
              </a:rPr>
              <a:t>单栋
健康数据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044952" y="2057400"/>
            <a:ext cx="1664208" cy="1389888"/>
          </a:xfrm>
          <a:prstGeom prst="roundRect">
            <a:avLst/>
          </a:prstGeom>
          <a:solidFill>
            <a:srgbClr val="0A2747">
              <a:alpha val="96000"/>
            </a:srgbClr>
          </a:solidFill>
          <a:ln w="13970">
            <a:solidFill>
              <a:srgbClr val="42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163824" y="2276856"/>
            <a:ext cx="1426464" cy="84124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6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村级
有效烤能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75504" y="2057400"/>
            <a:ext cx="1664208" cy="1389888"/>
          </a:xfrm>
          <a:prstGeom prst="roundRect">
            <a:avLst/>
          </a:prstGeom>
          <a:solidFill>
            <a:srgbClr val="0A2747">
              <a:alpha val="96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94376" y="2276856"/>
            <a:ext cx="1426464" cy="84124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600" b="1">
                <a:solidFill>
                  <a:srgbClr val="F7FBFF"/>
                </a:solidFill>
                <a:latin typeface="Arial"/>
                <a:ea typeface="Microsoft YaHei"/>
              </a:rPr>
              <a:t>产业需求
多维指标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2057400"/>
            <a:ext cx="1664208" cy="1389888"/>
          </a:xfrm>
          <a:prstGeom prst="roundRect">
            <a:avLst/>
          </a:prstGeom>
          <a:solidFill>
            <a:srgbClr val="0A2747">
              <a:alpha val="96000"/>
            </a:srgbClr>
          </a:solidFill>
          <a:ln w="13970">
            <a:solidFill>
              <a:srgbClr val="42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34072" y="2276856"/>
            <a:ext cx="1426464" cy="84124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6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熵权法
+ TOPSIS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54896" y="2057400"/>
            <a:ext cx="1664208" cy="1389888"/>
          </a:xfrm>
          <a:prstGeom prst="roundRect">
            <a:avLst/>
          </a:prstGeom>
          <a:solidFill>
            <a:srgbClr val="0A2747">
              <a:alpha val="96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73768" y="2276856"/>
            <a:ext cx="1426464" cy="84124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600" b="1">
                <a:solidFill>
                  <a:srgbClr val="F7FBFF"/>
                </a:solidFill>
                <a:latin typeface="Arial"/>
                <a:ea typeface="Microsoft YaHei"/>
              </a:rPr>
              <a:t>地图
情景沙盘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615184" y="2743200"/>
            <a:ext cx="301752" cy="0"/>
          </a:xfrm>
          <a:prstGeom prst="line">
            <a:avLst/>
          </a:prstGeom>
          <a:ln w="21590">
            <a:solidFill>
              <a:srgbClr val="42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745736" y="2743200"/>
            <a:ext cx="301752" cy="0"/>
          </a:xfrm>
          <a:prstGeom prst="line">
            <a:avLst/>
          </a:prstGeom>
          <a:ln w="21590">
            <a:solidFill>
              <a:srgbClr val="42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876288" y="2743200"/>
            <a:ext cx="301752" cy="0"/>
          </a:xfrm>
          <a:prstGeom prst="line">
            <a:avLst/>
          </a:prstGeom>
          <a:ln w="21590">
            <a:solidFill>
              <a:srgbClr val="42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015984" y="2743200"/>
            <a:ext cx="301752" cy="0"/>
          </a:xfrm>
          <a:prstGeom prst="line">
            <a:avLst/>
          </a:prstGeom>
          <a:ln w="21590">
            <a:solidFill>
              <a:srgbClr val="42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4041648" y="3767328"/>
            <a:ext cx="4480560" cy="38404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40" b="0">
                <a:solidFill>
                  <a:srgbClr val="A9C5D9"/>
                </a:solidFill>
                <a:latin typeface="Arial"/>
                <a:ea typeface="Microsoft YaHei"/>
              </a:rPr>
              <a:t>种植规模｜产业趋势｜集体经济｜管护能力｜政策适配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874519" y="4370832"/>
            <a:ext cx="8458200" cy="1078992"/>
          </a:xfrm>
          <a:prstGeom prst="roundRect">
            <a:avLst/>
          </a:prstGeom>
          <a:solidFill>
            <a:srgbClr val="0B2D4D">
              <a:alpha val="98000"/>
            </a:srgbClr>
          </a:solidFill>
          <a:ln w="13970">
            <a:solidFill>
              <a:srgbClr val="FFD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03120" y="4645152"/>
            <a:ext cx="658368" cy="36576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200" b="1">
                <a:solidFill>
                  <a:srgbClr val="FFD34E"/>
                </a:solidFill>
                <a:latin typeface="Arial"/>
                <a:ea typeface="Microsoft YaHei"/>
              </a:rPr>
              <a:t>输出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999232" y="4535424"/>
            <a:ext cx="1645920" cy="53035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8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哪里真缺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20640" y="4535424"/>
            <a:ext cx="1645920" cy="53035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8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缺多少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42048" y="4535424"/>
            <a:ext cx="1645920" cy="53035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8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建哪里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297680" y="5596128"/>
            <a:ext cx="3566160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34256" y="5596128"/>
            <a:ext cx="3493008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把“凭感觉”变成“凭数据”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43584"/>
          </a:xfrm>
          <a:prstGeom prst="rect">
            <a:avLst/>
          </a:prstGeom>
          <a:solidFill>
            <a:srgbClr val="09233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229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5661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9377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3093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525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4241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7957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" y="18288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2920" y="27432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2920" y="36576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2920" y="45720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2920" y="54864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2920" y="64008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" y="310896"/>
            <a:ext cx="868680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" y="310896"/>
            <a:ext cx="795528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06 决策</a:t>
            </a:r>
          </a:p>
        </p:txBody>
      </p:sp>
      <p:sp>
        <p:nvSpPr>
          <p:cNvPr id="21" name="页标题_可编辑"/>
          <p:cNvSpPr txBox="1"/>
          <p:nvPr/>
        </p:nvSpPr>
        <p:spPr>
          <a:xfrm>
            <a:off x="1938528" y="256032"/>
            <a:ext cx="9555480" cy="56692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24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双模不是并列：它是一条投入决策链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841248"/>
            <a:ext cx="10881360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20" b="0">
                <a:solidFill>
                  <a:srgbClr val="A9C5D9"/>
                </a:solidFill>
                <a:latin typeface="Arial"/>
                <a:ea typeface="Microsoft YaHei"/>
              </a:rPr>
              <a:t>同一套数据，既服务维修，也服务投资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1188720"/>
            <a:ext cx="10881360" cy="0"/>
          </a:xfrm>
          <a:prstGeom prst="line">
            <a:avLst/>
          </a:prstGeom>
          <a:ln w="10160">
            <a:solidFill>
              <a:srgbClr val="2A6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58368" y="2048256"/>
            <a:ext cx="1874519" cy="1517904"/>
          </a:xfrm>
          <a:prstGeom prst="roundRect">
            <a:avLst/>
          </a:prstGeom>
          <a:solidFill>
            <a:srgbClr val="0A2747">
              <a:alpha val="96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2267712"/>
            <a:ext cx="1655064" cy="42062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65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存量体检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2834640"/>
            <a:ext cx="1655064" cy="29260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1">
                <a:solidFill>
                  <a:srgbClr val="FFD34E"/>
                </a:solidFill>
                <a:latin typeface="Arial"/>
                <a:ea typeface="Microsoft YaHei"/>
              </a:rPr>
              <a:t>模型1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560320" y="2788920"/>
            <a:ext cx="292608" cy="0"/>
          </a:xfrm>
          <a:prstGeom prst="line">
            <a:avLst/>
          </a:prstGeom>
          <a:ln w="21590">
            <a:solidFill>
              <a:srgbClr val="42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2971800" y="2048256"/>
            <a:ext cx="1874519" cy="1517904"/>
          </a:xfrm>
          <a:prstGeom prst="roundRect">
            <a:avLst/>
          </a:prstGeom>
          <a:solidFill>
            <a:srgbClr val="0A2747">
              <a:alpha val="96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81528" y="2267712"/>
            <a:ext cx="1655064" cy="42062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650" b="1">
                <a:solidFill>
                  <a:srgbClr val="F7FBFF"/>
                </a:solidFill>
                <a:latin typeface="Arial"/>
                <a:ea typeface="Microsoft YaHei"/>
              </a:rPr>
              <a:t>健康折损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81528" y="2834640"/>
            <a:ext cx="1655064" cy="29260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1">
                <a:solidFill>
                  <a:srgbClr val="A9C5D9"/>
                </a:solidFill>
                <a:latin typeface="Arial"/>
                <a:ea typeface="Microsoft YaHei"/>
              </a:rPr>
              <a:t>风险分层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4873752" y="2788920"/>
            <a:ext cx="292608" cy="0"/>
          </a:xfrm>
          <a:prstGeom prst="line">
            <a:avLst/>
          </a:prstGeom>
          <a:ln w="21590">
            <a:solidFill>
              <a:srgbClr val="42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285231" y="2048256"/>
            <a:ext cx="1874519" cy="1517904"/>
          </a:xfrm>
          <a:prstGeom prst="roundRect">
            <a:avLst/>
          </a:prstGeom>
          <a:solidFill>
            <a:srgbClr val="0A2747">
              <a:alpha val="96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394959" y="2267712"/>
            <a:ext cx="1655064" cy="42062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65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有效烤能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94959" y="2834640"/>
            <a:ext cx="1655064" cy="29260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1">
                <a:solidFill>
                  <a:srgbClr val="A9C5D9"/>
                </a:solidFill>
                <a:latin typeface="Arial"/>
                <a:ea typeface="Microsoft YaHei"/>
              </a:rPr>
              <a:t>能力折算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7187183" y="2788920"/>
            <a:ext cx="292609" cy="0"/>
          </a:xfrm>
          <a:prstGeom prst="line">
            <a:avLst/>
          </a:prstGeom>
          <a:ln w="21590">
            <a:solidFill>
              <a:srgbClr val="42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598664" y="2048256"/>
            <a:ext cx="1874519" cy="1517904"/>
          </a:xfrm>
          <a:prstGeom prst="roundRect">
            <a:avLst/>
          </a:prstGeom>
          <a:solidFill>
            <a:srgbClr val="0A2747">
              <a:alpha val="96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08392" y="2267712"/>
            <a:ext cx="1655064" cy="42062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65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真实缺口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08392" y="2834640"/>
            <a:ext cx="1655064" cy="29260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1">
                <a:solidFill>
                  <a:srgbClr val="FFD34E"/>
                </a:solidFill>
                <a:latin typeface="Arial"/>
                <a:ea typeface="Microsoft YaHei"/>
              </a:rPr>
              <a:t>模型2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500616" y="2788920"/>
            <a:ext cx="292608" cy="0"/>
          </a:xfrm>
          <a:prstGeom prst="line">
            <a:avLst/>
          </a:prstGeom>
          <a:ln w="21590">
            <a:solidFill>
              <a:srgbClr val="42D2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912096" y="2048256"/>
            <a:ext cx="1874519" cy="1517904"/>
          </a:xfrm>
          <a:prstGeom prst="roundRect">
            <a:avLst/>
          </a:prstGeom>
          <a:solidFill>
            <a:srgbClr val="0A2747">
              <a:alpha val="96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21824" y="2267712"/>
            <a:ext cx="1655064" cy="42062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650" b="1">
                <a:solidFill>
                  <a:srgbClr val="F7FBFF"/>
                </a:solidFill>
                <a:latin typeface="Arial"/>
                <a:ea typeface="Microsoft YaHei"/>
              </a:rPr>
              <a:t>调剂 / 维修 / 新建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21824" y="2834640"/>
            <a:ext cx="1655064" cy="29260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50" b="1">
                <a:solidFill>
                  <a:srgbClr val="FFD34E"/>
                </a:solidFill>
                <a:latin typeface="Arial"/>
                <a:ea typeface="Microsoft YaHei"/>
              </a:rPr>
              <a:t>行动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280160" y="4297680"/>
            <a:ext cx="9628632" cy="1042415"/>
          </a:xfrm>
          <a:prstGeom prst="roundRect">
            <a:avLst/>
          </a:prstGeom>
          <a:solidFill>
            <a:srgbClr val="0A3557">
              <a:alpha val="9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572768" y="4553712"/>
            <a:ext cx="9052560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620" b="0">
                <a:solidFill>
                  <a:srgbClr val="A9C5D9"/>
                </a:solidFill>
                <a:latin typeface="Arial"/>
                <a:ea typeface="Microsoft YaHei"/>
              </a:rPr>
              <a:t>原则：</a:t>
            </a:r>
            <a:r>
              <a:rPr sz="1620" b="1">
                <a:solidFill>
                  <a:srgbClr val="F7FBFF"/>
                </a:solidFill>
                <a:latin typeface="Arial"/>
                <a:ea typeface="Microsoft YaHei"/>
              </a:rPr>
              <a:t>先盘活存量</a:t>
            </a:r>
            <a:r>
              <a:rPr sz="1620" b="1">
                <a:solidFill>
                  <a:srgbClr val="42D2FF"/>
                </a:solidFill>
                <a:latin typeface="Arial"/>
                <a:ea typeface="Microsoft YaHei"/>
              </a:rPr>
              <a:t>  →  </a:t>
            </a:r>
            <a:r>
              <a:rPr sz="1620" b="1">
                <a:solidFill>
                  <a:srgbClr val="F7FBFF"/>
                </a:solidFill>
                <a:latin typeface="Arial"/>
                <a:ea typeface="Microsoft YaHei"/>
              </a:rPr>
              <a:t>再精准修复</a:t>
            </a:r>
            <a:r>
              <a:rPr sz="1620" b="1">
                <a:solidFill>
                  <a:srgbClr val="42D2FF"/>
                </a:solidFill>
                <a:latin typeface="Arial"/>
                <a:ea typeface="Microsoft YaHei"/>
              </a:rPr>
              <a:t>  →  </a:t>
            </a:r>
            <a:r>
              <a:rPr sz="1620" b="1">
                <a:solidFill>
                  <a:srgbClr val="FFD34E"/>
                </a:solidFill>
                <a:latin typeface="Arial"/>
                <a:ea typeface="Microsoft YaHei"/>
              </a:rPr>
              <a:t>仍有缺口才新增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43584"/>
          </a:xfrm>
          <a:prstGeom prst="rect">
            <a:avLst/>
          </a:prstGeom>
          <a:solidFill>
            <a:srgbClr val="09233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229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5661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9377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3093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525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4241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7957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" y="18288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2920" y="27432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2920" y="36576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2920" y="45720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2920" y="54864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2920" y="64008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" y="310896"/>
            <a:ext cx="868680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" y="310896"/>
            <a:ext cx="795528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07 落地</a:t>
            </a:r>
          </a:p>
        </p:txBody>
      </p:sp>
      <p:sp>
        <p:nvSpPr>
          <p:cNvPr id="21" name="页标题_可编辑"/>
          <p:cNvSpPr txBox="1"/>
          <p:nvPr/>
        </p:nvSpPr>
        <p:spPr>
          <a:xfrm>
            <a:off x="1938528" y="256032"/>
            <a:ext cx="9555480" cy="56692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24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三智落地：模型算完，更要真正跑起来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841248"/>
            <a:ext cx="10881360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20" b="0">
                <a:solidFill>
                  <a:srgbClr val="A9C5D9"/>
                </a:solidFill>
                <a:latin typeface="Arial"/>
                <a:ea typeface="Microsoft YaHei"/>
              </a:rPr>
              <a:t>不同角色看到不同动作，但数据最终回到同一个闭环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1188720"/>
            <a:ext cx="10881360" cy="0"/>
          </a:xfrm>
          <a:prstGeom prst="line">
            <a:avLst/>
          </a:prstGeom>
          <a:ln w="10160">
            <a:solidFill>
              <a:srgbClr val="2A6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804672" y="1700784"/>
            <a:ext cx="3246120" cy="3419856"/>
          </a:xfrm>
          <a:prstGeom prst="roundRect">
            <a:avLst/>
          </a:prstGeom>
          <a:solidFill>
            <a:srgbClr val="0A2747">
              <a:alpha val="96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33271" y="1938528"/>
            <a:ext cx="1005840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9848" y="1938528"/>
            <a:ext cx="932688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管理部门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2514600"/>
            <a:ext cx="2615184" cy="585216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26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智投</a:t>
            </a:r>
          </a:p>
        </p:txBody>
      </p:sp>
      <p:sp>
        <p:nvSpPr>
          <p:cNvPr id="28" name="Oval 27"/>
          <p:cNvSpPr/>
          <p:nvPr/>
        </p:nvSpPr>
        <p:spPr>
          <a:xfrm>
            <a:off x="1371600" y="3456432"/>
            <a:ext cx="128016" cy="128016"/>
          </a:xfrm>
          <a:prstGeom prst="ellipse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45920" y="3310128"/>
            <a:ext cx="1938528" cy="402336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40" b="0">
                <a:solidFill>
                  <a:srgbClr val="DFF8FF"/>
                </a:solidFill>
                <a:latin typeface="Arial"/>
                <a:ea typeface="Microsoft YaHei"/>
              </a:rPr>
              <a:t>年度改造清单</a:t>
            </a:r>
          </a:p>
        </p:txBody>
      </p:sp>
      <p:sp>
        <p:nvSpPr>
          <p:cNvPr id="30" name="Oval 29"/>
          <p:cNvSpPr/>
          <p:nvPr/>
        </p:nvSpPr>
        <p:spPr>
          <a:xfrm>
            <a:off x="1371600" y="4096511"/>
            <a:ext cx="128016" cy="128016"/>
          </a:xfrm>
          <a:prstGeom prst="ellipse">
            <a:avLst/>
          </a:prstGeom>
          <a:solidFill>
            <a:srgbClr val="42D2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645920" y="3950208"/>
            <a:ext cx="1938528" cy="402336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40" b="0">
                <a:solidFill>
                  <a:srgbClr val="DFF8FF"/>
                </a:solidFill>
                <a:latin typeface="Arial"/>
                <a:ea typeface="Microsoft YaHei"/>
              </a:rPr>
              <a:t>新建点位推演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0" y="1700784"/>
            <a:ext cx="3246120" cy="3419856"/>
          </a:xfrm>
          <a:prstGeom prst="roundRect">
            <a:avLst/>
          </a:prstGeom>
          <a:solidFill>
            <a:srgbClr val="0A2747">
              <a:alpha val="96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800600" y="1938528"/>
            <a:ext cx="1188720" cy="329184"/>
          </a:xfrm>
          <a:prstGeom prst="roundRect">
            <a:avLst/>
          </a:prstGeom>
          <a:solidFill>
            <a:srgbClr val="2B7EA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37176" y="1938528"/>
            <a:ext cx="1115568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F7FBFF"/>
                </a:solidFill>
                <a:latin typeface="Arial"/>
                <a:ea typeface="Microsoft YaHei"/>
              </a:rPr>
              <a:t>烟农 / 技术员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82896" y="2514600"/>
            <a:ext cx="2615184" cy="585216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26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智用</a:t>
            </a:r>
          </a:p>
        </p:txBody>
      </p:sp>
      <p:sp>
        <p:nvSpPr>
          <p:cNvPr id="36" name="Oval 35"/>
          <p:cNvSpPr/>
          <p:nvPr/>
        </p:nvSpPr>
        <p:spPr>
          <a:xfrm>
            <a:off x="5138928" y="3456432"/>
            <a:ext cx="128016" cy="128016"/>
          </a:xfrm>
          <a:prstGeom prst="ellipse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13248" y="3310128"/>
            <a:ext cx="1938528" cy="402336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40" b="0">
                <a:solidFill>
                  <a:srgbClr val="DFF8FF"/>
                </a:solidFill>
                <a:latin typeface="Arial"/>
                <a:ea typeface="Microsoft YaHei"/>
              </a:rPr>
              <a:t>找房调剂</a:t>
            </a:r>
          </a:p>
        </p:txBody>
      </p:sp>
      <p:sp>
        <p:nvSpPr>
          <p:cNvPr id="38" name="Oval 37"/>
          <p:cNvSpPr/>
          <p:nvPr/>
        </p:nvSpPr>
        <p:spPr>
          <a:xfrm>
            <a:off x="5138928" y="4096511"/>
            <a:ext cx="128016" cy="128016"/>
          </a:xfrm>
          <a:prstGeom prst="ellipse">
            <a:avLst/>
          </a:prstGeom>
          <a:solidFill>
            <a:srgbClr val="42D2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13248" y="3950208"/>
            <a:ext cx="1938528" cy="402336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40" b="0">
                <a:solidFill>
                  <a:srgbClr val="DFF8FF"/>
                </a:solidFill>
                <a:latin typeface="Arial"/>
                <a:ea typeface="Microsoft YaHei"/>
              </a:rPr>
              <a:t>一键报修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339328" y="1700784"/>
            <a:ext cx="3246120" cy="3419856"/>
          </a:xfrm>
          <a:prstGeom prst="roundRect">
            <a:avLst/>
          </a:prstGeom>
          <a:solidFill>
            <a:srgbClr val="0A2747">
              <a:alpha val="96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567928" y="1938528"/>
            <a:ext cx="1188720" cy="329184"/>
          </a:xfrm>
          <a:prstGeom prst="roundRect">
            <a:avLst/>
          </a:prstGeom>
          <a:solidFill>
            <a:srgbClr val="2B7EA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04504" y="1938528"/>
            <a:ext cx="1115568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F7FBFF"/>
                </a:solidFill>
                <a:latin typeface="Arial"/>
                <a:ea typeface="Microsoft YaHei"/>
              </a:rPr>
              <a:t>合作社 / 管护队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50224" y="2514600"/>
            <a:ext cx="2615184" cy="585216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26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智管</a:t>
            </a:r>
          </a:p>
        </p:txBody>
      </p:sp>
      <p:sp>
        <p:nvSpPr>
          <p:cNvPr id="44" name="Oval 43"/>
          <p:cNvSpPr/>
          <p:nvPr/>
        </p:nvSpPr>
        <p:spPr>
          <a:xfrm>
            <a:off x="8906256" y="3456432"/>
            <a:ext cx="128016" cy="128016"/>
          </a:xfrm>
          <a:prstGeom prst="ellipse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80576" y="3310128"/>
            <a:ext cx="1938528" cy="402336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40" b="0">
                <a:solidFill>
                  <a:srgbClr val="DFF8FF"/>
                </a:solidFill>
                <a:latin typeface="Arial"/>
                <a:ea typeface="Microsoft YaHei"/>
              </a:rPr>
              <a:t>派单处置</a:t>
            </a:r>
          </a:p>
        </p:txBody>
      </p:sp>
      <p:sp>
        <p:nvSpPr>
          <p:cNvPr id="46" name="Oval 45"/>
          <p:cNvSpPr/>
          <p:nvPr/>
        </p:nvSpPr>
        <p:spPr>
          <a:xfrm>
            <a:off x="8906256" y="4096511"/>
            <a:ext cx="128016" cy="128016"/>
          </a:xfrm>
          <a:prstGeom prst="ellipse">
            <a:avLst/>
          </a:prstGeom>
          <a:solidFill>
            <a:srgbClr val="42D2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0576" y="3950208"/>
            <a:ext cx="1938528" cy="402336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40" b="0">
                <a:solidFill>
                  <a:srgbClr val="DFF8FF"/>
                </a:solidFill>
                <a:latin typeface="Arial"/>
                <a:ea typeface="Microsoft YaHei"/>
              </a:rPr>
              <a:t>验收评价 / 数据回写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91640" y="5468112"/>
            <a:ext cx="8823960" cy="402336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420" b="1">
                <a:solidFill>
                  <a:srgbClr val="F7FBFF"/>
                </a:solidFill>
                <a:latin typeface="Arial"/>
                <a:ea typeface="Microsoft YaHei"/>
              </a:rPr>
              <a:t>烟农  —  合作社  —  管护人员  —  管理部门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224528" y="5916168"/>
            <a:ext cx="3749039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61104" y="5916168"/>
            <a:ext cx="3675887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可选：此处接15秒真实操作演示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43584"/>
          </a:xfrm>
          <a:prstGeom prst="rect">
            <a:avLst/>
          </a:prstGeom>
          <a:solidFill>
            <a:srgbClr val="09233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229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5661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9377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3093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525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4241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7957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" y="18288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2920" y="27432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2920" y="36576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2920" y="45720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2920" y="54864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2920" y="64008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" y="310896"/>
            <a:ext cx="868680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" y="310896"/>
            <a:ext cx="795528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08 智投</a:t>
            </a:r>
          </a:p>
        </p:txBody>
      </p:sp>
      <p:sp>
        <p:nvSpPr>
          <p:cNvPr id="21" name="页标题_可编辑"/>
          <p:cNvSpPr txBox="1"/>
          <p:nvPr/>
        </p:nvSpPr>
        <p:spPr>
          <a:xfrm>
            <a:off x="1938528" y="256032"/>
            <a:ext cx="9555480" cy="56692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24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智投：投入有据可依，布局贴合需求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841248"/>
            <a:ext cx="10881360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20" b="0">
                <a:solidFill>
                  <a:srgbClr val="A9C5D9"/>
                </a:solidFill>
                <a:latin typeface="Arial"/>
                <a:ea typeface="Microsoft YaHei"/>
              </a:rPr>
              <a:t>双模研判把“该修什么、该建多少、建在哪里”落到年度计划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1188720"/>
            <a:ext cx="10881360" cy="0"/>
          </a:xfrm>
          <a:prstGeom prst="line">
            <a:avLst/>
          </a:prstGeom>
          <a:ln w="10160">
            <a:solidFill>
              <a:srgbClr val="2A6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13232" y="1828800"/>
            <a:ext cx="1975104" cy="1188720"/>
          </a:xfrm>
          <a:prstGeom prst="roundRect">
            <a:avLst/>
          </a:prstGeom>
          <a:solidFill>
            <a:srgbClr val="0A2747">
              <a:alpha val="96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2011680"/>
            <a:ext cx="1755648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340" b="1">
                <a:solidFill>
                  <a:srgbClr val="F7FBFF"/>
                </a:solidFill>
                <a:latin typeface="Arial"/>
                <a:ea typeface="Microsoft YaHei"/>
              </a:rPr>
              <a:t>双模研判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2441448"/>
            <a:ext cx="1755648" cy="29260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19" b="0">
                <a:solidFill>
                  <a:srgbClr val="A9C5D9"/>
                </a:solidFill>
                <a:latin typeface="Arial"/>
                <a:ea typeface="Microsoft YaHei"/>
              </a:rPr>
              <a:t>健康 + 缺口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99232" y="1828800"/>
            <a:ext cx="1975104" cy="1188720"/>
          </a:xfrm>
          <a:prstGeom prst="roundRect">
            <a:avLst/>
          </a:prstGeom>
          <a:solidFill>
            <a:srgbClr val="0A2747">
              <a:alpha val="96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2011680"/>
            <a:ext cx="1755648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340" b="1">
                <a:solidFill>
                  <a:srgbClr val="F7FBFF"/>
                </a:solidFill>
                <a:latin typeface="Arial"/>
                <a:ea typeface="Microsoft YaHei"/>
              </a:rPr>
              <a:t>筛选对象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2441448"/>
            <a:ext cx="1755648" cy="29260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19" b="0">
                <a:solidFill>
                  <a:srgbClr val="A9C5D9"/>
                </a:solidFill>
                <a:latin typeface="Arial"/>
                <a:ea typeface="Microsoft YaHei"/>
              </a:rPr>
              <a:t>低效 / 老化 / 高危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285232" y="1828800"/>
            <a:ext cx="1975104" cy="1188720"/>
          </a:xfrm>
          <a:prstGeom prst="roundRect">
            <a:avLst/>
          </a:prstGeom>
          <a:solidFill>
            <a:srgbClr val="0A2747">
              <a:alpha val="96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4960" y="2011680"/>
            <a:ext cx="1755648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340" b="1">
                <a:solidFill>
                  <a:srgbClr val="F7FBFF"/>
                </a:solidFill>
                <a:latin typeface="Arial"/>
                <a:ea typeface="Microsoft YaHei"/>
              </a:rPr>
              <a:t>形成清单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94960" y="2441448"/>
            <a:ext cx="1755648" cy="29260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19" b="0">
                <a:solidFill>
                  <a:srgbClr val="A9C5D9"/>
                </a:solidFill>
                <a:latin typeface="Arial"/>
                <a:ea typeface="Microsoft YaHei"/>
              </a:rPr>
              <a:t>升级改造 / 新建点位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71231" y="1828800"/>
            <a:ext cx="1975104" cy="1188720"/>
          </a:xfrm>
          <a:prstGeom prst="roundRect">
            <a:avLst/>
          </a:prstGeom>
          <a:solidFill>
            <a:srgbClr val="0A2747">
              <a:alpha val="96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80959" y="2011680"/>
            <a:ext cx="1755648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340" b="1">
                <a:solidFill>
                  <a:srgbClr val="F7FBFF"/>
                </a:solidFill>
                <a:latin typeface="Arial"/>
                <a:ea typeface="Microsoft YaHei"/>
              </a:rPr>
              <a:t>复盘评估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80959" y="2441448"/>
            <a:ext cx="1755648" cy="29260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19" b="0">
                <a:solidFill>
                  <a:srgbClr val="A9C5D9"/>
                </a:solidFill>
                <a:latin typeface="Arial"/>
                <a:ea typeface="Microsoft YaHei"/>
              </a:rPr>
              <a:t>投入与使用效果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993392" y="3657600"/>
            <a:ext cx="2971800" cy="6035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2900" b="1">
                <a:solidFill>
                  <a:srgbClr val="FFD34E"/>
                </a:solidFill>
                <a:latin typeface="Arial"/>
                <a:ea typeface="Microsoft YaHei"/>
              </a:rPr>
              <a:t>150栋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993392" y="4224528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200" b="1">
                <a:solidFill>
                  <a:srgbClr val="F7FBFF"/>
                </a:solidFill>
                <a:latin typeface="Arial"/>
                <a:ea typeface="Microsoft YaHei"/>
              </a:rPr>
              <a:t>核心设备升级计划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3657600"/>
            <a:ext cx="2971800" cy="6035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2900" b="1">
                <a:solidFill>
                  <a:srgbClr val="FFD34E"/>
                </a:solidFill>
                <a:latin typeface="Arial"/>
                <a:ea typeface="Microsoft YaHei"/>
              </a:rPr>
              <a:t>7栋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4224528"/>
            <a:ext cx="2971800" cy="36576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200" b="1">
                <a:solidFill>
                  <a:srgbClr val="F7FBFF"/>
                </a:solidFill>
                <a:latin typeface="Arial"/>
                <a:ea typeface="Microsoft YaHei"/>
              </a:rPr>
              <a:t>肖家坪千亩村科学新建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169663" y="5303520"/>
            <a:ext cx="3840480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06240" y="5303520"/>
            <a:ext cx="3767328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钱投到最该投的地方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43584"/>
          </a:xfrm>
          <a:prstGeom prst="rect">
            <a:avLst/>
          </a:prstGeom>
          <a:solidFill>
            <a:srgbClr val="09233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229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5661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9377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3093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525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4241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7957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" y="18288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2920" y="27432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2920" y="36576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2920" y="45720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2920" y="54864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2920" y="64008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" y="310896"/>
            <a:ext cx="868680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" y="310896"/>
            <a:ext cx="795528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09 智用</a:t>
            </a:r>
          </a:p>
        </p:txBody>
      </p:sp>
      <p:sp>
        <p:nvSpPr>
          <p:cNvPr id="21" name="页标题_可编辑"/>
          <p:cNvSpPr txBox="1"/>
          <p:nvPr/>
        </p:nvSpPr>
        <p:spPr>
          <a:xfrm>
            <a:off x="1938528" y="256032"/>
            <a:ext cx="9555480" cy="56692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24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智用：找房、报修，不再靠一圈电话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841248"/>
            <a:ext cx="10881360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20" b="0">
                <a:solidFill>
                  <a:srgbClr val="A9C5D9"/>
                </a:solidFill>
                <a:latin typeface="Arial"/>
                <a:ea typeface="Microsoft YaHei"/>
              </a:rPr>
              <a:t>把烟农最直接的“用房难、抢修慢”变成可追踪的线上流程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1188720"/>
            <a:ext cx="10881360" cy="0"/>
          </a:xfrm>
          <a:prstGeom prst="line">
            <a:avLst/>
          </a:prstGeom>
          <a:ln w="10160">
            <a:solidFill>
              <a:srgbClr val="2A6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13232" y="1645920"/>
            <a:ext cx="4828032" cy="1554480"/>
          </a:xfrm>
          <a:prstGeom prst="roundRect">
            <a:avLst/>
          </a:prstGeom>
          <a:solidFill>
            <a:srgbClr val="0A2747">
              <a:alpha val="96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32688" y="1883664"/>
            <a:ext cx="804672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9264" y="1883664"/>
            <a:ext cx="73152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找房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" y="2340864"/>
            <a:ext cx="4315968" cy="45720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40" b="1">
                <a:solidFill>
                  <a:srgbClr val="F7FBFF"/>
                </a:solidFill>
                <a:latin typeface="Arial"/>
                <a:ea typeface="Microsoft YaHei"/>
              </a:rPr>
              <a:t>周边烤房  →  距离 / 空闲时段 / 设备评分  →  预约调剂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3401568"/>
            <a:ext cx="4828032" cy="1554480"/>
          </a:xfrm>
          <a:prstGeom prst="roundRect">
            <a:avLst/>
          </a:prstGeom>
          <a:solidFill>
            <a:srgbClr val="0A2747">
              <a:alpha val="96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32688" y="3639312"/>
            <a:ext cx="804672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9264" y="3639312"/>
            <a:ext cx="73152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报修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4096512"/>
            <a:ext cx="4315968" cy="45720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40" b="1">
                <a:solidFill>
                  <a:srgbClr val="F7FBFF"/>
                </a:solidFill>
                <a:latin typeface="Arial"/>
                <a:ea typeface="Microsoft YaHei"/>
              </a:rPr>
              <a:t>一键报修  →  匹配人员 / 配件 / 路线  →  进度反馈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89320" y="1645920"/>
            <a:ext cx="5394960" cy="3310128"/>
          </a:xfrm>
          <a:prstGeom prst="roundRect">
            <a:avLst/>
          </a:prstGeom>
          <a:solidFill>
            <a:srgbClr val="0B2D4D">
              <a:alpha val="98000"/>
            </a:srgbClr>
          </a:solidFill>
          <a:ln w="15240">
            <a:solidFill>
              <a:srgbClr val="FFD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91072" y="1938528"/>
            <a:ext cx="4800600" cy="45720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7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真实案例｜磨坪站雷击停运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2670048"/>
            <a:ext cx="1920240" cy="6035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2900" b="1">
                <a:solidFill>
                  <a:srgbClr val="FFD34E"/>
                </a:solidFill>
                <a:latin typeface="Arial"/>
                <a:ea typeface="Microsoft YaHei"/>
              </a:rPr>
              <a:t>2处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236976"/>
            <a:ext cx="1920240" cy="36576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200" b="1">
                <a:solidFill>
                  <a:srgbClr val="F7FBFF"/>
                </a:solidFill>
                <a:latin typeface="Arial"/>
                <a:ea typeface="Microsoft YaHei"/>
              </a:rPr>
              <a:t>故障部件快速定位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51392" y="2670048"/>
            <a:ext cx="2011680" cy="6035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2900" b="1">
                <a:solidFill>
                  <a:srgbClr val="FFD34E"/>
                </a:solidFill>
                <a:latin typeface="Arial"/>
                <a:ea typeface="Microsoft YaHei"/>
              </a:rPr>
              <a:t>3小时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51392" y="3236976"/>
            <a:ext cx="2011680" cy="36576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200" b="1">
                <a:solidFill>
                  <a:srgbClr val="F7FBFF"/>
                </a:solidFill>
                <a:latin typeface="Arial"/>
                <a:ea typeface="Microsoft YaHei"/>
              </a:rPr>
              <a:t>完成抢修复产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91072" y="4169663"/>
            <a:ext cx="4663440" cy="38404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230" b="0">
                <a:solidFill>
                  <a:srgbClr val="DFF8FF"/>
                </a:solidFill>
                <a:latin typeface="Arial"/>
                <a:ea typeface="Microsoft YaHei"/>
              </a:rPr>
              <a:t>双向评价：烘烤质量 + 运维服务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944368" y="5376672"/>
            <a:ext cx="6291072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80944" y="5376672"/>
            <a:ext cx="6217920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服务不是结束于维修，而是结束于评价回写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43584"/>
          </a:xfrm>
          <a:prstGeom prst="rect">
            <a:avLst/>
          </a:prstGeom>
          <a:solidFill>
            <a:srgbClr val="09233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229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5661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9377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3093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525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4241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7957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" y="18288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2920" y="27432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2920" y="36576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2920" y="45720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2920" y="54864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2920" y="64008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" y="310896"/>
            <a:ext cx="868680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" y="310896"/>
            <a:ext cx="795528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10 智管</a:t>
            </a:r>
          </a:p>
        </p:txBody>
      </p:sp>
      <p:sp>
        <p:nvSpPr>
          <p:cNvPr id="21" name="页标题_可编辑"/>
          <p:cNvSpPr txBox="1"/>
          <p:nvPr/>
        </p:nvSpPr>
        <p:spPr>
          <a:xfrm>
            <a:off x="1938528" y="256032"/>
            <a:ext cx="9555480" cy="56692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24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智管：四支队伍，让平台从“上线”变“长效”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841248"/>
            <a:ext cx="10881360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20" b="0">
                <a:solidFill>
                  <a:srgbClr val="A9C5D9"/>
                </a:solidFill>
                <a:latin typeface="Arial"/>
                <a:ea typeface="Microsoft YaHei"/>
              </a:rPr>
              <a:t>专业队伍 + 闭环流程 + 专项基金，解决“谁来管、钱怎么管”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1188720"/>
            <a:ext cx="10881360" cy="0"/>
          </a:xfrm>
          <a:prstGeom prst="line">
            <a:avLst/>
          </a:prstGeom>
          <a:ln w="10160">
            <a:solidFill>
              <a:srgbClr val="2A6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3232" y="1975104"/>
            <a:ext cx="1243584" cy="1243584"/>
          </a:xfrm>
          <a:prstGeom prst="ellipse">
            <a:avLst/>
          </a:prstGeom>
          <a:solidFill>
            <a:srgbClr val="0D3659">
              <a:alpha val="100000"/>
            </a:srgbClr>
          </a:solidFill>
          <a:ln w="12700">
            <a:solidFill>
              <a:srgbClr val="42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2267712"/>
            <a:ext cx="1243584" cy="38404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5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技术</a:t>
            </a:r>
          </a:p>
        </p:txBody>
      </p:sp>
      <p:sp>
        <p:nvSpPr>
          <p:cNvPr id="26" name="Oval 25"/>
          <p:cNvSpPr/>
          <p:nvPr/>
        </p:nvSpPr>
        <p:spPr>
          <a:xfrm>
            <a:off x="2587752" y="1975104"/>
            <a:ext cx="1243584" cy="1243584"/>
          </a:xfrm>
          <a:prstGeom prst="ellipse">
            <a:avLst/>
          </a:prstGeom>
          <a:solidFill>
            <a:srgbClr val="0D3659">
              <a:alpha val="100000"/>
            </a:srgbClr>
          </a:solidFill>
          <a:ln w="12700">
            <a:solidFill>
              <a:srgbClr val="42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87752" y="2267712"/>
            <a:ext cx="1243584" cy="38404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5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抢修</a:t>
            </a:r>
          </a:p>
        </p:txBody>
      </p:sp>
      <p:sp>
        <p:nvSpPr>
          <p:cNvPr id="28" name="Oval 27"/>
          <p:cNvSpPr/>
          <p:nvPr/>
        </p:nvSpPr>
        <p:spPr>
          <a:xfrm>
            <a:off x="4462272" y="1975104"/>
            <a:ext cx="1243584" cy="1243584"/>
          </a:xfrm>
          <a:prstGeom prst="ellipse">
            <a:avLst/>
          </a:prstGeom>
          <a:solidFill>
            <a:srgbClr val="0D3659">
              <a:alpha val="100000"/>
            </a:srgbClr>
          </a:solidFill>
          <a:ln w="12700">
            <a:solidFill>
              <a:srgbClr val="42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62272" y="2267712"/>
            <a:ext cx="1243584" cy="38404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5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养护</a:t>
            </a:r>
          </a:p>
        </p:txBody>
      </p:sp>
      <p:sp>
        <p:nvSpPr>
          <p:cNvPr id="30" name="Oval 29"/>
          <p:cNvSpPr/>
          <p:nvPr/>
        </p:nvSpPr>
        <p:spPr>
          <a:xfrm>
            <a:off x="6336792" y="1975104"/>
            <a:ext cx="1243584" cy="1243584"/>
          </a:xfrm>
          <a:prstGeom prst="ellipse">
            <a:avLst/>
          </a:prstGeom>
          <a:solidFill>
            <a:srgbClr val="0D3659">
              <a:alpha val="100000"/>
            </a:srgbClr>
          </a:solidFill>
          <a:ln w="12700">
            <a:solidFill>
              <a:srgbClr val="42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36792" y="2267712"/>
            <a:ext cx="1243584" cy="38404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5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综合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" y="3602736"/>
            <a:ext cx="6903720" cy="5029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370" b="1">
                <a:solidFill>
                  <a:srgbClr val="F7FBFF"/>
                </a:solidFill>
                <a:latin typeface="Arial"/>
                <a:ea typeface="Microsoft YaHei"/>
              </a:rPr>
              <a:t>申请  →  派单  →  处置  →  验收  →  评价  →  数据回写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863840" y="1783080"/>
            <a:ext cx="3419856" cy="3383280"/>
          </a:xfrm>
          <a:prstGeom prst="roundRect">
            <a:avLst/>
          </a:prstGeom>
          <a:solidFill>
            <a:srgbClr val="0B2D4D">
              <a:alpha val="98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11312" y="2194560"/>
            <a:ext cx="2743200" cy="6035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2900" b="1">
                <a:solidFill>
                  <a:srgbClr val="FFD34E"/>
                </a:solidFill>
                <a:latin typeface="Arial"/>
                <a:ea typeface="Microsoft YaHei"/>
              </a:rPr>
              <a:t>66人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1312" y="2761488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200" b="1">
                <a:solidFill>
                  <a:srgbClr val="F7FBFF"/>
                </a:solidFill>
                <a:latin typeface="Arial"/>
                <a:ea typeface="Microsoft YaHei"/>
              </a:rPr>
              <a:t>专业管护团队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11312" y="3529584"/>
            <a:ext cx="2743200" cy="603504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2900" b="1">
                <a:solidFill>
                  <a:srgbClr val="FFD34E"/>
                </a:solidFill>
                <a:latin typeface="Arial"/>
                <a:ea typeface="Microsoft YaHei"/>
              </a:rPr>
              <a:t>近190万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11312" y="4096511"/>
            <a:ext cx="2743200" cy="36576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200" b="1">
                <a:solidFill>
                  <a:srgbClr val="F7FBFF"/>
                </a:solidFill>
                <a:latin typeface="Arial"/>
                <a:ea typeface="Microsoft YaHei"/>
              </a:rPr>
              <a:t>运维基金滚动累计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05840" y="5230368"/>
            <a:ext cx="6565392" cy="475488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530" b="1">
                <a:solidFill>
                  <a:srgbClr val="FFD34E"/>
                </a:solidFill>
                <a:latin typeface="Arial"/>
                <a:ea typeface="Microsoft YaHei"/>
              </a:rPr>
              <a:t>有人管</a:t>
            </a:r>
            <a:r>
              <a:rPr sz="1530" b="1">
                <a:solidFill>
                  <a:srgbClr val="42D2FF"/>
                </a:solidFill>
                <a:latin typeface="Arial"/>
                <a:ea typeface="Microsoft YaHei"/>
              </a:rPr>
              <a:t>  /  </a:t>
            </a:r>
            <a:r>
              <a:rPr sz="1530" b="1">
                <a:solidFill>
                  <a:srgbClr val="F7FBFF"/>
                </a:solidFill>
                <a:latin typeface="Arial"/>
                <a:ea typeface="Microsoft YaHei"/>
              </a:rPr>
              <a:t>有钱管</a:t>
            </a:r>
            <a:r>
              <a:rPr sz="1530" b="1">
                <a:solidFill>
                  <a:srgbClr val="42D2FF"/>
                </a:solidFill>
                <a:latin typeface="Arial"/>
                <a:ea typeface="Microsoft YaHei"/>
              </a:rPr>
              <a:t>  /  </a:t>
            </a:r>
            <a:r>
              <a:rPr sz="1530" b="1">
                <a:solidFill>
                  <a:srgbClr val="F7FBFF"/>
                </a:solidFill>
                <a:latin typeface="Arial"/>
                <a:ea typeface="Microsoft YaHei"/>
              </a:rPr>
              <a:t>有标准</a:t>
            </a:r>
            <a:r>
              <a:rPr sz="1530" b="1">
                <a:solidFill>
                  <a:srgbClr val="42D2FF"/>
                </a:solidFill>
                <a:latin typeface="Arial"/>
                <a:ea typeface="Microsoft YaHei"/>
              </a:rPr>
              <a:t>  /  </a:t>
            </a:r>
            <a:r>
              <a:rPr sz="1530" b="1">
                <a:solidFill>
                  <a:srgbClr val="F7FBFF"/>
                </a:solidFill>
                <a:latin typeface="Arial"/>
                <a:ea typeface="Microsoft YaHei"/>
              </a:rPr>
              <a:t>有机制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43584"/>
          </a:xfrm>
          <a:prstGeom prst="rect">
            <a:avLst/>
          </a:prstGeom>
          <a:solidFill>
            <a:srgbClr val="09233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229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5661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9377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3093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525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4241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7957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" y="18288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2920" y="27432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2920" y="36576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2920" y="45720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2920" y="54864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2920" y="64008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" y="310896"/>
            <a:ext cx="868680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" y="310896"/>
            <a:ext cx="795528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11 成效</a:t>
            </a:r>
          </a:p>
        </p:txBody>
      </p:sp>
      <p:sp>
        <p:nvSpPr>
          <p:cNvPr id="21" name="页标题_可编辑"/>
          <p:cNvSpPr txBox="1"/>
          <p:nvPr/>
        </p:nvSpPr>
        <p:spPr>
          <a:xfrm>
            <a:off x="1938528" y="256032"/>
            <a:ext cx="9555480" cy="56692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24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一个烤季，结果说话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841248"/>
            <a:ext cx="10881360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20" b="0">
                <a:solidFill>
                  <a:srgbClr val="A9C5D9"/>
                </a:solidFill>
                <a:latin typeface="Arial"/>
                <a:ea typeface="Microsoft YaHei"/>
              </a:rPr>
              <a:t>技术、服务、机制都要落到可量化的业务结果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1188720"/>
            <a:ext cx="10881360" cy="0"/>
          </a:xfrm>
          <a:prstGeom prst="line">
            <a:avLst/>
          </a:prstGeom>
          <a:ln w="10160">
            <a:solidFill>
              <a:srgbClr val="2A6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02920" y="1645920"/>
            <a:ext cx="2606040" cy="1883664"/>
          </a:xfrm>
          <a:prstGeom prst="roundRect">
            <a:avLst/>
          </a:prstGeom>
          <a:solidFill>
            <a:srgbClr val="0A2747">
              <a:alpha val="97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94360" y="1920240"/>
            <a:ext cx="2423160" cy="64008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2800" b="1">
                <a:solidFill>
                  <a:srgbClr val="FFD34E"/>
                </a:solidFill>
                <a:latin typeface="Arial"/>
                <a:ea typeface="Microsoft YaHei"/>
              </a:rPr>
              <a:t>2442座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9224" y="2679192"/>
            <a:ext cx="2313432" cy="43891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60" b="1">
                <a:solidFill>
                  <a:srgbClr val="F7FBFF"/>
                </a:solidFill>
                <a:latin typeface="Arial"/>
                <a:ea typeface="Microsoft YaHei"/>
              </a:rPr>
              <a:t>建档 + 健康评估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410712" y="1645920"/>
            <a:ext cx="2606040" cy="1883664"/>
          </a:xfrm>
          <a:prstGeom prst="roundRect">
            <a:avLst/>
          </a:prstGeom>
          <a:solidFill>
            <a:srgbClr val="0A2747">
              <a:alpha val="97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02152" y="1920240"/>
            <a:ext cx="2423160" cy="64008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2800" b="1">
                <a:solidFill>
                  <a:srgbClr val="FFD34E"/>
                </a:solidFill>
                <a:latin typeface="Arial"/>
                <a:ea typeface="Microsoft YaHei"/>
              </a:rPr>
              <a:t>48次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7016" y="2679192"/>
            <a:ext cx="2313432" cy="43891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60" b="1">
                <a:solidFill>
                  <a:srgbClr val="F7FBFF"/>
                </a:solidFill>
                <a:latin typeface="Arial"/>
                <a:ea typeface="Microsoft YaHei"/>
              </a:rPr>
              <a:t>烤房调剂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18504" y="1645920"/>
            <a:ext cx="2606040" cy="1883664"/>
          </a:xfrm>
          <a:prstGeom prst="roundRect">
            <a:avLst/>
          </a:prstGeom>
          <a:solidFill>
            <a:srgbClr val="0A2747">
              <a:alpha val="97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9944" y="1920240"/>
            <a:ext cx="2423160" cy="64008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2800" b="1">
                <a:solidFill>
                  <a:srgbClr val="FFD34E"/>
                </a:solidFill>
                <a:latin typeface="Arial"/>
                <a:ea typeface="Microsoft YaHei"/>
              </a:rPr>
              <a:t>18次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64808" y="2679192"/>
            <a:ext cx="2313432" cy="43891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60" b="1">
                <a:solidFill>
                  <a:srgbClr val="F7FBFF"/>
                </a:solidFill>
                <a:latin typeface="Arial"/>
                <a:ea typeface="Microsoft YaHei"/>
              </a:rPr>
              <a:t>突发抢修全部 &lt;3h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226296" y="1645920"/>
            <a:ext cx="2606040" cy="1883664"/>
          </a:xfrm>
          <a:prstGeom prst="roundRect">
            <a:avLst/>
          </a:prstGeom>
          <a:solidFill>
            <a:srgbClr val="0A2747">
              <a:alpha val="97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17736" y="1920240"/>
            <a:ext cx="2423160" cy="64008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2800" b="1">
                <a:solidFill>
                  <a:srgbClr val="FFD34E"/>
                </a:solidFill>
                <a:latin typeface="Arial"/>
                <a:ea typeface="Microsoft YaHei"/>
              </a:rPr>
              <a:t>95.8%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2679192"/>
            <a:ext cx="2313432" cy="43891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60" b="1">
                <a:solidFill>
                  <a:srgbClr val="F7FBFF"/>
                </a:solidFill>
                <a:latin typeface="Arial"/>
                <a:ea typeface="Microsoft YaHei"/>
              </a:rPr>
              <a:t>群众综合满意度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2" y="4041648"/>
            <a:ext cx="2212848" cy="5029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21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340+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2" y="4526280"/>
            <a:ext cx="2212848" cy="310896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80" b="0">
                <a:solidFill>
                  <a:srgbClr val="A9C5D9"/>
                </a:solidFill>
                <a:latin typeface="Arial"/>
                <a:ea typeface="Microsoft YaHei"/>
              </a:rPr>
              <a:t>待修烤房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566160" y="4041648"/>
            <a:ext cx="2212848" cy="5029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21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150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4526280"/>
            <a:ext cx="2212848" cy="310896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80" b="0">
                <a:solidFill>
                  <a:srgbClr val="A9C5D9"/>
                </a:solidFill>
                <a:latin typeface="Arial"/>
                <a:ea typeface="Microsoft YaHei"/>
              </a:rPr>
              <a:t>升级纳入计划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27648" y="4041648"/>
            <a:ext cx="2212848" cy="5029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21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1363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27648" y="4526280"/>
            <a:ext cx="2212848" cy="310896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80" b="0">
                <a:solidFill>
                  <a:srgbClr val="A9C5D9"/>
                </a:solidFill>
                <a:latin typeface="Arial"/>
                <a:ea typeface="Microsoft YaHei"/>
              </a:rPr>
              <a:t>合作社统筹管护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89136" y="4041648"/>
            <a:ext cx="2212848" cy="50292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21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81%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89136" y="4526280"/>
            <a:ext cx="2212848" cy="310896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80" b="0">
                <a:solidFill>
                  <a:srgbClr val="A9C5D9"/>
                </a:solidFill>
                <a:latin typeface="Arial"/>
                <a:ea typeface="Microsoft YaHei"/>
              </a:rPr>
              <a:t>管护覆盖率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224528" y="5285232"/>
            <a:ext cx="3749039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261104" y="5285232"/>
            <a:ext cx="3675887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工单平均响应 0.5 小时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697480" y="5760720"/>
            <a:ext cx="6784848" cy="43891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66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看得见、调得动、修得快、投得准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43584"/>
          </a:xfrm>
          <a:prstGeom prst="rect">
            <a:avLst/>
          </a:prstGeom>
          <a:solidFill>
            <a:srgbClr val="09233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229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5661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9377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3093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525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4241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7957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" y="18288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2920" y="27432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2920" y="36576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2920" y="45720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2920" y="54864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2920" y="64008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02920" y="310896"/>
            <a:ext cx="868680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" y="310896"/>
            <a:ext cx="795528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12 创新</a:t>
            </a:r>
          </a:p>
        </p:txBody>
      </p:sp>
      <p:sp>
        <p:nvSpPr>
          <p:cNvPr id="21" name="页标题_可编辑"/>
          <p:cNvSpPr txBox="1"/>
          <p:nvPr/>
        </p:nvSpPr>
        <p:spPr>
          <a:xfrm>
            <a:off x="1938528" y="256032"/>
            <a:ext cx="9555480" cy="56692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24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评委为什么应该记住“智烤管家”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" y="841248"/>
            <a:ext cx="10881360" cy="3474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220" b="0">
                <a:solidFill>
                  <a:srgbClr val="A9C5D9"/>
                </a:solidFill>
                <a:latin typeface="Arial"/>
                <a:ea typeface="Microsoft YaHei"/>
              </a:rPr>
              <a:t>不是一个功能工具，而是一套可复制的基础设施治理方法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1188720"/>
            <a:ext cx="10881360" cy="0"/>
          </a:xfrm>
          <a:prstGeom prst="line">
            <a:avLst/>
          </a:prstGeom>
          <a:ln w="10160">
            <a:solidFill>
              <a:srgbClr val="2A6D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94944" y="1682496"/>
            <a:ext cx="5212080" cy="1627632"/>
          </a:xfrm>
          <a:prstGeom prst="roundRect">
            <a:avLst/>
          </a:prstGeom>
          <a:solidFill>
            <a:srgbClr val="0A2747">
              <a:alpha val="97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1901952"/>
            <a:ext cx="1078992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1901952"/>
            <a:ext cx="1005839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业务创新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4560" y="1920240"/>
            <a:ext cx="3383280" cy="102412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320" b="1">
                <a:solidFill>
                  <a:srgbClr val="F7FBFF"/>
                </a:solidFill>
                <a:latin typeface="Arial"/>
                <a:ea typeface="Microsoft YaHei"/>
              </a:rPr>
              <a:t>一库 + 三智
把“用修管养”串成闭环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72783" y="1682496"/>
            <a:ext cx="5212080" cy="1627632"/>
          </a:xfrm>
          <a:prstGeom prst="roundRect">
            <a:avLst/>
          </a:prstGeom>
          <a:solidFill>
            <a:srgbClr val="0A2747">
              <a:alpha val="97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92240" y="1901952"/>
            <a:ext cx="1078992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28816" y="1901952"/>
            <a:ext cx="1005839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技术创新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1920240"/>
            <a:ext cx="3383280" cy="102412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320" b="1">
                <a:solidFill>
                  <a:srgbClr val="F7FBFF"/>
                </a:solidFill>
                <a:latin typeface="Arial"/>
                <a:ea typeface="Microsoft YaHei"/>
              </a:rPr>
              <a:t>健康评估 + 发展导引
两个模型同时解决“修与建”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94944" y="3712464"/>
            <a:ext cx="5212080" cy="1627632"/>
          </a:xfrm>
          <a:prstGeom prst="roundRect">
            <a:avLst/>
          </a:prstGeom>
          <a:solidFill>
            <a:srgbClr val="0A2747">
              <a:alpha val="97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14400" y="3931920"/>
            <a:ext cx="1078992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0976" y="3931920"/>
            <a:ext cx="1005839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机制创新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94560" y="3950208"/>
            <a:ext cx="3383280" cy="102412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320" b="1">
                <a:solidFill>
                  <a:srgbClr val="F7FBFF"/>
                </a:solidFill>
                <a:latin typeface="Arial"/>
                <a:ea typeface="Microsoft YaHei"/>
              </a:rPr>
              <a:t>四队 + 基金
让系统上线后仍能长期运营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72783" y="3712464"/>
            <a:ext cx="5212080" cy="1627632"/>
          </a:xfrm>
          <a:prstGeom prst="roundRect">
            <a:avLst/>
          </a:prstGeom>
          <a:solidFill>
            <a:srgbClr val="0A2747">
              <a:alpha val="97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492240" y="3931920"/>
            <a:ext cx="1078992" cy="329184"/>
          </a:xfrm>
          <a:prstGeom prst="roundRect">
            <a:avLst/>
          </a:prstGeom>
          <a:solidFill>
            <a:srgbClr val="FFD34E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28816" y="3931920"/>
            <a:ext cx="1005839" cy="32004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120" b="1">
                <a:solidFill>
                  <a:srgbClr val="061A33"/>
                </a:solidFill>
                <a:latin typeface="Arial"/>
                <a:ea typeface="Microsoft YaHei"/>
              </a:rPr>
              <a:t>推广价值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0" y="3950208"/>
            <a:ext cx="3383280" cy="102412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l"/>
            <a:r>
              <a:rPr sz="1320" b="1">
                <a:solidFill>
                  <a:srgbClr val="F7FBFF"/>
                </a:solidFill>
                <a:latin typeface="Arial"/>
                <a:ea typeface="Microsoft YaHei"/>
              </a:rPr>
              <a:t>标准、流程、角色可复制
可向核心烟区与其他设施扩展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029968" y="5513832"/>
            <a:ext cx="8138160" cy="658368"/>
          </a:xfrm>
          <a:prstGeom prst="roundRect">
            <a:avLst/>
          </a:prstGeom>
          <a:solidFill>
            <a:srgbClr val="0A3557">
              <a:alpha val="98000"/>
            </a:srgbClr>
          </a:solidFill>
          <a:ln w="12700">
            <a:solidFill>
              <a:srgbClr val="FFD3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212848" y="5632704"/>
            <a:ext cx="7772400" cy="36576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400" b="1">
                <a:solidFill>
                  <a:srgbClr val="F7FBFF"/>
                </a:solidFill>
                <a:latin typeface="Arial"/>
                <a:ea typeface="Microsoft YaHei"/>
              </a:rPr>
              <a:t>一套数据标准 + 一条决策链 + 三个应用场景 + 一套长效机制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A33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43584"/>
          </a:xfrm>
          <a:prstGeom prst="rect">
            <a:avLst/>
          </a:prstGeom>
          <a:solidFill>
            <a:srgbClr val="09233F">
              <a:alpha val="9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>
            <a:off x="8229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945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5661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9377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3093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6809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0525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04241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1795760" y="1353312"/>
            <a:ext cx="0" cy="5184648"/>
          </a:xfrm>
          <a:prstGeom prst="line">
            <a:avLst/>
          </a:prstGeom>
          <a:ln w="4445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" y="18288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02920" y="27432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02920" y="36576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02920" y="45720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02920" y="54864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502920" y="6400800"/>
            <a:ext cx="11201400" cy="0"/>
          </a:xfrm>
          <a:prstGeom prst="line">
            <a:avLst/>
          </a:prstGeom>
          <a:ln w="3810">
            <a:solidFill>
              <a:srgbClr val="153F6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05840" y="1060704"/>
            <a:ext cx="10195560" cy="80467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31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从“有多少房”  到  “有多少有效烤能”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2148840"/>
            <a:ext cx="9281160" cy="438912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520" b="1">
                <a:solidFill>
                  <a:srgbClr val="DFF8FF"/>
                </a:solidFill>
                <a:latin typeface="Arial"/>
                <a:ea typeface="Microsoft YaHei"/>
              </a:rPr>
              <a:t>一库清底数  ·  双模做决策  ·  三智优服务  ·  四队保长效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38528" y="2926080"/>
            <a:ext cx="8321040" cy="1225296"/>
          </a:xfrm>
          <a:prstGeom prst="roundRect">
            <a:avLst/>
          </a:prstGeom>
          <a:solidFill>
            <a:srgbClr val="0B2D4D">
              <a:alpha val="98000"/>
            </a:srgbClr>
          </a:solidFill>
          <a:ln w="13970">
            <a:solidFill>
              <a:srgbClr val="1C7C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04288" y="3246120"/>
            <a:ext cx="7571231" cy="53035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1800" b="1">
                <a:solidFill>
                  <a:srgbClr val="F7FBFF"/>
                </a:solidFill>
                <a:latin typeface="Arial"/>
                <a:ea typeface="Microsoft YaHei"/>
              </a:rPr>
              <a:t>让数据说话</a:t>
            </a:r>
            <a:r>
              <a:rPr sz="1800" b="1">
                <a:solidFill>
                  <a:srgbClr val="42D2FF"/>
                </a:solidFill>
                <a:latin typeface="Arial"/>
                <a:ea typeface="Microsoft YaHei"/>
              </a:rPr>
              <a:t>   ·   </a:t>
            </a:r>
            <a:r>
              <a:rPr sz="1800" b="1">
                <a:solidFill>
                  <a:srgbClr val="F7FBFF"/>
                </a:solidFill>
                <a:latin typeface="Arial"/>
                <a:ea typeface="Microsoft YaHei"/>
              </a:rPr>
              <a:t>让模型决策</a:t>
            </a:r>
            <a:r>
              <a:rPr sz="1800" b="1">
                <a:solidFill>
                  <a:srgbClr val="42D2FF"/>
                </a:solidFill>
                <a:latin typeface="Arial"/>
                <a:ea typeface="Microsoft YaHei"/>
              </a:rPr>
              <a:t>   ·   </a:t>
            </a:r>
            <a:r>
              <a:rPr sz="1800" b="1">
                <a:solidFill>
                  <a:srgbClr val="FFD34E"/>
                </a:solidFill>
                <a:latin typeface="Arial"/>
                <a:ea typeface="Microsoft YaHei"/>
              </a:rPr>
              <a:t>让管家落地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4663440"/>
            <a:ext cx="8458200" cy="365760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210" b="0">
                <a:solidFill>
                  <a:srgbClr val="A9C5D9"/>
                </a:solidFill>
                <a:latin typeface="Arial"/>
                <a:ea typeface="Microsoft YaHei"/>
              </a:rPr>
              <a:t>逐步向兴山、五峰等核心烟区推广，并向育苗棚等基础设施扩展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5376672"/>
            <a:ext cx="3291840" cy="65836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2700" b="1">
                <a:gradFill rotWithShape="1">
                  <a:gsLst>
                    <a:gs pos="0">
                      <a:srgbClr val="F7FBFF"/>
                    </a:gs>
                    <a:gs pos="52000">
                      <a:srgbClr val="CFF7FF"/>
                    </a:gs>
                    <a:gs pos="100000">
                      <a:srgbClr val="42D2FF"/>
                    </a:gs>
                  </a:gsLst>
                  <a:lin ang="5400000" scaled="1"/>
                </a:gradFill>
                <a:latin typeface="Arial"/>
                <a:ea typeface="Microsoft YaHei"/>
              </a:rPr>
              <a:t>谢谢大家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90288" y="6053328"/>
            <a:ext cx="3017520" cy="292608"/>
          </a:xfrm>
          <a:prstGeom prst="rect">
            <a:avLst/>
          </a:prstGeom>
          <a:noFill/>
        </p:spPr>
        <p:txBody>
          <a:bodyPr wrap="square" anchor="ctr" lIns="18288" rIns="18288" tIns="0" bIns="0">
            <a:spAutoFit/>
          </a:bodyPr>
          <a:lstStyle/>
          <a:p>
            <a:pPr algn="ctr"/>
            <a:r>
              <a:rPr sz="1040" b="0">
                <a:solidFill>
                  <a:srgbClr val="A9C5D9"/>
                </a:solidFill>
                <a:latin typeface="Arial"/>
                <a:ea typeface="Microsoft YaHei"/>
              </a:rPr>
              <a:t>智同道合创客小组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