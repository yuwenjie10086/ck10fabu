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5215" y="33832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3" y="62179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44752" y="90525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19" y="11887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04288" y="14721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34056" y="17556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63824" y="30175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93592" y="58521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23359" y="8686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53127" y="11521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82896" y="14356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12664" y="17190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42431" y="26517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72200" y="54864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01968" y="832103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31736" y="11155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61504" y="13990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91271" y="16824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22860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50808" y="5120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0576" y="7955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10344" y="10789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0112" y="13624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69880" y="16459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99648" y="19202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29415" y="4754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9184" y="7589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952" y="1042415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383280" y="914400"/>
            <a:ext cx="548640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9EEBFF"/>
                </a:solidFill>
                <a:latin typeface="Noto Sans CJK SC"/>
              </a:rPr>
              <a:t>Z H I   K A O   M A N A G E 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43200" y="1572768"/>
            <a:ext cx="2834640" cy="10515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/>
            <a:r>
              <a:rPr sz="4400" b="1">
                <a:solidFill>
                  <a:srgbClr val="F7FBFF"/>
                </a:solidFill>
                <a:latin typeface="Noto Serif CJK SC"/>
              </a:rPr>
              <a:t>智烤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32120" y="1572768"/>
            <a:ext cx="2926080" cy="10515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4400" b="1">
                <a:solidFill>
                  <a:srgbClr val="23C8F6"/>
                </a:solidFill>
                <a:latin typeface="Noto Serif CJK SC"/>
              </a:rPr>
              <a:t>管家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0">
                <a:solidFill>
                  <a:srgbClr val="F7FBFF"/>
                </a:solidFill>
                <a:latin typeface="Noto Sans CJK SC"/>
              </a:rPr>
              <a:t>让每一座烤房，都有一份可计算的“健康档案”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9EEBFF"/>
                </a:solidFill>
                <a:latin typeface="Noto Sans CJK SC"/>
              </a:rPr>
              <a:t>一库清底  ·  双模决策  ·  三智落地  ·  四队长效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20240" y="4617720"/>
            <a:ext cx="83210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F7FBFF"/>
                </a:solidFill>
                <a:latin typeface="Noto Sans CJK SC"/>
              </a:rPr>
              <a:t>基于健康评估的烤房用投管一体化解决方案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63040" y="6236208"/>
            <a:ext cx="93268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A7C5D8"/>
                </a:solidFill>
                <a:latin typeface="Noto Sans CJK SC"/>
              </a:rPr>
              <a:t>湖北烟草创客大赛 · 决赛发布    宜昌市烟草公司 · 智同道合创客小组   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" y="49377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160" y="77724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09928" y="106070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39696" y="13441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9464" y="16276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9232" y="19110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45720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58768" y="7406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88536" y="10241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18303" y="13075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48072" y="15910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77840" y="18745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07607" y="42062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37376" y="7040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67144" y="9875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12710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26679" y="15544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56448" y="18379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86215" y="38404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15984" y="6675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45752" y="9509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19" y="1234439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05288" y="15179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35056" y="18013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64824" y="34747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94592" y="6309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59" y="9144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" y="11978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烟区一线，最怕这 3 件事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烟区一线，最怕这 3 件事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不是“有没有烤房”，而是分配、抢修、投入仍靠经验和人工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600200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08760" y="160020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分不到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08760" y="2103120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旺季状态不透明｜烟农无法自主选择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63440" y="1709928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92240" y="1581912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92340" y="1741017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sosceles Triangle 112"/>
          <p:cNvSpPr/>
          <p:nvPr/>
        </p:nvSpPr>
        <p:spPr>
          <a:xfrm>
            <a:off x="7252106" y="1549907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493508" y="1826514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01000" y="1581912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资源调度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01000" y="2020824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状态可见 / 一键调度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2724912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08760" y="2724912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修不及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08760" y="3227832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故障逐级上报｜找人找件慢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63440" y="28346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92240" y="2706624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22" name="Oval 121"/>
          <p:cNvSpPr/>
          <p:nvPr/>
        </p:nvSpPr>
        <p:spPr>
          <a:xfrm>
            <a:off x="7357719" y="2739999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473391" y="2855671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749997" y="2890875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679292" y="306157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08595" y="3132277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337898" y="306157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267194" y="2890875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337898" y="2720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508595" y="26494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679292" y="2720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01000" y="2706624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抢修服务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001000" y="3145536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故障定位 / 工单闭环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5800" y="3849624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08760" y="3849624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投不准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508760" y="4352544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哪栋该修｜哪个村真缺｜新建难量化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63440" y="3959352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92240" y="3831336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32573" y="4050792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468362" y="3965295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04150" y="3864711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7312456" y="4196638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8001000" y="3831336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投入决策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01000" y="4270248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有效烤能 / 缺口测算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057400" y="5943600"/>
            <a:ext cx="80467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根因：资源无统筹 · 投入无量化 · 管护无闭环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" y="64922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45336" y="9326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75104" y="1216151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04872" y="14996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34640" y="17830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64408" y="32918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94176" y="612647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23944" y="8961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11795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83479" y="1463039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13248" y="17465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43016" y="29260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72783" y="57607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2552" y="8595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11430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14264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91856" y="17099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21624" y="25603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51392" y="5394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1160" y="822959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0928" y="11064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0696" y="13898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70464" y="16733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00232" y="21945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30000" y="5029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9768" y="7863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10698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9304" y="13533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三愁背后，是三条链断了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三愁背后，是三条链断了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资源、维修、投入没有形成数据联动闭环</a:t>
            </a:r>
          </a:p>
        </p:txBody>
      </p:sp>
      <p:sp>
        <p:nvSpPr>
          <p:cNvPr id="107" name="Oval 106"/>
          <p:cNvSpPr/>
          <p:nvPr/>
        </p:nvSpPr>
        <p:spPr>
          <a:xfrm>
            <a:off x="5550408" y="248716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797296" y="2949488"/>
            <a:ext cx="566928" cy="255117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Isosceles Triangle 108"/>
          <p:cNvSpPr/>
          <p:nvPr/>
        </p:nvSpPr>
        <p:spPr>
          <a:xfrm>
            <a:off x="5751941" y="2734056"/>
            <a:ext cx="657636" cy="29480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024067" y="3045866"/>
            <a:ext cx="113385" cy="158739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09160" y="3675887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01  用房管理断链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34840" y="407822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空闲不清 / 状态不明 / 调度靠经验</a:t>
            </a:r>
          </a:p>
        </p:txBody>
      </p:sp>
      <p:sp>
        <p:nvSpPr>
          <p:cNvPr id="113" name="Oval 112"/>
          <p:cNvSpPr/>
          <p:nvPr/>
        </p:nvSpPr>
        <p:spPr>
          <a:xfrm>
            <a:off x="2715768" y="417880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036356" y="4499396"/>
            <a:ext cx="419526" cy="419526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166750" y="4629790"/>
            <a:ext cx="158739" cy="158739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478560" y="466947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398856" y="4861896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206435" y="4941600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014013" y="4861896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934309" y="466947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014013" y="4477053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206435" y="4397349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398856" y="4477053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874519" y="5367528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02  维修保障断链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00199" y="576986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故障发现慢 / 找人找件慢 / 闭环追踪弱</a:t>
            </a:r>
          </a:p>
        </p:txBody>
      </p:sp>
      <p:sp>
        <p:nvSpPr>
          <p:cNvPr id="126" name="Oval 125"/>
          <p:cNvSpPr/>
          <p:nvPr/>
        </p:nvSpPr>
        <p:spPr>
          <a:xfrm>
            <a:off x="8385048" y="417880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77290" y="4709160"/>
            <a:ext cx="96377" cy="1417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30360" y="4612782"/>
            <a:ext cx="96377" cy="238109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983431" y="4499396"/>
            <a:ext cx="96377" cy="351495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8654613" y="4873569"/>
            <a:ext cx="532912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543800" y="5367528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03  投入决策断链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69480" y="576986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真实需求不清 / 供需错配 / 新改建难量化</a:t>
            </a:r>
          </a:p>
        </p:txBody>
      </p:sp>
      <p:cxnSp>
        <p:nvCxnSpPr>
          <p:cNvPr id="133" name="Connector 132"/>
          <p:cNvCxnSpPr/>
          <p:nvPr/>
        </p:nvCxnSpPr>
        <p:spPr>
          <a:xfrm flipH="1">
            <a:off x="3886200" y="3520440"/>
            <a:ext cx="2194560" cy="91440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080760" y="3520440"/>
            <a:ext cx="2194560" cy="91440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3840480" y="4617720"/>
            <a:ext cx="4480560" cy="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828800" y="5989320"/>
            <a:ext cx="85039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9EEBFF"/>
                </a:solidFill>
                <a:latin typeface="Noto Sans CJK SC"/>
              </a:rPr>
              <a:t>问题不在“有没有房”，而在“用—投—管”没有形成一条数据链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80743" y="80467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10512" y="10881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40280" y="13716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70048" y="16550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99816" y="20116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29584" y="48463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59352" y="7680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05156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18888" y="13350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48655" y="16184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78424" y="190195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08192" y="44805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59" y="7315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67727" y="10149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97496" y="12984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27264" y="15819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7031" y="18653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0" y="4114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16567" y="6949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46336" y="9784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76104" y="12618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05872" y="15453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35640" y="18288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65408" y="37490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95176" y="6583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9418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24712" y="12252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54480" y="15087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一套方案，做成 4 件事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一套方案，做成 4 件事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从摸清家底，到科学决策，再到真实落地与长效机制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85900" y="226222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Isosceles Triangle 108"/>
          <p:cNvSpPr/>
          <p:nvPr/>
        </p:nvSpPr>
        <p:spPr>
          <a:xfrm>
            <a:off x="1445666" y="207111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87068" y="234772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945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一库清底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945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一房一档 / 状态可见 / 家底清楚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0175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290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269333" y="232257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405122" y="223707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540910" y="213649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4249216" y="246842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9377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双模决策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377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健康评估 / 供需推演 / 投入更准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607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22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23" name="Oval 122"/>
          <p:cNvSpPr/>
          <p:nvPr/>
        </p:nvSpPr>
        <p:spPr>
          <a:xfrm>
            <a:off x="7037679" y="213649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153351" y="225216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429957" y="228737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359252" y="245806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188555" y="252877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017858" y="245806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947154" y="228737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017858" y="21166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188555" y="204596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359252" y="21166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809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三智落地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809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智用 / 智投 / 智管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154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790938" y="211134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9856317" y="223205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856317" y="232257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856317" y="241310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04241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四队长效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241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专班推进 / 维修服务 / 运营管护 / 基金保障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645920" y="5760720"/>
            <a:ext cx="896112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把“看不清、修不及、投不准”，变成“看得见、管得住、投得准”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45919" y="9601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75688" y="12435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05456" y="15270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35224" y="18105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64992" y="35661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94759" y="6400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24527" y="9235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54296" y="12070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84064" y="14904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13831" y="17739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0" y="32004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73368" y="60350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03136" y="8869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32903" y="11704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62671" y="14538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92440" y="17373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22208" y="2834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51976" y="5669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1744" y="8503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11512" y="11338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4173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71048" y="17007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00815" y="2468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0584" y="5303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0352" y="813815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19" y="10972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9888" y="13807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19655" y="16642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一库清底：先把家底摸清楚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一库清底：先把家底摸清楚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4大模块 · 18个关键部件 · 一房一档 · 动态更新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789938" y="169986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855317" y="182057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855317" y="1911095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855317" y="200162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4231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现场采集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4231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位置 / 容量 / 状态 / 设备 / 使用情况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0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16" name="Oval 115"/>
          <p:cNvSpPr/>
          <p:nvPr/>
        </p:nvSpPr>
        <p:spPr>
          <a:xfrm>
            <a:off x="5437479" y="172501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553151" y="184068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829757" y="187589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759052" y="204658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588355" y="211729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417658" y="204658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346954" y="187589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417658" y="170519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588355" y="163448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759052" y="170519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0807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标准判定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807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正常 / 损坏 / 缺失 · 优良 / 一般 / 较差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15200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296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29700" y="185074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Isosceles Triangle 130"/>
          <p:cNvSpPr/>
          <p:nvPr/>
        </p:nvSpPr>
        <p:spPr>
          <a:xfrm>
            <a:off x="8989466" y="165963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230868" y="1936241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7383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一房一档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7383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基础信息 / 维修记录 / 用户评价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03720" y="3794760"/>
            <a:ext cx="44805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5D071"/>
                </a:solidFill>
                <a:latin typeface="Noto Sans CJK SC"/>
              </a:rPr>
              <a:t>真实系统证据位：替换为“一房一档”后台/小程序截图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315200" y="4224528"/>
            <a:ext cx="3657600" cy="1005840"/>
          </a:xfrm>
          <a:prstGeom prst="roundRect">
            <a:avLst/>
          </a:prstGeom>
          <a:solidFill>
            <a:srgbClr val="0A2D4C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98079" y="4416552"/>
            <a:ext cx="3291840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Noto Sans CJK SC"/>
              </a:rPr>
              <a:t>一房一档｜基础信息｜部件状态｜维修记录｜评价</a:t>
            </a:r>
          </a:p>
        </p:txBody>
      </p:sp>
      <p:sp>
        <p:nvSpPr>
          <p:cNvPr id="138" name="Oval 137"/>
          <p:cNvSpPr/>
          <p:nvPr/>
        </p:nvSpPr>
        <p:spPr>
          <a:xfrm>
            <a:off x="1828800" y="434340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468880" y="46634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063240" y="4251960"/>
            <a:ext cx="146304" cy="146304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703320" y="475488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434840" y="44348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983480" y="4892040"/>
            <a:ext cx="146304" cy="146304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 flipV="1">
            <a:off x="1828800" y="4572000"/>
            <a:ext cx="3840480" cy="731520"/>
          </a:xfrm>
          <a:prstGeom prst="line">
            <a:avLst/>
          </a:prstGeom>
          <a:ln w="12700">
            <a:solidFill>
              <a:srgbClr val="1656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结果：空闲房在哪、故障房是谁、可用能力有多少，一眼看清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11095" y="11155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40864" y="13990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0632" y="16824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22860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30168" y="5120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59935" y="7955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9703" y="10789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19472" y="13624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49240" y="16459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79007" y="19202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08776" y="4754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38544" y="7589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68312" y="1042415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79" y="13258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27848" y="16093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57615" y="18928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87384" y="4389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17152" y="7223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46919" y="10058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6688" y="12893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06456" y="15727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36224" y="18562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65992" y="4023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759" y="6858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8" y="9692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25295" y="12527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55064" y="15361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84831" y="18196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模型① 烤房健康评估：从打分到估寿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模型① 烤房健康评估：从打分到估寿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不是给一座烤房一个分数，而是判断还能用多久、哪里先修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36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69898" y="147126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535277" y="159197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535277" y="168249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535277" y="177302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10312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状态标准化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0312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4大模块 / 18部件 / 指标归一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0624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46573" y="168249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182362" y="159699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318150" y="149641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5026456" y="182834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71500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AHP组合评分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1500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部件状态80% / 管护10% / 现场10%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1812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658453" y="168249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794242" y="159699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930030" y="149641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8638336" y="182834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932688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寿命与风险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32688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60分预警线 / 风险部位 / 维修优先序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2900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04088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68780" y="4023359"/>
            <a:ext cx="1143000" cy="514350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Isosceles Triangle 130"/>
          <p:cNvSpPr/>
          <p:nvPr/>
        </p:nvSpPr>
        <p:spPr>
          <a:xfrm>
            <a:off x="1577340" y="3589020"/>
            <a:ext cx="1325880" cy="594360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125980" y="4217670"/>
            <a:ext cx="228600" cy="320040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6080760" y="3722065"/>
            <a:ext cx="300523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381283" y="3895572"/>
            <a:ext cx="0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6080760" y="4242587"/>
            <a:ext cx="300523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 flipV="1">
            <a:off x="5780236" y="4242587"/>
            <a:ext cx="300524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780236" y="3895572"/>
            <a:ext cx="0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5780236" y="3722065"/>
            <a:ext cx="300524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080760" y="3375050"/>
            <a:ext cx="601047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681807" y="3722065"/>
            <a:ext cx="0" cy="694029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6080760" y="4416094"/>
            <a:ext cx="601047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 flipV="1">
            <a:off x="5479712" y="4416094"/>
            <a:ext cx="601048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5479712" y="3722065"/>
            <a:ext cx="0" cy="694029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479712" y="3375050"/>
            <a:ext cx="601048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6080760" y="3017520"/>
            <a:ext cx="910677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6991437" y="3543300"/>
            <a:ext cx="0" cy="105156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6080760" y="4594860"/>
            <a:ext cx="910677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 flipV="1">
            <a:off x="5170082" y="4594860"/>
            <a:ext cx="910678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5170082" y="3543300"/>
            <a:ext cx="0" cy="105156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5170082" y="3017520"/>
            <a:ext cx="910678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080760" y="3017520"/>
            <a:ext cx="0" cy="105156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080760" y="3543300"/>
            <a:ext cx="910677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080760" y="4069080"/>
            <a:ext cx="910677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080760" y="4069080"/>
            <a:ext cx="0" cy="105156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5170082" y="4069080"/>
            <a:ext cx="910678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 flipV="1">
            <a:off x="5170082" y="3543300"/>
            <a:ext cx="910678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6080760" y="3311956"/>
            <a:ext cx="500872" cy="467945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581632" y="3779901"/>
            <a:ext cx="245883" cy="720318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6080760" y="4500219"/>
            <a:ext cx="746755" cy="73609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 flipV="1">
            <a:off x="5461499" y="4426610"/>
            <a:ext cx="619261" cy="147218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5461499" y="3743096"/>
            <a:ext cx="54640" cy="683514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5516139" y="3311956"/>
            <a:ext cx="564621" cy="431140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6048756" y="3279952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49628" y="3747897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795511" y="4468215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048756" y="4541824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429495" y="4394606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484135" y="3711092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>
            <a:off x="8503920" y="3657600"/>
            <a:ext cx="256032" cy="2898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759952" y="3686584"/>
            <a:ext cx="256032" cy="7194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9015984" y="3758529"/>
            <a:ext cx="256032" cy="10847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272016" y="3867003"/>
            <a:ext cx="256032" cy="14205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9528048" y="4009058"/>
            <a:ext cx="256032" cy="173726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784080" y="4182784"/>
            <a:ext cx="256032" cy="204002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040112" y="4386786"/>
            <a:ext cx="256032" cy="23318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296144" y="4619971"/>
            <a:ext cx="256032" cy="261478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552176" y="4881449"/>
            <a:ext cx="256032" cy="28902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08208" y="5170473"/>
            <a:ext cx="256032" cy="315927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8321040" y="5413248"/>
            <a:ext cx="310896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60分以下自动预警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280160" y="5925312"/>
            <a:ext cx="960120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3C8F6"/>
                </a:solidFill>
                <a:latin typeface="Noto Sans CJK SC"/>
              </a:rPr>
              <a:t>真正输出：健康等级 · 风险部位 · 剩余寿命趋势 · 维修优先序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76272" y="12710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15544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35808" y="18379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65576" y="38404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95344" y="6675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25112" y="9509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234439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84648" y="15179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14416" y="18013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44183" y="34747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6309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03720" y="9144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33488" y="11978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63256" y="14813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93023" y="17647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22792" y="3108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52560" y="59436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82328" y="8778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12096" y="11612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41864" y="14447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71632" y="172821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01400" y="2743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31167" y="5577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936" y="841247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11247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90472" y="14081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691639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0008" y="2377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模型② 千亩村发展导引：把真实缺口算出来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模型② 千亩村发展导引：把真实缺口算出来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不问“想建几栋”，先算有效烤能，再判断结构性缺口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36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Oval 107"/>
          <p:cNvSpPr/>
          <p:nvPr/>
        </p:nvSpPr>
        <p:spPr>
          <a:xfrm>
            <a:off x="1459839" y="1514703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575511" y="1630375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852117" y="166557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781412" y="1836276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610715" y="190698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440018" y="1836276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369313" y="166557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440018" y="149488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610715" y="1424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781412" y="149488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0312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算有效烤能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0312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可用烤房 / 健康折损 / 产能折算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0624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046573" y="1700784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182362" y="1615287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318150" y="1514703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5026456" y="1846630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571500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判真实缺口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1500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种植规模 / 产业趋势 / 管护能力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81812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618220" y="1640433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Isosceles Triangle 128"/>
          <p:cNvSpPr/>
          <p:nvPr/>
        </p:nvSpPr>
        <p:spPr>
          <a:xfrm>
            <a:off x="8577986" y="1449324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819388" y="1725930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32688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做建设推演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32688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熵权法 + TOPSIS / 地图情景沙盘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2900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04088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5" name="Oval 134"/>
          <p:cNvSpPr/>
          <p:nvPr/>
        </p:nvSpPr>
        <p:spPr>
          <a:xfrm>
            <a:off x="1463040" y="4023360"/>
            <a:ext cx="164592" cy="164592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011680" y="4572000"/>
            <a:ext cx="164592" cy="1645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43200" y="4160520"/>
            <a:ext cx="164592" cy="164592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246120" y="4663440"/>
            <a:ext cx="164592" cy="164592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749039" y="4343400"/>
            <a:ext cx="164592" cy="164592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1188720" y="3840480"/>
            <a:ext cx="2926080" cy="1280160"/>
          </a:xfrm>
          <a:prstGeom prst="line">
            <a:avLst/>
          </a:prstGeom>
          <a:ln w="12700">
            <a:solidFill>
              <a:srgbClr val="1A6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4754880" y="4879570"/>
            <a:ext cx="324464" cy="423949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57800" y="4596938"/>
            <a:ext cx="324464" cy="706581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60720" y="4314305"/>
            <a:ext cx="324464" cy="989214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263640" y="4172989"/>
            <a:ext cx="324464" cy="113053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766560" y="4031672"/>
            <a:ext cx="324464" cy="1271847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269479" y="3749039"/>
            <a:ext cx="324464" cy="155448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4754880" y="5303520"/>
            <a:ext cx="301752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5074920" y="5349240"/>
            <a:ext cx="237744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需求 vs 有效烤能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38160" y="3840480"/>
            <a:ext cx="33832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F7FBFF"/>
                </a:solidFill>
                <a:latin typeface="Noto Sans CJK SC"/>
              </a:rPr>
              <a:t>先调剂 → 再修复 → 仍有结构性缺口才新建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3040" y="5852160"/>
            <a:ext cx="92354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把“有多少栋”改成“有多少有效能力”，建设才有依据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41448" y="14264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71216" y="17099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300984" y="25603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30752" y="5394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60520" y="822959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0288" y="11064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0055" y="13898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49824" y="16733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79592" y="21945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59" y="5029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39127" y="7863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68896" y="10698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98664" y="13533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28431" y="16367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1828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87967" y="4663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17736" y="7498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47504" y="10332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77272" y="13167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0" y="16002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36808" y="188366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4297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6344" y="7132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99669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12801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55648" y="156362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85416" y="184708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15184" y="3931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双模决策：存量评估 + 增量推演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双模决策：存量评估 + 增量推演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模型①把存量算清，模型②才有资格谈增量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88720" y="1554480"/>
            <a:ext cx="3840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100" b="1">
                <a:solidFill>
                  <a:srgbClr val="F7FBFF"/>
                </a:solidFill>
                <a:latin typeface="Noto Serif CJK SC"/>
              </a:rPr>
              <a:t>模型 ①  健康评估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78040" y="1554480"/>
            <a:ext cx="3840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100" b="1">
                <a:solidFill>
                  <a:srgbClr val="F7FBFF"/>
                </a:solidFill>
                <a:latin typeface="Noto Serif CJK SC"/>
              </a:rPr>
              <a:t>模型 ②  供需推演</a:t>
            </a:r>
          </a:p>
        </p:txBody>
      </p:sp>
      <p:sp>
        <p:nvSpPr>
          <p:cNvPr id="109" name="Oval 108"/>
          <p:cNvSpPr/>
          <p:nvPr/>
        </p:nvSpPr>
        <p:spPr>
          <a:xfrm>
            <a:off x="987551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1595" y="2907243"/>
            <a:ext cx="257129" cy="257129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231513" y="2987161"/>
            <a:ext cx="97292" cy="97292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422623" y="3011484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373772" y="3129420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55836" y="3178271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37901" y="3129420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89050" y="3011484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37901" y="2893549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255836" y="2844698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373772" y="2893549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08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部件体检</a:t>
            </a:r>
          </a:p>
        </p:txBody>
      </p:sp>
      <p:sp>
        <p:nvSpPr>
          <p:cNvPr id="121" name="Oval 120"/>
          <p:cNvSpPr/>
          <p:nvPr/>
        </p:nvSpPr>
        <p:spPr>
          <a:xfrm>
            <a:off x="245059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597261" y="3035808"/>
            <a:ext cx="59070" cy="8686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691079" y="2976737"/>
            <a:ext cx="59070" cy="14593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784896" y="2907243"/>
            <a:ext cx="59070" cy="2154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2583362" y="3136574"/>
            <a:ext cx="326624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210312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寿命预测</a:t>
            </a:r>
          </a:p>
        </p:txBody>
      </p:sp>
      <p:sp>
        <p:nvSpPr>
          <p:cNvPr id="127" name="Oval 126"/>
          <p:cNvSpPr/>
          <p:nvPr/>
        </p:nvSpPr>
        <p:spPr>
          <a:xfrm>
            <a:off x="3913631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4624" y="2889869"/>
            <a:ext cx="243230" cy="291876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4129796" y="2973263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129796" y="3035808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129796" y="3098352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3566159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维修优先序</a:t>
            </a:r>
          </a:p>
        </p:txBody>
      </p:sp>
      <p:sp>
        <p:nvSpPr>
          <p:cNvPr id="133" name="Oval 132"/>
          <p:cNvSpPr/>
          <p:nvPr/>
        </p:nvSpPr>
        <p:spPr>
          <a:xfrm>
            <a:off x="693115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050024" y="2994111"/>
            <a:ext cx="347472" cy="156362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Isosceles Triangle 134"/>
          <p:cNvSpPr/>
          <p:nvPr/>
        </p:nvSpPr>
        <p:spPr>
          <a:xfrm>
            <a:off x="7022226" y="2862072"/>
            <a:ext cx="403067" cy="180685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189012" y="3053181"/>
            <a:ext cx="69494" cy="97292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58368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有效烤能</a:t>
            </a:r>
          </a:p>
        </p:txBody>
      </p:sp>
      <p:sp>
        <p:nvSpPr>
          <p:cNvPr id="138" name="Oval 137"/>
          <p:cNvSpPr/>
          <p:nvPr/>
        </p:nvSpPr>
        <p:spPr>
          <a:xfrm>
            <a:off x="839419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540861" y="3035808"/>
            <a:ext cx="59070" cy="8686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634679" y="2976737"/>
            <a:ext cx="59070" cy="14593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28496" y="2907243"/>
            <a:ext cx="59070" cy="2154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8526962" y="3136574"/>
            <a:ext cx="326624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804672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真实缺口</a:t>
            </a:r>
          </a:p>
        </p:txBody>
      </p:sp>
      <p:sp>
        <p:nvSpPr>
          <p:cNvPr id="144" name="Oval 143"/>
          <p:cNvSpPr/>
          <p:nvPr/>
        </p:nvSpPr>
        <p:spPr>
          <a:xfrm>
            <a:off x="985723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028224" y="2889869"/>
            <a:ext cx="243230" cy="291876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10073396" y="2973263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073396" y="3035808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073396" y="3098352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950976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建设情景</a:t>
            </a:r>
          </a:p>
        </p:txBody>
      </p:sp>
      <p:sp>
        <p:nvSpPr>
          <p:cNvPr id="150" name="Oval 149"/>
          <p:cNvSpPr/>
          <p:nvPr/>
        </p:nvSpPr>
        <p:spPr>
          <a:xfrm>
            <a:off x="5184648" y="3886200"/>
            <a:ext cx="1783080" cy="1783080"/>
          </a:xfrm>
          <a:prstGeom prst="ellipse">
            <a:avLst/>
          </a:prstGeom>
          <a:solidFill>
            <a:srgbClr val="0A3558"/>
          </a:solidFill>
          <a:ln w="2286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321808" y="4233672"/>
            <a:ext cx="150876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双模耦合
输出</a:t>
            </a:r>
          </a:p>
        </p:txBody>
      </p:sp>
      <p:sp>
        <p:nvSpPr>
          <p:cNvPr id="152" name="Oval 151"/>
          <p:cNvSpPr/>
          <p:nvPr/>
        </p:nvSpPr>
        <p:spPr>
          <a:xfrm>
            <a:off x="384048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38328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该修哪栋</a:t>
            </a:r>
          </a:p>
        </p:txBody>
      </p:sp>
      <p:sp>
        <p:nvSpPr>
          <p:cNvPr id="154" name="Oval 153"/>
          <p:cNvSpPr/>
          <p:nvPr/>
        </p:nvSpPr>
        <p:spPr>
          <a:xfrm>
            <a:off x="553212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07492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该补哪里</a:t>
            </a:r>
          </a:p>
        </p:txBody>
      </p:sp>
      <p:sp>
        <p:nvSpPr>
          <p:cNvPr id="156" name="Oval 155"/>
          <p:cNvSpPr/>
          <p:nvPr/>
        </p:nvSpPr>
        <p:spPr>
          <a:xfrm>
            <a:off x="722376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76656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该建多少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06624" y="15819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36392" y="18653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66160" y="4114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95927" y="6949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25696" y="9784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55464" y="12618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85231" y="15453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18288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44768" y="37490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74536" y="6583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04303" y="9418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34072" y="12252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840" y="15087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179222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23376" y="3383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53144" y="6217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82912" y="9052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2680" y="11887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2448" y="14721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72215" y="175564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3017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731752" y="5852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8686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288" y="11521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91055" y="14356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20824" y="171907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50592" y="2651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80360" y="5486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三智落地：把系统能力变成日常动作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三智落地：把系统能力变成日常动作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不是做一个平台，而是让智用、智投、智管真正进入业务现场</a:t>
            </a:r>
          </a:p>
        </p:txBody>
      </p:sp>
      <p:sp>
        <p:nvSpPr>
          <p:cNvPr id="107" name="Oval 106"/>
          <p:cNvSpPr/>
          <p:nvPr/>
        </p:nvSpPr>
        <p:spPr>
          <a:xfrm>
            <a:off x="1874519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139696" y="2618475"/>
            <a:ext cx="658368" cy="296265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Isosceles Triangle 108"/>
          <p:cNvSpPr/>
          <p:nvPr/>
        </p:nvSpPr>
        <p:spPr>
          <a:xfrm>
            <a:off x="2087026" y="2368296"/>
            <a:ext cx="763706" cy="342351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403043" y="2730398"/>
            <a:ext cx="131673" cy="184343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4300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智用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2588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空闲可见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2588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一键调度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2588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故障报修</a:t>
            </a:r>
          </a:p>
        </p:txBody>
      </p:sp>
      <p:sp>
        <p:nvSpPr>
          <p:cNvPr id="115" name="Oval 114"/>
          <p:cNvSpPr/>
          <p:nvPr/>
        </p:nvSpPr>
        <p:spPr>
          <a:xfrm>
            <a:off x="5669280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87125" y="2697480"/>
            <a:ext cx="111922" cy="16459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64884" y="2585557"/>
            <a:ext cx="111922" cy="276514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342644" y="2453883"/>
            <a:ext cx="111922" cy="40818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5960790" y="2888406"/>
            <a:ext cx="618866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493776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智投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12064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需求识别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2064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缺口测算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12064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投入更准</a:t>
            </a:r>
          </a:p>
        </p:txBody>
      </p:sp>
      <p:sp>
        <p:nvSpPr>
          <p:cNvPr id="124" name="Oval 123"/>
          <p:cNvSpPr/>
          <p:nvPr/>
        </p:nvSpPr>
        <p:spPr>
          <a:xfrm>
            <a:off x="9464040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814803" y="2453883"/>
            <a:ext cx="487192" cy="487192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966228" y="2605308"/>
            <a:ext cx="184343" cy="184343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328330" y="2651394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235771" y="2874851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012314" y="2967410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788856" y="2874851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696297" y="2651394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788856" y="2427936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012314" y="2335377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235771" y="2427936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73252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智管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1540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运行监测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91540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维修留痕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91540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预警闭环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828800" y="5806440"/>
            <a:ext cx="8503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让资源调得动、投入算得清、运行管得住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1800" y="17373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01568" y="2834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31335" y="5669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61103" y="8503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90872" y="11338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20640" y="14173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50407" y="17007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80176" y="2468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9944" y="5303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39712" y="813815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79" y="10972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99248" y="13807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29015" y="16642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8784" y="2103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88552" y="4937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19" y="7772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48088" y="10607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77856" y="13441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07624" y="16276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37392" y="1911095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4572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7406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6695" y="10241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6464" y="13075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56231" y="15910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86000" y="187452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15768" y="4206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45536" y="7040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智用：调度与抢修，真正落到烟农手里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智用：调度与抢修，真正落到烟农手里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从“打电话找房、找人、找配件”变成一键发起、过程可见、结果回写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148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11579" y="171358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Isosceles Triangle 108"/>
          <p:cNvSpPr/>
          <p:nvPr/>
        </p:nvSpPr>
        <p:spPr>
          <a:xfrm>
            <a:off x="1171346" y="152247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412748" y="179908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92024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找空闲房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92024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状态可见 / 就近可选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83464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9184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167378" y="15627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4232757" y="16834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232757" y="17739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232757" y="18644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80060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发起调度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0060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线上申请 / 一键提交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1500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220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23" name="Oval 122"/>
          <p:cNvSpPr/>
          <p:nvPr/>
        </p:nvSpPr>
        <p:spPr>
          <a:xfrm>
            <a:off x="7037679" y="158785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153351" y="170352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429957" y="17387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359252" y="19094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188555" y="198013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017858" y="19094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947154" y="17387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017858" y="15680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188555" y="149733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359252" y="15680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8096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故障报修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8096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定位问题 / 自动派单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9536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52559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928097" y="15627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9993477" y="16834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993477" y="17739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993477" y="18644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0561319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评价回写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561319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过程留痕 / 服务闭环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794760" y="3794760"/>
            <a:ext cx="1874519" cy="1234440"/>
          </a:xfrm>
          <a:prstGeom prst="roundRect">
            <a:avLst/>
          </a:prstGeom>
          <a:solidFill>
            <a:srgbClr val="0A2C4A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977639" y="4041648"/>
            <a:ext cx="150876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真实小程序
调度申请截图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915400" y="3794760"/>
            <a:ext cx="1874519" cy="1234440"/>
          </a:xfrm>
          <a:prstGeom prst="roundRect">
            <a:avLst/>
          </a:prstGeom>
          <a:solidFill>
            <a:srgbClr val="0A2C4A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098280" y="4041648"/>
            <a:ext cx="150876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真实工单/评价
截图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828800" y="5760720"/>
            <a:ext cx="850392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3C8F6"/>
                </a:solidFill>
                <a:latin typeface="Noto Sans CJK SC"/>
              </a:rPr>
              <a:t>磨坪站雷击案例：精准诊断2处故障部件，3小时内完成抢修复产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36976" y="18928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66744" y="4389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96511" y="7223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26279" y="10058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56048" y="12893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85816" y="15727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15583" y="18562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45352" y="4023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6858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04888" y="9692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34656" y="12527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64423" y="15361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94192" y="18196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23960" y="36576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53728" y="6492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83496" y="9326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13264" y="12161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43032" y="149961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0" y="178308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02567" y="3291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2335" y="612647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" y="8961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61872" y="11795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91640" y="1463039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21408" y="174650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51176" y="2926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80944" y="5760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10712" y="8595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智投：把钱投到最该投的地方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智投：把钱投到最该投的地方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存量先体检，增量再推演，选址和投入都用数据说话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5760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Oval 107"/>
          <p:cNvSpPr/>
          <p:nvPr/>
        </p:nvSpPr>
        <p:spPr>
          <a:xfrm>
            <a:off x="1231239" y="154213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346911" y="165780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23517" y="169301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552812" y="186370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382115" y="193441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11418" y="186370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0713" y="169301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211418" y="152231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382115" y="145161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552812" y="152231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874519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存量体检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74519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健康等级 / 寿命 / 风险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88920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73552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13885" y="172821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249674" y="164271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385462" y="154213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4093768" y="187406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4782312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缺口识别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82312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有效烤能 / 需求对比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96712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81344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81444" y="166786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Isosceles Triangle 130"/>
          <p:cNvSpPr/>
          <p:nvPr/>
        </p:nvSpPr>
        <p:spPr>
          <a:xfrm>
            <a:off x="6941210" y="1476755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182612" y="175336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90104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选址推演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90104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村组位置 / 服务半径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604504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89136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929469" y="172821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065258" y="164271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201046" y="154213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9909352" y="187406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0597896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效果复盘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597896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投入产出 / 使用率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31520" y="4627880"/>
            <a:ext cx="353961" cy="62992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280160" y="4155440"/>
            <a:ext cx="353961" cy="110236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828800" y="4470400"/>
            <a:ext cx="353961" cy="787400"/>
          </a:xfrm>
          <a:prstGeom prst="rect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377439" y="3840480"/>
            <a:ext cx="353961" cy="1417320"/>
          </a:xfrm>
          <a:prstGeom prst="rect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731520" y="5257800"/>
            <a:ext cx="219456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960120" y="5303520"/>
            <a:ext cx="1737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健康分布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429000" y="4785360"/>
            <a:ext cx="283169" cy="47244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867912" y="4667250"/>
            <a:ext cx="283169" cy="59055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306824" y="4312920"/>
            <a:ext cx="283169" cy="94488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745736" y="4076699"/>
            <a:ext cx="283169" cy="118110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184648" y="3840480"/>
            <a:ext cx="283169" cy="141732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3429000" y="5257800"/>
            <a:ext cx="219456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3703320" y="5303520"/>
            <a:ext cx="1737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供需缺口</a:t>
            </a:r>
          </a:p>
        </p:txBody>
      </p:sp>
      <p:sp>
        <p:nvSpPr>
          <p:cNvPr id="156" name="Oval 155"/>
          <p:cNvSpPr/>
          <p:nvPr/>
        </p:nvSpPr>
        <p:spPr>
          <a:xfrm>
            <a:off x="6583680" y="402336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223760" y="46634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772400" y="4160520"/>
            <a:ext cx="146304" cy="146304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321040" y="4572000"/>
            <a:ext cx="146304" cy="146304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281160" y="3703320"/>
            <a:ext cx="21488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150栋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9753904" y="4407408"/>
            <a:ext cx="1203351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9281160" y="445312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核心设备升级计划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281160" y="4709160"/>
            <a:ext cx="21488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7栋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9753904" y="5413248"/>
            <a:ext cx="1203351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9281160" y="545896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肖家坪科学新建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83280" y="5870448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先调剂、再维修、最后才新建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502152" y="3108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31920" y="59436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61688" y="8778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91455" y="11612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21224" y="14447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50992" y="172821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80759" y="2743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7" y="5577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0296" y="841247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70064" y="11247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99831" y="14081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1691639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59367" y="2377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89136" y="5212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18904" y="8046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48672" y="10881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78440" y="13716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08208" y="165506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37976" y="2011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67744" y="4846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" y="76809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10515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7048" y="133502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56816" y="161848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86584" y="190195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816352" y="4480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46120" y="7315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75887" y="10149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智管：让每一座烤房都有可追溯的生命周期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智管：让每一座烤房都有可追溯的生命周期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建档、巡检、维修、评价不断档，数据持续回写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88720" y="2011679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064258" y="20199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2129637" y="21406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129637" y="2231135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129637" y="23216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697480" y="2011679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建档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97480" y="24505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一房一档 / 责任到人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52359" y="2011679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92693" y="2231135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428482" y="214563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564270" y="204505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8272576" y="237698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8961119" y="2011679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巡检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61119" y="24505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状态更新 / 风险发现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52359" y="42976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22" name="Oval 121"/>
          <p:cNvSpPr/>
          <p:nvPr/>
        </p:nvSpPr>
        <p:spPr>
          <a:xfrm>
            <a:off x="8317839" y="433105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433511" y="444672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710117" y="44819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39412" y="46526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468715" y="472333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298018" y="46526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227313" y="44819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298018" y="43112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468715" y="424053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639412" y="43112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961119" y="42976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维修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61119" y="473659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工单闭环 / 配件留痕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42976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064258" y="43059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2129637" y="44266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129637" y="45171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129637" y="46076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2697480" y="42976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回写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697480" y="473659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评价 / 成本 / 历史沉淀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3840480" y="2514600"/>
            <a:ext cx="4160520" cy="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692640" y="2926080"/>
            <a:ext cx="0" cy="141732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3886200" y="5074920"/>
            <a:ext cx="4160520" cy="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828800" y="2971800"/>
            <a:ext cx="0" cy="137160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5029200" y="3538727"/>
            <a:ext cx="1371600" cy="617220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Isosceles Triangle 145"/>
          <p:cNvSpPr/>
          <p:nvPr/>
        </p:nvSpPr>
        <p:spPr>
          <a:xfrm>
            <a:off x="4919472" y="3017520"/>
            <a:ext cx="1591055" cy="71323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77840" y="3771900"/>
            <a:ext cx="274320" cy="384048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617720" y="4434840"/>
            <a:ext cx="29260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档案不断档
责任不断链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767328" y="4663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7096" y="7498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26864" y="10332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56631" y="13167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0" y="16002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16168" y="188366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45936" y="4297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75703" y="7132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99669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12801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65008" y="156362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94776" y="184708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24544" y="3931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54312" y="6766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0" y="9601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13848" y="12435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43615" y="152704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73384" y="181051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03152" y="3566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6400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9235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2455" y="12070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92224" y="149047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21992" y="177393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3200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81528" y="6035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11296" y="8869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41063" y="11704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四队长效：让机制跑在平台后面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四队长效：让机制跑在平台后面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有人管 · 有钱管 · 有标准管 · 有机制管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78457" y="183702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443837" y="195773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443837" y="204825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443837" y="213878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011680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专班推进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11680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任务统筹 / 进度督办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34639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2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16" name="Oval 115"/>
          <p:cNvSpPr/>
          <p:nvPr/>
        </p:nvSpPr>
        <p:spPr>
          <a:xfrm>
            <a:off x="4184751" y="186217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00423" y="197784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577029" y="201305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506324" y="218374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335627" y="225445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164930" y="218374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094225" y="201305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164930" y="184235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335627" y="177165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506324" y="184235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828031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维修服务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28031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工单闭环 / 备件调度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50992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35624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35723" y="198790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Isosceles Triangle 130"/>
          <p:cNvSpPr/>
          <p:nvPr/>
        </p:nvSpPr>
        <p:spPr>
          <a:xfrm>
            <a:off x="6895490" y="179679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136892" y="207340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44383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运营管护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44383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巡检更新 / 使用培训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67344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51976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792309" y="204825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928098" y="196275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063886" y="186217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9772192" y="219410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0460736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基金保障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60736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资金统筹 / 长效投入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194560" y="4069080"/>
            <a:ext cx="23774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66人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2717596" y="4773168"/>
            <a:ext cx="1331367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2194560" y="4818888"/>
            <a:ext cx="23774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专业管护团队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37760" y="4069080"/>
            <a:ext cx="256032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近190万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5501030" y="4773168"/>
            <a:ext cx="1433779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4937760" y="4818888"/>
            <a:ext cx="256032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管护基金滚动累计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09560" y="4069080"/>
            <a:ext cx="24688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长期运营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8452713" y="4773168"/>
            <a:ext cx="1382573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909560" y="4818888"/>
            <a:ext cx="246888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从项目上线到持续运转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920240" y="5833872"/>
            <a:ext cx="832104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机制不散 · 服务不断 · 数据不乱 · 保障不虚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32503" y="6217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62272" y="9052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92040" y="11887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21807" y="14721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51576" y="175564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81344" y="3017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11112" y="5852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9" y="8686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0648" y="11521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00415" y="14356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30183" y="171907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59952" y="2651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9719" y="5486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19488" y="832103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49256" y="11155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79024" y="13990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08792" y="1682495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38560" y="2286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8328" y="5120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8096" y="7955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97864" y="10789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27631" y="13624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57400" y="164592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87168" y="1920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16936" y="4754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46704" y="75895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76472" y="104241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06240" y="132588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应用成效：从经验管房，走向数据管房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应用成效：从经验管房，走向数据管房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资源可见 · 维修提速 · 决策更准 · 资金更省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2442座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036015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02920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建档并完成健康评估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355848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48次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3888943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3355848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烤房调剂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08776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18次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741871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208776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突发故障全部3小时内闭环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61704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95.8%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594799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9061704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群众综合满意度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0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340+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36015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02920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待修烤房筛查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55848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150栋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888943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3355848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升级纳入计划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08776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1363栋 / 81%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6741871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6208776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合作社统筹管护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61704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近190万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9594799" y="4590288"/>
            <a:ext cx="1356969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9061704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管护基金滚动累计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28800" y="5897880"/>
            <a:ext cx="85039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看得见、调得动、修得快、投得准，才是真正的价值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97679" y="7772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27448" y="10607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57216" y="13441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86983" y="16276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16752" y="1911095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46520" y="4572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76288" y="7406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06055" y="10241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35823" y="13075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65592" y="15910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0" y="187452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25128" y="4206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54896" y="7040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84664" y="98755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14432" y="127101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44200" y="155448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73967" y="183794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603736" y="3840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3" y="6675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1" y="9509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63040" y="1234439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92807" y="151790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22576" y="180136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52344" y="3474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82112" y="6309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11880" y="9144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41648" y="119786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71416" y="148132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总结：一套“智烤管家”，把难题变成闭环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总结：一套“智烤管家”，把难题变成闭环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一库清底  ·  双模决策  ·  三智落地  ·  四队长效</a:t>
            </a:r>
          </a:p>
        </p:txBody>
      </p:sp>
      <p:sp>
        <p:nvSpPr>
          <p:cNvPr id="107" name="Oval 106"/>
          <p:cNvSpPr/>
          <p:nvPr/>
        </p:nvSpPr>
        <p:spPr>
          <a:xfrm>
            <a:off x="150876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877263" y="2486802"/>
            <a:ext cx="396849" cy="476219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950963" y="2622864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950963" y="2724912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950963" y="2826959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91440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01
一库清底</a:t>
            </a:r>
          </a:p>
        </p:txBody>
      </p:sp>
      <p:sp>
        <p:nvSpPr>
          <p:cNvPr id="113" name="Oval 112"/>
          <p:cNvSpPr/>
          <p:nvPr/>
        </p:nvSpPr>
        <p:spPr>
          <a:xfrm>
            <a:off x="429768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26498" y="2724912"/>
            <a:ext cx="96377" cy="1417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779568" y="2628534"/>
            <a:ext cx="96377" cy="238109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932639" y="2515148"/>
            <a:ext cx="96377" cy="351495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603821" y="2889321"/>
            <a:ext cx="532912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370332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02
双模决策</a:t>
            </a:r>
          </a:p>
        </p:txBody>
      </p:sp>
      <p:sp>
        <p:nvSpPr>
          <p:cNvPr id="119" name="Oval 118"/>
          <p:cNvSpPr/>
          <p:nvPr/>
        </p:nvSpPr>
        <p:spPr>
          <a:xfrm>
            <a:off x="708660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443764" y="2515148"/>
            <a:ext cx="419526" cy="419526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574158" y="2645542"/>
            <a:ext cx="158739" cy="158739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885968" y="2685227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806264" y="2877648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613843" y="2957352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421421" y="2877648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341717" y="2685227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421421" y="249280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613843" y="2413101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806264" y="249280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49224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03
三智落地</a:t>
            </a:r>
          </a:p>
        </p:txBody>
      </p:sp>
      <p:sp>
        <p:nvSpPr>
          <p:cNvPr id="131" name="Oval 130"/>
          <p:cNvSpPr/>
          <p:nvPr/>
        </p:nvSpPr>
        <p:spPr>
          <a:xfrm>
            <a:off x="9875519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158983" y="2656880"/>
            <a:ext cx="566928" cy="255117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Isosceles Triangle 132"/>
          <p:cNvSpPr/>
          <p:nvPr/>
        </p:nvSpPr>
        <p:spPr>
          <a:xfrm>
            <a:off x="10113629" y="2441448"/>
            <a:ext cx="657636" cy="29480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385755" y="2753258"/>
            <a:ext cx="113385" cy="158739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281159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04
四队长效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14400" y="4892040"/>
            <a:ext cx="1033272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让每一座烤房，都有一份可计算、可调度、可运维、可决策的健康档案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77440" y="5650992"/>
            <a:ext cx="74066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从“有多少房”到“有多少有效烤能”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926080" y="6144768"/>
            <a:ext cx="6309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A7C5D8"/>
                </a:solidFill>
                <a:latin typeface="Noto Sans CJK SC"/>
              </a:rPr>
              <a:t>让数据说话 · 让模型决策 · 让管家落地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