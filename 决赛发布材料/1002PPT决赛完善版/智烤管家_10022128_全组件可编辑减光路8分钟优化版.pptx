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可编辑_深蓝背景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85215" y="338328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14983" y="621792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444752" y="905256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874519" y="1188720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304288" y="1472184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34056" y="1755648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163824" y="301752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593592" y="585216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023359" y="868680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53127" y="1152144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882896" y="1435608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312664" y="1719072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742431" y="265176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172200" y="548640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01968" y="832103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031736" y="1115568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461504" y="1399032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891271" y="1682495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321040" y="228600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750808" y="512064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80576" y="795528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610344" y="1078992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040112" y="1362456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469880" y="1645920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899648" y="192024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329415" y="475488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29184" y="758952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58952" y="1042415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Isosceles Triangle 30"/>
          <p:cNvSpPr/>
          <p:nvPr/>
        </p:nvSpPr>
        <p:spPr>
          <a:xfrm>
            <a:off x="-731520" y="3858768"/>
            <a:ext cx="2148840" cy="914400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Isosceles Triangle 31"/>
          <p:cNvSpPr/>
          <p:nvPr/>
        </p:nvSpPr>
        <p:spPr>
          <a:xfrm>
            <a:off x="777239" y="3657600"/>
            <a:ext cx="2148840" cy="1115568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sosceles Triangle 32"/>
          <p:cNvSpPr/>
          <p:nvPr/>
        </p:nvSpPr>
        <p:spPr>
          <a:xfrm>
            <a:off x="2286000" y="3456432"/>
            <a:ext cx="2148840" cy="1316736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sosceles Triangle 33"/>
          <p:cNvSpPr/>
          <p:nvPr/>
        </p:nvSpPr>
        <p:spPr>
          <a:xfrm>
            <a:off x="3794759" y="3858768"/>
            <a:ext cx="2148840" cy="914400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Isosceles Triangle 34"/>
          <p:cNvSpPr/>
          <p:nvPr/>
        </p:nvSpPr>
        <p:spPr>
          <a:xfrm>
            <a:off x="5303520" y="3657600"/>
            <a:ext cx="2148840" cy="1115568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sosceles Triangle 35"/>
          <p:cNvSpPr/>
          <p:nvPr/>
        </p:nvSpPr>
        <p:spPr>
          <a:xfrm>
            <a:off x="6812280" y="3456432"/>
            <a:ext cx="2148840" cy="1316736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sosceles Triangle 36"/>
          <p:cNvSpPr/>
          <p:nvPr/>
        </p:nvSpPr>
        <p:spPr>
          <a:xfrm>
            <a:off x="8321039" y="3858768"/>
            <a:ext cx="2148840" cy="914400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sosceles Triangle 37"/>
          <p:cNvSpPr/>
          <p:nvPr/>
        </p:nvSpPr>
        <p:spPr>
          <a:xfrm>
            <a:off x="9829799" y="3657600"/>
            <a:ext cx="2148840" cy="1115568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Isosceles Triangle 38"/>
          <p:cNvSpPr/>
          <p:nvPr/>
        </p:nvSpPr>
        <p:spPr>
          <a:xfrm>
            <a:off x="11338559" y="3456432"/>
            <a:ext cx="2148840" cy="1316736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Isosceles Triangle 39"/>
          <p:cNvSpPr/>
          <p:nvPr/>
        </p:nvSpPr>
        <p:spPr>
          <a:xfrm>
            <a:off x="-731520" y="4050792"/>
            <a:ext cx="2148840" cy="1115568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Isosceles Triangle 40"/>
          <p:cNvSpPr/>
          <p:nvPr/>
        </p:nvSpPr>
        <p:spPr>
          <a:xfrm>
            <a:off x="777239" y="3849624"/>
            <a:ext cx="2148840" cy="1316736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Isosceles Triangle 41"/>
          <p:cNvSpPr/>
          <p:nvPr/>
        </p:nvSpPr>
        <p:spPr>
          <a:xfrm>
            <a:off x="2286000" y="4251960"/>
            <a:ext cx="2148840" cy="914400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Isosceles Triangle 42"/>
          <p:cNvSpPr/>
          <p:nvPr/>
        </p:nvSpPr>
        <p:spPr>
          <a:xfrm>
            <a:off x="3794759" y="4050792"/>
            <a:ext cx="2148840" cy="1115568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Isosceles Triangle 43"/>
          <p:cNvSpPr/>
          <p:nvPr/>
        </p:nvSpPr>
        <p:spPr>
          <a:xfrm>
            <a:off x="5303520" y="3849624"/>
            <a:ext cx="2148840" cy="1316736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Isosceles Triangle 44"/>
          <p:cNvSpPr/>
          <p:nvPr/>
        </p:nvSpPr>
        <p:spPr>
          <a:xfrm>
            <a:off x="6812280" y="4251960"/>
            <a:ext cx="2148840" cy="914400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Isosceles Triangle 45"/>
          <p:cNvSpPr/>
          <p:nvPr/>
        </p:nvSpPr>
        <p:spPr>
          <a:xfrm>
            <a:off x="8321039" y="4050792"/>
            <a:ext cx="2148840" cy="1115568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Isosceles Triangle 46"/>
          <p:cNvSpPr/>
          <p:nvPr/>
        </p:nvSpPr>
        <p:spPr>
          <a:xfrm>
            <a:off x="9829799" y="3849624"/>
            <a:ext cx="2148840" cy="1316736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Isosceles Triangle 47"/>
          <p:cNvSpPr/>
          <p:nvPr/>
        </p:nvSpPr>
        <p:spPr>
          <a:xfrm>
            <a:off x="11338559" y="4251960"/>
            <a:ext cx="2148840" cy="914400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Isosceles Triangle 48"/>
          <p:cNvSpPr/>
          <p:nvPr/>
        </p:nvSpPr>
        <p:spPr>
          <a:xfrm>
            <a:off x="-731520" y="4187952"/>
            <a:ext cx="2148840" cy="1316736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Isosceles Triangle 49"/>
          <p:cNvSpPr/>
          <p:nvPr/>
        </p:nvSpPr>
        <p:spPr>
          <a:xfrm>
            <a:off x="777239" y="4590288"/>
            <a:ext cx="2148840" cy="914400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Isosceles Triangle 50"/>
          <p:cNvSpPr/>
          <p:nvPr/>
        </p:nvSpPr>
        <p:spPr>
          <a:xfrm>
            <a:off x="2286000" y="4389120"/>
            <a:ext cx="2148840" cy="1115568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Isosceles Triangle 51"/>
          <p:cNvSpPr/>
          <p:nvPr/>
        </p:nvSpPr>
        <p:spPr>
          <a:xfrm>
            <a:off x="3794759" y="4187952"/>
            <a:ext cx="2148840" cy="1316736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Isosceles Triangle 52"/>
          <p:cNvSpPr/>
          <p:nvPr/>
        </p:nvSpPr>
        <p:spPr>
          <a:xfrm>
            <a:off x="5303520" y="4590288"/>
            <a:ext cx="2148840" cy="914400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Isosceles Triangle 53"/>
          <p:cNvSpPr/>
          <p:nvPr/>
        </p:nvSpPr>
        <p:spPr>
          <a:xfrm>
            <a:off x="6812280" y="4389120"/>
            <a:ext cx="2148840" cy="1115568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Isosceles Triangle 54"/>
          <p:cNvSpPr/>
          <p:nvPr/>
        </p:nvSpPr>
        <p:spPr>
          <a:xfrm>
            <a:off x="8321039" y="4187952"/>
            <a:ext cx="2148840" cy="1316736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Isosceles Triangle 55"/>
          <p:cNvSpPr/>
          <p:nvPr/>
        </p:nvSpPr>
        <p:spPr>
          <a:xfrm>
            <a:off x="9829799" y="4590288"/>
            <a:ext cx="2148840" cy="914400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Isosceles Triangle 56"/>
          <p:cNvSpPr/>
          <p:nvPr/>
        </p:nvSpPr>
        <p:spPr>
          <a:xfrm>
            <a:off x="11338559" y="4389120"/>
            <a:ext cx="2148840" cy="1115568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0" y="5715000"/>
            <a:ext cx="12188952" cy="0"/>
          </a:xfrm>
          <a:prstGeom prst="line">
            <a:avLst/>
          </a:prstGeom>
          <a:ln w="15240">
            <a:solidFill>
              <a:srgbClr val="0D4C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0" y="6309360"/>
            <a:ext cx="1097280" cy="54864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1097280" y="6089904"/>
            <a:ext cx="868680" cy="219456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965960" y="6089904"/>
            <a:ext cx="1097280" cy="128016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3063240" y="5989320"/>
            <a:ext cx="1188720" cy="228600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4251960" y="5989320"/>
            <a:ext cx="1143000" cy="118872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5394960" y="5907024"/>
            <a:ext cx="1143000" cy="201168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6537960" y="5907024"/>
            <a:ext cx="1188719" cy="128016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7726679" y="5815584"/>
            <a:ext cx="1005841" cy="219456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8732520" y="5815584"/>
            <a:ext cx="1143000" cy="128016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9875520" y="5724144"/>
            <a:ext cx="1234440" cy="219456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11109960" y="5605272"/>
            <a:ext cx="1078992" cy="118872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0" y="6263640"/>
            <a:ext cx="1097280" cy="54864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1097280" y="6044184"/>
            <a:ext cx="868680" cy="219456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1965960" y="6044184"/>
            <a:ext cx="1097280" cy="128016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3063240" y="5943600"/>
            <a:ext cx="1188720" cy="228600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4251960" y="5943600"/>
            <a:ext cx="1143000" cy="118872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5394960" y="5861304"/>
            <a:ext cx="1143000" cy="201168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6537960" y="5861304"/>
            <a:ext cx="1188719" cy="128016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726679" y="5769864"/>
            <a:ext cx="1005841" cy="219456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8732520" y="5769864"/>
            <a:ext cx="1143000" cy="128016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9875520" y="5678424"/>
            <a:ext cx="1234440" cy="219456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11109960" y="5559552"/>
            <a:ext cx="1078992" cy="118872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0" y="6236208"/>
            <a:ext cx="1097280" cy="54864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1097280" y="6016752"/>
            <a:ext cx="868680" cy="219456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1965960" y="6016752"/>
            <a:ext cx="1097280" cy="128016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3063240" y="5916168"/>
            <a:ext cx="1188720" cy="228600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4251960" y="5916168"/>
            <a:ext cx="1143000" cy="118872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5394960" y="5833872"/>
            <a:ext cx="1143000" cy="201168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6537960" y="5833872"/>
            <a:ext cx="1188719" cy="128016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7726679" y="5742432"/>
            <a:ext cx="1005841" cy="219456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732520" y="5742432"/>
            <a:ext cx="1143000" cy="128016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9875520" y="5650992"/>
            <a:ext cx="1234440" cy="219456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11109960" y="5532120"/>
            <a:ext cx="1078992" cy="118872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Oval 91"/>
          <p:cNvSpPr/>
          <p:nvPr/>
        </p:nvSpPr>
        <p:spPr>
          <a:xfrm>
            <a:off x="1051560" y="6190488"/>
            <a:ext cx="91440" cy="91440"/>
          </a:xfrm>
          <a:prstGeom prst="ellipse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072591" y="6211519"/>
            <a:ext cx="50292" cy="50292"/>
          </a:xfrm>
          <a:prstGeom prst="ellipse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3017520" y="6099048"/>
            <a:ext cx="91440" cy="91440"/>
          </a:xfrm>
          <a:prstGeom prst="ellipse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3038551" y="6120079"/>
            <a:ext cx="50292" cy="50292"/>
          </a:xfrm>
          <a:prstGeom prst="ellipse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5349240" y="5989320"/>
            <a:ext cx="91440" cy="91440"/>
          </a:xfrm>
          <a:prstGeom prst="ellipse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5370271" y="6010351"/>
            <a:ext cx="50292" cy="50292"/>
          </a:xfrm>
          <a:prstGeom prst="ellipse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7680959" y="5916168"/>
            <a:ext cx="91440" cy="91440"/>
          </a:xfrm>
          <a:prstGeom prst="ellipse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7701991" y="5937199"/>
            <a:ext cx="50292" cy="50292"/>
          </a:xfrm>
          <a:prstGeom prst="ellipse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9829800" y="5824728"/>
            <a:ext cx="91440" cy="91440"/>
          </a:xfrm>
          <a:prstGeom prst="ellipse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9850831" y="5845759"/>
            <a:ext cx="50292" cy="50292"/>
          </a:xfrm>
          <a:prstGeom prst="ellipse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3383280" y="914400"/>
            <a:ext cx="5486400" cy="32004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300" b="0">
                <a:solidFill>
                  <a:srgbClr val="9EEBFF"/>
                </a:solidFill>
                <a:latin typeface="Noto Sans CJK SC"/>
              </a:rPr>
              <a:t>Z H I   K A O   M A N A G E R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743200" y="1572768"/>
            <a:ext cx="2834640" cy="10515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r"/>
            <a:r>
              <a:rPr sz="4400" b="1">
                <a:solidFill>
                  <a:srgbClr val="F7FBFF"/>
                </a:solidFill>
                <a:latin typeface="Noto Serif CJK SC"/>
              </a:rPr>
              <a:t>智烤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532120" y="1572768"/>
            <a:ext cx="2926080" cy="10515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4400" b="1">
                <a:solidFill>
                  <a:srgbClr val="23C8F6"/>
                </a:solidFill>
                <a:latin typeface="Noto Serif CJK SC"/>
              </a:rPr>
              <a:t>管家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828800" y="2743200"/>
            <a:ext cx="8503920" cy="4572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600" b="0">
                <a:solidFill>
                  <a:srgbClr val="F7FBFF"/>
                </a:solidFill>
                <a:latin typeface="Noto Sans CJK SC"/>
              </a:rPr>
              <a:t>让每一座烤房，都有一份可计算的“健康档案”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011680" y="3886200"/>
            <a:ext cx="8138160" cy="4572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700" b="1">
                <a:solidFill>
                  <a:srgbClr val="9EEBFF"/>
                </a:solidFill>
                <a:latin typeface="Noto Sans CJK SC"/>
              </a:rPr>
              <a:t>一库清底  ·  双模决策  ·  三智落地  ·  四队长效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920240" y="4617720"/>
            <a:ext cx="832104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500" b="1">
                <a:solidFill>
                  <a:srgbClr val="F7FBFF"/>
                </a:solidFill>
                <a:latin typeface="Noto Sans CJK SC"/>
              </a:rPr>
              <a:t>基于健康评估的烤房用投管一体化解决方案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463040" y="6236208"/>
            <a:ext cx="9326880" cy="29260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000" b="0">
                <a:solidFill>
                  <a:srgbClr val="A7C5D8"/>
                </a:solidFill>
                <a:latin typeface="Noto Sans CJK SC"/>
              </a:rPr>
              <a:t>湖北烟草创客大赛 · 决赛发布    宜昌市烟草公司 · 智同道合创客小组    2026.10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可编辑_深蓝背景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0392" y="493776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280160" y="777240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709928" y="1060704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139696" y="1344168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569464" y="1627632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999232" y="1911095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429000" y="457200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858768" y="740664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288536" y="1024128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718303" y="1307592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148072" y="1591056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577840" y="1874520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007607" y="420624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37376" y="704088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867144" y="987552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296912" y="1271016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726679" y="1554480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56448" y="1837944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586215" y="384048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015984" y="667512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445752" y="950976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875519" y="1234439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305288" y="1517904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735056" y="1801368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164824" y="347472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594592" y="630936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94359" y="914400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24128" y="1197864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Isosceles Triangle 30"/>
          <p:cNvSpPr/>
          <p:nvPr/>
        </p:nvSpPr>
        <p:spPr>
          <a:xfrm>
            <a:off x="-731520" y="3858768"/>
            <a:ext cx="2148840" cy="914400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Isosceles Triangle 31"/>
          <p:cNvSpPr/>
          <p:nvPr/>
        </p:nvSpPr>
        <p:spPr>
          <a:xfrm>
            <a:off x="777239" y="3657600"/>
            <a:ext cx="2148840" cy="1115568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sosceles Triangle 32"/>
          <p:cNvSpPr/>
          <p:nvPr/>
        </p:nvSpPr>
        <p:spPr>
          <a:xfrm>
            <a:off x="2286000" y="3456432"/>
            <a:ext cx="2148840" cy="1316736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sosceles Triangle 33"/>
          <p:cNvSpPr/>
          <p:nvPr/>
        </p:nvSpPr>
        <p:spPr>
          <a:xfrm>
            <a:off x="3794759" y="3858768"/>
            <a:ext cx="2148840" cy="914400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Isosceles Triangle 34"/>
          <p:cNvSpPr/>
          <p:nvPr/>
        </p:nvSpPr>
        <p:spPr>
          <a:xfrm>
            <a:off x="5303520" y="3657600"/>
            <a:ext cx="2148840" cy="1115568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sosceles Triangle 35"/>
          <p:cNvSpPr/>
          <p:nvPr/>
        </p:nvSpPr>
        <p:spPr>
          <a:xfrm>
            <a:off x="6812280" y="3456432"/>
            <a:ext cx="2148840" cy="1316736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sosceles Triangle 36"/>
          <p:cNvSpPr/>
          <p:nvPr/>
        </p:nvSpPr>
        <p:spPr>
          <a:xfrm>
            <a:off x="8321039" y="3858768"/>
            <a:ext cx="2148840" cy="914400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sosceles Triangle 37"/>
          <p:cNvSpPr/>
          <p:nvPr/>
        </p:nvSpPr>
        <p:spPr>
          <a:xfrm>
            <a:off x="9829799" y="3657600"/>
            <a:ext cx="2148840" cy="1115568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Isosceles Triangle 38"/>
          <p:cNvSpPr/>
          <p:nvPr/>
        </p:nvSpPr>
        <p:spPr>
          <a:xfrm>
            <a:off x="11338559" y="3456432"/>
            <a:ext cx="2148840" cy="1316736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Isosceles Triangle 39"/>
          <p:cNvSpPr/>
          <p:nvPr/>
        </p:nvSpPr>
        <p:spPr>
          <a:xfrm>
            <a:off x="-731520" y="4050792"/>
            <a:ext cx="2148840" cy="1115568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Isosceles Triangle 40"/>
          <p:cNvSpPr/>
          <p:nvPr/>
        </p:nvSpPr>
        <p:spPr>
          <a:xfrm>
            <a:off x="777239" y="3849624"/>
            <a:ext cx="2148840" cy="1316736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Isosceles Triangle 41"/>
          <p:cNvSpPr/>
          <p:nvPr/>
        </p:nvSpPr>
        <p:spPr>
          <a:xfrm>
            <a:off x="2286000" y="4251960"/>
            <a:ext cx="2148840" cy="914400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Isosceles Triangle 42"/>
          <p:cNvSpPr/>
          <p:nvPr/>
        </p:nvSpPr>
        <p:spPr>
          <a:xfrm>
            <a:off x="3794759" y="4050792"/>
            <a:ext cx="2148840" cy="1115568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Isosceles Triangle 43"/>
          <p:cNvSpPr/>
          <p:nvPr/>
        </p:nvSpPr>
        <p:spPr>
          <a:xfrm>
            <a:off x="5303520" y="3849624"/>
            <a:ext cx="2148840" cy="1316736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Isosceles Triangle 44"/>
          <p:cNvSpPr/>
          <p:nvPr/>
        </p:nvSpPr>
        <p:spPr>
          <a:xfrm>
            <a:off x="6812280" y="4251960"/>
            <a:ext cx="2148840" cy="914400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Isosceles Triangle 45"/>
          <p:cNvSpPr/>
          <p:nvPr/>
        </p:nvSpPr>
        <p:spPr>
          <a:xfrm>
            <a:off x="8321039" y="4050792"/>
            <a:ext cx="2148840" cy="1115568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Isosceles Triangle 46"/>
          <p:cNvSpPr/>
          <p:nvPr/>
        </p:nvSpPr>
        <p:spPr>
          <a:xfrm>
            <a:off x="9829799" y="3849624"/>
            <a:ext cx="2148840" cy="1316736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Isosceles Triangle 47"/>
          <p:cNvSpPr/>
          <p:nvPr/>
        </p:nvSpPr>
        <p:spPr>
          <a:xfrm>
            <a:off x="11338559" y="4251960"/>
            <a:ext cx="2148840" cy="914400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Isosceles Triangle 48"/>
          <p:cNvSpPr/>
          <p:nvPr/>
        </p:nvSpPr>
        <p:spPr>
          <a:xfrm>
            <a:off x="-731520" y="4187952"/>
            <a:ext cx="2148840" cy="1316736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Isosceles Triangle 49"/>
          <p:cNvSpPr/>
          <p:nvPr/>
        </p:nvSpPr>
        <p:spPr>
          <a:xfrm>
            <a:off x="777239" y="4590288"/>
            <a:ext cx="2148840" cy="914400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Isosceles Triangle 50"/>
          <p:cNvSpPr/>
          <p:nvPr/>
        </p:nvSpPr>
        <p:spPr>
          <a:xfrm>
            <a:off x="2286000" y="4389120"/>
            <a:ext cx="2148840" cy="1115568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Isosceles Triangle 51"/>
          <p:cNvSpPr/>
          <p:nvPr/>
        </p:nvSpPr>
        <p:spPr>
          <a:xfrm>
            <a:off x="3794759" y="4187952"/>
            <a:ext cx="2148840" cy="1316736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Isosceles Triangle 52"/>
          <p:cNvSpPr/>
          <p:nvPr/>
        </p:nvSpPr>
        <p:spPr>
          <a:xfrm>
            <a:off x="5303520" y="4590288"/>
            <a:ext cx="2148840" cy="914400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Isosceles Triangle 53"/>
          <p:cNvSpPr/>
          <p:nvPr/>
        </p:nvSpPr>
        <p:spPr>
          <a:xfrm>
            <a:off x="6812280" y="4389120"/>
            <a:ext cx="2148840" cy="1115568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Isosceles Triangle 54"/>
          <p:cNvSpPr/>
          <p:nvPr/>
        </p:nvSpPr>
        <p:spPr>
          <a:xfrm>
            <a:off x="8321039" y="4187952"/>
            <a:ext cx="2148840" cy="1316736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Isosceles Triangle 55"/>
          <p:cNvSpPr/>
          <p:nvPr/>
        </p:nvSpPr>
        <p:spPr>
          <a:xfrm>
            <a:off x="9829799" y="4590288"/>
            <a:ext cx="2148840" cy="914400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Isosceles Triangle 56"/>
          <p:cNvSpPr/>
          <p:nvPr/>
        </p:nvSpPr>
        <p:spPr>
          <a:xfrm>
            <a:off x="11338559" y="4389120"/>
            <a:ext cx="2148840" cy="1115568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0" y="5715000"/>
            <a:ext cx="12188952" cy="0"/>
          </a:xfrm>
          <a:prstGeom prst="line">
            <a:avLst/>
          </a:prstGeom>
          <a:ln w="15240">
            <a:solidFill>
              <a:srgbClr val="0D4C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0" y="6309360"/>
            <a:ext cx="1097280" cy="54864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1097280" y="6089904"/>
            <a:ext cx="868680" cy="219456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965960" y="6089904"/>
            <a:ext cx="1097280" cy="128016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3063240" y="5989320"/>
            <a:ext cx="1188720" cy="228600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4251960" y="5989320"/>
            <a:ext cx="1143000" cy="118872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5394960" y="5907024"/>
            <a:ext cx="1143000" cy="201168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6537960" y="5907024"/>
            <a:ext cx="1188719" cy="128016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7726679" y="5815584"/>
            <a:ext cx="1005841" cy="219456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8732520" y="5815584"/>
            <a:ext cx="1143000" cy="128016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9875520" y="5724144"/>
            <a:ext cx="1234440" cy="219456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11109960" y="5605272"/>
            <a:ext cx="1078992" cy="118872"/>
          </a:xfrm>
          <a:prstGeom prst="line">
            <a:avLst/>
          </a:prstGeom>
          <a:ln w="88900">
            <a:solidFill>
              <a:srgbClr val="0C4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0" y="6263640"/>
            <a:ext cx="1097280" cy="54864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1097280" y="6044184"/>
            <a:ext cx="868680" cy="219456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1965960" y="6044184"/>
            <a:ext cx="1097280" cy="128016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3063240" y="5943600"/>
            <a:ext cx="1188720" cy="228600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4251960" y="5943600"/>
            <a:ext cx="1143000" cy="118872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5394960" y="5861304"/>
            <a:ext cx="1143000" cy="201168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6537960" y="5861304"/>
            <a:ext cx="1188719" cy="128016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726679" y="5769864"/>
            <a:ext cx="1005841" cy="219456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8732520" y="5769864"/>
            <a:ext cx="1143000" cy="128016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9875520" y="5678424"/>
            <a:ext cx="1234440" cy="219456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11109960" y="5559552"/>
            <a:ext cx="1078992" cy="118872"/>
          </a:xfrm>
          <a:prstGeom prst="line">
            <a:avLst/>
          </a:prstGeom>
          <a:ln w="40640">
            <a:solidFill>
              <a:srgbClr val="188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0" y="6236208"/>
            <a:ext cx="1097280" cy="54864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1097280" y="6016752"/>
            <a:ext cx="868680" cy="219456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1965960" y="6016752"/>
            <a:ext cx="1097280" cy="128016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3063240" y="5916168"/>
            <a:ext cx="1188720" cy="228600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4251960" y="5916168"/>
            <a:ext cx="1143000" cy="118872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5394960" y="5833872"/>
            <a:ext cx="1143000" cy="201168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6537960" y="5833872"/>
            <a:ext cx="1188719" cy="128016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7726679" y="5742432"/>
            <a:ext cx="1005841" cy="219456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732520" y="5742432"/>
            <a:ext cx="1143000" cy="128016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9875520" y="5650992"/>
            <a:ext cx="1234440" cy="219456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11109960" y="5532120"/>
            <a:ext cx="1078992" cy="118872"/>
          </a:xfrm>
          <a:prstGeom prst="line">
            <a:avLst/>
          </a:prstGeom>
          <a:ln w="14604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Oval 91"/>
          <p:cNvSpPr/>
          <p:nvPr/>
        </p:nvSpPr>
        <p:spPr>
          <a:xfrm>
            <a:off x="1051560" y="6190488"/>
            <a:ext cx="91440" cy="91440"/>
          </a:xfrm>
          <a:prstGeom prst="ellipse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072591" y="6211519"/>
            <a:ext cx="50292" cy="50292"/>
          </a:xfrm>
          <a:prstGeom prst="ellipse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3017520" y="6099048"/>
            <a:ext cx="91440" cy="91440"/>
          </a:xfrm>
          <a:prstGeom prst="ellipse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3038551" y="6120079"/>
            <a:ext cx="50292" cy="50292"/>
          </a:xfrm>
          <a:prstGeom prst="ellipse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5349240" y="5989320"/>
            <a:ext cx="91440" cy="91440"/>
          </a:xfrm>
          <a:prstGeom prst="ellipse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5370271" y="6010351"/>
            <a:ext cx="50292" cy="50292"/>
          </a:xfrm>
          <a:prstGeom prst="ellipse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7680959" y="5916168"/>
            <a:ext cx="91440" cy="91440"/>
          </a:xfrm>
          <a:prstGeom prst="ellipse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7701991" y="5937199"/>
            <a:ext cx="50292" cy="50292"/>
          </a:xfrm>
          <a:prstGeom prst="ellipse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9829800" y="5824728"/>
            <a:ext cx="91440" cy="91440"/>
          </a:xfrm>
          <a:prstGeom prst="ellipse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9850831" y="5845759"/>
            <a:ext cx="50292" cy="50292"/>
          </a:xfrm>
          <a:prstGeom prst="ellipse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49808" y="347472"/>
            <a:ext cx="10698480" cy="6217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000" b="1">
                <a:solidFill>
                  <a:srgbClr val="23C8F6"/>
                </a:solidFill>
                <a:latin typeface="Noto Serif CJK SC"/>
              </a:rPr>
              <a:t>烟区一线，最怕这 3 件事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49808" y="310896"/>
            <a:ext cx="10698480" cy="6217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000" b="1">
                <a:solidFill>
                  <a:srgbClr val="F7FBFF"/>
                </a:solidFill>
                <a:latin typeface="Noto Serif CJK SC"/>
              </a:rPr>
              <a:t>烟区一线，最怕这 3 件事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2194560" y="960120"/>
            <a:ext cx="1508760" cy="0"/>
          </a:xfrm>
          <a:prstGeom prst="line">
            <a:avLst/>
          </a:prstGeom>
          <a:ln w="1397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8485632" y="960120"/>
            <a:ext cx="1508760" cy="0"/>
          </a:xfrm>
          <a:prstGeom prst="line">
            <a:avLst/>
          </a:prstGeom>
          <a:ln w="1397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1280160" y="950976"/>
            <a:ext cx="9601200" cy="34747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300" b="0">
                <a:solidFill>
                  <a:srgbClr val="A7C5D8"/>
                </a:solidFill>
                <a:latin typeface="Noto Sans CJK SC"/>
              </a:rPr>
              <a:t>不是“有没有烤房”，而是分配、抢修、投入仍靠经验和人工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85800" y="1600200"/>
            <a:ext cx="658368" cy="4572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500" b="1">
                <a:solidFill>
                  <a:srgbClr val="9EEBFF"/>
                </a:solidFill>
                <a:latin typeface="DejaVu Serif"/>
              </a:rPr>
              <a:t>01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508760" y="1600200"/>
            <a:ext cx="210312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F7FBFF"/>
                </a:solidFill>
                <a:latin typeface="Noto Serif CJK SC"/>
              </a:rPr>
              <a:t>分不到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508760" y="2103120"/>
            <a:ext cx="3474720" cy="4114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200" b="0">
                <a:solidFill>
                  <a:srgbClr val="A7C5D8"/>
                </a:solidFill>
                <a:latin typeface="Noto Sans CJK SC"/>
              </a:rPr>
              <a:t>旺季状态不透明｜烟农无法自主选择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663440" y="1709928"/>
            <a:ext cx="54864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500" b="1">
                <a:solidFill>
                  <a:srgbClr val="23C8F6"/>
                </a:solidFill>
                <a:latin typeface="DejaVu Sans"/>
              </a:rPr>
              <a:t>››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492240" y="1581912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01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292340" y="1741017"/>
            <a:ext cx="502920" cy="226314"/>
          </a:xfrm>
          <a:prstGeom prst="rect">
            <a:avLst/>
          </a:prstGeom>
          <a:solidFill>
            <a:srgbClr val="0A4164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Isosceles Triangle 112"/>
          <p:cNvSpPr/>
          <p:nvPr/>
        </p:nvSpPr>
        <p:spPr>
          <a:xfrm>
            <a:off x="7252106" y="1549907"/>
            <a:ext cx="583387" cy="261518"/>
          </a:xfrm>
          <a:prstGeom prst="triangle">
            <a:avLst/>
          </a:prstGeom>
          <a:solidFill>
            <a:srgbClr val="9EEBFF"/>
          </a:solidFill>
          <a:ln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7493508" y="1826514"/>
            <a:ext cx="100584" cy="140817"/>
          </a:xfrm>
          <a:prstGeom prst="rect">
            <a:avLst/>
          </a:prstGeom>
          <a:solidFill>
            <a:srgbClr val="06182D"/>
          </a:solidFill>
          <a:ln w="762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8001000" y="1581912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资源调度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001000" y="2020824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状态可见 / 一键调度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85800" y="2724912"/>
            <a:ext cx="658368" cy="4572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500" b="1">
                <a:solidFill>
                  <a:srgbClr val="9EEBFF"/>
                </a:solidFill>
                <a:latin typeface="DejaVu Serif"/>
              </a:rPr>
              <a:t>02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508760" y="2724912"/>
            <a:ext cx="210312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F7FBFF"/>
                </a:solidFill>
                <a:latin typeface="Noto Serif CJK SC"/>
              </a:rPr>
              <a:t>修不及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508760" y="3227832"/>
            <a:ext cx="3474720" cy="4114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200" b="0">
                <a:solidFill>
                  <a:srgbClr val="A7C5D8"/>
                </a:solidFill>
                <a:latin typeface="Noto Sans CJK SC"/>
              </a:rPr>
              <a:t>故障逐级上报｜找人找件慢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663440" y="2834640"/>
            <a:ext cx="54864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500" b="1">
                <a:solidFill>
                  <a:srgbClr val="23C8F6"/>
                </a:solidFill>
                <a:latin typeface="DejaVu Sans"/>
              </a:rPr>
              <a:t>››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492240" y="2706624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02</a:t>
            </a:r>
          </a:p>
        </p:txBody>
      </p:sp>
      <p:sp>
        <p:nvSpPr>
          <p:cNvPr id="122" name="Oval 121"/>
          <p:cNvSpPr/>
          <p:nvPr/>
        </p:nvSpPr>
        <p:spPr>
          <a:xfrm>
            <a:off x="7357719" y="2739999"/>
            <a:ext cx="372160" cy="372160"/>
          </a:xfrm>
          <a:prstGeom prst="ellipse">
            <a:avLst/>
          </a:prstGeom>
          <a:solidFill>
            <a:srgbClr val="0C4A70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7473391" y="2855671"/>
            <a:ext cx="140817" cy="140817"/>
          </a:xfrm>
          <a:prstGeom prst="ellipse">
            <a:avLst/>
          </a:prstGeom>
          <a:solidFill>
            <a:srgbClr val="06182D"/>
          </a:solidFill>
          <a:ln w="12700">
            <a:solidFill>
              <a:srgbClr val="9E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7749997" y="2890875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7679292" y="3061572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7508595" y="3132277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7337898" y="3061572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7267194" y="2890875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7337898" y="2720178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7508595" y="2649474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7679292" y="2720178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8001000" y="2706624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抢修服务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8001000" y="3145536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故障定位 / 工单闭环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685800" y="3849624"/>
            <a:ext cx="658368" cy="4572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500" b="1">
                <a:solidFill>
                  <a:srgbClr val="9EEBFF"/>
                </a:solidFill>
                <a:latin typeface="DejaVu Serif"/>
              </a:rPr>
              <a:t>03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508760" y="3849624"/>
            <a:ext cx="210312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F7FBFF"/>
                </a:solidFill>
                <a:latin typeface="Noto Serif CJK SC"/>
              </a:rPr>
              <a:t>投不准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508760" y="4352544"/>
            <a:ext cx="3474720" cy="4114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200" b="0">
                <a:solidFill>
                  <a:srgbClr val="A7C5D8"/>
                </a:solidFill>
                <a:latin typeface="Noto Sans CJK SC"/>
              </a:rPr>
              <a:t>哪栋该修｜哪个村真缺｜新建难量化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663440" y="3959352"/>
            <a:ext cx="54864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500" b="1">
                <a:solidFill>
                  <a:srgbClr val="23C8F6"/>
                </a:solidFill>
                <a:latin typeface="DejaVu Sans"/>
              </a:rPr>
              <a:t>››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492240" y="3831336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03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7332573" y="4050792"/>
            <a:ext cx="85496" cy="125730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7468362" y="3965295"/>
            <a:ext cx="85496" cy="211226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7604150" y="3864711"/>
            <a:ext cx="85496" cy="311810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2" name="Connector 141"/>
          <p:cNvCxnSpPr/>
          <p:nvPr/>
        </p:nvCxnSpPr>
        <p:spPr>
          <a:xfrm>
            <a:off x="7312456" y="4196638"/>
            <a:ext cx="472745" cy="0"/>
          </a:xfrm>
          <a:prstGeom prst="line">
            <a:avLst/>
          </a:prstGeom>
          <a:ln w="1270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TextBox 142"/>
          <p:cNvSpPr txBox="1"/>
          <p:nvPr/>
        </p:nvSpPr>
        <p:spPr>
          <a:xfrm>
            <a:off x="8001000" y="3831336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投入决策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001000" y="4270248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有效烤能 / 缺口测算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2057400" y="5943600"/>
            <a:ext cx="8046720" cy="4572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800" b="1">
                <a:solidFill>
                  <a:srgbClr val="23C8F6"/>
                </a:solidFill>
                <a:latin typeface="Noto Sans CJK SC"/>
              </a:rPr>
              <a:t>根因：资源无统筹 · 投入无量化 · 管护无闭环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可编辑_深蓝背景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5568" y="649224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45336" y="932688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975104" y="1216151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404872" y="1499616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834640" y="1783080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264408" y="329184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694176" y="612647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123944" y="896112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53712" y="1179576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983479" y="1463039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413248" y="1746504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43016" y="292608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272783" y="576072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702552" y="859536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132320" y="1143000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562088" y="1426464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991856" y="1709928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21624" y="256032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851392" y="539496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81160" y="822959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710928" y="1106424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140696" y="1389888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70464" y="1673351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000232" y="219456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430000" y="502920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29768" y="786384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59536" y="1069848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289304" y="1353312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Isosceles Triangle 30"/>
          <p:cNvSpPr/>
          <p:nvPr/>
        </p:nvSpPr>
        <p:spPr>
          <a:xfrm>
            <a:off x="-731520" y="3858768"/>
            <a:ext cx="2148840" cy="914400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Isosceles Triangle 31"/>
          <p:cNvSpPr/>
          <p:nvPr/>
        </p:nvSpPr>
        <p:spPr>
          <a:xfrm>
            <a:off x="777239" y="3657600"/>
            <a:ext cx="2148840" cy="1115568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sosceles Triangle 32"/>
          <p:cNvSpPr/>
          <p:nvPr/>
        </p:nvSpPr>
        <p:spPr>
          <a:xfrm>
            <a:off x="2286000" y="3456432"/>
            <a:ext cx="2148840" cy="1316736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sosceles Triangle 33"/>
          <p:cNvSpPr/>
          <p:nvPr/>
        </p:nvSpPr>
        <p:spPr>
          <a:xfrm>
            <a:off x="3794759" y="3858768"/>
            <a:ext cx="2148840" cy="914400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Isosceles Triangle 34"/>
          <p:cNvSpPr/>
          <p:nvPr/>
        </p:nvSpPr>
        <p:spPr>
          <a:xfrm>
            <a:off x="5303520" y="3657600"/>
            <a:ext cx="2148840" cy="1115568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sosceles Triangle 35"/>
          <p:cNvSpPr/>
          <p:nvPr/>
        </p:nvSpPr>
        <p:spPr>
          <a:xfrm>
            <a:off x="6812280" y="3456432"/>
            <a:ext cx="2148840" cy="1316736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sosceles Triangle 36"/>
          <p:cNvSpPr/>
          <p:nvPr/>
        </p:nvSpPr>
        <p:spPr>
          <a:xfrm>
            <a:off x="8321039" y="3858768"/>
            <a:ext cx="2148840" cy="914400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sosceles Triangle 37"/>
          <p:cNvSpPr/>
          <p:nvPr/>
        </p:nvSpPr>
        <p:spPr>
          <a:xfrm>
            <a:off x="9829799" y="3657600"/>
            <a:ext cx="2148840" cy="1115568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Isosceles Triangle 38"/>
          <p:cNvSpPr/>
          <p:nvPr/>
        </p:nvSpPr>
        <p:spPr>
          <a:xfrm>
            <a:off x="11338559" y="3456432"/>
            <a:ext cx="2148840" cy="1316736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Isosceles Triangle 39"/>
          <p:cNvSpPr/>
          <p:nvPr/>
        </p:nvSpPr>
        <p:spPr>
          <a:xfrm>
            <a:off x="-731520" y="4050792"/>
            <a:ext cx="2148840" cy="1115568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Isosceles Triangle 40"/>
          <p:cNvSpPr/>
          <p:nvPr/>
        </p:nvSpPr>
        <p:spPr>
          <a:xfrm>
            <a:off x="777239" y="3849624"/>
            <a:ext cx="2148840" cy="1316736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Isosceles Triangle 41"/>
          <p:cNvSpPr/>
          <p:nvPr/>
        </p:nvSpPr>
        <p:spPr>
          <a:xfrm>
            <a:off x="2286000" y="4251960"/>
            <a:ext cx="2148840" cy="914400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Isosceles Triangle 42"/>
          <p:cNvSpPr/>
          <p:nvPr/>
        </p:nvSpPr>
        <p:spPr>
          <a:xfrm>
            <a:off x="3794759" y="4050792"/>
            <a:ext cx="2148840" cy="1115568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Isosceles Triangle 43"/>
          <p:cNvSpPr/>
          <p:nvPr/>
        </p:nvSpPr>
        <p:spPr>
          <a:xfrm>
            <a:off x="5303520" y="3849624"/>
            <a:ext cx="2148840" cy="1316736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Isosceles Triangle 44"/>
          <p:cNvSpPr/>
          <p:nvPr/>
        </p:nvSpPr>
        <p:spPr>
          <a:xfrm>
            <a:off x="6812280" y="4251960"/>
            <a:ext cx="2148840" cy="914400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Isosceles Triangle 45"/>
          <p:cNvSpPr/>
          <p:nvPr/>
        </p:nvSpPr>
        <p:spPr>
          <a:xfrm>
            <a:off x="8321039" y="4050792"/>
            <a:ext cx="2148840" cy="1115568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Isosceles Triangle 46"/>
          <p:cNvSpPr/>
          <p:nvPr/>
        </p:nvSpPr>
        <p:spPr>
          <a:xfrm>
            <a:off x="9829799" y="3849624"/>
            <a:ext cx="2148840" cy="1316736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Isosceles Triangle 47"/>
          <p:cNvSpPr/>
          <p:nvPr/>
        </p:nvSpPr>
        <p:spPr>
          <a:xfrm>
            <a:off x="11338559" y="4251960"/>
            <a:ext cx="2148840" cy="914400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Isosceles Triangle 48"/>
          <p:cNvSpPr/>
          <p:nvPr/>
        </p:nvSpPr>
        <p:spPr>
          <a:xfrm>
            <a:off x="-731520" y="4187952"/>
            <a:ext cx="2148840" cy="1316736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Isosceles Triangle 49"/>
          <p:cNvSpPr/>
          <p:nvPr/>
        </p:nvSpPr>
        <p:spPr>
          <a:xfrm>
            <a:off x="777239" y="4590288"/>
            <a:ext cx="2148840" cy="914400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Isosceles Triangle 50"/>
          <p:cNvSpPr/>
          <p:nvPr/>
        </p:nvSpPr>
        <p:spPr>
          <a:xfrm>
            <a:off x="2286000" y="4389120"/>
            <a:ext cx="2148840" cy="1115568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Isosceles Triangle 51"/>
          <p:cNvSpPr/>
          <p:nvPr/>
        </p:nvSpPr>
        <p:spPr>
          <a:xfrm>
            <a:off x="3794759" y="4187952"/>
            <a:ext cx="2148840" cy="1316736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Isosceles Triangle 52"/>
          <p:cNvSpPr/>
          <p:nvPr/>
        </p:nvSpPr>
        <p:spPr>
          <a:xfrm>
            <a:off x="5303520" y="4590288"/>
            <a:ext cx="2148840" cy="914400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Isosceles Triangle 53"/>
          <p:cNvSpPr/>
          <p:nvPr/>
        </p:nvSpPr>
        <p:spPr>
          <a:xfrm>
            <a:off x="6812280" y="4389120"/>
            <a:ext cx="2148840" cy="1115568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Isosceles Triangle 54"/>
          <p:cNvSpPr/>
          <p:nvPr/>
        </p:nvSpPr>
        <p:spPr>
          <a:xfrm>
            <a:off x="8321039" y="4187952"/>
            <a:ext cx="2148840" cy="1316736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Isosceles Triangle 55"/>
          <p:cNvSpPr/>
          <p:nvPr/>
        </p:nvSpPr>
        <p:spPr>
          <a:xfrm>
            <a:off x="9829799" y="4590288"/>
            <a:ext cx="2148840" cy="914400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Isosceles Triangle 56"/>
          <p:cNvSpPr/>
          <p:nvPr/>
        </p:nvSpPr>
        <p:spPr>
          <a:xfrm>
            <a:off x="11338559" y="4389120"/>
            <a:ext cx="2148840" cy="1115568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0" y="5715000"/>
            <a:ext cx="12188952" cy="0"/>
          </a:xfrm>
          <a:prstGeom prst="line">
            <a:avLst/>
          </a:prstGeom>
          <a:ln w="15240">
            <a:solidFill>
              <a:srgbClr val="0D4C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749808" y="347472"/>
            <a:ext cx="10698480" cy="6217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000" b="1">
                <a:solidFill>
                  <a:srgbClr val="23C8F6"/>
                </a:solidFill>
                <a:latin typeface="Noto Serif CJK SC"/>
              </a:rPr>
              <a:t>三愁背后，是三条链断了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9808" y="310896"/>
            <a:ext cx="10698480" cy="6217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000" b="1">
                <a:solidFill>
                  <a:srgbClr val="F7FBFF"/>
                </a:solidFill>
                <a:latin typeface="Noto Serif CJK SC"/>
              </a:rPr>
              <a:t>三愁背后，是三条链断了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2194560" y="960120"/>
            <a:ext cx="1508760" cy="0"/>
          </a:xfrm>
          <a:prstGeom prst="line">
            <a:avLst/>
          </a:prstGeom>
          <a:ln w="1397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8485632" y="960120"/>
            <a:ext cx="1508760" cy="0"/>
          </a:xfrm>
          <a:prstGeom prst="line">
            <a:avLst/>
          </a:prstGeom>
          <a:ln w="1397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1280160" y="950976"/>
            <a:ext cx="9601200" cy="34747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300" b="0">
                <a:solidFill>
                  <a:srgbClr val="A7C5D8"/>
                </a:solidFill>
                <a:latin typeface="Noto Sans CJK SC"/>
              </a:rPr>
              <a:t>资源、维修、投入没有形成数据联动闭环</a:t>
            </a:r>
          </a:p>
        </p:txBody>
      </p:sp>
      <p:sp>
        <p:nvSpPr>
          <p:cNvPr id="64" name="Oval 63"/>
          <p:cNvSpPr/>
          <p:nvPr/>
        </p:nvSpPr>
        <p:spPr>
          <a:xfrm>
            <a:off x="5550408" y="2487168"/>
            <a:ext cx="1060704" cy="1060704"/>
          </a:xfrm>
          <a:prstGeom prst="ellipse">
            <a:avLst/>
          </a:prstGeom>
          <a:solidFill>
            <a:srgbClr val="0B3557"/>
          </a:solidFill>
          <a:ln w="190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797296" y="2949488"/>
            <a:ext cx="566928" cy="255117"/>
          </a:xfrm>
          <a:prstGeom prst="rect">
            <a:avLst/>
          </a:prstGeom>
          <a:solidFill>
            <a:srgbClr val="0A4164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Isosceles Triangle 65"/>
          <p:cNvSpPr/>
          <p:nvPr/>
        </p:nvSpPr>
        <p:spPr>
          <a:xfrm>
            <a:off x="5751941" y="2734056"/>
            <a:ext cx="657636" cy="294802"/>
          </a:xfrm>
          <a:prstGeom prst="triangle">
            <a:avLst/>
          </a:prstGeom>
          <a:solidFill>
            <a:srgbClr val="9EEBFF"/>
          </a:solidFill>
          <a:ln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024067" y="3045866"/>
            <a:ext cx="113385" cy="158739"/>
          </a:xfrm>
          <a:prstGeom prst="rect">
            <a:avLst/>
          </a:prstGeom>
          <a:solidFill>
            <a:srgbClr val="06182D"/>
          </a:solidFill>
          <a:ln w="762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709160" y="3675887"/>
            <a:ext cx="2743200" cy="4114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700" b="1">
                <a:solidFill>
                  <a:srgbClr val="F7FBFF"/>
                </a:solidFill>
                <a:latin typeface="Noto Serif CJK SC"/>
              </a:rPr>
              <a:t>01  用房管理断链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434840" y="4078224"/>
            <a:ext cx="3291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100" b="0">
                <a:solidFill>
                  <a:srgbClr val="A7C5D8"/>
                </a:solidFill>
                <a:latin typeface="Noto Sans CJK SC"/>
              </a:rPr>
              <a:t>空闲不清 / 状态不明 / 调度靠经验</a:t>
            </a:r>
          </a:p>
        </p:txBody>
      </p:sp>
      <p:sp>
        <p:nvSpPr>
          <p:cNvPr id="70" name="Oval 69"/>
          <p:cNvSpPr/>
          <p:nvPr/>
        </p:nvSpPr>
        <p:spPr>
          <a:xfrm>
            <a:off x="2715768" y="4178808"/>
            <a:ext cx="1060704" cy="1060704"/>
          </a:xfrm>
          <a:prstGeom prst="ellipse">
            <a:avLst/>
          </a:prstGeom>
          <a:solidFill>
            <a:srgbClr val="0B3557"/>
          </a:solidFill>
          <a:ln w="190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036356" y="4499396"/>
            <a:ext cx="419526" cy="419526"/>
          </a:xfrm>
          <a:prstGeom prst="ellipse">
            <a:avLst/>
          </a:prstGeom>
          <a:solidFill>
            <a:srgbClr val="0C4A70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166750" y="4629790"/>
            <a:ext cx="158739" cy="158739"/>
          </a:xfrm>
          <a:prstGeom prst="ellipse">
            <a:avLst/>
          </a:prstGeom>
          <a:solidFill>
            <a:srgbClr val="06182D"/>
          </a:solidFill>
          <a:ln w="12700">
            <a:solidFill>
              <a:srgbClr val="9E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3478560" y="4669475"/>
            <a:ext cx="79369" cy="79369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3398856" y="4861896"/>
            <a:ext cx="79369" cy="79369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3206435" y="4941600"/>
            <a:ext cx="79369" cy="79369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014013" y="4861896"/>
            <a:ext cx="79369" cy="79369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2934309" y="4669475"/>
            <a:ext cx="79369" cy="79369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3014013" y="4477053"/>
            <a:ext cx="79369" cy="79369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3206435" y="4397349"/>
            <a:ext cx="79369" cy="79369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3398856" y="4477053"/>
            <a:ext cx="79369" cy="79369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874519" y="5367528"/>
            <a:ext cx="2743200" cy="4114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700" b="1">
                <a:solidFill>
                  <a:srgbClr val="F7FBFF"/>
                </a:solidFill>
                <a:latin typeface="Noto Serif CJK SC"/>
              </a:rPr>
              <a:t>02  维修保障断链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600199" y="5769864"/>
            <a:ext cx="3291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100" b="0">
                <a:solidFill>
                  <a:srgbClr val="A7C5D8"/>
                </a:solidFill>
                <a:latin typeface="Noto Sans CJK SC"/>
              </a:rPr>
              <a:t>故障发现慢 / 找人找件慢 / 闭环追踪弱</a:t>
            </a:r>
          </a:p>
        </p:txBody>
      </p:sp>
      <p:sp>
        <p:nvSpPr>
          <p:cNvPr id="83" name="Oval 82"/>
          <p:cNvSpPr/>
          <p:nvPr/>
        </p:nvSpPr>
        <p:spPr>
          <a:xfrm>
            <a:off x="8385048" y="4178808"/>
            <a:ext cx="1060704" cy="1060704"/>
          </a:xfrm>
          <a:prstGeom prst="ellipse">
            <a:avLst/>
          </a:prstGeom>
          <a:solidFill>
            <a:srgbClr val="0B3557"/>
          </a:solidFill>
          <a:ln w="190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8677290" y="4709160"/>
            <a:ext cx="96377" cy="141732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8830360" y="4612782"/>
            <a:ext cx="96377" cy="238109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8983431" y="4499396"/>
            <a:ext cx="96377" cy="351495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7" name="Connector 86"/>
          <p:cNvCxnSpPr/>
          <p:nvPr/>
        </p:nvCxnSpPr>
        <p:spPr>
          <a:xfrm>
            <a:off x="8654613" y="4873569"/>
            <a:ext cx="532912" cy="0"/>
          </a:xfrm>
          <a:prstGeom prst="line">
            <a:avLst/>
          </a:prstGeom>
          <a:ln w="1270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7543800" y="5367528"/>
            <a:ext cx="2743200" cy="4114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700" b="1">
                <a:solidFill>
                  <a:srgbClr val="F7FBFF"/>
                </a:solidFill>
                <a:latin typeface="Noto Serif CJK SC"/>
              </a:rPr>
              <a:t>03  投入决策断链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269480" y="5769864"/>
            <a:ext cx="3291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100" b="0">
                <a:solidFill>
                  <a:srgbClr val="A7C5D8"/>
                </a:solidFill>
                <a:latin typeface="Noto Sans CJK SC"/>
              </a:rPr>
              <a:t>真实需求不清 / 供需错配 / 新改建难量化</a:t>
            </a:r>
          </a:p>
        </p:txBody>
      </p:sp>
      <p:cxnSp>
        <p:nvCxnSpPr>
          <p:cNvPr id="90" name="Connector 89"/>
          <p:cNvCxnSpPr/>
          <p:nvPr/>
        </p:nvCxnSpPr>
        <p:spPr>
          <a:xfrm flipH="1">
            <a:off x="3886200" y="3520440"/>
            <a:ext cx="2194560" cy="914400"/>
          </a:xfrm>
          <a:prstGeom prst="line">
            <a:avLst/>
          </a:prstGeom>
          <a:ln w="1651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6080760" y="3520440"/>
            <a:ext cx="2194560" cy="914400"/>
          </a:xfrm>
          <a:prstGeom prst="line">
            <a:avLst/>
          </a:prstGeom>
          <a:ln w="1651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3840480" y="4617720"/>
            <a:ext cx="4480560" cy="0"/>
          </a:xfrm>
          <a:prstGeom prst="line">
            <a:avLst/>
          </a:prstGeom>
          <a:ln w="1651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1828800" y="5989320"/>
            <a:ext cx="85039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600" b="1">
                <a:solidFill>
                  <a:srgbClr val="9EEBFF"/>
                </a:solidFill>
                <a:latin typeface="Noto Sans CJK SC"/>
              </a:rPr>
              <a:t>问题不在“有没有房”，而在“用—投—管”没有形成一条数据链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可编辑_深蓝背景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80743" y="804672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810512" y="1088136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240280" y="1371600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670048" y="1655064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099816" y="201168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529584" y="484632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959352" y="768096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389120" y="1051560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18888" y="1335024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248655" y="1618488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678424" y="1901952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108192" y="448056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37959" y="731520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967727" y="1014984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97496" y="1298448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827264" y="1581912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57031" y="1865376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686800" y="411480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116567" y="694944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546336" y="978408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976104" y="1261872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405872" y="1545336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835640" y="1828800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265408" y="374904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695176" y="658368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94944" y="941832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24712" y="1225295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554480" y="1508760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Isosceles Triangle 30"/>
          <p:cNvSpPr/>
          <p:nvPr/>
        </p:nvSpPr>
        <p:spPr>
          <a:xfrm>
            <a:off x="-731520" y="3858768"/>
            <a:ext cx="2148840" cy="914400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Isosceles Triangle 31"/>
          <p:cNvSpPr/>
          <p:nvPr/>
        </p:nvSpPr>
        <p:spPr>
          <a:xfrm>
            <a:off x="777239" y="3657600"/>
            <a:ext cx="2148840" cy="1115568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sosceles Triangle 32"/>
          <p:cNvSpPr/>
          <p:nvPr/>
        </p:nvSpPr>
        <p:spPr>
          <a:xfrm>
            <a:off x="2286000" y="3456432"/>
            <a:ext cx="2148840" cy="1316736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sosceles Triangle 33"/>
          <p:cNvSpPr/>
          <p:nvPr/>
        </p:nvSpPr>
        <p:spPr>
          <a:xfrm>
            <a:off x="3794759" y="3858768"/>
            <a:ext cx="2148840" cy="914400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Isosceles Triangle 34"/>
          <p:cNvSpPr/>
          <p:nvPr/>
        </p:nvSpPr>
        <p:spPr>
          <a:xfrm>
            <a:off x="5303520" y="3657600"/>
            <a:ext cx="2148840" cy="1115568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sosceles Triangle 35"/>
          <p:cNvSpPr/>
          <p:nvPr/>
        </p:nvSpPr>
        <p:spPr>
          <a:xfrm>
            <a:off x="6812280" y="3456432"/>
            <a:ext cx="2148840" cy="1316736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sosceles Triangle 36"/>
          <p:cNvSpPr/>
          <p:nvPr/>
        </p:nvSpPr>
        <p:spPr>
          <a:xfrm>
            <a:off x="8321039" y="3858768"/>
            <a:ext cx="2148840" cy="914400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sosceles Triangle 37"/>
          <p:cNvSpPr/>
          <p:nvPr/>
        </p:nvSpPr>
        <p:spPr>
          <a:xfrm>
            <a:off x="9829799" y="3657600"/>
            <a:ext cx="2148840" cy="1115568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Isosceles Triangle 38"/>
          <p:cNvSpPr/>
          <p:nvPr/>
        </p:nvSpPr>
        <p:spPr>
          <a:xfrm>
            <a:off x="11338559" y="3456432"/>
            <a:ext cx="2148840" cy="1316736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Isosceles Triangle 39"/>
          <p:cNvSpPr/>
          <p:nvPr/>
        </p:nvSpPr>
        <p:spPr>
          <a:xfrm>
            <a:off x="-731520" y="4050792"/>
            <a:ext cx="2148840" cy="1115568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Isosceles Triangle 40"/>
          <p:cNvSpPr/>
          <p:nvPr/>
        </p:nvSpPr>
        <p:spPr>
          <a:xfrm>
            <a:off x="777239" y="3849624"/>
            <a:ext cx="2148840" cy="1316736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Isosceles Triangle 41"/>
          <p:cNvSpPr/>
          <p:nvPr/>
        </p:nvSpPr>
        <p:spPr>
          <a:xfrm>
            <a:off x="2286000" y="4251960"/>
            <a:ext cx="2148840" cy="914400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Isosceles Triangle 42"/>
          <p:cNvSpPr/>
          <p:nvPr/>
        </p:nvSpPr>
        <p:spPr>
          <a:xfrm>
            <a:off x="3794759" y="4050792"/>
            <a:ext cx="2148840" cy="1115568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Isosceles Triangle 43"/>
          <p:cNvSpPr/>
          <p:nvPr/>
        </p:nvSpPr>
        <p:spPr>
          <a:xfrm>
            <a:off x="5303520" y="3849624"/>
            <a:ext cx="2148840" cy="1316736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Isosceles Triangle 44"/>
          <p:cNvSpPr/>
          <p:nvPr/>
        </p:nvSpPr>
        <p:spPr>
          <a:xfrm>
            <a:off x="6812280" y="4251960"/>
            <a:ext cx="2148840" cy="914400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Isosceles Triangle 45"/>
          <p:cNvSpPr/>
          <p:nvPr/>
        </p:nvSpPr>
        <p:spPr>
          <a:xfrm>
            <a:off x="8321039" y="4050792"/>
            <a:ext cx="2148840" cy="1115568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Isosceles Triangle 46"/>
          <p:cNvSpPr/>
          <p:nvPr/>
        </p:nvSpPr>
        <p:spPr>
          <a:xfrm>
            <a:off x="9829799" y="3849624"/>
            <a:ext cx="2148840" cy="1316736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Isosceles Triangle 47"/>
          <p:cNvSpPr/>
          <p:nvPr/>
        </p:nvSpPr>
        <p:spPr>
          <a:xfrm>
            <a:off x="11338559" y="4251960"/>
            <a:ext cx="2148840" cy="914400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Isosceles Triangle 48"/>
          <p:cNvSpPr/>
          <p:nvPr/>
        </p:nvSpPr>
        <p:spPr>
          <a:xfrm>
            <a:off x="-731520" y="4187952"/>
            <a:ext cx="2148840" cy="1316736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Isosceles Triangle 49"/>
          <p:cNvSpPr/>
          <p:nvPr/>
        </p:nvSpPr>
        <p:spPr>
          <a:xfrm>
            <a:off x="777239" y="4590288"/>
            <a:ext cx="2148840" cy="914400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Isosceles Triangle 50"/>
          <p:cNvSpPr/>
          <p:nvPr/>
        </p:nvSpPr>
        <p:spPr>
          <a:xfrm>
            <a:off x="2286000" y="4389120"/>
            <a:ext cx="2148840" cy="1115568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Isosceles Triangle 51"/>
          <p:cNvSpPr/>
          <p:nvPr/>
        </p:nvSpPr>
        <p:spPr>
          <a:xfrm>
            <a:off x="3794759" y="4187952"/>
            <a:ext cx="2148840" cy="1316736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Isosceles Triangle 52"/>
          <p:cNvSpPr/>
          <p:nvPr/>
        </p:nvSpPr>
        <p:spPr>
          <a:xfrm>
            <a:off x="5303520" y="4590288"/>
            <a:ext cx="2148840" cy="914400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Isosceles Triangle 53"/>
          <p:cNvSpPr/>
          <p:nvPr/>
        </p:nvSpPr>
        <p:spPr>
          <a:xfrm>
            <a:off x="6812280" y="4389120"/>
            <a:ext cx="2148840" cy="1115568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Isosceles Triangle 54"/>
          <p:cNvSpPr/>
          <p:nvPr/>
        </p:nvSpPr>
        <p:spPr>
          <a:xfrm>
            <a:off x="8321039" y="4187952"/>
            <a:ext cx="2148840" cy="1316736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Isosceles Triangle 55"/>
          <p:cNvSpPr/>
          <p:nvPr/>
        </p:nvSpPr>
        <p:spPr>
          <a:xfrm>
            <a:off x="9829799" y="4590288"/>
            <a:ext cx="2148840" cy="914400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Isosceles Triangle 56"/>
          <p:cNvSpPr/>
          <p:nvPr/>
        </p:nvSpPr>
        <p:spPr>
          <a:xfrm>
            <a:off x="11338559" y="4389120"/>
            <a:ext cx="2148840" cy="1115568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0" y="5715000"/>
            <a:ext cx="12188952" cy="0"/>
          </a:xfrm>
          <a:prstGeom prst="line">
            <a:avLst/>
          </a:prstGeom>
          <a:ln w="15240">
            <a:solidFill>
              <a:srgbClr val="0D4C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749808" y="347472"/>
            <a:ext cx="10698480" cy="6217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000" b="1">
                <a:solidFill>
                  <a:srgbClr val="23C8F6"/>
                </a:solidFill>
                <a:latin typeface="Noto Serif CJK SC"/>
              </a:rPr>
              <a:t>一套方案，做成 4 件事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9808" y="310896"/>
            <a:ext cx="10698480" cy="6217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000" b="1">
                <a:solidFill>
                  <a:srgbClr val="F7FBFF"/>
                </a:solidFill>
                <a:latin typeface="Noto Serif CJK SC"/>
              </a:rPr>
              <a:t>一套方案，做成 4 件事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2194560" y="960120"/>
            <a:ext cx="1508760" cy="0"/>
          </a:xfrm>
          <a:prstGeom prst="line">
            <a:avLst/>
          </a:prstGeom>
          <a:ln w="1397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8485632" y="960120"/>
            <a:ext cx="1508760" cy="0"/>
          </a:xfrm>
          <a:prstGeom prst="line">
            <a:avLst/>
          </a:prstGeom>
          <a:ln w="1397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1280160" y="950976"/>
            <a:ext cx="9601200" cy="34747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300" b="0">
                <a:solidFill>
                  <a:srgbClr val="A7C5D8"/>
                </a:solidFill>
                <a:latin typeface="Noto Sans CJK SC"/>
              </a:rPr>
              <a:t>从摸清家底，到科学决策，再到真实落地与长效机制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5800" y="2103120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01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485900" y="2262225"/>
            <a:ext cx="502920" cy="226314"/>
          </a:xfrm>
          <a:prstGeom prst="rect">
            <a:avLst/>
          </a:prstGeom>
          <a:solidFill>
            <a:srgbClr val="0A4164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Isosceles Triangle 65"/>
          <p:cNvSpPr/>
          <p:nvPr/>
        </p:nvSpPr>
        <p:spPr>
          <a:xfrm>
            <a:off x="1445666" y="2071116"/>
            <a:ext cx="583387" cy="261518"/>
          </a:xfrm>
          <a:prstGeom prst="triangle">
            <a:avLst/>
          </a:prstGeom>
          <a:solidFill>
            <a:srgbClr val="9EEBFF"/>
          </a:solidFill>
          <a:ln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687068" y="2347722"/>
            <a:ext cx="100584" cy="140817"/>
          </a:xfrm>
          <a:prstGeom prst="rect">
            <a:avLst/>
          </a:prstGeom>
          <a:solidFill>
            <a:srgbClr val="06182D"/>
          </a:solidFill>
          <a:ln w="762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194560" y="2103120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一库清底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194560" y="2542032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一房一档 / 状态可见 / 家底清楚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017520" y="3154680"/>
            <a:ext cx="54864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500" b="1">
                <a:solidFill>
                  <a:srgbClr val="23C8F6"/>
                </a:solidFill>
                <a:latin typeface="DejaVu Sans"/>
              </a:rPr>
              <a:t>››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429000" y="2103120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02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269333" y="2322576"/>
            <a:ext cx="85496" cy="125730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405122" y="2237079"/>
            <a:ext cx="85496" cy="211226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540910" y="2136495"/>
            <a:ext cx="85496" cy="311810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" name="Connector 74"/>
          <p:cNvCxnSpPr/>
          <p:nvPr/>
        </p:nvCxnSpPr>
        <p:spPr>
          <a:xfrm>
            <a:off x="4249216" y="2468422"/>
            <a:ext cx="472745" cy="0"/>
          </a:xfrm>
          <a:prstGeom prst="line">
            <a:avLst/>
          </a:prstGeom>
          <a:ln w="1270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4937760" y="2103120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双模决策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937760" y="2542032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健康评估 / 供需推演 / 投入更准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760720" y="3154680"/>
            <a:ext cx="54864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500" b="1">
                <a:solidFill>
                  <a:srgbClr val="23C8F6"/>
                </a:solidFill>
                <a:latin typeface="DejaVu Sans"/>
              </a:rPr>
              <a:t>››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172200" y="2103120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03</a:t>
            </a:r>
          </a:p>
        </p:txBody>
      </p:sp>
      <p:sp>
        <p:nvSpPr>
          <p:cNvPr id="80" name="Oval 79"/>
          <p:cNvSpPr/>
          <p:nvPr/>
        </p:nvSpPr>
        <p:spPr>
          <a:xfrm>
            <a:off x="7037679" y="2136495"/>
            <a:ext cx="372160" cy="372160"/>
          </a:xfrm>
          <a:prstGeom prst="ellipse">
            <a:avLst/>
          </a:prstGeom>
          <a:solidFill>
            <a:srgbClr val="0C4A70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7153351" y="2252167"/>
            <a:ext cx="140817" cy="140817"/>
          </a:xfrm>
          <a:prstGeom prst="ellipse">
            <a:avLst/>
          </a:prstGeom>
          <a:solidFill>
            <a:srgbClr val="06182D"/>
          </a:solidFill>
          <a:ln w="12700">
            <a:solidFill>
              <a:srgbClr val="9E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429957" y="2287371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359252" y="2458068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188555" y="2528773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017858" y="2458068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947154" y="2287371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017858" y="2116674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188555" y="2045969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359252" y="2116674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680960" y="2103120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三智落地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680960" y="2542032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智用 / 智投 / 智管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503920" y="3154680"/>
            <a:ext cx="54864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500" b="1">
                <a:solidFill>
                  <a:srgbClr val="23C8F6"/>
                </a:solidFill>
                <a:latin typeface="DejaVu Sans"/>
              </a:rPr>
              <a:t>››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915400" y="2103120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04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790938" y="2111349"/>
            <a:ext cx="352044" cy="422452"/>
          </a:xfrm>
          <a:prstGeom prst="rect">
            <a:avLst/>
          </a:prstGeom>
          <a:solidFill>
            <a:srgbClr val="0A4164"/>
          </a:solidFill>
          <a:ln w="12700">
            <a:solidFill>
              <a:srgbClr val="9E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5" name="Connector 94"/>
          <p:cNvCxnSpPr/>
          <p:nvPr/>
        </p:nvCxnSpPr>
        <p:spPr>
          <a:xfrm>
            <a:off x="9856317" y="2232050"/>
            <a:ext cx="221285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856317" y="2322576"/>
            <a:ext cx="221285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856317" y="2413101"/>
            <a:ext cx="221285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10424160" y="2103120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四队长效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424160" y="2542032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专班推进 / 维修服务 / 运营管护 / 基金保障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645920" y="5760720"/>
            <a:ext cx="8961120" cy="47548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800" b="1">
                <a:solidFill>
                  <a:srgbClr val="23C8F6"/>
                </a:solidFill>
                <a:latin typeface="Noto Sans CJK SC"/>
              </a:rPr>
              <a:t>把“看不清、修不及、投不准”，变成“看得见、管得住、投得准”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可编辑_深蓝背景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45919" y="960120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075688" y="1243584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505456" y="1527048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935224" y="1810512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364992" y="356616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794759" y="640080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224527" y="923544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654296" y="1207008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084064" y="1490472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13831" y="1773936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943600" y="320040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73368" y="603504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03136" y="886968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232903" y="1170432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62671" y="1453895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92440" y="1737360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522208" y="283464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951976" y="566928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381744" y="850392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811512" y="1133856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417320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671048" y="1700784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100815" y="246888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530584" y="530352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30352" y="813815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60119" y="1097280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89888" y="1380744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819655" y="1664208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Isosceles Triangle 30"/>
          <p:cNvSpPr/>
          <p:nvPr/>
        </p:nvSpPr>
        <p:spPr>
          <a:xfrm>
            <a:off x="-731520" y="3858768"/>
            <a:ext cx="2148840" cy="914400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Isosceles Triangle 31"/>
          <p:cNvSpPr/>
          <p:nvPr/>
        </p:nvSpPr>
        <p:spPr>
          <a:xfrm>
            <a:off x="777239" y="3657600"/>
            <a:ext cx="2148840" cy="1115568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sosceles Triangle 32"/>
          <p:cNvSpPr/>
          <p:nvPr/>
        </p:nvSpPr>
        <p:spPr>
          <a:xfrm>
            <a:off x="2286000" y="3456432"/>
            <a:ext cx="2148840" cy="1316736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sosceles Triangle 33"/>
          <p:cNvSpPr/>
          <p:nvPr/>
        </p:nvSpPr>
        <p:spPr>
          <a:xfrm>
            <a:off x="3794759" y="3858768"/>
            <a:ext cx="2148840" cy="914400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Isosceles Triangle 34"/>
          <p:cNvSpPr/>
          <p:nvPr/>
        </p:nvSpPr>
        <p:spPr>
          <a:xfrm>
            <a:off x="5303520" y="3657600"/>
            <a:ext cx="2148840" cy="1115568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sosceles Triangle 35"/>
          <p:cNvSpPr/>
          <p:nvPr/>
        </p:nvSpPr>
        <p:spPr>
          <a:xfrm>
            <a:off x="6812280" y="3456432"/>
            <a:ext cx="2148840" cy="1316736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sosceles Triangle 36"/>
          <p:cNvSpPr/>
          <p:nvPr/>
        </p:nvSpPr>
        <p:spPr>
          <a:xfrm>
            <a:off x="8321039" y="3858768"/>
            <a:ext cx="2148840" cy="914400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sosceles Triangle 37"/>
          <p:cNvSpPr/>
          <p:nvPr/>
        </p:nvSpPr>
        <p:spPr>
          <a:xfrm>
            <a:off x="9829799" y="3657600"/>
            <a:ext cx="2148840" cy="1115568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Isosceles Triangle 38"/>
          <p:cNvSpPr/>
          <p:nvPr/>
        </p:nvSpPr>
        <p:spPr>
          <a:xfrm>
            <a:off x="11338559" y="3456432"/>
            <a:ext cx="2148840" cy="1316736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Isosceles Triangle 39"/>
          <p:cNvSpPr/>
          <p:nvPr/>
        </p:nvSpPr>
        <p:spPr>
          <a:xfrm>
            <a:off x="-731520" y="4050792"/>
            <a:ext cx="2148840" cy="1115568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Isosceles Triangle 40"/>
          <p:cNvSpPr/>
          <p:nvPr/>
        </p:nvSpPr>
        <p:spPr>
          <a:xfrm>
            <a:off x="777239" y="3849624"/>
            <a:ext cx="2148840" cy="1316736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Isosceles Triangle 41"/>
          <p:cNvSpPr/>
          <p:nvPr/>
        </p:nvSpPr>
        <p:spPr>
          <a:xfrm>
            <a:off x="2286000" y="4251960"/>
            <a:ext cx="2148840" cy="914400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Isosceles Triangle 42"/>
          <p:cNvSpPr/>
          <p:nvPr/>
        </p:nvSpPr>
        <p:spPr>
          <a:xfrm>
            <a:off x="3794759" y="4050792"/>
            <a:ext cx="2148840" cy="1115568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Isosceles Triangle 43"/>
          <p:cNvSpPr/>
          <p:nvPr/>
        </p:nvSpPr>
        <p:spPr>
          <a:xfrm>
            <a:off x="5303520" y="3849624"/>
            <a:ext cx="2148840" cy="1316736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Isosceles Triangle 44"/>
          <p:cNvSpPr/>
          <p:nvPr/>
        </p:nvSpPr>
        <p:spPr>
          <a:xfrm>
            <a:off x="6812280" y="4251960"/>
            <a:ext cx="2148840" cy="914400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Isosceles Triangle 45"/>
          <p:cNvSpPr/>
          <p:nvPr/>
        </p:nvSpPr>
        <p:spPr>
          <a:xfrm>
            <a:off x="8321039" y="4050792"/>
            <a:ext cx="2148840" cy="1115568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Isosceles Triangle 46"/>
          <p:cNvSpPr/>
          <p:nvPr/>
        </p:nvSpPr>
        <p:spPr>
          <a:xfrm>
            <a:off x="9829799" y="3849624"/>
            <a:ext cx="2148840" cy="1316736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Isosceles Triangle 47"/>
          <p:cNvSpPr/>
          <p:nvPr/>
        </p:nvSpPr>
        <p:spPr>
          <a:xfrm>
            <a:off x="11338559" y="4251960"/>
            <a:ext cx="2148840" cy="914400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Isosceles Triangle 48"/>
          <p:cNvSpPr/>
          <p:nvPr/>
        </p:nvSpPr>
        <p:spPr>
          <a:xfrm>
            <a:off x="-731520" y="4187952"/>
            <a:ext cx="2148840" cy="1316736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Isosceles Triangle 49"/>
          <p:cNvSpPr/>
          <p:nvPr/>
        </p:nvSpPr>
        <p:spPr>
          <a:xfrm>
            <a:off x="777239" y="4590288"/>
            <a:ext cx="2148840" cy="914400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Isosceles Triangle 50"/>
          <p:cNvSpPr/>
          <p:nvPr/>
        </p:nvSpPr>
        <p:spPr>
          <a:xfrm>
            <a:off x="2286000" y="4389120"/>
            <a:ext cx="2148840" cy="1115568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Isosceles Triangle 51"/>
          <p:cNvSpPr/>
          <p:nvPr/>
        </p:nvSpPr>
        <p:spPr>
          <a:xfrm>
            <a:off x="3794759" y="4187952"/>
            <a:ext cx="2148840" cy="1316736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Isosceles Triangle 52"/>
          <p:cNvSpPr/>
          <p:nvPr/>
        </p:nvSpPr>
        <p:spPr>
          <a:xfrm>
            <a:off x="5303520" y="4590288"/>
            <a:ext cx="2148840" cy="914400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Isosceles Triangle 53"/>
          <p:cNvSpPr/>
          <p:nvPr/>
        </p:nvSpPr>
        <p:spPr>
          <a:xfrm>
            <a:off x="6812280" y="4389120"/>
            <a:ext cx="2148840" cy="1115568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Isosceles Triangle 54"/>
          <p:cNvSpPr/>
          <p:nvPr/>
        </p:nvSpPr>
        <p:spPr>
          <a:xfrm>
            <a:off x="8321039" y="4187952"/>
            <a:ext cx="2148840" cy="1316736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Isosceles Triangle 55"/>
          <p:cNvSpPr/>
          <p:nvPr/>
        </p:nvSpPr>
        <p:spPr>
          <a:xfrm>
            <a:off x="9829799" y="4590288"/>
            <a:ext cx="2148840" cy="914400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Isosceles Triangle 56"/>
          <p:cNvSpPr/>
          <p:nvPr/>
        </p:nvSpPr>
        <p:spPr>
          <a:xfrm>
            <a:off x="11338559" y="4389120"/>
            <a:ext cx="2148840" cy="1115568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0" y="5715000"/>
            <a:ext cx="12188952" cy="0"/>
          </a:xfrm>
          <a:prstGeom prst="line">
            <a:avLst/>
          </a:prstGeom>
          <a:ln w="15240">
            <a:solidFill>
              <a:srgbClr val="0D4C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749808" y="347472"/>
            <a:ext cx="10698480" cy="6217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000" b="1">
                <a:solidFill>
                  <a:srgbClr val="23C8F6"/>
                </a:solidFill>
                <a:latin typeface="Noto Serif CJK SC"/>
              </a:rPr>
              <a:t>一库清底：先把家底摸清楚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9808" y="310896"/>
            <a:ext cx="10698480" cy="6217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000" b="1">
                <a:solidFill>
                  <a:srgbClr val="F7FBFF"/>
                </a:solidFill>
                <a:latin typeface="Noto Serif CJK SC"/>
              </a:rPr>
              <a:t>一库清底：先把家底摸清楚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2194560" y="960120"/>
            <a:ext cx="1508760" cy="0"/>
          </a:xfrm>
          <a:prstGeom prst="line">
            <a:avLst/>
          </a:prstGeom>
          <a:ln w="1397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8485632" y="960120"/>
            <a:ext cx="1508760" cy="0"/>
          </a:xfrm>
          <a:prstGeom prst="line">
            <a:avLst/>
          </a:prstGeom>
          <a:ln w="1397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1280160" y="950976"/>
            <a:ext cx="9601200" cy="34747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300" b="0">
                <a:solidFill>
                  <a:srgbClr val="A7C5D8"/>
                </a:solidFill>
                <a:latin typeface="Noto Sans CJK SC"/>
              </a:rPr>
              <a:t>4大模块 · 18个关键部件 · 一房一档 · 动态更新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4400" y="1691640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01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789938" y="1699869"/>
            <a:ext cx="352044" cy="422452"/>
          </a:xfrm>
          <a:prstGeom prst="rect">
            <a:avLst/>
          </a:prstGeom>
          <a:solidFill>
            <a:srgbClr val="0A4164"/>
          </a:solidFill>
          <a:ln w="12700">
            <a:solidFill>
              <a:srgbClr val="9E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" name="Connector 65"/>
          <p:cNvCxnSpPr/>
          <p:nvPr/>
        </p:nvCxnSpPr>
        <p:spPr>
          <a:xfrm>
            <a:off x="1855317" y="1820570"/>
            <a:ext cx="221285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1855317" y="1911095"/>
            <a:ext cx="221285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1855317" y="2001621"/>
            <a:ext cx="221285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2423160" y="1691640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现场采集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423160" y="2130552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位置 / 容量 / 状态 / 设备 / 使用情况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657600" y="2423160"/>
            <a:ext cx="54864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500" b="1">
                <a:solidFill>
                  <a:srgbClr val="23C8F6"/>
                </a:solidFill>
                <a:latin typeface="DejaVu Sans"/>
              </a:rPr>
              <a:t>››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572000" y="1691640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02</a:t>
            </a:r>
          </a:p>
        </p:txBody>
      </p:sp>
      <p:sp>
        <p:nvSpPr>
          <p:cNvPr id="73" name="Oval 72"/>
          <p:cNvSpPr/>
          <p:nvPr/>
        </p:nvSpPr>
        <p:spPr>
          <a:xfrm>
            <a:off x="5437479" y="1725015"/>
            <a:ext cx="372160" cy="372160"/>
          </a:xfrm>
          <a:prstGeom prst="ellipse">
            <a:avLst/>
          </a:prstGeom>
          <a:solidFill>
            <a:srgbClr val="0C4A70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5553151" y="1840687"/>
            <a:ext cx="140817" cy="140817"/>
          </a:xfrm>
          <a:prstGeom prst="ellipse">
            <a:avLst/>
          </a:prstGeom>
          <a:solidFill>
            <a:srgbClr val="06182D"/>
          </a:solidFill>
          <a:ln w="12700">
            <a:solidFill>
              <a:srgbClr val="9E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5829757" y="1875891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5759052" y="2046588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5588355" y="2117293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5417658" y="2046588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5346954" y="1875891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5417658" y="1705194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5588355" y="1634489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5759052" y="1705194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080760" y="1691640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标准判定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080760" y="2130552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正常 / 损坏 / 缺失 · 优良 / 一般 / 较差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15200" y="2423160"/>
            <a:ext cx="54864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500" b="1">
                <a:solidFill>
                  <a:srgbClr val="23C8F6"/>
                </a:solidFill>
                <a:latin typeface="DejaVu Sans"/>
              </a:rPr>
              <a:t>››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229600" y="1691640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03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029700" y="1850745"/>
            <a:ext cx="502920" cy="226314"/>
          </a:xfrm>
          <a:prstGeom prst="rect">
            <a:avLst/>
          </a:prstGeom>
          <a:solidFill>
            <a:srgbClr val="0A4164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Isosceles Triangle 87"/>
          <p:cNvSpPr/>
          <p:nvPr/>
        </p:nvSpPr>
        <p:spPr>
          <a:xfrm>
            <a:off x="8989466" y="1659636"/>
            <a:ext cx="583387" cy="261518"/>
          </a:xfrm>
          <a:prstGeom prst="triangle">
            <a:avLst/>
          </a:prstGeom>
          <a:solidFill>
            <a:srgbClr val="9EEBFF"/>
          </a:solidFill>
          <a:ln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9230868" y="1936241"/>
            <a:ext cx="100584" cy="140817"/>
          </a:xfrm>
          <a:prstGeom prst="rect">
            <a:avLst/>
          </a:prstGeom>
          <a:solidFill>
            <a:srgbClr val="06182D"/>
          </a:solidFill>
          <a:ln w="762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738360" y="1691640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一房一档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738360" y="2130552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基础信息 / 维修记录 / 用户评价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903720" y="3794760"/>
            <a:ext cx="448056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100" b="1">
                <a:solidFill>
                  <a:srgbClr val="F5D071"/>
                </a:solidFill>
                <a:latin typeface="Noto Sans CJK SC"/>
              </a:rPr>
              <a:t>真实系统证据位：替换为“一房一档”后台/小程序截图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7315200" y="4224528"/>
            <a:ext cx="3657600" cy="1005840"/>
          </a:xfrm>
          <a:prstGeom prst="roundRect">
            <a:avLst/>
          </a:prstGeom>
          <a:solidFill>
            <a:srgbClr val="0A2D4C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498079" y="4416552"/>
            <a:ext cx="3291840" cy="51206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200" b="1">
                <a:solidFill>
                  <a:srgbClr val="F7FBFF"/>
                </a:solidFill>
                <a:latin typeface="Noto Sans CJK SC"/>
              </a:rPr>
              <a:t>一房一档｜基础信息｜部件状态｜维修记录｜评价</a:t>
            </a:r>
          </a:p>
        </p:txBody>
      </p:sp>
      <p:sp>
        <p:nvSpPr>
          <p:cNvPr id="95" name="Oval 94"/>
          <p:cNvSpPr/>
          <p:nvPr/>
        </p:nvSpPr>
        <p:spPr>
          <a:xfrm>
            <a:off x="1828800" y="4343400"/>
            <a:ext cx="146304" cy="146304"/>
          </a:xfrm>
          <a:prstGeom prst="ellipse">
            <a:avLst/>
          </a:prstGeom>
          <a:solidFill>
            <a:srgbClr val="55E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2468880" y="4663440"/>
            <a:ext cx="146304" cy="146304"/>
          </a:xfrm>
          <a:prstGeom prst="ellipse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3063240" y="4251960"/>
            <a:ext cx="146304" cy="146304"/>
          </a:xfrm>
          <a:prstGeom prst="ellipse">
            <a:avLst/>
          </a:prstGeom>
          <a:solidFill>
            <a:srgbClr val="FF7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3703320" y="4754880"/>
            <a:ext cx="146304" cy="146304"/>
          </a:xfrm>
          <a:prstGeom prst="ellipse">
            <a:avLst/>
          </a:prstGeom>
          <a:solidFill>
            <a:srgbClr val="55E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4434840" y="4434840"/>
            <a:ext cx="146304" cy="146304"/>
          </a:xfrm>
          <a:prstGeom prst="ellipse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4983480" y="4892040"/>
            <a:ext cx="146304" cy="146304"/>
          </a:xfrm>
          <a:prstGeom prst="ellipse">
            <a:avLst/>
          </a:prstGeom>
          <a:solidFill>
            <a:srgbClr val="F5D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1" name="Connector 100"/>
          <p:cNvCxnSpPr/>
          <p:nvPr/>
        </p:nvCxnSpPr>
        <p:spPr>
          <a:xfrm flipV="1">
            <a:off x="1828800" y="4572000"/>
            <a:ext cx="3840480" cy="731520"/>
          </a:xfrm>
          <a:prstGeom prst="line">
            <a:avLst/>
          </a:prstGeom>
          <a:ln w="12700">
            <a:solidFill>
              <a:srgbClr val="1656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/>
          <p:cNvSpPr txBox="1"/>
          <p:nvPr/>
        </p:nvSpPr>
        <p:spPr>
          <a:xfrm>
            <a:off x="1371600" y="5806440"/>
            <a:ext cx="9418320" cy="4572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700" b="1">
                <a:solidFill>
                  <a:srgbClr val="23C8F6"/>
                </a:solidFill>
                <a:latin typeface="Noto Sans CJK SC"/>
              </a:rPr>
              <a:t>结果：空闲房在哪、故障房是谁、可用能力有多少，一眼看清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可编辑_深蓝背景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911095" y="1115568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340864" y="1399032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770632" y="1682495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200400" y="228600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630168" y="512064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059935" y="795528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89703" y="1078992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919472" y="1362456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349240" y="1645920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779007" y="192024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208776" y="475488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638544" y="758952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068312" y="1042415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498079" y="1325880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927848" y="1609344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357615" y="1892808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787384" y="438912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217152" y="722376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46919" y="1005840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076688" y="1289304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506456" y="1572768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936224" y="1856232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365992" y="402336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65759" y="685800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5528" y="969264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225295" y="1252728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655064" y="1536192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084831" y="1819656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Isosceles Triangle 30"/>
          <p:cNvSpPr/>
          <p:nvPr/>
        </p:nvSpPr>
        <p:spPr>
          <a:xfrm>
            <a:off x="-731520" y="3858768"/>
            <a:ext cx="2148840" cy="914400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Isosceles Triangle 31"/>
          <p:cNvSpPr/>
          <p:nvPr/>
        </p:nvSpPr>
        <p:spPr>
          <a:xfrm>
            <a:off x="777239" y="3657600"/>
            <a:ext cx="2148840" cy="1115568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sosceles Triangle 32"/>
          <p:cNvSpPr/>
          <p:nvPr/>
        </p:nvSpPr>
        <p:spPr>
          <a:xfrm>
            <a:off x="2286000" y="3456432"/>
            <a:ext cx="2148840" cy="1316736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sosceles Triangle 33"/>
          <p:cNvSpPr/>
          <p:nvPr/>
        </p:nvSpPr>
        <p:spPr>
          <a:xfrm>
            <a:off x="3794759" y="3858768"/>
            <a:ext cx="2148840" cy="914400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Isosceles Triangle 34"/>
          <p:cNvSpPr/>
          <p:nvPr/>
        </p:nvSpPr>
        <p:spPr>
          <a:xfrm>
            <a:off x="5303520" y="3657600"/>
            <a:ext cx="2148840" cy="1115568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sosceles Triangle 35"/>
          <p:cNvSpPr/>
          <p:nvPr/>
        </p:nvSpPr>
        <p:spPr>
          <a:xfrm>
            <a:off x="6812280" y="3456432"/>
            <a:ext cx="2148840" cy="1316736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sosceles Triangle 36"/>
          <p:cNvSpPr/>
          <p:nvPr/>
        </p:nvSpPr>
        <p:spPr>
          <a:xfrm>
            <a:off x="8321039" y="3858768"/>
            <a:ext cx="2148840" cy="914400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sosceles Triangle 37"/>
          <p:cNvSpPr/>
          <p:nvPr/>
        </p:nvSpPr>
        <p:spPr>
          <a:xfrm>
            <a:off x="9829799" y="3657600"/>
            <a:ext cx="2148840" cy="1115568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Isosceles Triangle 38"/>
          <p:cNvSpPr/>
          <p:nvPr/>
        </p:nvSpPr>
        <p:spPr>
          <a:xfrm>
            <a:off x="11338559" y="3456432"/>
            <a:ext cx="2148840" cy="1316736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Isosceles Triangle 39"/>
          <p:cNvSpPr/>
          <p:nvPr/>
        </p:nvSpPr>
        <p:spPr>
          <a:xfrm>
            <a:off x="-731520" y="4050792"/>
            <a:ext cx="2148840" cy="1115568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Isosceles Triangle 40"/>
          <p:cNvSpPr/>
          <p:nvPr/>
        </p:nvSpPr>
        <p:spPr>
          <a:xfrm>
            <a:off x="777239" y="3849624"/>
            <a:ext cx="2148840" cy="1316736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Isosceles Triangle 41"/>
          <p:cNvSpPr/>
          <p:nvPr/>
        </p:nvSpPr>
        <p:spPr>
          <a:xfrm>
            <a:off x="2286000" y="4251960"/>
            <a:ext cx="2148840" cy="914400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Isosceles Triangle 42"/>
          <p:cNvSpPr/>
          <p:nvPr/>
        </p:nvSpPr>
        <p:spPr>
          <a:xfrm>
            <a:off x="3794759" y="4050792"/>
            <a:ext cx="2148840" cy="1115568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Isosceles Triangle 43"/>
          <p:cNvSpPr/>
          <p:nvPr/>
        </p:nvSpPr>
        <p:spPr>
          <a:xfrm>
            <a:off x="5303520" y="3849624"/>
            <a:ext cx="2148840" cy="1316736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Isosceles Triangle 44"/>
          <p:cNvSpPr/>
          <p:nvPr/>
        </p:nvSpPr>
        <p:spPr>
          <a:xfrm>
            <a:off x="6812280" y="4251960"/>
            <a:ext cx="2148840" cy="914400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Isosceles Triangle 45"/>
          <p:cNvSpPr/>
          <p:nvPr/>
        </p:nvSpPr>
        <p:spPr>
          <a:xfrm>
            <a:off x="8321039" y="4050792"/>
            <a:ext cx="2148840" cy="1115568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Isosceles Triangle 46"/>
          <p:cNvSpPr/>
          <p:nvPr/>
        </p:nvSpPr>
        <p:spPr>
          <a:xfrm>
            <a:off x="9829799" y="3849624"/>
            <a:ext cx="2148840" cy="1316736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Isosceles Triangle 47"/>
          <p:cNvSpPr/>
          <p:nvPr/>
        </p:nvSpPr>
        <p:spPr>
          <a:xfrm>
            <a:off x="11338559" y="4251960"/>
            <a:ext cx="2148840" cy="914400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Isosceles Triangle 48"/>
          <p:cNvSpPr/>
          <p:nvPr/>
        </p:nvSpPr>
        <p:spPr>
          <a:xfrm>
            <a:off x="-731520" y="4187952"/>
            <a:ext cx="2148840" cy="1316736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Isosceles Triangle 49"/>
          <p:cNvSpPr/>
          <p:nvPr/>
        </p:nvSpPr>
        <p:spPr>
          <a:xfrm>
            <a:off x="777239" y="4590288"/>
            <a:ext cx="2148840" cy="914400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Isosceles Triangle 50"/>
          <p:cNvSpPr/>
          <p:nvPr/>
        </p:nvSpPr>
        <p:spPr>
          <a:xfrm>
            <a:off x="2286000" y="4389120"/>
            <a:ext cx="2148840" cy="1115568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Isosceles Triangle 51"/>
          <p:cNvSpPr/>
          <p:nvPr/>
        </p:nvSpPr>
        <p:spPr>
          <a:xfrm>
            <a:off x="3794759" y="4187952"/>
            <a:ext cx="2148840" cy="1316736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Isosceles Triangle 52"/>
          <p:cNvSpPr/>
          <p:nvPr/>
        </p:nvSpPr>
        <p:spPr>
          <a:xfrm>
            <a:off x="5303520" y="4590288"/>
            <a:ext cx="2148840" cy="914400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Isosceles Triangle 53"/>
          <p:cNvSpPr/>
          <p:nvPr/>
        </p:nvSpPr>
        <p:spPr>
          <a:xfrm>
            <a:off x="6812280" y="4389120"/>
            <a:ext cx="2148840" cy="1115568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Isosceles Triangle 54"/>
          <p:cNvSpPr/>
          <p:nvPr/>
        </p:nvSpPr>
        <p:spPr>
          <a:xfrm>
            <a:off x="8321039" y="4187952"/>
            <a:ext cx="2148840" cy="1316736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Isosceles Triangle 55"/>
          <p:cNvSpPr/>
          <p:nvPr/>
        </p:nvSpPr>
        <p:spPr>
          <a:xfrm>
            <a:off x="9829799" y="4590288"/>
            <a:ext cx="2148840" cy="914400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Isosceles Triangle 56"/>
          <p:cNvSpPr/>
          <p:nvPr/>
        </p:nvSpPr>
        <p:spPr>
          <a:xfrm>
            <a:off x="11338559" y="4389120"/>
            <a:ext cx="2148840" cy="1115568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0" y="5715000"/>
            <a:ext cx="12188952" cy="0"/>
          </a:xfrm>
          <a:prstGeom prst="line">
            <a:avLst/>
          </a:prstGeom>
          <a:ln w="15240">
            <a:solidFill>
              <a:srgbClr val="0D4C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749808" y="347472"/>
            <a:ext cx="10698480" cy="6217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000" b="1">
                <a:solidFill>
                  <a:srgbClr val="23C8F6"/>
                </a:solidFill>
                <a:latin typeface="Noto Serif CJK SC"/>
              </a:rPr>
              <a:t>模型① 烤房健康评估：从打分到估寿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9808" y="310896"/>
            <a:ext cx="10698480" cy="6217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000" b="1">
                <a:solidFill>
                  <a:srgbClr val="F7FBFF"/>
                </a:solidFill>
                <a:latin typeface="Noto Serif CJK SC"/>
              </a:rPr>
              <a:t>模型① 烤房健康评估：从打分到估寿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2194560" y="960120"/>
            <a:ext cx="1508760" cy="0"/>
          </a:xfrm>
          <a:prstGeom prst="line">
            <a:avLst/>
          </a:prstGeom>
          <a:ln w="1397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8485632" y="960120"/>
            <a:ext cx="1508760" cy="0"/>
          </a:xfrm>
          <a:prstGeom prst="line">
            <a:avLst/>
          </a:prstGeom>
          <a:ln w="1397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1280160" y="950976"/>
            <a:ext cx="9601200" cy="34747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300" b="0">
                <a:solidFill>
                  <a:srgbClr val="A7C5D8"/>
                </a:solidFill>
                <a:latin typeface="Noto Sans CJK SC"/>
              </a:rPr>
              <a:t>不是给一座烤房一个分数，而是判断还能用多久、哪里先修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4360" y="1463040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01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469898" y="1471269"/>
            <a:ext cx="352044" cy="422452"/>
          </a:xfrm>
          <a:prstGeom prst="rect">
            <a:avLst/>
          </a:prstGeom>
          <a:solidFill>
            <a:srgbClr val="0A4164"/>
          </a:solidFill>
          <a:ln w="12700">
            <a:solidFill>
              <a:srgbClr val="9E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" name="Connector 65"/>
          <p:cNvCxnSpPr/>
          <p:nvPr/>
        </p:nvCxnSpPr>
        <p:spPr>
          <a:xfrm>
            <a:off x="1535277" y="1591970"/>
            <a:ext cx="221285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1535277" y="1682496"/>
            <a:ext cx="221285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1535277" y="1773021"/>
            <a:ext cx="221285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2103120" y="1463040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状态标准化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103120" y="1901952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4大模块 / 18部件 / 指标归一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206240" y="1463040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02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046573" y="1682496"/>
            <a:ext cx="85496" cy="125730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182362" y="1596999"/>
            <a:ext cx="85496" cy="211226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318150" y="1496415"/>
            <a:ext cx="85496" cy="311810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" name="Connector 74"/>
          <p:cNvCxnSpPr/>
          <p:nvPr/>
        </p:nvCxnSpPr>
        <p:spPr>
          <a:xfrm>
            <a:off x="5026456" y="1828342"/>
            <a:ext cx="472745" cy="0"/>
          </a:xfrm>
          <a:prstGeom prst="line">
            <a:avLst/>
          </a:prstGeom>
          <a:ln w="1270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5715000" y="1463040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AHP组合评分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715000" y="1901952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部件状态80% / 管护10% / 现场10%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818120" y="1463040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03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658453" y="1682496"/>
            <a:ext cx="85496" cy="125730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794242" y="1596999"/>
            <a:ext cx="85496" cy="211226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8930030" y="1496415"/>
            <a:ext cx="85496" cy="311810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2" name="Connector 81"/>
          <p:cNvCxnSpPr/>
          <p:nvPr/>
        </p:nvCxnSpPr>
        <p:spPr>
          <a:xfrm>
            <a:off x="8638336" y="1828342"/>
            <a:ext cx="472745" cy="0"/>
          </a:xfrm>
          <a:prstGeom prst="line">
            <a:avLst/>
          </a:prstGeom>
          <a:ln w="1270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9326880" y="1463040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寿命与风险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326880" y="1901952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60分预警线 / 风险部位 / 维修优先序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429000" y="1965960"/>
            <a:ext cx="54864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500" b="1">
                <a:solidFill>
                  <a:srgbClr val="23C8F6"/>
                </a:solidFill>
                <a:latin typeface="DejaVu Sans"/>
              </a:rPr>
              <a:t>››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040880" y="1965960"/>
            <a:ext cx="54864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500" b="1">
                <a:solidFill>
                  <a:srgbClr val="23C8F6"/>
                </a:solidFill>
                <a:latin typeface="DejaVu Sans"/>
              </a:rPr>
              <a:t>››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668780" y="4023359"/>
            <a:ext cx="1143000" cy="514350"/>
          </a:xfrm>
          <a:prstGeom prst="rect">
            <a:avLst/>
          </a:prstGeom>
          <a:solidFill>
            <a:srgbClr val="0A4164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Isosceles Triangle 87"/>
          <p:cNvSpPr/>
          <p:nvPr/>
        </p:nvSpPr>
        <p:spPr>
          <a:xfrm>
            <a:off x="1577340" y="3589020"/>
            <a:ext cx="1325880" cy="594360"/>
          </a:xfrm>
          <a:prstGeom prst="triangle">
            <a:avLst/>
          </a:prstGeom>
          <a:solidFill>
            <a:srgbClr val="9EEBFF"/>
          </a:solidFill>
          <a:ln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2125980" y="4217670"/>
            <a:ext cx="228600" cy="320040"/>
          </a:xfrm>
          <a:prstGeom prst="rect">
            <a:avLst/>
          </a:prstGeom>
          <a:solidFill>
            <a:srgbClr val="06182D"/>
          </a:solidFill>
          <a:ln w="762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0" name="Connector 89"/>
          <p:cNvCxnSpPr/>
          <p:nvPr/>
        </p:nvCxnSpPr>
        <p:spPr>
          <a:xfrm>
            <a:off x="6080760" y="3722065"/>
            <a:ext cx="300523" cy="173507"/>
          </a:xfrm>
          <a:prstGeom prst="line">
            <a:avLst/>
          </a:prstGeom>
          <a:ln w="8890">
            <a:solidFill>
              <a:srgbClr val="2E7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6381283" y="3895572"/>
            <a:ext cx="0" cy="347015"/>
          </a:xfrm>
          <a:prstGeom prst="line">
            <a:avLst/>
          </a:prstGeom>
          <a:ln w="8890">
            <a:solidFill>
              <a:srgbClr val="2E7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H="1">
            <a:off x="6080760" y="4242587"/>
            <a:ext cx="300523" cy="173507"/>
          </a:xfrm>
          <a:prstGeom prst="line">
            <a:avLst/>
          </a:prstGeom>
          <a:ln w="8890">
            <a:solidFill>
              <a:srgbClr val="2E7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H="1" flipV="1">
            <a:off x="5780236" y="4242587"/>
            <a:ext cx="300524" cy="173507"/>
          </a:xfrm>
          <a:prstGeom prst="line">
            <a:avLst/>
          </a:prstGeom>
          <a:ln w="8890">
            <a:solidFill>
              <a:srgbClr val="2E7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5780236" y="3895572"/>
            <a:ext cx="0" cy="347015"/>
          </a:xfrm>
          <a:prstGeom prst="line">
            <a:avLst/>
          </a:prstGeom>
          <a:ln w="8890">
            <a:solidFill>
              <a:srgbClr val="2E7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5780236" y="3722065"/>
            <a:ext cx="300524" cy="173507"/>
          </a:xfrm>
          <a:prstGeom prst="line">
            <a:avLst/>
          </a:prstGeom>
          <a:ln w="8890">
            <a:solidFill>
              <a:srgbClr val="2E7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6080760" y="3375050"/>
            <a:ext cx="601047" cy="347015"/>
          </a:xfrm>
          <a:prstGeom prst="line">
            <a:avLst/>
          </a:prstGeom>
          <a:ln w="8890">
            <a:solidFill>
              <a:srgbClr val="2E7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6681807" y="3722065"/>
            <a:ext cx="0" cy="694029"/>
          </a:xfrm>
          <a:prstGeom prst="line">
            <a:avLst/>
          </a:prstGeom>
          <a:ln w="8890">
            <a:solidFill>
              <a:srgbClr val="2E7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H="1">
            <a:off x="6080760" y="4416094"/>
            <a:ext cx="601047" cy="347015"/>
          </a:xfrm>
          <a:prstGeom prst="line">
            <a:avLst/>
          </a:prstGeom>
          <a:ln w="8890">
            <a:solidFill>
              <a:srgbClr val="2E7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H="1" flipV="1">
            <a:off x="5479712" y="4416094"/>
            <a:ext cx="601048" cy="347015"/>
          </a:xfrm>
          <a:prstGeom prst="line">
            <a:avLst/>
          </a:prstGeom>
          <a:ln w="8890">
            <a:solidFill>
              <a:srgbClr val="2E7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5479712" y="3722065"/>
            <a:ext cx="0" cy="694029"/>
          </a:xfrm>
          <a:prstGeom prst="line">
            <a:avLst/>
          </a:prstGeom>
          <a:ln w="8890">
            <a:solidFill>
              <a:srgbClr val="2E7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5479712" y="3375050"/>
            <a:ext cx="601048" cy="347015"/>
          </a:xfrm>
          <a:prstGeom prst="line">
            <a:avLst/>
          </a:prstGeom>
          <a:ln w="8890">
            <a:solidFill>
              <a:srgbClr val="2E7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6080760" y="3017520"/>
            <a:ext cx="910677" cy="525780"/>
          </a:xfrm>
          <a:prstGeom prst="line">
            <a:avLst/>
          </a:prstGeom>
          <a:ln w="8890">
            <a:solidFill>
              <a:srgbClr val="2E7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6991437" y="3543300"/>
            <a:ext cx="0" cy="1051560"/>
          </a:xfrm>
          <a:prstGeom prst="line">
            <a:avLst/>
          </a:prstGeom>
          <a:ln w="8890">
            <a:solidFill>
              <a:srgbClr val="2E7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H="1">
            <a:off x="6080760" y="4594860"/>
            <a:ext cx="910677" cy="525780"/>
          </a:xfrm>
          <a:prstGeom prst="line">
            <a:avLst/>
          </a:prstGeom>
          <a:ln w="8890">
            <a:solidFill>
              <a:srgbClr val="2E7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H="1" flipV="1">
            <a:off x="5170082" y="4594860"/>
            <a:ext cx="910678" cy="525780"/>
          </a:xfrm>
          <a:prstGeom prst="line">
            <a:avLst/>
          </a:prstGeom>
          <a:ln w="8890">
            <a:solidFill>
              <a:srgbClr val="2E7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5170082" y="3543300"/>
            <a:ext cx="0" cy="1051560"/>
          </a:xfrm>
          <a:prstGeom prst="line">
            <a:avLst/>
          </a:prstGeom>
          <a:ln w="8890">
            <a:solidFill>
              <a:srgbClr val="2E7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5170082" y="3017520"/>
            <a:ext cx="910678" cy="525780"/>
          </a:xfrm>
          <a:prstGeom prst="line">
            <a:avLst/>
          </a:prstGeom>
          <a:ln w="8890">
            <a:solidFill>
              <a:srgbClr val="2E7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6080760" y="3017520"/>
            <a:ext cx="0" cy="1051560"/>
          </a:xfrm>
          <a:prstGeom prst="line">
            <a:avLst/>
          </a:prstGeom>
          <a:ln w="7620">
            <a:solidFill>
              <a:srgbClr val="2E7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6080760" y="3543300"/>
            <a:ext cx="910677" cy="525780"/>
          </a:xfrm>
          <a:prstGeom prst="line">
            <a:avLst/>
          </a:prstGeom>
          <a:ln w="7620">
            <a:solidFill>
              <a:srgbClr val="2E7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6080760" y="4069080"/>
            <a:ext cx="910677" cy="525780"/>
          </a:xfrm>
          <a:prstGeom prst="line">
            <a:avLst/>
          </a:prstGeom>
          <a:ln w="7620">
            <a:solidFill>
              <a:srgbClr val="2E7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6080760" y="4069080"/>
            <a:ext cx="0" cy="1051560"/>
          </a:xfrm>
          <a:prstGeom prst="line">
            <a:avLst/>
          </a:prstGeom>
          <a:ln w="7620">
            <a:solidFill>
              <a:srgbClr val="2E7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H="1">
            <a:off x="5170082" y="4069080"/>
            <a:ext cx="910678" cy="525780"/>
          </a:xfrm>
          <a:prstGeom prst="line">
            <a:avLst/>
          </a:prstGeom>
          <a:ln w="7620">
            <a:solidFill>
              <a:srgbClr val="2E7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H="1" flipV="1">
            <a:off x="5170082" y="3543300"/>
            <a:ext cx="910678" cy="525780"/>
          </a:xfrm>
          <a:prstGeom prst="line">
            <a:avLst/>
          </a:prstGeom>
          <a:ln w="7620">
            <a:solidFill>
              <a:srgbClr val="2E7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6080760" y="3311956"/>
            <a:ext cx="500872" cy="467945"/>
          </a:xfrm>
          <a:prstGeom prst="line">
            <a:avLst/>
          </a:prstGeom>
          <a:ln w="2286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6581632" y="3779901"/>
            <a:ext cx="245883" cy="720318"/>
          </a:xfrm>
          <a:prstGeom prst="line">
            <a:avLst/>
          </a:prstGeom>
          <a:ln w="2286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H="1">
            <a:off x="6080760" y="4500219"/>
            <a:ext cx="746755" cy="73609"/>
          </a:xfrm>
          <a:prstGeom prst="line">
            <a:avLst/>
          </a:prstGeom>
          <a:ln w="2286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H="1" flipV="1">
            <a:off x="5461499" y="4426610"/>
            <a:ext cx="619261" cy="147218"/>
          </a:xfrm>
          <a:prstGeom prst="line">
            <a:avLst/>
          </a:prstGeom>
          <a:ln w="2286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5461499" y="3743096"/>
            <a:ext cx="54640" cy="683514"/>
          </a:xfrm>
          <a:prstGeom prst="line">
            <a:avLst/>
          </a:prstGeom>
          <a:ln w="2286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5516139" y="3311956"/>
            <a:ext cx="564621" cy="431140"/>
          </a:xfrm>
          <a:prstGeom prst="line">
            <a:avLst/>
          </a:prstGeom>
          <a:ln w="2286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Oval 119"/>
          <p:cNvSpPr/>
          <p:nvPr/>
        </p:nvSpPr>
        <p:spPr>
          <a:xfrm>
            <a:off x="6048756" y="3279952"/>
            <a:ext cx="64008" cy="64008"/>
          </a:xfrm>
          <a:prstGeom prst="ellipse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6549628" y="3747897"/>
            <a:ext cx="64008" cy="64008"/>
          </a:xfrm>
          <a:prstGeom prst="ellipse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6795511" y="4468215"/>
            <a:ext cx="64008" cy="64008"/>
          </a:xfrm>
          <a:prstGeom prst="ellipse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6048756" y="4541824"/>
            <a:ext cx="64008" cy="64008"/>
          </a:xfrm>
          <a:prstGeom prst="ellipse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5429495" y="4394606"/>
            <a:ext cx="64008" cy="64008"/>
          </a:xfrm>
          <a:prstGeom prst="ellipse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5484135" y="3711092"/>
            <a:ext cx="64008" cy="64008"/>
          </a:xfrm>
          <a:prstGeom prst="ellipse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6" name="Connector 125"/>
          <p:cNvCxnSpPr/>
          <p:nvPr/>
        </p:nvCxnSpPr>
        <p:spPr>
          <a:xfrm>
            <a:off x="8503920" y="3657600"/>
            <a:ext cx="256032" cy="28984"/>
          </a:xfrm>
          <a:prstGeom prst="line">
            <a:avLst/>
          </a:prstGeom>
          <a:ln w="2540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8759952" y="3686584"/>
            <a:ext cx="256032" cy="71945"/>
          </a:xfrm>
          <a:prstGeom prst="line">
            <a:avLst/>
          </a:prstGeom>
          <a:ln w="2540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9015984" y="3758529"/>
            <a:ext cx="256032" cy="108474"/>
          </a:xfrm>
          <a:prstGeom prst="line">
            <a:avLst/>
          </a:prstGeom>
          <a:ln w="2540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9272016" y="3867003"/>
            <a:ext cx="256032" cy="142055"/>
          </a:xfrm>
          <a:prstGeom prst="line">
            <a:avLst/>
          </a:prstGeom>
          <a:ln w="2540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9528048" y="4009058"/>
            <a:ext cx="256032" cy="173726"/>
          </a:xfrm>
          <a:prstGeom prst="line">
            <a:avLst/>
          </a:prstGeom>
          <a:ln w="2540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9784080" y="4182784"/>
            <a:ext cx="256032" cy="204002"/>
          </a:xfrm>
          <a:prstGeom prst="line">
            <a:avLst/>
          </a:prstGeom>
          <a:ln w="2540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10040112" y="4386786"/>
            <a:ext cx="256032" cy="233185"/>
          </a:xfrm>
          <a:prstGeom prst="line">
            <a:avLst/>
          </a:prstGeom>
          <a:ln w="2540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10296144" y="4619971"/>
            <a:ext cx="256032" cy="261478"/>
          </a:xfrm>
          <a:prstGeom prst="line">
            <a:avLst/>
          </a:prstGeom>
          <a:ln w="2540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10552176" y="4881449"/>
            <a:ext cx="256032" cy="289024"/>
          </a:xfrm>
          <a:prstGeom prst="line">
            <a:avLst/>
          </a:prstGeom>
          <a:ln w="2540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10808208" y="5170473"/>
            <a:ext cx="256032" cy="315927"/>
          </a:xfrm>
          <a:prstGeom prst="line">
            <a:avLst/>
          </a:prstGeom>
          <a:ln w="2540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TextBox 135"/>
          <p:cNvSpPr txBox="1"/>
          <p:nvPr/>
        </p:nvSpPr>
        <p:spPr>
          <a:xfrm>
            <a:off x="8321040" y="5413248"/>
            <a:ext cx="310896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200" b="1">
                <a:solidFill>
                  <a:srgbClr val="F5D071"/>
                </a:solidFill>
                <a:latin typeface="Noto Sans CJK SC"/>
              </a:rPr>
              <a:t>60分以下自动预警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280160" y="5925312"/>
            <a:ext cx="9601200" cy="4572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600" b="1">
                <a:solidFill>
                  <a:srgbClr val="23C8F6"/>
                </a:solidFill>
                <a:latin typeface="Noto Sans CJK SC"/>
              </a:rPr>
              <a:t>真正输出：健康等级 · 风险部位 · 剩余寿命趋势 · 维修优先序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可编辑_深蓝背景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176272" y="1271016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606040" y="1554480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035808" y="1837944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465576" y="384048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895344" y="667512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325112" y="950976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754879" y="1234439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184648" y="1517904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14416" y="1801368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044183" y="347472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73952" y="630936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903720" y="914400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33488" y="1197864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763256" y="1481328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193023" y="1764792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22792" y="310896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052560" y="594360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482328" y="877824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912096" y="1161288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341864" y="1444751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771632" y="1728216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201400" y="274320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631167" y="557784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0936" y="841247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60704" y="1124712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490472" y="1408176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920240" y="1691639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350008" y="237744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Isosceles Triangle 30"/>
          <p:cNvSpPr/>
          <p:nvPr/>
        </p:nvSpPr>
        <p:spPr>
          <a:xfrm>
            <a:off x="-731520" y="3858768"/>
            <a:ext cx="2148840" cy="914400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Isosceles Triangle 31"/>
          <p:cNvSpPr/>
          <p:nvPr/>
        </p:nvSpPr>
        <p:spPr>
          <a:xfrm>
            <a:off x="777239" y="3657600"/>
            <a:ext cx="2148840" cy="1115568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sosceles Triangle 32"/>
          <p:cNvSpPr/>
          <p:nvPr/>
        </p:nvSpPr>
        <p:spPr>
          <a:xfrm>
            <a:off x="2286000" y="3456432"/>
            <a:ext cx="2148840" cy="1316736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sosceles Triangle 33"/>
          <p:cNvSpPr/>
          <p:nvPr/>
        </p:nvSpPr>
        <p:spPr>
          <a:xfrm>
            <a:off x="3794759" y="3858768"/>
            <a:ext cx="2148840" cy="914400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Isosceles Triangle 34"/>
          <p:cNvSpPr/>
          <p:nvPr/>
        </p:nvSpPr>
        <p:spPr>
          <a:xfrm>
            <a:off x="5303520" y="3657600"/>
            <a:ext cx="2148840" cy="1115568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sosceles Triangle 35"/>
          <p:cNvSpPr/>
          <p:nvPr/>
        </p:nvSpPr>
        <p:spPr>
          <a:xfrm>
            <a:off x="6812280" y="3456432"/>
            <a:ext cx="2148840" cy="1316736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sosceles Triangle 36"/>
          <p:cNvSpPr/>
          <p:nvPr/>
        </p:nvSpPr>
        <p:spPr>
          <a:xfrm>
            <a:off x="8321039" y="3858768"/>
            <a:ext cx="2148840" cy="914400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sosceles Triangle 37"/>
          <p:cNvSpPr/>
          <p:nvPr/>
        </p:nvSpPr>
        <p:spPr>
          <a:xfrm>
            <a:off x="9829799" y="3657600"/>
            <a:ext cx="2148840" cy="1115568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Isosceles Triangle 38"/>
          <p:cNvSpPr/>
          <p:nvPr/>
        </p:nvSpPr>
        <p:spPr>
          <a:xfrm>
            <a:off x="11338559" y="3456432"/>
            <a:ext cx="2148840" cy="1316736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Isosceles Triangle 39"/>
          <p:cNvSpPr/>
          <p:nvPr/>
        </p:nvSpPr>
        <p:spPr>
          <a:xfrm>
            <a:off x="-731520" y="4050792"/>
            <a:ext cx="2148840" cy="1115568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Isosceles Triangle 40"/>
          <p:cNvSpPr/>
          <p:nvPr/>
        </p:nvSpPr>
        <p:spPr>
          <a:xfrm>
            <a:off x="777239" y="3849624"/>
            <a:ext cx="2148840" cy="1316736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Isosceles Triangle 41"/>
          <p:cNvSpPr/>
          <p:nvPr/>
        </p:nvSpPr>
        <p:spPr>
          <a:xfrm>
            <a:off x="2286000" y="4251960"/>
            <a:ext cx="2148840" cy="914400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Isosceles Triangle 42"/>
          <p:cNvSpPr/>
          <p:nvPr/>
        </p:nvSpPr>
        <p:spPr>
          <a:xfrm>
            <a:off x="3794759" y="4050792"/>
            <a:ext cx="2148840" cy="1115568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Isosceles Triangle 43"/>
          <p:cNvSpPr/>
          <p:nvPr/>
        </p:nvSpPr>
        <p:spPr>
          <a:xfrm>
            <a:off x="5303520" y="3849624"/>
            <a:ext cx="2148840" cy="1316736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Isosceles Triangle 44"/>
          <p:cNvSpPr/>
          <p:nvPr/>
        </p:nvSpPr>
        <p:spPr>
          <a:xfrm>
            <a:off x="6812280" y="4251960"/>
            <a:ext cx="2148840" cy="914400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Isosceles Triangle 45"/>
          <p:cNvSpPr/>
          <p:nvPr/>
        </p:nvSpPr>
        <p:spPr>
          <a:xfrm>
            <a:off x="8321039" y="4050792"/>
            <a:ext cx="2148840" cy="1115568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Isosceles Triangle 46"/>
          <p:cNvSpPr/>
          <p:nvPr/>
        </p:nvSpPr>
        <p:spPr>
          <a:xfrm>
            <a:off x="9829799" y="3849624"/>
            <a:ext cx="2148840" cy="1316736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Isosceles Triangle 47"/>
          <p:cNvSpPr/>
          <p:nvPr/>
        </p:nvSpPr>
        <p:spPr>
          <a:xfrm>
            <a:off x="11338559" y="4251960"/>
            <a:ext cx="2148840" cy="914400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Isosceles Triangle 48"/>
          <p:cNvSpPr/>
          <p:nvPr/>
        </p:nvSpPr>
        <p:spPr>
          <a:xfrm>
            <a:off x="-731520" y="4187952"/>
            <a:ext cx="2148840" cy="1316736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Isosceles Triangle 49"/>
          <p:cNvSpPr/>
          <p:nvPr/>
        </p:nvSpPr>
        <p:spPr>
          <a:xfrm>
            <a:off x="777239" y="4590288"/>
            <a:ext cx="2148840" cy="914400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Isosceles Triangle 50"/>
          <p:cNvSpPr/>
          <p:nvPr/>
        </p:nvSpPr>
        <p:spPr>
          <a:xfrm>
            <a:off x="2286000" y="4389120"/>
            <a:ext cx="2148840" cy="1115568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Isosceles Triangle 51"/>
          <p:cNvSpPr/>
          <p:nvPr/>
        </p:nvSpPr>
        <p:spPr>
          <a:xfrm>
            <a:off x="3794759" y="4187952"/>
            <a:ext cx="2148840" cy="1316736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Isosceles Triangle 52"/>
          <p:cNvSpPr/>
          <p:nvPr/>
        </p:nvSpPr>
        <p:spPr>
          <a:xfrm>
            <a:off x="5303520" y="4590288"/>
            <a:ext cx="2148840" cy="914400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Isosceles Triangle 53"/>
          <p:cNvSpPr/>
          <p:nvPr/>
        </p:nvSpPr>
        <p:spPr>
          <a:xfrm>
            <a:off x="6812280" y="4389120"/>
            <a:ext cx="2148840" cy="1115568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Isosceles Triangle 54"/>
          <p:cNvSpPr/>
          <p:nvPr/>
        </p:nvSpPr>
        <p:spPr>
          <a:xfrm>
            <a:off x="8321039" y="4187952"/>
            <a:ext cx="2148840" cy="1316736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Isosceles Triangle 55"/>
          <p:cNvSpPr/>
          <p:nvPr/>
        </p:nvSpPr>
        <p:spPr>
          <a:xfrm>
            <a:off x="9829799" y="4590288"/>
            <a:ext cx="2148840" cy="914400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Isosceles Triangle 56"/>
          <p:cNvSpPr/>
          <p:nvPr/>
        </p:nvSpPr>
        <p:spPr>
          <a:xfrm>
            <a:off x="11338559" y="4389120"/>
            <a:ext cx="2148840" cy="1115568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0" y="5715000"/>
            <a:ext cx="12188952" cy="0"/>
          </a:xfrm>
          <a:prstGeom prst="line">
            <a:avLst/>
          </a:prstGeom>
          <a:ln w="15240">
            <a:solidFill>
              <a:srgbClr val="0D4C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749808" y="347472"/>
            <a:ext cx="10698480" cy="6217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000" b="1">
                <a:solidFill>
                  <a:srgbClr val="23C8F6"/>
                </a:solidFill>
                <a:latin typeface="Noto Serif CJK SC"/>
              </a:rPr>
              <a:t>模型② 千亩村发展导引：把真实缺口算出来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9808" y="310896"/>
            <a:ext cx="10698480" cy="6217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000" b="1">
                <a:solidFill>
                  <a:srgbClr val="F7FBFF"/>
                </a:solidFill>
                <a:latin typeface="Noto Serif CJK SC"/>
              </a:rPr>
              <a:t>模型② 千亩村发展导引：把真实缺口算出来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2194560" y="960120"/>
            <a:ext cx="1508760" cy="0"/>
          </a:xfrm>
          <a:prstGeom prst="line">
            <a:avLst/>
          </a:prstGeom>
          <a:ln w="1397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8485632" y="960120"/>
            <a:ext cx="1508760" cy="0"/>
          </a:xfrm>
          <a:prstGeom prst="line">
            <a:avLst/>
          </a:prstGeom>
          <a:ln w="1397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1280160" y="950976"/>
            <a:ext cx="9601200" cy="34747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300" b="0">
                <a:solidFill>
                  <a:srgbClr val="A7C5D8"/>
                </a:solidFill>
                <a:latin typeface="Noto Sans CJK SC"/>
              </a:rPr>
              <a:t>不问“想建几栋”，先算有效烤能，再判断结构性缺口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4360" y="1481328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01</a:t>
            </a:r>
          </a:p>
        </p:txBody>
      </p:sp>
      <p:sp>
        <p:nvSpPr>
          <p:cNvPr id="65" name="Oval 64"/>
          <p:cNvSpPr/>
          <p:nvPr/>
        </p:nvSpPr>
        <p:spPr>
          <a:xfrm>
            <a:off x="1459839" y="1514703"/>
            <a:ext cx="372160" cy="372160"/>
          </a:xfrm>
          <a:prstGeom prst="ellipse">
            <a:avLst/>
          </a:prstGeom>
          <a:solidFill>
            <a:srgbClr val="0C4A70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575511" y="1630375"/>
            <a:ext cx="140817" cy="140817"/>
          </a:xfrm>
          <a:prstGeom prst="ellipse">
            <a:avLst/>
          </a:prstGeom>
          <a:solidFill>
            <a:srgbClr val="06182D"/>
          </a:solidFill>
          <a:ln w="12700">
            <a:solidFill>
              <a:srgbClr val="9E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852117" y="1665579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781412" y="1836276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610715" y="1906981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440018" y="1836276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369313" y="1665579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440018" y="1494882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610715" y="1424178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781412" y="1494882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103120" y="1481328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算有效烤能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103120" y="1920240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可用烤房 / 健康折损 / 产能折算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206240" y="1481328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02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046573" y="1700784"/>
            <a:ext cx="85496" cy="125730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5182362" y="1615287"/>
            <a:ext cx="85496" cy="211226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5318150" y="1514703"/>
            <a:ext cx="85496" cy="311810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1" name="Connector 80"/>
          <p:cNvCxnSpPr/>
          <p:nvPr/>
        </p:nvCxnSpPr>
        <p:spPr>
          <a:xfrm>
            <a:off x="5026456" y="1846630"/>
            <a:ext cx="472745" cy="0"/>
          </a:xfrm>
          <a:prstGeom prst="line">
            <a:avLst/>
          </a:prstGeom>
          <a:ln w="1270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5715000" y="1481328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判真实缺口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715000" y="1920240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种植规模 / 产业趋势 / 管护能力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1481328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03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618220" y="1640433"/>
            <a:ext cx="502920" cy="226314"/>
          </a:xfrm>
          <a:prstGeom prst="rect">
            <a:avLst/>
          </a:prstGeom>
          <a:solidFill>
            <a:srgbClr val="0A4164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Isosceles Triangle 85"/>
          <p:cNvSpPr/>
          <p:nvPr/>
        </p:nvSpPr>
        <p:spPr>
          <a:xfrm>
            <a:off x="8577986" y="1449324"/>
            <a:ext cx="583387" cy="261518"/>
          </a:xfrm>
          <a:prstGeom prst="triangle">
            <a:avLst/>
          </a:prstGeom>
          <a:solidFill>
            <a:srgbClr val="9EEBFF"/>
          </a:solidFill>
          <a:ln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8819388" y="1725930"/>
            <a:ext cx="100584" cy="140817"/>
          </a:xfrm>
          <a:prstGeom prst="rect">
            <a:avLst/>
          </a:prstGeom>
          <a:solidFill>
            <a:srgbClr val="06182D"/>
          </a:solidFill>
          <a:ln w="762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326880" y="1481328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做建设推演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326880" y="1920240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熵权法 + TOPSIS / 地图情景沙盘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429000" y="1965960"/>
            <a:ext cx="54864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500" b="1">
                <a:solidFill>
                  <a:srgbClr val="23C8F6"/>
                </a:solidFill>
                <a:latin typeface="DejaVu Sans"/>
              </a:rPr>
              <a:t>››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040880" y="1965960"/>
            <a:ext cx="54864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500" b="1">
                <a:solidFill>
                  <a:srgbClr val="23C8F6"/>
                </a:solidFill>
                <a:latin typeface="DejaVu Sans"/>
              </a:rPr>
              <a:t>››</a:t>
            </a:r>
          </a:p>
        </p:txBody>
      </p:sp>
      <p:sp>
        <p:nvSpPr>
          <p:cNvPr id="92" name="Oval 91"/>
          <p:cNvSpPr/>
          <p:nvPr/>
        </p:nvSpPr>
        <p:spPr>
          <a:xfrm>
            <a:off x="1463040" y="4023360"/>
            <a:ext cx="164592" cy="164592"/>
          </a:xfrm>
          <a:prstGeom prst="ellipse">
            <a:avLst/>
          </a:prstGeom>
          <a:solidFill>
            <a:srgbClr val="55E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2011680" y="4572000"/>
            <a:ext cx="164592" cy="164592"/>
          </a:xfrm>
          <a:prstGeom prst="ellipse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2743200" y="4160520"/>
            <a:ext cx="164592" cy="164592"/>
          </a:xfrm>
          <a:prstGeom prst="ellipse">
            <a:avLst/>
          </a:prstGeom>
          <a:solidFill>
            <a:srgbClr val="F5D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3246120" y="4663440"/>
            <a:ext cx="164592" cy="164592"/>
          </a:xfrm>
          <a:prstGeom prst="ellipse">
            <a:avLst/>
          </a:prstGeom>
          <a:solidFill>
            <a:srgbClr val="FF7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3749039" y="4343400"/>
            <a:ext cx="164592" cy="164592"/>
          </a:xfrm>
          <a:prstGeom prst="ellipse">
            <a:avLst/>
          </a:prstGeom>
          <a:solidFill>
            <a:srgbClr val="55E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7" name="Connector 96"/>
          <p:cNvCxnSpPr/>
          <p:nvPr/>
        </p:nvCxnSpPr>
        <p:spPr>
          <a:xfrm flipV="1">
            <a:off x="1188720" y="3840480"/>
            <a:ext cx="2926080" cy="1280160"/>
          </a:xfrm>
          <a:prstGeom prst="line">
            <a:avLst/>
          </a:prstGeom>
          <a:ln w="12700">
            <a:solidFill>
              <a:srgbClr val="1A63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Rectangle 97"/>
          <p:cNvSpPr/>
          <p:nvPr/>
        </p:nvSpPr>
        <p:spPr>
          <a:xfrm>
            <a:off x="4754880" y="4879570"/>
            <a:ext cx="324464" cy="423949"/>
          </a:xfrm>
          <a:prstGeom prst="rect">
            <a:avLst/>
          </a:prstGeom>
          <a:solidFill>
            <a:srgbClr val="188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5257800" y="4596938"/>
            <a:ext cx="324464" cy="706581"/>
          </a:xfrm>
          <a:prstGeom prst="rect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5760720" y="4314305"/>
            <a:ext cx="324464" cy="989214"/>
          </a:xfrm>
          <a:prstGeom prst="rect">
            <a:avLst/>
          </a:prstGeom>
          <a:solidFill>
            <a:srgbClr val="188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6263640" y="4172989"/>
            <a:ext cx="324464" cy="1130530"/>
          </a:xfrm>
          <a:prstGeom prst="rect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6766560" y="4031672"/>
            <a:ext cx="324464" cy="1271847"/>
          </a:xfrm>
          <a:prstGeom prst="rect">
            <a:avLst/>
          </a:prstGeom>
          <a:solidFill>
            <a:srgbClr val="188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7269479" y="3749039"/>
            <a:ext cx="324464" cy="1554480"/>
          </a:xfrm>
          <a:prstGeom prst="rect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4" name="Connector 103"/>
          <p:cNvCxnSpPr/>
          <p:nvPr/>
        </p:nvCxnSpPr>
        <p:spPr>
          <a:xfrm>
            <a:off x="4754880" y="5303520"/>
            <a:ext cx="3017520" cy="0"/>
          </a:xfrm>
          <a:prstGeom prst="line">
            <a:avLst/>
          </a:prstGeom>
          <a:ln w="10160">
            <a:solidFill>
              <a:srgbClr val="3D71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TextBox 104"/>
          <p:cNvSpPr txBox="1"/>
          <p:nvPr/>
        </p:nvSpPr>
        <p:spPr>
          <a:xfrm>
            <a:off x="5074920" y="5349240"/>
            <a:ext cx="2377440" cy="32004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100" b="1">
                <a:solidFill>
                  <a:srgbClr val="A7C5D8"/>
                </a:solidFill>
                <a:latin typeface="Noto Sans CJK SC"/>
              </a:rPr>
              <a:t>需求 vs 有效烤能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138160" y="3840480"/>
            <a:ext cx="3383280" cy="4572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400" b="1">
                <a:solidFill>
                  <a:srgbClr val="F7FBFF"/>
                </a:solidFill>
                <a:latin typeface="Noto Sans CJK SC"/>
              </a:rPr>
              <a:t>先调剂 → 再修复 → 仍有结构性缺口才新建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463040" y="5852160"/>
            <a:ext cx="923544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700" b="1">
                <a:solidFill>
                  <a:srgbClr val="23C8F6"/>
                </a:solidFill>
                <a:latin typeface="Noto Sans CJK SC"/>
              </a:rPr>
              <a:t>把“有多少栋”改成“有多少有效能力”，建设才有依据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可编辑_深蓝背景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441448" y="1426464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871216" y="1709928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300984" y="256032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730752" y="539496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160520" y="822959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90288" y="1106424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020055" y="1389888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449824" y="1673351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879592" y="219456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09359" y="502920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739127" y="786384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168896" y="1069848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598664" y="1353312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28431" y="1636776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58200" y="182880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887967" y="466344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17736" y="749808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747504" y="1033272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177272" y="1316736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607040" y="1600200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036808" y="1883664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466576" y="429768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66344" y="713232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6112" y="996696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25880" y="1280160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755648" y="1563624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185416" y="1847088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615184" y="393192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Isosceles Triangle 30"/>
          <p:cNvSpPr/>
          <p:nvPr/>
        </p:nvSpPr>
        <p:spPr>
          <a:xfrm>
            <a:off x="-731520" y="3858768"/>
            <a:ext cx="2148840" cy="914400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Isosceles Triangle 31"/>
          <p:cNvSpPr/>
          <p:nvPr/>
        </p:nvSpPr>
        <p:spPr>
          <a:xfrm>
            <a:off x="777239" y="3657600"/>
            <a:ext cx="2148840" cy="1115568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sosceles Triangle 32"/>
          <p:cNvSpPr/>
          <p:nvPr/>
        </p:nvSpPr>
        <p:spPr>
          <a:xfrm>
            <a:off x="2286000" y="3456432"/>
            <a:ext cx="2148840" cy="1316736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sosceles Triangle 33"/>
          <p:cNvSpPr/>
          <p:nvPr/>
        </p:nvSpPr>
        <p:spPr>
          <a:xfrm>
            <a:off x="3794759" y="3858768"/>
            <a:ext cx="2148840" cy="914400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Isosceles Triangle 34"/>
          <p:cNvSpPr/>
          <p:nvPr/>
        </p:nvSpPr>
        <p:spPr>
          <a:xfrm>
            <a:off x="5303520" y="3657600"/>
            <a:ext cx="2148840" cy="1115568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sosceles Triangle 35"/>
          <p:cNvSpPr/>
          <p:nvPr/>
        </p:nvSpPr>
        <p:spPr>
          <a:xfrm>
            <a:off x="6812280" y="3456432"/>
            <a:ext cx="2148840" cy="1316736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sosceles Triangle 36"/>
          <p:cNvSpPr/>
          <p:nvPr/>
        </p:nvSpPr>
        <p:spPr>
          <a:xfrm>
            <a:off x="8321039" y="3858768"/>
            <a:ext cx="2148840" cy="914400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sosceles Triangle 37"/>
          <p:cNvSpPr/>
          <p:nvPr/>
        </p:nvSpPr>
        <p:spPr>
          <a:xfrm>
            <a:off x="9829799" y="3657600"/>
            <a:ext cx="2148840" cy="1115568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Isosceles Triangle 38"/>
          <p:cNvSpPr/>
          <p:nvPr/>
        </p:nvSpPr>
        <p:spPr>
          <a:xfrm>
            <a:off x="11338559" y="3456432"/>
            <a:ext cx="2148840" cy="1316736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Isosceles Triangle 39"/>
          <p:cNvSpPr/>
          <p:nvPr/>
        </p:nvSpPr>
        <p:spPr>
          <a:xfrm>
            <a:off x="-731520" y="4050792"/>
            <a:ext cx="2148840" cy="1115568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Isosceles Triangle 40"/>
          <p:cNvSpPr/>
          <p:nvPr/>
        </p:nvSpPr>
        <p:spPr>
          <a:xfrm>
            <a:off x="777239" y="3849624"/>
            <a:ext cx="2148840" cy="1316736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Isosceles Triangle 41"/>
          <p:cNvSpPr/>
          <p:nvPr/>
        </p:nvSpPr>
        <p:spPr>
          <a:xfrm>
            <a:off x="2286000" y="4251960"/>
            <a:ext cx="2148840" cy="914400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Isosceles Triangle 42"/>
          <p:cNvSpPr/>
          <p:nvPr/>
        </p:nvSpPr>
        <p:spPr>
          <a:xfrm>
            <a:off x="3794759" y="4050792"/>
            <a:ext cx="2148840" cy="1115568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Isosceles Triangle 43"/>
          <p:cNvSpPr/>
          <p:nvPr/>
        </p:nvSpPr>
        <p:spPr>
          <a:xfrm>
            <a:off x="5303520" y="3849624"/>
            <a:ext cx="2148840" cy="1316736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Isosceles Triangle 44"/>
          <p:cNvSpPr/>
          <p:nvPr/>
        </p:nvSpPr>
        <p:spPr>
          <a:xfrm>
            <a:off x="6812280" y="4251960"/>
            <a:ext cx="2148840" cy="914400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Isosceles Triangle 45"/>
          <p:cNvSpPr/>
          <p:nvPr/>
        </p:nvSpPr>
        <p:spPr>
          <a:xfrm>
            <a:off x="8321039" y="4050792"/>
            <a:ext cx="2148840" cy="1115568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Isosceles Triangle 46"/>
          <p:cNvSpPr/>
          <p:nvPr/>
        </p:nvSpPr>
        <p:spPr>
          <a:xfrm>
            <a:off x="9829799" y="3849624"/>
            <a:ext cx="2148840" cy="1316736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Isosceles Triangle 47"/>
          <p:cNvSpPr/>
          <p:nvPr/>
        </p:nvSpPr>
        <p:spPr>
          <a:xfrm>
            <a:off x="11338559" y="4251960"/>
            <a:ext cx="2148840" cy="914400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Isosceles Triangle 48"/>
          <p:cNvSpPr/>
          <p:nvPr/>
        </p:nvSpPr>
        <p:spPr>
          <a:xfrm>
            <a:off x="-731520" y="4187952"/>
            <a:ext cx="2148840" cy="1316736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Isosceles Triangle 49"/>
          <p:cNvSpPr/>
          <p:nvPr/>
        </p:nvSpPr>
        <p:spPr>
          <a:xfrm>
            <a:off x="777239" y="4590288"/>
            <a:ext cx="2148840" cy="914400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Isosceles Triangle 50"/>
          <p:cNvSpPr/>
          <p:nvPr/>
        </p:nvSpPr>
        <p:spPr>
          <a:xfrm>
            <a:off x="2286000" y="4389120"/>
            <a:ext cx="2148840" cy="1115568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Isosceles Triangle 51"/>
          <p:cNvSpPr/>
          <p:nvPr/>
        </p:nvSpPr>
        <p:spPr>
          <a:xfrm>
            <a:off x="3794759" y="4187952"/>
            <a:ext cx="2148840" cy="1316736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Isosceles Triangle 52"/>
          <p:cNvSpPr/>
          <p:nvPr/>
        </p:nvSpPr>
        <p:spPr>
          <a:xfrm>
            <a:off x="5303520" y="4590288"/>
            <a:ext cx="2148840" cy="914400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Isosceles Triangle 53"/>
          <p:cNvSpPr/>
          <p:nvPr/>
        </p:nvSpPr>
        <p:spPr>
          <a:xfrm>
            <a:off x="6812280" y="4389120"/>
            <a:ext cx="2148840" cy="1115568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Isosceles Triangle 54"/>
          <p:cNvSpPr/>
          <p:nvPr/>
        </p:nvSpPr>
        <p:spPr>
          <a:xfrm>
            <a:off x="8321039" y="4187952"/>
            <a:ext cx="2148840" cy="1316736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Isosceles Triangle 55"/>
          <p:cNvSpPr/>
          <p:nvPr/>
        </p:nvSpPr>
        <p:spPr>
          <a:xfrm>
            <a:off x="9829799" y="4590288"/>
            <a:ext cx="2148840" cy="914400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Isosceles Triangle 56"/>
          <p:cNvSpPr/>
          <p:nvPr/>
        </p:nvSpPr>
        <p:spPr>
          <a:xfrm>
            <a:off x="11338559" y="4389120"/>
            <a:ext cx="2148840" cy="1115568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0" y="5715000"/>
            <a:ext cx="12188952" cy="0"/>
          </a:xfrm>
          <a:prstGeom prst="line">
            <a:avLst/>
          </a:prstGeom>
          <a:ln w="15240">
            <a:solidFill>
              <a:srgbClr val="0D4C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749808" y="347472"/>
            <a:ext cx="10698480" cy="6217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000" b="1">
                <a:solidFill>
                  <a:srgbClr val="23C8F6"/>
                </a:solidFill>
                <a:latin typeface="Noto Serif CJK SC"/>
              </a:rPr>
              <a:t>双模决策：存量评估 + 增量推演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9808" y="310896"/>
            <a:ext cx="10698480" cy="6217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000" b="1">
                <a:solidFill>
                  <a:srgbClr val="F7FBFF"/>
                </a:solidFill>
                <a:latin typeface="Noto Serif CJK SC"/>
              </a:rPr>
              <a:t>双模决策：存量评估 + 增量推演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2194560" y="960120"/>
            <a:ext cx="1508760" cy="0"/>
          </a:xfrm>
          <a:prstGeom prst="line">
            <a:avLst/>
          </a:prstGeom>
          <a:ln w="1397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8485632" y="960120"/>
            <a:ext cx="1508760" cy="0"/>
          </a:xfrm>
          <a:prstGeom prst="line">
            <a:avLst/>
          </a:prstGeom>
          <a:ln w="1397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1280160" y="950976"/>
            <a:ext cx="9601200" cy="34747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300" b="0">
                <a:solidFill>
                  <a:srgbClr val="A7C5D8"/>
                </a:solidFill>
                <a:latin typeface="Noto Sans CJK SC"/>
              </a:rPr>
              <a:t>模型①把存量算清，模型②才有资格谈增量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88720" y="1554480"/>
            <a:ext cx="3840480" cy="4572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100" b="1">
                <a:solidFill>
                  <a:srgbClr val="F7FBFF"/>
                </a:solidFill>
                <a:latin typeface="Noto Serif CJK SC"/>
              </a:rPr>
              <a:t>模型 ①  健康评估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178040" y="1554480"/>
            <a:ext cx="3840480" cy="4572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100" b="1">
                <a:solidFill>
                  <a:srgbClr val="F7FBFF"/>
                </a:solidFill>
                <a:latin typeface="Noto Serif CJK SC"/>
              </a:rPr>
              <a:t>模型 ②  供需推演</a:t>
            </a:r>
          </a:p>
        </p:txBody>
      </p:sp>
      <p:sp>
        <p:nvSpPr>
          <p:cNvPr id="66" name="Oval 65"/>
          <p:cNvSpPr/>
          <p:nvPr/>
        </p:nvSpPr>
        <p:spPr>
          <a:xfrm>
            <a:off x="987551" y="2743200"/>
            <a:ext cx="585216" cy="585216"/>
          </a:xfrm>
          <a:prstGeom prst="ellipse">
            <a:avLst/>
          </a:prstGeom>
          <a:solidFill>
            <a:srgbClr val="0A4265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151595" y="2907243"/>
            <a:ext cx="257129" cy="257129"/>
          </a:xfrm>
          <a:prstGeom prst="ellipse">
            <a:avLst/>
          </a:prstGeom>
          <a:solidFill>
            <a:srgbClr val="0C4A70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231513" y="2987161"/>
            <a:ext cx="97292" cy="97292"/>
          </a:xfrm>
          <a:prstGeom prst="ellipse">
            <a:avLst/>
          </a:prstGeom>
          <a:solidFill>
            <a:srgbClr val="06182D"/>
          </a:solidFill>
          <a:ln w="12700">
            <a:solidFill>
              <a:srgbClr val="9E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422623" y="3011484"/>
            <a:ext cx="48646" cy="48646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373772" y="3129420"/>
            <a:ext cx="48646" cy="48646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255836" y="3178271"/>
            <a:ext cx="48646" cy="48646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137901" y="3129420"/>
            <a:ext cx="48646" cy="48646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089050" y="3011484"/>
            <a:ext cx="48646" cy="48646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137901" y="2893549"/>
            <a:ext cx="48646" cy="48646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255836" y="2844698"/>
            <a:ext cx="48646" cy="48646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373772" y="2893549"/>
            <a:ext cx="48646" cy="48646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40080" y="3401568"/>
            <a:ext cx="128016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100" b="1">
                <a:solidFill>
                  <a:srgbClr val="F7FBFF"/>
                </a:solidFill>
                <a:latin typeface="Noto Sans CJK SC"/>
              </a:rPr>
              <a:t>部件体检</a:t>
            </a:r>
          </a:p>
        </p:txBody>
      </p:sp>
      <p:sp>
        <p:nvSpPr>
          <p:cNvPr id="78" name="Oval 77"/>
          <p:cNvSpPr/>
          <p:nvPr/>
        </p:nvSpPr>
        <p:spPr>
          <a:xfrm>
            <a:off x="2450592" y="2743200"/>
            <a:ext cx="585216" cy="585216"/>
          </a:xfrm>
          <a:prstGeom prst="ellipse">
            <a:avLst/>
          </a:prstGeom>
          <a:solidFill>
            <a:srgbClr val="0A4265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2597261" y="3035808"/>
            <a:ext cx="59070" cy="86868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2691079" y="2976737"/>
            <a:ext cx="59070" cy="145938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2784896" y="2907243"/>
            <a:ext cx="59070" cy="215432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2" name="Connector 81"/>
          <p:cNvCxnSpPr/>
          <p:nvPr/>
        </p:nvCxnSpPr>
        <p:spPr>
          <a:xfrm>
            <a:off x="2583362" y="3136574"/>
            <a:ext cx="326624" cy="0"/>
          </a:xfrm>
          <a:prstGeom prst="line">
            <a:avLst/>
          </a:prstGeom>
          <a:ln w="1270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2103120" y="3401568"/>
            <a:ext cx="128016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100" b="1">
                <a:solidFill>
                  <a:srgbClr val="F7FBFF"/>
                </a:solidFill>
                <a:latin typeface="Noto Sans CJK SC"/>
              </a:rPr>
              <a:t>寿命预测</a:t>
            </a:r>
          </a:p>
        </p:txBody>
      </p:sp>
      <p:sp>
        <p:nvSpPr>
          <p:cNvPr id="84" name="Oval 83"/>
          <p:cNvSpPr/>
          <p:nvPr/>
        </p:nvSpPr>
        <p:spPr>
          <a:xfrm>
            <a:off x="3913631" y="2743200"/>
            <a:ext cx="585216" cy="585216"/>
          </a:xfrm>
          <a:prstGeom prst="ellipse">
            <a:avLst/>
          </a:prstGeom>
          <a:solidFill>
            <a:srgbClr val="0A4265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4084624" y="2889869"/>
            <a:ext cx="243230" cy="291876"/>
          </a:xfrm>
          <a:prstGeom prst="rect">
            <a:avLst/>
          </a:prstGeom>
          <a:solidFill>
            <a:srgbClr val="0A4164"/>
          </a:solidFill>
          <a:ln w="12700">
            <a:solidFill>
              <a:srgbClr val="9E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Connector 85"/>
          <p:cNvCxnSpPr/>
          <p:nvPr/>
        </p:nvCxnSpPr>
        <p:spPr>
          <a:xfrm>
            <a:off x="4129796" y="2973263"/>
            <a:ext cx="152887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4129796" y="3035808"/>
            <a:ext cx="152887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4129796" y="3098352"/>
            <a:ext cx="152887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3566159" y="3401568"/>
            <a:ext cx="128016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100" b="1">
                <a:solidFill>
                  <a:srgbClr val="F7FBFF"/>
                </a:solidFill>
                <a:latin typeface="Noto Sans CJK SC"/>
              </a:rPr>
              <a:t>维修优先序</a:t>
            </a:r>
          </a:p>
        </p:txBody>
      </p:sp>
      <p:sp>
        <p:nvSpPr>
          <p:cNvPr id="90" name="Oval 89"/>
          <p:cNvSpPr/>
          <p:nvPr/>
        </p:nvSpPr>
        <p:spPr>
          <a:xfrm>
            <a:off x="6931152" y="2743200"/>
            <a:ext cx="585216" cy="585216"/>
          </a:xfrm>
          <a:prstGeom prst="ellipse">
            <a:avLst/>
          </a:prstGeom>
          <a:solidFill>
            <a:srgbClr val="0A4265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050024" y="2994111"/>
            <a:ext cx="347472" cy="156362"/>
          </a:xfrm>
          <a:prstGeom prst="rect">
            <a:avLst/>
          </a:prstGeom>
          <a:solidFill>
            <a:srgbClr val="0A4164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Isosceles Triangle 91"/>
          <p:cNvSpPr/>
          <p:nvPr/>
        </p:nvSpPr>
        <p:spPr>
          <a:xfrm>
            <a:off x="7022226" y="2862072"/>
            <a:ext cx="403067" cy="180685"/>
          </a:xfrm>
          <a:prstGeom prst="triangle">
            <a:avLst/>
          </a:prstGeom>
          <a:solidFill>
            <a:srgbClr val="9EEBFF"/>
          </a:solidFill>
          <a:ln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189012" y="3053181"/>
            <a:ext cx="69494" cy="97292"/>
          </a:xfrm>
          <a:prstGeom prst="rect">
            <a:avLst/>
          </a:prstGeom>
          <a:solidFill>
            <a:srgbClr val="06182D"/>
          </a:solidFill>
          <a:ln w="762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583680" y="3401568"/>
            <a:ext cx="128016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100" b="1">
                <a:solidFill>
                  <a:srgbClr val="F7FBFF"/>
                </a:solidFill>
                <a:latin typeface="Noto Sans CJK SC"/>
              </a:rPr>
              <a:t>有效烤能</a:t>
            </a:r>
          </a:p>
        </p:txBody>
      </p:sp>
      <p:sp>
        <p:nvSpPr>
          <p:cNvPr id="95" name="Oval 94"/>
          <p:cNvSpPr/>
          <p:nvPr/>
        </p:nvSpPr>
        <p:spPr>
          <a:xfrm>
            <a:off x="8394192" y="2743200"/>
            <a:ext cx="585216" cy="585216"/>
          </a:xfrm>
          <a:prstGeom prst="ellipse">
            <a:avLst/>
          </a:prstGeom>
          <a:solidFill>
            <a:srgbClr val="0A4265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540861" y="3035808"/>
            <a:ext cx="59070" cy="86868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34679" y="2976737"/>
            <a:ext cx="59070" cy="145938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728496" y="2907243"/>
            <a:ext cx="59070" cy="215432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9" name="Connector 98"/>
          <p:cNvCxnSpPr/>
          <p:nvPr/>
        </p:nvCxnSpPr>
        <p:spPr>
          <a:xfrm>
            <a:off x="8526962" y="3136574"/>
            <a:ext cx="326624" cy="0"/>
          </a:xfrm>
          <a:prstGeom prst="line">
            <a:avLst/>
          </a:prstGeom>
          <a:ln w="1270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8046720" y="3401568"/>
            <a:ext cx="128016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100" b="1">
                <a:solidFill>
                  <a:srgbClr val="F7FBFF"/>
                </a:solidFill>
                <a:latin typeface="Noto Sans CJK SC"/>
              </a:rPr>
              <a:t>真实缺口</a:t>
            </a:r>
          </a:p>
        </p:txBody>
      </p:sp>
      <p:sp>
        <p:nvSpPr>
          <p:cNvPr id="101" name="Oval 100"/>
          <p:cNvSpPr/>
          <p:nvPr/>
        </p:nvSpPr>
        <p:spPr>
          <a:xfrm>
            <a:off x="9857232" y="2743200"/>
            <a:ext cx="585216" cy="585216"/>
          </a:xfrm>
          <a:prstGeom prst="ellipse">
            <a:avLst/>
          </a:prstGeom>
          <a:solidFill>
            <a:srgbClr val="0A4265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0028224" y="2889869"/>
            <a:ext cx="243230" cy="291876"/>
          </a:xfrm>
          <a:prstGeom prst="rect">
            <a:avLst/>
          </a:prstGeom>
          <a:solidFill>
            <a:srgbClr val="0A4164"/>
          </a:solidFill>
          <a:ln w="12700">
            <a:solidFill>
              <a:srgbClr val="9E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3" name="Connector 102"/>
          <p:cNvCxnSpPr/>
          <p:nvPr/>
        </p:nvCxnSpPr>
        <p:spPr>
          <a:xfrm>
            <a:off x="10073396" y="2973263"/>
            <a:ext cx="152887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10073396" y="3035808"/>
            <a:ext cx="152887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10073396" y="3098352"/>
            <a:ext cx="152887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9509760" y="3401568"/>
            <a:ext cx="128016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100" b="1">
                <a:solidFill>
                  <a:srgbClr val="F7FBFF"/>
                </a:solidFill>
                <a:latin typeface="Noto Sans CJK SC"/>
              </a:rPr>
              <a:t>建设情景</a:t>
            </a:r>
          </a:p>
        </p:txBody>
      </p:sp>
      <p:sp>
        <p:nvSpPr>
          <p:cNvPr id="107" name="Oval 106"/>
          <p:cNvSpPr/>
          <p:nvPr/>
        </p:nvSpPr>
        <p:spPr>
          <a:xfrm>
            <a:off x="5184648" y="3886200"/>
            <a:ext cx="1783080" cy="1783080"/>
          </a:xfrm>
          <a:prstGeom prst="ellipse">
            <a:avLst/>
          </a:prstGeom>
          <a:solidFill>
            <a:srgbClr val="0A3558"/>
          </a:solidFill>
          <a:ln w="2286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5321808" y="4233672"/>
            <a:ext cx="1508760" cy="6400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700" b="1">
                <a:solidFill>
                  <a:srgbClr val="F7FBFF"/>
                </a:solidFill>
                <a:latin typeface="Noto Serif CJK SC"/>
              </a:rPr>
              <a:t>双模耦合
输出</a:t>
            </a:r>
          </a:p>
        </p:txBody>
      </p:sp>
      <p:sp>
        <p:nvSpPr>
          <p:cNvPr id="109" name="Oval 108"/>
          <p:cNvSpPr/>
          <p:nvPr/>
        </p:nvSpPr>
        <p:spPr>
          <a:xfrm>
            <a:off x="3840480" y="5486400"/>
            <a:ext cx="347472" cy="347472"/>
          </a:xfrm>
          <a:prstGeom prst="ellipse">
            <a:avLst/>
          </a:prstGeom>
          <a:solidFill>
            <a:srgbClr val="0A4265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3383280" y="5824728"/>
            <a:ext cx="1261872" cy="32004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100" b="1">
                <a:solidFill>
                  <a:srgbClr val="F7FBFF"/>
                </a:solidFill>
                <a:latin typeface="Noto Sans CJK SC"/>
              </a:rPr>
              <a:t>该修哪栋</a:t>
            </a:r>
          </a:p>
        </p:txBody>
      </p:sp>
      <p:sp>
        <p:nvSpPr>
          <p:cNvPr id="111" name="Oval 110"/>
          <p:cNvSpPr/>
          <p:nvPr/>
        </p:nvSpPr>
        <p:spPr>
          <a:xfrm>
            <a:off x="5532120" y="5486400"/>
            <a:ext cx="347472" cy="347472"/>
          </a:xfrm>
          <a:prstGeom prst="ellipse">
            <a:avLst/>
          </a:prstGeom>
          <a:solidFill>
            <a:srgbClr val="0A4265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074920" y="5824728"/>
            <a:ext cx="1261872" cy="32004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100" b="1">
                <a:solidFill>
                  <a:srgbClr val="F7FBFF"/>
                </a:solidFill>
                <a:latin typeface="Noto Sans CJK SC"/>
              </a:rPr>
              <a:t>该补哪里</a:t>
            </a:r>
          </a:p>
        </p:txBody>
      </p:sp>
      <p:sp>
        <p:nvSpPr>
          <p:cNvPr id="113" name="Oval 112"/>
          <p:cNvSpPr/>
          <p:nvPr/>
        </p:nvSpPr>
        <p:spPr>
          <a:xfrm>
            <a:off x="7223760" y="5486400"/>
            <a:ext cx="347472" cy="347472"/>
          </a:xfrm>
          <a:prstGeom prst="ellipse">
            <a:avLst/>
          </a:prstGeom>
          <a:solidFill>
            <a:srgbClr val="0A4265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766560" y="5824728"/>
            <a:ext cx="1261872" cy="32004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100" b="1">
                <a:solidFill>
                  <a:srgbClr val="F7FBFF"/>
                </a:solidFill>
                <a:latin typeface="Noto Sans CJK SC"/>
              </a:rPr>
              <a:t>该建多少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可编辑_深蓝背景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06624" y="1581912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136392" y="1865376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566160" y="411480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995927" y="694944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425696" y="978408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855464" y="1261872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285231" y="1545336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715000" y="1828800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144768" y="374904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74536" y="658368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004303" y="941832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434072" y="1225295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863840" y="1508760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93608" y="1792224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23376" y="338328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53144" y="621792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582912" y="905256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12680" y="1188720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442448" y="1472184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872215" y="1755648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301984" y="301752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731752" y="585216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1520" y="868680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61288" y="1152144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591055" y="1435608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020824" y="1719072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450592" y="265176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880360" y="548640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Isosceles Triangle 30"/>
          <p:cNvSpPr/>
          <p:nvPr/>
        </p:nvSpPr>
        <p:spPr>
          <a:xfrm>
            <a:off x="-731520" y="3858768"/>
            <a:ext cx="2148840" cy="914400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Isosceles Triangle 31"/>
          <p:cNvSpPr/>
          <p:nvPr/>
        </p:nvSpPr>
        <p:spPr>
          <a:xfrm>
            <a:off x="777239" y="3657600"/>
            <a:ext cx="2148840" cy="1115568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sosceles Triangle 32"/>
          <p:cNvSpPr/>
          <p:nvPr/>
        </p:nvSpPr>
        <p:spPr>
          <a:xfrm>
            <a:off x="2286000" y="3456432"/>
            <a:ext cx="2148840" cy="1316736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sosceles Triangle 33"/>
          <p:cNvSpPr/>
          <p:nvPr/>
        </p:nvSpPr>
        <p:spPr>
          <a:xfrm>
            <a:off x="3794759" y="3858768"/>
            <a:ext cx="2148840" cy="914400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Isosceles Triangle 34"/>
          <p:cNvSpPr/>
          <p:nvPr/>
        </p:nvSpPr>
        <p:spPr>
          <a:xfrm>
            <a:off x="5303520" y="3657600"/>
            <a:ext cx="2148840" cy="1115568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sosceles Triangle 35"/>
          <p:cNvSpPr/>
          <p:nvPr/>
        </p:nvSpPr>
        <p:spPr>
          <a:xfrm>
            <a:off x="6812280" y="3456432"/>
            <a:ext cx="2148840" cy="1316736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sosceles Triangle 36"/>
          <p:cNvSpPr/>
          <p:nvPr/>
        </p:nvSpPr>
        <p:spPr>
          <a:xfrm>
            <a:off x="8321039" y="3858768"/>
            <a:ext cx="2148840" cy="914400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sosceles Triangle 37"/>
          <p:cNvSpPr/>
          <p:nvPr/>
        </p:nvSpPr>
        <p:spPr>
          <a:xfrm>
            <a:off x="9829799" y="3657600"/>
            <a:ext cx="2148840" cy="1115568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Isosceles Triangle 38"/>
          <p:cNvSpPr/>
          <p:nvPr/>
        </p:nvSpPr>
        <p:spPr>
          <a:xfrm>
            <a:off x="11338559" y="3456432"/>
            <a:ext cx="2148840" cy="1316736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Isosceles Triangle 39"/>
          <p:cNvSpPr/>
          <p:nvPr/>
        </p:nvSpPr>
        <p:spPr>
          <a:xfrm>
            <a:off x="-731520" y="4050792"/>
            <a:ext cx="2148840" cy="1115568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Isosceles Triangle 40"/>
          <p:cNvSpPr/>
          <p:nvPr/>
        </p:nvSpPr>
        <p:spPr>
          <a:xfrm>
            <a:off x="777239" y="3849624"/>
            <a:ext cx="2148840" cy="1316736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Isosceles Triangle 41"/>
          <p:cNvSpPr/>
          <p:nvPr/>
        </p:nvSpPr>
        <p:spPr>
          <a:xfrm>
            <a:off x="2286000" y="4251960"/>
            <a:ext cx="2148840" cy="914400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Isosceles Triangle 42"/>
          <p:cNvSpPr/>
          <p:nvPr/>
        </p:nvSpPr>
        <p:spPr>
          <a:xfrm>
            <a:off x="3794759" y="4050792"/>
            <a:ext cx="2148840" cy="1115568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Isosceles Triangle 43"/>
          <p:cNvSpPr/>
          <p:nvPr/>
        </p:nvSpPr>
        <p:spPr>
          <a:xfrm>
            <a:off x="5303520" y="3849624"/>
            <a:ext cx="2148840" cy="1316736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Isosceles Triangle 44"/>
          <p:cNvSpPr/>
          <p:nvPr/>
        </p:nvSpPr>
        <p:spPr>
          <a:xfrm>
            <a:off x="6812280" y="4251960"/>
            <a:ext cx="2148840" cy="914400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Isosceles Triangle 45"/>
          <p:cNvSpPr/>
          <p:nvPr/>
        </p:nvSpPr>
        <p:spPr>
          <a:xfrm>
            <a:off x="8321039" y="4050792"/>
            <a:ext cx="2148840" cy="1115568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Isosceles Triangle 46"/>
          <p:cNvSpPr/>
          <p:nvPr/>
        </p:nvSpPr>
        <p:spPr>
          <a:xfrm>
            <a:off x="9829799" y="3849624"/>
            <a:ext cx="2148840" cy="1316736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Isosceles Triangle 47"/>
          <p:cNvSpPr/>
          <p:nvPr/>
        </p:nvSpPr>
        <p:spPr>
          <a:xfrm>
            <a:off x="11338559" y="4251960"/>
            <a:ext cx="2148840" cy="914400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Isosceles Triangle 48"/>
          <p:cNvSpPr/>
          <p:nvPr/>
        </p:nvSpPr>
        <p:spPr>
          <a:xfrm>
            <a:off x="-731520" y="4187952"/>
            <a:ext cx="2148840" cy="1316736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Isosceles Triangle 49"/>
          <p:cNvSpPr/>
          <p:nvPr/>
        </p:nvSpPr>
        <p:spPr>
          <a:xfrm>
            <a:off x="777239" y="4590288"/>
            <a:ext cx="2148840" cy="914400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Isosceles Triangle 50"/>
          <p:cNvSpPr/>
          <p:nvPr/>
        </p:nvSpPr>
        <p:spPr>
          <a:xfrm>
            <a:off x="2286000" y="4389120"/>
            <a:ext cx="2148840" cy="1115568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Isosceles Triangle 51"/>
          <p:cNvSpPr/>
          <p:nvPr/>
        </p:nvSpPr>
        <p:spPr>
          <a:xfrm>
            <a:off x="3794759" y="4187952"/>
            <a:ext cx="2148840" cy="1316736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Isosceles Triangle 52"/>
          <p:cNvSpPr/>
          <p:nvPr/>
        </p:nvSpPr>
        <p:spPr>
          <a:xfrm>
            <a:off x="5303520" y="4590288"/>
            <a:ext cx="2148840" cy="914400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Isosceles Triangle 53"/>
          <p:cNvSpPr/>
          <p:nvPr/>
        </p:nvSpPr>
        <p:spPr>
          <a:xfrm>
            <a:off x="6812280" y="4389120"/>
            <a:ext cx="2148840" cy="1115568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Isosceles Triangle 54"/>
          <p:cNvSpPr/>
          <p:nvPr/>
        </p:nvSpPr>
        <p:spPr>
          <a:xfrm>
            <a:off x="8321039" y="4187952"/>
            <a:ext cx="2148840" cy="1316736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Isosceles Triangle 55"/>
          <p:cNvSpPr/>
          <p:nvPr/>
        </p:nvSpPr>
        <p:spPr>
          <a:xfrm>
            <a:off x="9829799" y="4590288"/>
            <a:ext cx="2148840" cy="914400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Isosceles Triangle 56"/>
          <p:cNvSpPr/>
          <p:nvPr/>
        </p:nvSpPr>
        <p:spPr>
          <a:xfrm>
            <a:off x="11338559" y="4389120"/>
            <a:ext cx="2148840" cy="1115568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0" y="5715000"/>
            <a:ext cx="12188952" cy="0"/>
          </a:xfrm>
          <a:prstGeom prst="line">
            <a:avLst/>
          </a:prstGeom>
          <a:ln w="15240">
            <a:solidFill>
              <a:srgbClr val="0D4C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749808" y="347472"/>
            <a:ext cx="10698480" cy="6217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000" b="1">
                <a:solidFill>
                  <a:srgbClr val="23C8F6"/>
                </a:solidFill>
                <a:latin typeface="Noto Serif CJK SC"/>
              </a:rPr>
              <a:t>三智落地：把系统能力变成日常动作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9808" y="310896"/>
            <a:ext cx="10698480" cy="6217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000" b="1">
                <a:solidFill>
                  <a:srgbClr val="F7FBFF"/>
                </a:solidFill>
                <a:latin typeface="Noto Serif CJK SC"/>
              </a:rPr>
              <a:t>三智落地：把系统能力变成日常动作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2194560" y="960120"/>
            <a:ext cx="1508760" cy="0"/>
          </a:xfrm>
          <a:prstGeom prst="line">
            <a:avLst/>
          </a:prstGeom>
          <a:ln w="1397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8485632" y="960120"/>
            <a:ext cx="1508760" cy="0"/>
          </a:xfrm>
          <a:prstGeom prst="line">
            <a:avLst/>
          </a:prstGeom>
          <a:ln w="1397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1280160" y="950976"/>
            <a:ext cx="9601200" cy="34747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300" b="0">
                <a:solidFill>
                  <a:srgbClr val="A7C5D8"/>
                </a:solidFill>
                <a:latin typeface="Noto Sans CJK SC"/>
              </a:rPr>
              <a:t>不是做一个平台，而是让智用、智投、智管真正进入业务现场</a:t>
            </a:r>
          </a:p>
        </p:txBody>
      </p:sp>
      <p:sp>
        <p:nvSpPr>
          <p:cNvPr id="64" name="Oval 63"/>
          <p:cNvSpPr/>
          <p:nvPr/>
        </p:nvSpPr>
        <p:spPr>
          <a:xfrm>
            <a:off x="1874519" y="2103120"/>
            <a:ext cx="1188720" cy="1188720"/>
          </a:xfrm>
          <a:prstGeom prst="ellipse">
            <a:avLst/>
          </a:prstGeom>
          <a:solidFill>
            <a:srgbClr val="0A3558"/>
          </a:solidFill>
          <a:ln w="1778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2139696" y="2618475"/>
            <a:ext cx="658368" cy="296265"/>
          </a:xfrm>
          <a:prstGeom prst="rect">
            <a:avLst/>
          </a:prstGeom>
          <a:solidFill>
            <a:srgbClr val="0A4164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Isosceles Triangle 65"/>
          <p:cNvSpPr/>
          <p:nvPr/>
        </p:nvSpPr>
        <p:spPr>
          <a:xfrm>
            <a:off x="2087026" y="2368296"/>
            <a:ext cx="763706" cy="342351"/>
          </a:xfrm>
          <a:prstGeom prst="triangle">
            <a:avLst/>
          </a:prstGeom>
          <a:solidFill>
            <a:srgbClr val="9EEBFF"/>
          </a:solidFill>
          <a:ln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2403043" y="2730398"/>
            <a:ext cx="131673" cy="184343"/>
          </a:xfrm>
          <a:prstGeom prst="rect">
            <a:avLst/>
          </a:prstGeom>
          <a:solidFill>
            <a:srgbClr val="06182D"/>
          </a:solidFill>
          <a:ln w="762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143000" y="3520440"/>
            <a:ext cx="2651760" cy="4572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400" b="1">
                <a:solidFill>
                  <a:srgbClr val="F7FBFF"/>
                </a:solidFill>
                <a:latin typeface="Noto Serif CJK SC"/>
              </a:rPr>
              <a:t>智用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325880" y="4069080"/>
            <a:ext cx="237744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200" b="0">
                <a:solidFill>
                  <a:srgbClr val="A7C5D8"/>
                </a:solidFill>
                <a:latin typeface="Noto Sans CJK SC"/>
              </a:rPr>
              <a:t>○  空闲可见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325880" y="4462272"/>
            <a:ext cx="237744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200" b="0">
                <a:solidFill>
                  <a:srgbClr val="A7C5D8"/>
                </a:solidFill>
                <a:latin typeface="Noto Sans CJK SC"/>
              </a:rPr>
              <a:t>○  一键调度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325880" y="4855464"/>
            <a:ext cx="237744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200" b="0">
                <a:solidFill>
                  <a:srgbClr val="A7C5D8"/>
                </a:solidFill>
                <a:latin typeface="Noto Sans CJK SC"/>
              </a:rPr>
              <a:t>○  故障报修</a:t>
            </a:r>
          </a:p>
        </p:txBody>
      </p:sp>
      <p:sp>
        <p:nvSpPr>
          <p:cNvPr id="72" name="Oval 71"/>
          <p:cNvSpPr/>
          <p:nvPr/>
        </p:nvSpPr>
        <p:spPr>
          <a:xfrm>
            <a:off x="5669280" y="2103120"/>
            <a:ext cx="1188720" cy="1188720"/>
          </a:xfrm>
          <a:prstGeom prst="ellipse">
            <a:avLst/>
          </a:prstGeom>
          <a:solidFill>
            <a:srgbClr val="0A3558"/>
          </a:solidFill>
          <a:ln w="1778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987125" y="2697480"/>
            <a:ext cx="111922" cy="164592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164884" y="2585557"/>
            <a:ext cx="111922" cy="276514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342644" y="2453883"/>
            <a:ext cx="111922" cy="408188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" name="Connector 75"/>
          <p:cNvCxnSpPr/>
          <p:nvPr/>
        </p:nvCxnSpPr>
        <p:spPr>
          <a:xfrm>
            <a:off x="5960790" y="2888406"/>
            <a:ext cx="618866" cy="0"/>
          </a:xfrm>
          <a:prstGeom prst="line">
            <a:avLst/>
          </a:prstGeom>
          <a:ln w="1270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4937760" y="3520440"/>
            <a:ext cx="2651760" cy="4572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400" b="1">
                <a:solidFill>
                  <a:srgbClr val="F7FBFF"/>
                </a:solidFill>
                <a:latin typeface="Noto Serif CJK SC"/>
              </a:rPr>
              <a:t>智投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120640" y="4069080"/>
            <a:ext cx="237744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200" b="0">
                <a:solidFill>
                  <a:srgbClr val="A7C5D8"/>
                </a:solidFill>
                <a:latin typeface="Noto Sans CJK SC"/>
              </a:rPr>
              <a:t>○  需求识别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120640" y="4462272"/>
            <a:ext cx="237744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200" b="0">
                <a:solidFill>
                  <a:srgbClr val="A7C5D8"/>
                </a:solidFill>
                <a:latin typeface="Noto Sans CJK SC"/>
              </a:rPr>
              <a:t>○  缺口测算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120640" y="4855464"/>
            <a:ext cx="237744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200" b="0">
                <a:solidFill>
                  <a:srgbClr val="A7C5D8"/>
                </a:solidFill>
                <a:latin typeface="Noto Sans CJK SC"/>
              </a:rPr>
              <a:t>○  投入更准</a:t>
            </a:r>
          </a:p>
        </p:txBody>
      </p:sp>
      <p:sp>
        <p:nvSpPr>
          <p:cNvPr id="81" name="Oval 80"/>
          <p:cNvSpPr/>
          <p:nvPr/>
        </p:nvSpPr>
        <p:spPr>
          <a:xfrm>
            <a:off x="9464040" y="2103120"/>
            <a:ext cx="1188720" cy="1188720"/>
          </a:xfrm>
          <a:prstGeom prst="ellipse">
            <a:avLst/>
          </a:prstGeom>
          <a:solidFill>
            <a:srgbClr val="0A3558"/>
          </a:solidFill>
          <a:ln w="1778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9814803" y="2453883"/>
            <a:ext cx="487192" cy="487192"/>
          </a:xfrm>
          <a:prstGeom prst="ellipse">
            <a:avLst/>
          </a:prstGeom>
          <a:solidFill>
            <a:srgbClr val="0C4A70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9966228" y="2605308"/>
            <a:ext cx="184343" cy="184343"/>
          </a:xfrm>
          <a:prstGeom prst="ellipse">
            <a:avLst/>
          </a:prstGeom>
          <a:solidFill>
            <a:srgbClr val="06182D"/>
          </a:solidFill>
          <a:ln w="12700">
            <a:solidFill>
              <a:srgbClr val="9E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0328330" y="2651394"/>
            <a:ext cx="92171" cy="92171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0235771" y="2874851"/>
            <a:ext cx="92171" cy="92171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0012314" y="2967410"/>
            <a:ext cx="92171" cy="92171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788856" y="2874851"/>
            <a:ext cx="92171" cy="92171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9696297" y="2651394"/>
            <a:ext cx="92171" cy="92171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9788856" y="2427936"/>
            <a:ext cx="92171" cy="92171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0012314" y="2335377"/>
            <a:ext cx="92171" cy="92171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0235771" y="2427936"/>
            <a:ext cx="92171" cy="92171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732520" y="3520440"/>
            <a:ext cx="2651760" cy="4572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400" b="1">
                <a:solidFill>
                  <a:srgbClr val="F7FBFF"/>
                </a:solidFill>
                <a:latin typeface="Noto Serif CJK SC"/>
              </a:rPr>
              <a:t>智管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915400" y="4069080"/>
            <a:ext cx="237744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200" b="0">
                <a:solidFill>
                  <a:srgbClr val="A7C5D8"/>
                </a:solidFill>
                <a:latin typeface="Noto Sans CJK SC"/>
              </a:rPr>
              <a:t>○  运行监测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915400" y="4462272"/>
            <a:ext cx="237744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200" b="0">
                <a:solidFill>
                  <a:srgbClr val="A7C5D8"/>
                </a:solidFill>
                <a:latin typeface="Noto Sans CJK SC"/>
              </a:rPr>
              <a:t>○  维修留痕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15400" y="4855464"/>
            <a:ext cx="237744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200" b="0">
                <a:solidFill>
                  <a:srgbClr val="A7C5D8"/>
                </a:solidFill>
                <a:latin typeface="Noto Sans CJK SC"/>
              </a:rPr>
              <a:t>○  预警闭环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828800" y="5806440"/>
            <a:ext cx="8503920" cy="4572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700" b="1">
                <a:solidFill>
                  <a:srgbClr val="23C8F6"/>
                </a:solidFill>
                <a:latin typeface="Noto Sans CJK SC"/>
              </a:rPr>
              <a:t>让资源调得动、投入算得清、运行管得住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可编辑_深蓝背景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971800" y="1737360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401568" y="283464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831335" y="566928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261103" y="850392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690872" y="1133856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120640" y="1417320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550407" y="1700784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980176" y="246888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9944" y="530352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39712" y="813815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269479" y="1097280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699248" y="1380744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129015" y="1664208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558784" y="210312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988552" y="493776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418319" y="777240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848088" y="1060704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277856" y="1344168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707624" y="1627632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137392" y="1911095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567160" y="457200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66928" y="740664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96695" y="1024128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426464" y="1307592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856231" y="1591056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286000" y="1874520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715768" y="420624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145536" y="704088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Isosceles Triangle 30"/>
          <p:cNvSpPr/>
          <p:nvPr/>
        </p:nvSpPr>
        <p:spPr>
          <a:xfrm>
            <a:off x="-731520" y="3858768"/>
            <a:ext cx="2148840" cy="914400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Isosceles Triangle 31"/>
          <p:cNvSpPr/>
          <p:nvPr/>
        </p:nvSpPr>
        <p:spPr>
          <a:xfrm>
            <a:off x="777239" y="3657600"/>
            <a:ext cx="2148840" cy="1115568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sosceles Triangle 32"/>
          <p:cNvSpPr/>
          <p:nvPr/>
        </p:nvSpPr>
        <p:spPr>
          <a:xfrm>
            <a:off x="2286000" y="3456432"/>
            <a:ext cx="2148840" cy="1316736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sosceles Triangle 33"/>
          <p:cNvSpPr/>
          <p:nvPr/>
        </p:nvSpPr>
        <p:spPr>
          <a:xfrm>
            <a:off x="3794759" y="3858768"/>
            <a:ext cx="2148840" cy="914400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Isosceles Triangle 34"/>
          <p:cNvSpPr/>
          <p:nvPr/>
        </p:nvSpPr>
        <p:spPr>
          <a:xfrm>
            <a:off x="5303520" y="3657600"/>
            <a:ext cx="2148840" cy="1115568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sosceles Triangle 35"/>
          <p:cNvSpPr/>
          <p:nvPr/>
        </p:nvSpPr>
        <p:spPr>
          <a:xfrm>
            <a:off x="6812280" y="3456432"/>
            <a:ext cx="2148840" cy="1316736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sosceles Triangle 36"/>
          <p:cNvSpPr/>
          <p:nvPr/>
        </p:nvSpPr>
        <p:spPr>
          <a:xfrm>
            <a:off x="8321039" y="3858768"/>
            <a:ext cx="2148840" cy="914400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sosceles Triangle 37"/>
          <p:cNvSpPr/>
          <p:nvPr/>
        </p:nvSpPr>
        <p:spPr>
          <a:xfrm>
            <a:off x="9829799" y="3657600"/>
            <a:ext cx="2148840" cy="1115568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Isosceles Triangle 38"/>
          <p:cNvSpPr/>
          <p:nvPr/>
        </p:nvSpPr>
        <p:spPr>
          <a:xfrm>
            <a:off x="11338559" y="3456432"/>
            <a:ext cx="2148840" cy="1316736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Isosceles Triangle 39"/>
          <p:cNvSpPr/>
          <p:nvPr/>
        </p:nvSpPr>
        <p:spPr>
          <a:xfrm>
            <a:off x="-731520" y="4050792"/>
            <a:ext cx="2148840" cy="1115568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Isosceles Triangle 40"/>
          <p:cNvSpPr/>
          <p:nvPr/>
        </p:nvSpPr>
        <p:spPr>
          <a:xfrm>
            <a:off x="777239" y="3849624"/>
            <a:ext cx="2148840" cy="1316736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Isosceles Triangle 41"/>
          <p:cNvSpPr/>
          <p:nvPr/>
        </p:nvSpPr>
        <p:spPr>
          <a:xfrm>
            <a:off x="2286000" y="4251960"/>
            <a:ext cx="2148840" cy="914400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Isosceles Triangle 42"/>
          <p:cNvSpPr/>
          <p:nvPr/>
        </p:nvSpPr>
        <p:spPr>
          <a:xfrm>
            <a:off x="3794759" y="4050792"/>
            <a:ext cx="2148840" cy="1115568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Isosceles Triangle 43"/>
          <p:cNvSpPr/>
          <p:nvPr/>
        </p:nvSpPr>
        <p:spPr>
          <a:xfrm>
            <a:off x="5303520" y="3849624"/>
            <a:ext cx="2148840" cy="1316736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Isosceles Triangle 44"/>
          <p:cNvSpPr/>
          <p:nvPr/>
        </p:nvSpPr>
        <p:spPr>
          <a:xfrm>
            <a:off x="6812280" y="4251960"/>
            <a:ext cx="2148840" cy="914400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Isosceles Triangle 45"/>
          <p:cNvSpPr/>
          <p:nvPr/>
        </p:nvSpPr>
        <p:spPr>
          <a:xfrm>
            <a:off x="8321039" y="4050792"/>
            <a:ext cx="2148840" cy="1115568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Isosceles Triangle 46"/>
          <p:cNvSpPr/>
          <p:nvPr/>
        </p:nvSpPr>
        <p:spPr>
          <a:xfrm>
            <a:off x="9829799" y="3849624"/>
            <a:ext cx="2148840" cy="1316736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Isosceles Triangle 47"/>
          <p:cNvSpPr/>
          <p:nvPr/>
        </p:nvSpPr>
        <p:spPr>
          <a:xfrm>
            <a:off x="11338559" y="4251960"/>
            <a:ext cx="2148840" cy="914400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Isosceles Triangle 48"/>
          <p:cNvSpPr/>
          <p:nvPr/>
        </p:nvSpPr>
        <p:spPr>
          <a:xfrm>
            <a:off x="-731520" y="4187952"/>
            <a:ext cx="2148840" cy="1316736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Isosceles Triangle 49"/>
          <p:cNvSpPr/>
          <p:nvPr/>
        </p:nvSpPr>
        <p:spPr>
          <a:xfrm>
            <a:off x="777239" y="4590288"/>
            <a:ext cx="2148840" cy="914400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Isosceles Triangle 50"/>
          <p:cNvSpPr/>
          <p:nvPr/>
        </p:nvSpPr>
        <p:spPr>
          <a:xfrm>
            <a:off x="2286000" y="4389120"/>
            <a:ext cx="2148840" cy="1115568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Isosceles Triangle 51"/>
          <p:cNvSpPr/>
          <p:nvPr/>
        </p:nvSpPr>
        <p:spPr>
          <a:xfrm>
            <a:off x="3794759" y="4187952"/>
            <a:ext cx="2148840" cy="1316736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Isosceles Triangle 52"/>
          <p:cNvSpPr/>
          <p:nvPr/>
        </p:nvSpPr>
        <p:spPr>
          <a:xfrm>
            <a:off x="5303520" y="4590288"/>
            <a:ext cx="2148840" cy="914400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Isosceles Triangle 53"/>
          <p:cNvSpPr/>
          <p:nvPr/>
        </p:nvSpPr>
        <p:spPr>
          <a:xfrm>
            <a:off x="6812280" y="4389120"/>
            <a:ext cx="2148840" cy="1115568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Isosceles Triangle 54"/>
          <p:cNvSpPr/>
          <p:nvPr/>
        </p:nvSpPr>
        <p:spPr>
          <a:xfrm>
            <a:off x="8321039" y="4187952"/>
            <a:ext cx="2148840" cy="1316736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Isosceles Triangle 55"/>
          <p:cNvSpPr/>
          <p:nvPr/>
        </p:nvSpPr>
        <p:spPr>
          <a:xfrm>
            <a:off x="9829799" y="4590288"/>
            <a:ext cx="2148840" cy="914400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Isosceles Triangle 56"/>
          <p:cNvSpPr/>
          <p:nvPr/>
        </p:nvSpPr>
        <p:spPr>
          <a:xfrm>
            <a:off x="11338559" y="4389120"/>
            <a:ext cx="2148840" cy="1115568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0" y="5715000"/>
            <a:ext cx="12188952" cy="0"/>
          </a:xfrm>
          <a:prstGeom prst="line">
            <a:avLst/>
          </a:prstGeom>
          <a:ln w="15240">
            <a:solidFill>
              <a:srgbClr val="0D4C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749808" y="347472"/>
            <a:ext cx="10698480" cy="6217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000" b="1">
                <a:solidFill>
                  <a:srgbClr val="23C8F6"/>
                </a:solidFill>
                <a:latin typeface="Noto Serif CJK SC"/>
              </a:rPr>
              <a:t>智用：调度与抢修，真正落到烟农手里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9808" y="310896"/>
            <a:ext cx="10698480" cy="6217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000" b="1">
                <a:solidFill>
                  <a:srgbClr val="F7FBFF"/>
                </a:solidFill>
                <a:latin typeface="Noto Serif CJK SC"/>
              </a:rPr>
              <a:t>智用：调度与抢修，真正落到烟农手里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2194560" y="960120"/>
            <a:ext cx="1508760" cy="0"/>
          </a:xfrm>
          <a:prstGeom prst="line">
            <a:avLst/>
          </a:prstGeom>
          <a:ln w="1397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8485632" y="960120"/>
            <a:ext cx="1508760" cy="0"/>
          </a:xfrm>
          <a:prstGeom prst="line">
            <a:avLst/>
          </a:prstGeom>
          <a:ln w="1397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1280160" y="950976"/>
            <a:ext cx="9601200" cy="34747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300" b="0">
                <a:solidFill>
                  <a:srgbClr val="A7C5D8"/>
                </a:solidFill>
                <a:latin typeface="Noto Sans CJK SC"/>
              </a:rPr>
              <a:t>从“打电话找房、找人、找配件”变成一键发起、过程可见、结果回写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11480" y="1554480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01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211579" y="1713585"/>
            <a:ext cx="502920" cy="226314"/>
          </a:xfrm>
          <a:prstGeom prst="rect">
            <a:avLst/>
          </a:prstGeom>
          <a:solidFill>
            <a:srgbClr val="0A4164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Isosceles Triangle 65"/>
          <p:cNvSpPr/>
          <p:nvPr/>
        </p:nvSpPr>
        <p:spPr>
          <a:xfrm>
            <a:off x="1171346" y="1522476"/>
            <a:ext cx="583387" cy="261518"/>
          </a:xfrm>
          <a:prstGeom prst="triangle">
            <a:avLst/>
          </a:prstGeom>
          <a:solidFill>
            <a:srgbClr val="9EEBFF"/>
          </a:solidFill>
          <a:ln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412748" y="1799082"/>
            <a:ext cx="100584" cy="140817"/>
          </a:xfrm>
          <a:prstGeom prst="rect">
            <a:avLst/>
          </a:prstGeom>
          <a:solidFill>
            <a:srgbClr val="06182D"/>
          </a:solidFill>
          <a:ln w="762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920240" y="1554480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找空闲房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920240" y="1993391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状态可见 / 就近可选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834640" y="2148840"/>
            <a:ext cx="54864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500" b="1">
                <a:solidFill>
                  <a:srgbClr val="23C8F6"/>
                </a:solidFill>
                <a:latin typeface="DejaVu Sans"/>
              </a:rPr>
              <a:t>››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291840" y="1554480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02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167378" y="1562709"/>
            <a:ext cx="352044" cy="422452"/>
          </a:xfrm>
          <a:prstGeom prst="rect">
            <a:avLst/>
          </a:prstGeom>
          <a:solidFill>
            <a:srgbClr val="0A4164"/>
          </a:solidFill>
          <a:ln w="12700">
            <a:solidFill>
              <a:srgbClr val="9E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" name="Connector 72"/>
          <p:cNvCxnSpPr/>
          <p:nvPr/>
        </p:nvCxnSpPr>
        <p:spPr>
          <a:xfrm>
            <a:off x="4232757" y="1683410"/>
            <a:ext cx="221285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4232757" y="1773936"/>
            <a:ext cx="221285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4232757" y="1864461"/>
            <a:ext cx="221285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4800600" y="1554480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发起调度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800600" y="1993391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线上申请 / 一键提交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715000" y="2148840"/>
            <a:ext cx="54864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500" b="1">
                <a:solidFill>
                  <a:srgbClr val="23C8F6"/>
                </a:solidFill>
                <a:latin typeface="DejaVu Sans"/>
              </a:rPr>
              <a:t>››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172200" y="1554480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03</a:t>
            </a:r>
          </a:p>
        </p:txBody>
      </p:sp>
      <p:sp>
        <p:nvSpPr>
          <p:cNvPr id="80" name="Oval 79"/>
          <p:cNvSpPr/>
          <p:nvPr/>
        </p:nvSpPr>
        <p:spPr>
          <a:xfrm>
            <a:off x="7037679" y="1587855"/>
            <a:ext cx="372160" cy="372160"/>
          </a:xfrm>
          <a:prstGeom prst="ellipse">
            <a:avLst/>
          </a:prstGeom>
          <a:solidFill>
            <a:srgbClr val="0C4A70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7153351" y="1703527"/>
            <a:ext cx="140817" cy="140817"/>
          </a:xfrm>
          <a:prstGeom prst="ellipse">
            <a:avLst/>
          </a:prstGeom>
          <a:solidFill>
            <a:srgbClr val="06182D"/>
          </a:solidFill>
          <a:ln w="12700">
            <a:solidFill>
              <a:srgbClr val="9E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429957" y="1738731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359252" y="1909428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188555" y="1980133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017858" y="1909428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947154" y="1738731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017858" y="1568034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188555" y="1497330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359252" y="1568034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680960" y="1554480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故障报修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680960" y="1993391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定位问题 / 自动派单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595360" y="2148840"/>
            <a:ext cx="54864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500" b="1">
                <a:solidFill>
                  <a:srgbClr val="23C8F6"/>
                </a:solidFill>
                <a:latin typeface="DejaVu Sans"/>
              </a:rPr>
              <a:t>››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052559" y="1554480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04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928097" y="1562709"/>
            <a:ext cx="352044" cy="422452"/>
          </a:xfrm>
          <a:prstGeom prst="rect">
            <a:avLst/>
          </a:prstGeom>
          <a:solidFill>
            <a:srgbClr val="0A4164"/>
          </a:solidFill>
          <a:ln w="12700">
            <a:solidFill>
              <a:srgbClr val="9E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5" name="Connector 94"/>
          <p:cNvCxnSpPr/>
          <p:nvPr/>
        </p:nvCxnSpPr>
        <p:spPr>
          <a:xfrm>
            <a:off x="9993477" y="1683410"/>
            <a:ext cx="221285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993477" y="1773936"/>
            <a:ext cx="221285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993477" y="1864461"/>
            <a:ext cx="221285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10561319" y="1554480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评价回写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561319" y="1993391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过程留痕 / 服务闭环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3794760" y="3794760"/>
            <a:ext cx="1874519" cy="1234440"/>
          </a:xfrm>
          <a:prstGeom prst="roundRect">
            <a:avLst/>
          </a:prstGeom>
          <a:solidFill>
            <a:srgbClr val="0A2C4A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977639" y="4041648"/>
            <a:ext cx="1508760" cy="6858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200" b="1">
                <a:solidFill>
                  <a:srgbClr val="F5D071"/>
                </a:solidFill>
                <a:latin typeface="Noto Sans CJK SC"/>
              </a:rPr>
              <a:t>真实小程序
调度申请截图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8915400" y="3794760"/>
            <a:ext cx="1874519" cy="1234440"/>
          </a:xfrm>
          <a:prstGeom prst="roundRect">
            <a:avLst/>
          </a:prstGeom>
          <a:solidFill>
            <a:srgbClr val="0A2C4A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9098280" y="4041648"/>
            <a:ext cx="1508760" cy="6858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200" b="1">
                <a:solidFill>
                  <a:srgbClr val="F5D071"/>
                </a:solidFill>
                <a:latin typeface="Noto Sans CJK SC"/>
              </a:rPr>
              <a:t>真实工单/评价
截图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828800" y="5760720"/>
            <a:ext cx="8503920" cy="47548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600" b="1">
                <a:solidFill>
                  <a:srgbClr val="23C8F6"/>
                </a:solidFill>
                <a:latin typeface="Noto Sans CJK SC"/>
              </a:rPr>
              <a:t>磨坪站雷击案例：精准诊断2处故障部件，3小时内完成抢修复产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可编辑_深蓝背景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36976" y="1892808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66744" y="438912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096511" y="722376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26279" y="1005840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956048" y="1289304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385816" y="1572768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815583" y="1856232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245352" y="402336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675120" y="685800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104888" y="969264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534656" y="1252728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964423" y="1536192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394192" y="1819656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823960" y="365760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253728" y="649224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83496" y="932688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13264" y="1216151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543032" y="1499616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972800" y="1783080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02567" y="329184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02335" y="612647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32104" y="896112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261872" y="1179576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691640" y="1463039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121408" y="1746504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551176" y="292608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980944" y="576072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410712" y="859536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Isosceles Triangle 30"/>
          <p:cNvSpPr/>
          <p:nvPr/>
        </p:nvSpPr>
        <p:spPr>
          <a:xfrm>
            <a:off x="-731520" y="3858768"/>
            <a:ext cx="2148840" cy="914400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Isosceles Triangle 31"/>
          <p:cNvSpPr/>
          <p:nvPr/>
        </p:nvSpPr>
        <p:spPr>
          <a:xfrm>
            <a:off x="777239" y="3657600"/>
            <a:ext cx="2148840" cy="1115568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sosceles Triangle 32"/>
          <p:cNvSpPr/>
          <p:nvPr/>
        </p:nvSpPr>
        <p:spPr>
          <a:xfrm>
            <a:off x="2286000" y="3456432"/>
            <a:ext cx="2148840" cy="1316736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sosceles Triangle 33"/>
          <p:cNvSpPr/>
          <p:nvPr/>
        </p:nvSpPr>
        <p:spPr>
          <a:xfrm>
            <a:off x="3794759" y="3858768"/>
            <a:ext cx="2148840" cy="914400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Isosceles Triangle 34"/>
          <p:cNvSpPr/>
          <p:nvPr/>
        </p:nvSpPr>
        <p:spPr>
          <a:xfrm>
            <a:off x="5303520" y="3657600"/>
            <a:ext cx="2148840" cy="1115568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sosceles Triangle 35"/>
          <p:cNvSpPr/>
          <p:nvPr/>
        </p:nvSpPr>
        <p:spPr>
          <a:xfrm>
            <a:off x="6812280" y="3456432"/>
            <a:ext cx="2148840" cy="1316736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sosceles Triangle 36"/>
          <p:cNvSpPr/>
          <p:nvPr/>
        </p:nvSpPr>
        <p:spPr>
          <a:xfrm>
            <a:off x="8321039" y="3858768"/>
            <a:ext cx="2148840" cy="914400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sosceles Triangle 37"/>
          <p:cNvSpPr/>
          <p:nvPr/>
        </p:nvSpPr>
        <p:spPr>
          <a:xfrm>
            <a:off x="9829799" y="3657600"/>
            <a:ext cx="2148840" cy="1115568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Isosceles Triangle 38"/>
          <p:cNvSpPr/>
          <p:nvPr/>
        </p:nvSpPr>
        <p:spPr>
          <a:xfrm>
            <a:off x="11338559" y="3456432"/>
            <a:ext cx="2148840" cy="1316736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Isosceles Triangle 39"/>
          <p:cNvSpPr/>
          <p:nvPr/>
        </p:nvSpPr>
        <p:spPr>
          <a:xfrm>
            <a:off x="-731520" y="4050792"/>
            <a:ext cx="2148840" cy="1115568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Isosceles Triangle 40"/>
          <p:cNvSpPr/>
          <p:nvPr/>
        </p:nvSpPr>
        <p:spPr>
          <a:xfrm>
            <a:off x="777239" y="3849624"/>
            <a:ext cx="2148840" cy="1316736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Isosceles Triangle 41"/>
          <p:cNvSpPr/>
          <p:nvPr/>
        </p:nvSpPr>
        <p:spPr>
          <a:xfrm>
            <a:off x="2286000" y="4251960"/>
            <a:ext cx="2148840" cy="914400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Isosceles Triangle 42"/>
          <p:cNvSpPr/>
          <p:nvPr/>
        </p:nvSpPr>
        <p:spPr>
          <a:xfrm>
            <a:off x="3794759" y="4050792"/>
            <a:ext cx="2148840" cy="1115568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Isosceles Triangle 43"/>
          <p:cNvSpPr/>
          <p:nvPr/>
        </p:nvSpPr>
        <p:spPr>
          <a:xfrm>
            <a:off x="5303520" y="3849624"/>
            <a:ext cx="2148840" cy="1316736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Isosceles Triangle 44"/>
          <p:cNvSpPr/>
          <p:nvPr/>
        </p:nvSpPr>
        <p:spPr>
          <a:xfrm>
            <a:off x="6812280" y="4251960"/>
            <a:ext cx="2148840" cy="914400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Isosceles Triangle 45"/>
          <p:cNvSpPr/>
          <p:nvPr/>
        </p:nvSpPr>
        <p:spPr>
          <a:xfrm>
            <a:off x="8321039" y="4050792"/>
            <a:ext cx="2148840" cy="1115568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Isosceles Triangle 46"/>
          <p:cNvSpPr/>
          <p:nvPr/>
        </p:nvSpPr>
        <p:spPr>
          <a:xfrm>
            <a:off x="9829799" y="3849624"/>
            <a:ext cx="2148840" cy="1316736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Isosceles Triangle 47"/>
          <p:cNvSpPr/>
          <p:nvPr/>
        </p:nvSpPr>
        <p:spPr>
          <a:xfrm>
            <a:off x="11338559" y="4251960"/>
            <a:ext cx="2148840" cy="914400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Isosceles Triangle 48"/>
          <p:cNvSpPr/>
          <p:nvPr/>
        </p:nvSpPr>
        <p:spPr>
          <a:xfrm>
            <a:off x="-731520" y="4187952"/>
            <a:ext cx="2148840" cy="1316736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Isosceles Triangle 49"/>
          <p:cNvSpPr/>
          <p:nvPr/>
        </p:nvSpPr>
        <p:spPr>
          <a:xfrm>
            <a:off x="777239" y="4590288"/>
            <a:ext cx="2148840" cy="914400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Isosceles Triangle 50"/>
          <p:cNvSpPr/>
          <p:nvPr/>
        </p:nvSpPr>
        <p:spPr>
          <a:xfrm>
            <a:off x="2286000" y="4389120"/>
            <a:ext cx="2148840" cy="1115568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Isosceles Triangle 51"/>
          <p:cNvSpPr/>
          <p:nvPr/>
        </p:nvSpPr>
        <p:spPr>
          <a:xfrm>
            <a:off x="3794759" y="4187952"/>
            <a:ext cx="2148840" cy="1316736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Isosceles Triangle 52"/>
          <p:cNvSpPr/>
          <p:nvPr/>
        </p:nvSpPr>
        <p:spPr>
          <a:xfrm>
            <a:off x="5303520" y="4590288"/>
            <a:ext cx="2148840" cy="914400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Isosceles Triangle 53"/>
          <p:cNvSpPr/>
          <p:nvPr/>
        </p:nvSpPr>
        <p:spPr>
          <a:xfrm>
            <a:off x="6812280" y="4389120"/>
            <a:ext cx="2148840" cy="1115568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Isosceles Triangle 54"/>
          <p:cNvSpPr/>
          <p:nvPr/>
        </p:nvSpPr>
        <p:spPr>
          <a:xfrm>
            <a:off x="8321039" y="4187952"/>
            <a:ext cx="2148840" cy="1316736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Isosceles Triangle 55"/>
          <p:cNvSpPr/>
          <p:nvPr/>
        </p:nvSpPr>
        <p:spPr>
          <a:xfrm>
            <a:off x="9829799" y="4590288"/>
            <a:ext cx="2148840" cy="914400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Isosceles Triangle 56"/>
          <p:cNvSpPr/>
          <p:nvPr/>
        </p:nvSpPr>
        <p:spPr>
          <a:xfrm>
            <a:off x="11338559" y="4389120"/>
            <a:ext cx="2148840" cy="1115568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0" y="5715000"/>
            <a:ext cx="12188952" cy="0"/>
          </a:xfrm>
          <a:prstGeom prst="line">
            <a:avLst/>
          </a:prstGeom>
          <a:ln w="15240">
            <a:solidFill>
              <a:srgbClr val="0D4C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749808" y="347472"/>
            <a:ext cx="10698480" cy="6217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000" b="1">
                <a:solidFill>
                  <a:srgbClr val="23C8F6"/>
                </a:solidFill>
                <a:latin typeface="Noto Serif CJK SC"/>
              </a:rPr>
              <a:t>智投：把钱投到最该投的地方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9808" y="310896"/>
            <a:ext cx="10698480" cy="6217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000" b="1">
                <a:solidFill>
                  <a:srgbClr val="F7FBFF"/>
                </a:solidFill>
                <a:latin typeface="Noto Serif CJK SC"/>
              </a:rPr>
              <a:t>智投：把钱投到最该投的地方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2194560" y="960120"/>
            <a:ext cx="1508760" cy="0"/>
          </a:xfrm>
          <a:prstGeom prst="line">
            <a:avLst/>
          </a:prstGeom>
          <a:ln w="1397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8485632" y="960120"/>
            <a:ext cx="1508760" cy="0"/>
          </a:xfrm>
          <a:prstGeom prst="line">
            <a:avLst/>
          </a:prstGeom>
          <a:ln w="1397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1280160" y="950976"/>
            <a:ext cx="9601200" cy="34747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300" b="0">
                <a:solidFill>
                  <a:srgbClr val="A7C5D8"/>
                </a:solidFill>
                <a:latin typeface="Noto Sans CJK SC"/>
              </a:rPr>
              <a:t>存量先体检，增量再推演，选址和投入都用数据说话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65760" y="1508760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01</a:t>
            </a:r>
          </a:p>
        </p:txBody>
      </p:sp>
      <p:sp>
        <p:nvSpPr>
          <p:cNvPr id="65" name="Oval 64"/>
          <p:cNvSpPr/>
          <p:nvPr/>
        </p:nvSpPr>
        <p:spPr>
          <a:xfrm>
            <a:off x="1231239" y="1542135"/>
            <a:ext cx="372160" cy="372160"/>
          </a:xfrm>
          <a:prstGeom prst="ellipse">
            <a:avLst/>
          </a:prstGeom>
          <a:solidFill>
            <a:srgbClr val="0C4A70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346911" y="1657807"/>
            <a:ext cx="140817" cy="140817"/>
          </a:xfrm>
          <a:prstGeom prst="ellipse">
            <a:avLst/>
          </a:prstGeom>
          <a:solidFill>
            <a:srgbClr val="06182D"/>
          </a:solidFill>
          <a:ln w="12700">
            <a:solidFill>
              <a:srgbClr val="9E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623517" y="1693011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552812" y="1863708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382115" y="1934413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211418" y="1863708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140713" y="1693011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211418" y="1522314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382115" y="1451610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552812" y="1522314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874519" y="1508760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存量体检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874519" y="1947672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健康等级 / 寿命 / 风险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788920" y="2103120"/>
            <a:ext cx="54864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500" b="1">
                <a:solidFill>
                  <a:srgbClr val="23C8F6"/>
                </a:solidFill>
                <a:latin typeface="DejaVu Sans"/>
              </a:rPr>
              <a:t>››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273552" y="1508760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02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113885" y="1728216"/>
            <a:ext cx="85496" cy="125730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4249674" y="1642719"/>
            <a:ext cx="85496" cy="211226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4385462" y="1542135"/>
            <a:ext cx="85496" cy="311810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2" name="Connector 81"/>
          <p:cNvCxnSpPr/>
          <p:nvPr/>
        </p:nvCxnSpPr>
        <p:spPr>
          <a:xfrm>
            <a:off x="4093768" y="1874062"/>
            <a:ext cx="472745" cy="0"/>
          </a:xfrm>
          <a:prstGeom prst="line">
            <a:avLst/>
          </a:prstGeom>
          <a:ln w="1270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4782312" y="1508760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缺口识别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782312" y="1947672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有效烤能 / 需求对比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696712" y="2103120"/>
            <a:ext cx="54864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500" b="1">
                <a:solidFill>
                  <a:srgbClr val="23C8F6"/>
                </a:solidFill>
                <a:latin typeface="DejaVu Sans"/>
              </a:rPr>
              <a:t>››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181344" y="1508760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03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981444" y="1667865"/>
            <a:ext cx="502920" cy="226314"/>
          </a:xfrm>
          <a:prstGeom prst="rect">
            <a:avLst/>
          </a:prstGeom>
          <a:solidFill>
            <a:srgbClr val="0A4164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Isosceles Triangle 87"/>
          <p:cNvSpPr/>
          <p:nvPr/>
        </p:nvSpPr>
        <p:spPr>
          <a:xfrm>
            <a:off x="6941210" y="1476755"/>
            <a:ext cx="583387" cy="261518"/>
          </a:xfrm>
          <a:prstGeom prst="triangle">
            <a:avLst/>
          </a:prstGeom>
          <a:solidFill>
            <a:srgbClr val="9EEBFF"/>
          </a:solidFill>
          <a:ln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182612" y="1753362"/>
            <a:ext cx="100584" cy="140817"/>
          </a:xfrm>
          <a:prstGeom prst="rect">
            <a:avLst/>
          </a:prstGeom>
          <a:solidFill>
            <a:srgbClr val="06182D"/>
          </a:solidFill>
          <a:ln w="762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690104" y="1508760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选址推演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690104" y="1947672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村组位置 / 服务半径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604504" y="2103120"/>
            <a:ext cx="54864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500" b="1">
                <a:solidFill>
                  <a:srgbClr val="23C8F6"/>
                </a:solidFill>
                <a:latin typeface="DejaVu Sans"/>
              </a:rPr>
              <a:t>››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089136" y="1508760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04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929469" y="1728216"/>
            <a:ext cx="85496" cy="125730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0065258" y="1642719"/>
            <a:ext cx="85496" cy="211226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0201046" y="1542135"/>
            <a:ext cx="85496" cy="311810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7" name="Connector 96"/>
          <p:cNvCxnSpPr/>
          <p:nvPr/>
        </p:nvCxnSpPr>
        <p:spPr>
          <a:xfrm>
            <a:off x="9909352" y="1874062"/>
            <a:ext cx="472745" cy="0"/>
          </a:xfrm>
          <a:prstGeom prst="line">
            <a:avLst/>
          </a:prstGeom>
          <a:ln w="1270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10597896" y="1508760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效果复盘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597896" y="1947672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投入产出 / 使用率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31520" y="4627880"/>
            <a:ext cx="353961" cy="629920"/>
          </a:xfrm>
          <a:prstGeom prst="rect">
            <a:avLst/>
          </a:prstGeom>
          <a:solidFill>
            <a:srgbClr val="188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280160" y="4155440"/>
            <a:ext cx="353961" cy="1102360"/>
          </a:xfrm>
          <a:prstGeom prst="rect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828800" y="4470400"/>
            <a:ext cx="353961" cy="787400"/>
          </a:xfrm>
          <a:prstGeom prst="rect">
            <a:avLst/>
          </a:prstGeom>
          <a:solidFill>
            <a:srgbClr val="55E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2377439" y="3840480"/>
            <a:ext cx="353961" cy="1417320"/>
          </a:xfrm>
          <a:prstGeom prst="rect">
            <a:avLst/>
          </a:prstGeom>
          <a:solidFill>
            <a:srgbClr val="F5D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4" name="Connector 103"/>
          <p:cNvCxnSpPr/>
          <p:nvPr/>
        </p:nvCxnSpPr>
        <p:spPr>
          <a:xfrm>
            <a:off x="731520" y="5257800"/>
            <a:ext cx="2194560" cy="0"/>
          </a:xfrm>
          <a:prstGeom prst="line">
            <a:avLst/>
          </a:prstGeom>
          <a:ln w="10160">
            <a:solidFill>
              <a:srgbClr val="3D71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TextBox 104"/>
          <p:cNvSpPr txBox="1"/>
          <p:nvPr/>
        </p:nvSpPr>
        <p:spPr>
          <a:xfrm>
            <a:off x="960120" y="5303520"/>
            <a:ext cx="1737360" cy="32004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100" b="1">
                <a:solidFill>
                  <a:srgbClr val="A7C5D8"/>
                </a:solidFill>
                <a:latin typeface="Noto Sans CJK SC"/>
              </a:rPr>
              <a:t>健康分布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429000" y="4785360"/>
            <a:ext cx="283169" cy="472440"/>
          </a:xfrm>
          <a:prstGeom prst="rect">
            <a:avLst/>
          </a:prstGeom>
          <a:solidFill>
            <a:srgbClr val="188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3867912" y="4667250"/>
            <a:ext cx="283169" cy="590550"/>
          </a:xfrm>
          <a:prstGeom prst="rect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4306824" y="4312920"/>
            <a:ext cx="283169" cy="944880"/>
          </a:xfrm>
          <a:prstGeom prst="rect">
            <a:avLst/>
          </a:prstGeom>
          <a:solidFill>
            <a:srgbClr val="188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4745736" y="4076699"/>
            <a:ext cx="283169" cy="1181100"/>
          </a:xfrm>
          <a:prstGeom prst="rect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5184648" y="3840480"/>
            <a:ext cx="283169" cy="1417320"/>
          </a:xfrm>
          <a:prstGeom prst="rect">
            <a:avLst/>
          </a:prstGeom>
          <a:solidFill>
            <a:srgbClr val="188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1" name="Connector 110"/>
          <p:cNvCxnSpPr/>
          <p:nvPr/>
        </p:nvCxnSpPr>
        <p:spPr>
          <a:xfrm>
            <a:off x="3429000" y="5257800"/>
            <a:ext cx="2194560" cy="0"/>
          </a:xfrm>
          <a:prstGeom prst="line">
            <a:avLst/>
          </a:prstGeom>
          <a:ln w="10160">
            <a:solidFill>
              <a:srgbClr val="3D71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3703320" y="5303520"/>
            <a:ext cx="1737360" cy="32004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100" b="1">
                <a:solidFill>
                  <a:srgbClr val="A7C5D8"/>
                </a:solidFill>
                <a:latin typeface="Noto Sans CJK SC"/>
              </a:rPr>
              <a:t>供需缺口</a:t>
            </a:r>
          </a:p>
        </p:txBody>
      </p:sp>
      <p:sp>
        <p:nvSpPr>
          <p:cNvPr id="113" name="Oval 112"/>
          <p:cNvSpPr/>
          <p:nvPr/>
        </p:nvSpPr>
        <p:spPr>
          <a:xfrm>
            <a:off x="6583680" y="4023360"/>
            <a:ext cx="146304" cy="146304"/>
          </a:xfrm>
          <a:prstGeom prst="ellipse">
            <a:avLst/>
          </a:prstGeom>
          <a:solidFill>
            <a:srgbClr val="55E6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7223760" y="4663440"/>
            <a:ext cx="146304" cy="146304"/>
          </a:xfrm>
          <a:prstGeom prst="ellipse">
            <a:avLst/>
          </a:prstGeom>
          <a:solidFill>
            <a:srgbClr val="23C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7772400" y="4160520"/>
            <a:ext cx="146304" cy="146304"/>
          </a:xfrm>
          <a:prstGeom prst="ellipse">
            <a:avLst/>
          </a:prstGeom>
          <a:solidFill>
            <a:srgbClr val="F5D0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8321040" y="4572000"/>
            <a:ext cx="146304" cy="146304"/>
          </a:xfrm>
          <a:prstGeom prst="ellipse">
            <a:avLst/>
          </a:prstGeom>
          <a:solidFill>
            <a:srgbClr val="FF7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9281160" y="3703320"/>
            <a:ext cx="2148840" cy="6583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400" b="1">
                <a:solidFill>
                  <a:srgbClr val="F7FBFF"/>
                </a:solidFill>
                <a:latin typeface="DejaVu Serif"/>
              </a:rPr>
              <a:t>150栋</a:t>
            </a:r>
          </a:p>
        </p:txBody>
      </p:sp>
      <p:cxnSp>
        <p:nvCxnSpPr>
          <p:cNvPr id="118" name="Connector 117"/>
          <p:cNvCxnSpPr/>
          <p:nvPr/>
        </p:nvCxnSpPr>
        <p:spPr>
          <a:xfrm>
            <a:off x="9753904" y="4407408"/>
            <a:ext cx="1203351" cy="0"/>
          </a:xfrm>
          <a:prstGeom prst="line">
            <a:avLst/>
          </a:prstGeom>
          <a:ln w="1524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9281160" y="4453128"/>
            <a:ext cx="2148840" cy="42062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200" b="1">
                <a:solidFill>
                  <a:srgbClr val="A7C5D8"/>
                </a:solidFill>
                <a:latin typeface="Noto Sans CJK SC"/>
              </a:rPr>
              <a:t>核心设备升级计划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9281160" y="4709160"/>
            <a:ext cx="2148840" cy="6583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400" b="1">
                <a:solidFill>
                  <a:srgbClr val="F7FBFF"/>
                </a:solidFill>
                <a:latin typeface="DejaVu Serif"/>
              </a:rPr>
              <a:t>7栋</a:t>
            </a:r>
          </a:p>
        </p:txBody>
      </p:sp>
      <p:cxnSp>
        <p:nvCxnSpPr>
          <p:cNvPr id="121" name="Connector 120"/>
          <p:cNvCxnSpPr/>
          <p:nvPr/>
        </p:nvCxnSpPr>
        <p:spPr>
          <a:xfrm>
            <a:off x="9753904" y="5413248"/>
            <a:ext cx="1203351" cy="0"/>
          </a:xfrm>
          <a:prstGeom prst="line">
            <a:avLst/>
          </a:prstGeom>
          <a:ln w="15240">
            <a:solidFill>
              <a:srgbClr val="F5D0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TextBox 121"/>
          <p:cNvSpPr txBox="1"/>
          <p:nvPr/>
        </p:nvSpPr>
        <p:spPr>
          <a:xfrm>
            <a:off x="9281160" y="5458968"/>
            <a:ext cx="2148840" cy="42062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200" b="1">
                <a:solidFill>
                  <a:srgbClr val="A7C5D8"/>
                </a:solidFill>
                <a:latin typeface="Noto Sans CJK SC"/>
              </a:rPr>
              <a:t>肖家坪科学新建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3383280" y="5870448"/>
            <a:ext cx="539496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700" b="1">
                <a:solidFill>
                  <a:srgbClr val="23C8F6"/>
                </a:solidFill>
                <a:latin typeface="Noto Sans CJK SC"/>
              </a:rPr>
              <a:t>先调剂、再维修、最后才新建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可编辑_深蓝背景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502152" y="310896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931920" y="594360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361688" y="877824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791455" y="1161288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221224" y="1444751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650992" y="1728216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80759" y="274320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10527" y="557784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940296" y="841247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70064" y="1124712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99831" y="1408176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600" y="1691639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59367" y="237744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089136" y="521208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518904" y="804672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948672" y="1088136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78440" y="1371600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08208" y="1655064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37976" y="201168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667744" y="484632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67512" y="768096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97280" y="1051560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527048" y="1335024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956816" y="1618488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386584" y="1901952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816352" y="448056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246120" y="731520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675887" y="1014984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Isosceles Triangle 30"/>
          <p:cNvSpPr/>
          <p:nvPr/>
        </p:nvSpPr>
        <p:spPr>
          <a:xfrm>
            <a:off x="-731520" y="3858768"/>
            <a:ext cx="2148840" cy="914400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Isosceles Triangle 31"/>
          <p:cNvSpPr/>
          <p:nvPr/>
        </p:nvSpPr>
        <p:spPr>
          <a:xfrm>
            <a:off x="777239" y="3657600"/>
            <a:ext cx="2148840" cy="1115568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sosceles Triangle 32"/>
          <p:cNvSpPr/>
          <p:nvPr/>
        </p:nvSpPr>
        <p:spPr>
          <a:xfrm>
            <a:off x="2286000" y="3456432"/>
            <a:ext cx="2148840" cy="1316736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sosceles Triangle 33"/>
          <p:cNvSpPr/>
          <p:nvPr/>
        </p:nvSpPr>
        <p:spPr>
          <a:xfrm>
            <a:off x="3794759" y="3858768"/>
            <a:ext cx="2148840" cy="914400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Isosceles Triangle 34"/>
          <p:cNvSpPr/>
          <p:nvPr/>
        </p:nvSpPr>
        <p:spPr>
          <a:xfrm>
            <a:off x="5303520" y="3657600"/>
            <a:ext cx="2148840" cy="1115568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sosceles Triangle 35"/>
          <p:cNvSpPr/>
          <p:nvPr/>
        </p:nvSpPr>
        <p:spPr>
          <a:xfrm>
            <a:off x="6812280" y="3456432"/>
            <a:ext cx="2148840" cy="1316736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sosceles Triangle 36"/>
          <p:cNvSpPr/>
          <p:nvPr/>
        </p:nvSpPr>
        <p:spPr>
          <a:xfrm>
            <a:off x="8321039" y="3858768"/>
            <a:ext cx="2148840" cy="914400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sosceles Triangle 37"/>
          <p:cNvSpPr/>
          <p:nvPr/>
        </p:nvSpPr>
        <p:spPr>
          <a:xfrm>
            <a:off x="9829799" y="3657600"/>
            <a:ext cx="2148840" cy="1115568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Isosceles Triangle 38"/>
          <p:cNvSpPr/>
          <p:nvPr/>
        </p:nvSpPr>
        <p:spPr>
          <a:xfrm>
            <a:off x="11338559" y="3456432"/>
            <a:ext cx="2148840" cy="1316736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Isosceles Triangle 39"/>
          <p:cNvSpPr/>
          <p:nvPr/>
        </p:nvSpPr>
        <p:spPr>
          <a:xfrm>
            <a:off x="-731520" y="4050792"/>
            <a:ext cx="2148840" cy="1115568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Isosceles Triangle 40"/>
          <p:cNvSpPr/>
          <p:nvPr/>
        </p:nvSpPr>
        <p:spPr>
          <a:xfrm>
            <a:off x="777239" y="3849624"/>
            <a:ext cx="2148840" cy="1316736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Isosceles Triangle 41"/>
          <p:cNvSpPr/>
          <p:nvPr/>
        </p:nvSpPr>
        <p:spPr>
          <a:xfrm>
            <a:off x="2286000" y="4251960"/>
            <a:ext cx="2148840" cy="914400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Isosceles Triangle 42"/>
          <p:cNvSpPr/>
          <p:nvPr/>
        </p:nvSpPr>
        <p:spPr>
          <a:xfrm>
            <a:off x="3794759" y="4050792"/>
            <a:ext cx="2148840" cy="1115568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Isosceles Triangle 43"/>
          <p:cNvSpPr/>
          <p:nvPr/>
        </p:nvSpPr>
        <p:spPr>
          <a:xfrm>
            <a:off x="5303520" y="3849624"/>
            <a:ext cx="2148840" cy="1316736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Isosceles Triangle 44"/>
          <p:cNvSpPr/>
          <p:nvPr/>
        </p:nvSpPr>
        <p:spPr>
          <a:xfrm>
            <a:off x="6812280" y="4251960"/>
            <a:ext cx="2148840" cy="914400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Isosceles Triangle 45"/>
          <p:cNvSpPr/>
          <p:nvPr/>
        </p:nvSpPr>
        <p:spPr>
          <a:xfrm>
            <a:off x="8321039" y="4050792"/>
            <a:ext cx="2148840" cy="1115568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Isosceles Triangle 46"/>
          <p:cNvSpPr/>
          <p:nvPr/>
        </p:nvSpPr>
        <p:spPr>
          <a:xfrm>
            <a:off x="9829799" y="3849624"/>
            <a:ext cx="2148840" cy="1316736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Isosceles Triangle 47"/>
          <p:cNvSpPr/>
          <p:nvPr/>
        </p:nvSpPr>
        <p:spPr>
          <a:xfrm>
            <a:off x="11338559" y="4251960"/>
            <a:ext cx="2148840" cy="914400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Isosceles Triangle 48"/>
          <p:cNvSpPr/>
          <p:nvPr/>
        </p:nvSpPr>
        <p:spPr>
          <a:xfrm>
            <a:off x="-731520" y="4187952"/>
            <a:ext cx="2148840" cy="1316736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Isosceles Triangle 49"/>
          <p:cNvSpPr/>
          <p:nvPr/>
        </p:nvSpPr>
        <p:spPr>
          <a:xfrm>
            <a:off x="777239" y="4590288"/>
            <a:ext cx="2148840" cy="914400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Isosceles Triangle 50"/>
          <p:cNvSpPr/>
          <p:nvPr/>
        </p:nvSpPr>
        <p:spPr>
          <a:xfrm>
            <a:off x="2286000" y="4389120"/>
            <a:ext cx="2148840" cy="1115568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Isosceles Triangle 51"/>
          <p:cNvSpPr/>
          <p:nvPr/>
        </p:nvSpPr>
        <p:spPr>
          <a:xfrm>
            <a:off x="3794759" y="4187952"/>
            <a:ext cx="2148840" cy="1316736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Isosceles Triangle 52"/>
          <p:cNvSpPr/>
          <p:nvPr/>
        </p:nvSpPr>
        <p:spPr>
          <a:xfrm>
            <a:off x="5303520" y="4590288"/>
            <a:ext cx="2148840" cy="914400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Isosceles Triangle 53"/>
          <p:cNvSpPr/>
          <p:nvPr/>
        </p:nvSpPr>
        <p:spPr>
          <a:xfrm>
            <a:off x="6812280" y="4389120"/>
            <a:ext cx="2148840" cy="1115568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Isosceles Triangle 54"/>
          <p:cNvSpPr/>
          <p:nvPr/>
        </p:nvSpPr>
        <p:spPr>
          <a:xfrm>
            <a:off x="8321039" y="4187952"/>
            <a:ext cx="2148840" cy="1316736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Isosceles Triangle 55"/>
          <p:cNvSpPr/>
          <p:nvPr/>
        </p:nvSpPr>
        <p:spPr>
          <a:xfrm>
            <a:off x="9829799" y="4590288"/>
            <a:ext cx="2148840" cy="914400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Isosceles Triangle 56"/>
          <p:cNvSpPr/>
          <p:nvPr/>
        </p:nvSpPr>
        <p:spPr>
          <a:xfrm>
            <a:off x="11338559" y="4389120"/>
            <a:ext cx="2148840" cy="1115568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0" y="5715000"/>
            <a:ext cx="12188952" cy="0"/>
          </a:xfrm>
          <a:prstGeom prst="line">
            <a:avLst/>
          </a:prstGeom>
          <a:ln w="15240">
            <a:solidFill>
              <a:srgbClr val="0D4C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749808" y="347472"/>
            <a:ext cx="10698480" cy="6217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000" b="1">
                <a:solidFill>
                  <a:srgbClr val="23C8F6"/>
                </a:solidFill>
                <a:latin typeface="Noto Serif CJK SC"/>
              </a:rPr>
              <a:t>智管：让每一座烤房都有可追溯的生命周期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9808" y="310896"/>
            <a:ext cx="10698480" cy="6217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000" b="1">
                <a:solidFill>
                  <a:srgbClr val="F7FBFF"/>
                </a:solidFill>
                <a:latin typeface="Noto Serif CJK SC"/>
              </a:rPr>
              <a:t>智管：让每一座烤房都有可追溯的生命周期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2194560" y="960120"/>
            <a:ext cx="1508760" cy="0"/>
          </a:xfrm>
          <a:prstGeom prst="line">
            <a:avLst/>
          </a:prstGeom>
          <a:ln w="1397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8485632" y="960120"/>
            <a:ext cx="1508760" cy="0"/>
          </a:xfrm>
          <a:prstGeom prst="line">
            <a:avLst/>
          </a:prstGeom>
          <a:ln w="1397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1280160" y="950976"/>
            <a:ext cx="9601200" cy="34747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300" b="0">
                <a:solidFill>
                  <a:srgbClr val="A7C5D8"/>
                </a:solidFill>
                <a:latin typeface="Noto Sans CJK SC"/>
              </a:rPr>
              <a:t>建档、巡检、维修、评价不断档，数据持续回写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88720" y="2011679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01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064258" y="2019909"/>
            <a:ext cx="352044" cy="422452"/>
          </a:xfrm>
          <a:prstGeom prst="rect">
            <a:avLst/>
          </a:prstGeom>
          <a:solidFill>
            <a:srgbClr val="0A4164"/>
          </a:solidFill>
          <a:ln w="12700">
            <a:solidFill>
              <a:srgbClr val="9E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" name="Connector 65"/>
          <p:cNvCxnSpPr/>
          <p:nvPr/>
        </p:nvCxnSpPr>
        <p:spPr>
          <a:xfrm>
            <a:off x="2129637" y="2140610"/>
            <a:ext cx="221285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2129637" y="2231135"/>
            <a:ext cx="221285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2129637" y="2321661"/>
            <a:ext cx="221285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2697480" y="2011679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建档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697480" y="2450591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一房一档 / 责任到人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452359" y="2011679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02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292693" y="2231135"/>
            <a:ext cx="85496" cy="125730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428482" y="2145639"/>
            <a:ext cx="85496" cy="211226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564270" y="2045055"/>
            <a:ext cx="85496" cy="311810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" name="Connector 74"/>
          <p:cNvCxnSpPr/>
          <p:nvPr/>
        </p:nvCxnSpPr>
        <p:spPr>
          <a:xfrm>
            <a:off x="8272576" y="2376982"/>
            <a:ext cx="472745" cy="0"/>
          </a:xfrm>
          <a:prstGeom prst="line">
            <a:avLst/>
          </a:prstGeom>
          <a:ln w="1270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8961119" y="2011679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巡检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961119" y="2450591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状态更新 / 风险发现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452359" y="4297680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03</a:t>
            </a:r>
          </a:p>
        </p:txBody>
      </p:sp>
      <p:sp>
        <p:nvSpPr>
          <p:cNvPr id="79" name="Oval 78"/>
          <p:cNvSpPr/>
          <p:nvPr/>
        </p:nvSpPr>
        <p:spPr>
          <a:xfrm>
            <a:off x="8317839" y="4331055"/>
            <a:ext cx="372160" cy="372160"/>
          </a:xfrm>
          <a:prstGeom prst="ellipse">
            <a:avLst/>
          </a:prstGeom>
          <a:solidFill>
            <a:srgbClr val="0C4A70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433511" y="4446727"/>
            <a:ext cx="140817" cy="140817"/>
          </a:xfrm>
          <a:prstGeom prst="ellipse">
            <a:avLst/>
          </a:prstGeom>
          <a:solidFill>
            <a:srgbClr val="06182D"/>
          </a:solidFill>
          <a:ln w="12700">
            <a:solidFill>
              <a:srgbClr val="9E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8710117" y="4481931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8639412" y="4652628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8468715" y="4723333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8298018" y="4652628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8227313" y="4481931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8298018" y="4311234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8468715" y="4240530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639412" y="4311234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961119" y="4297680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维修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961119" y="4736592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工单闭环 / 配件留痕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188720" y="4297680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04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064258" y="4305909"/>
            <a:ext cx="352044" cy="422452"/>
          </a:xfrm>
          <a:prstGeom prst="rect">
            <a:avLst/>
          </a:prstGeom>
          <a:solidFill>
            <a:srgbClr val="0A4164"/>
          </a:solidFill>
          <a:ln w="12700">
            <a:solidFill>
              <a:srgbClr val="9E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3" name="Connector 92"/>
          <p:cNvCxnSpPr/>
          <p:nvPr/>
        </p:nvCxnSpPr>
        <p:spPr>
          <a:xfrm>
            <a:off x="2129637" y="4426610"/>
            <a:ext cx="221285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2129637" y="4517136"/>
            <a:ext cx="221285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2129637" y="4607661"/>
            <a:ext cx="221285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2697480" y="4297680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回写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697480" y="4736592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评价 / 成本 / 历史沉淀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3840480" y="2514600"/>
            <a:ext cx="4160520" cy="0"/>
          </a:xfrm>
          <a:prstGeom prst="line">
            <a:avLst/>
          </a:prstGeom>
          <a:ln w="2540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692640" y="2926080"/>
            <a:ext cx="0" cy="1417320"/>
          </a:xfrm>
          <a:prstGeom prst="line">
            <a:avLst/>
          </a:prstGeom>
          <a:ln w="2540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H="1">
            <a:off x="3886200" y="5074920"/>
            <a:ext cx="4160520" cy="0"/>
          </a:xfrm>
          <a:prstGeom prst="line">
            <a:avLst/>
          </a:prstGeom>
          <a:ln w="2540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1828800" y="2971800"/>
            <a:ext cx="0" cy="1371600"/>
          </a:xfrm>
          <a:prstGeom prst="line">
            <a:avLst/>
          </a:prstGeom>
          <a:ln w="2540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Rectangle 101"/>
          <p:cNvSpPr/>
          <p:nvPr/>
        </p:nvSpPr>
        <p:spPr>
          <a:xfrm>
            <a:off x="5029200" y="3538727"/>
            <a:ext cx="1371600" cy="617220"/>
          </a:xfrm>
          <a:prstGeom prst="rect">
            <a:avLst/>
          </a:prstGeom>
          <a:solidFill>
            <a:srgbClr val="0A4164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Isosceles Triangle 102"/>
          <p:cNvSpPr/>
          <p:nvPr/>
        </p:nvSpPr>
        <p:spPr>
          <a:xfrm>
            <a:off x="4919472" y="3017520"/>
            <a:ext cx="1591055" cy="713232"/>
          </a:xfrm>
          <a:prstGeom prst="triangle">
            <a:avLst/>
          </a:prstGeom>
          <a:solidFill>
            <a:srgbClr val="9EEBFF"/>
          </a:solidFill>
          <a:ln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5577840" y="3771900"/>
            <a:ext cx="274320" cy="384048"/>
          </a:xfrm>
          <a:prstGeom prst="rect">
            <a:avLst/>
          </a:prstGeom>
          <a:solidFill>
            <a:srgbClr val="06182D"/>
          </a:solidFill>
          <a:ln w="762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617720" y="4434840"/>
            <a:ext cx="2926080" cy="7315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000" b="1">
                <a:solidFill>
                  <a:srgbClr val="F7FBFF"/>
                </a:solidFill>
                <a:latin typeface="Noto Serif CJK SC"/>
              </a:rPr>
              <a:t>档案不断档
责任不断链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可编辑_深蓝背景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767328" y="466344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97096" y="749808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626864" y="1033272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056631" y="1316736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486400" y="1600200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916168" y="1883664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345936" y="429768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775703" y="713232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205472" y="996696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35240" y="1280160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065008" y="1563624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94776" y="1847088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924544" y="393192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354312" y="676656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784080" y="960120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13848" y="1243584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643615" y="1527048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073384" y="1810512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503152" y="356616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02920" y="640080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32688" y="923544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362455" y="1207008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792224" y="1490472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221992" y="1773936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651760" y="320040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081528" y="603504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511296" y="886968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41063" y="1170432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Isosceles Triangle 30"/>
          <p:cNvSpPr/>
          <p:nvPr/>
        </p:nvSpPr>
        <p:spPr>
          <a:xfrm>
            <a:off x="-731520" y="3858768"/>
            <a:ext cx="2148840" cy="914400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Isosceles Triangle 31"/>
          <p:cNvSpPr/>
          <p:nvPr/>
        </p:nvSpPr>
        <p:spPr>
          <a:xfrm>
            <a:off x="777239" y="3657600"/>
            <a:ext cx="2148840" cy="1115568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sosceles Triangle 32"/>
          <p:cNvSpPr/>
          <p:nvPr/>
        </p:nvSpPr>
        <p:spPr>
          <a:xfrm>
            <a:off x="2286000" y="3456432"/>
            <a:ext cx="2148840" cy="1316736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sosceles Triangle 33"/>
          <p:cNvSpPr/>
          <p:nvPr/>
        </p:nvSpPr>
        <p:spPr>
          <a:xfrm>
            <a:off x="3794759" y="3858768"/>
            <a:ext cx="2148840" cy="914400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Isosceles Triangle 34"/>
          <p:cNvSpPr/>
          <p:nvPr/>
        </p:nvSpPr>
        <p:spPr>
          <a:xfrm>
            <a:off x="5303520" y="3657600"/>
            <a:ext cx="2148840" cy="1115568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sosceles Triangle 35"/>
          <p:cNvSpPr/>
          <p:nvPr/>
        </p:nvSpPr>
        <p:spPr>
          <a:xfrm>
            <a:off x="6812280" y="3456432"/>
            <a:ext cx="2148840" cy="1316736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sosceles Triangle 36"/>
          <p:cNvSpPr/>
          <p:nvPr/>
        </p:nvSpPr>
        <p:spPr>
          <a:xfrm>
            <a:off x="8321039" y="3858768"/>
            <a:ext cx="2148840" cy="914400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sosceles Triangle 37"/>
          <p:cNvSpPr/>
          <p:nvPr/>
        </p:nvSpPr>
        <p:spPr>
          <a:xfrm>
            <a:off x="9829799" y="3657600"/>
            <a:ext cx="2148840" cy="1115568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Isosceles Triangle 38"/>
          <p:cNvSpPr/>
          <p:nvPr/>
        </p:nvSpPr>
        <p:spPr>
          <a:xfrm>
            <a:off x="11338559" y="3456432"/>
            <a:ext cx="2148840" cy="1316736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Isosceles Triangle 39"/>
          <p:cNvSpPr/>
          <p:nvPr/>
        </p:nvSpPr>
        <p:spPr>
          <a:xfrm>
            <a:off x="-731520" y="4050792"/>
            <a:ext cx="2148840" cy="1115568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Isosceles Triangle 40"/>
          <p:cNvSpPr/>
          <p:nvPr/>
        </p:nvSpPr>
        <p:spPr>
          <a:xfrm>
            <a:off x="777239" y="3849624"/>
            <a:ext cx="2148840" cy="1316736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Isosceles Triangle 41"/>
          <p:cNvSpPr/>
          <p:nvPr/>
        </p:nvSpPr>
        <p:spPr>
          <a:xfrm>
            <a:off x="2286000" y="4251960"/>
            <a:ext cx="2148840" cy="914400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Isosceles Triangle 42"/>
          <p:cNvSpPr/>
          <p:nvPr/>
        </p:nvSpPr>
        <p:spPr>
          <a:xfrm>
            <a:off x="3794759" y="4050792"/>
            <a:ext cx="2148840" cy="1115568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Isosceles Triangle 43"/>
          <p:cNvSpPr/>
          <p:nvPr/>
        </p:nvSpPr>
        <p:spPr>
          <a:xfrm>
            <a:off x="5303520" y="3849624"/>
            <a:ext cx="2148840" cy="1316736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Isosceles Triangle 44"/>
          <p:cNvSpPr/>
          <p:nvPr/>
        </p:nvSpPr>
        <p:spPr>
          <a:xfrm>
            <a:off x="6812280" y="4251960"/>
            <a:ext cx="2148840" cy="914400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Isosceles Triangle 45"/>
          <p:cNvSpPr/>
          <p:nvPr/>
        </p:nvSpPr>
        <p:spPr>
          <a:xfrm>
            <a:off x="8321039" y="4050792"/>
            <a:ext cx="2148840" cy="1115568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Isosceles Triangle 46"/>
          <p:cNvSpPr/>
          <p:nvPr/>
        </p:nvSpPr>
        <p:spPr>
          <a:xfrm>
            <a:off x="9829799" y="3849624"/>
            <a:ext cx="2148840" cy="1316736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Isosceles Triangle 47"/>
          <p:cNvSpPr/>
          <p:nvPr/>
        </p:nvSpPr>
        <p:spPr>
          <a:xfrm>
            <a:off x="11338559" y="4251960"/>
            <a:ext cx="2148840" cy="914400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Isosceles Triangle 48"/>
          <p:cNvSpPr/>
          <p:nvPr/>
        </p:nvSpPr>
        <p:spPr>
          <a:xfrm>
            <a:off x="-731520" y="4187952"/>
            <a:ext cx="2148840" cy="1316736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Isosceles Triangle 49"/>
          <p:cNvSpPr/>
          <p:nvPr/>
        </p:nvSpPr>
        <p:spPr>
          <a:xfrm>
            <a:off x="777239" y="4590288"/>
            <a:ext cx="2148840" cy="914400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Isosceles Triangle 50"/>
          <p:cNvSpPr/>
          <p:nvPr/>
        </p:nvSpPr>
        <p:spPr>
          <a:xfrm>
            <a:off x="2286000" y="4389120"/>
            <a:ext cx="2148840" cy="1115568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Isosceles Triangle 51"/>
          <p:cNvSpPr/>
          <p:nvPr/>
        </p:nvSpPr>
        <p:spPr>
          <a:xfrm>
            <a:off x="3794759" y="4187952"/>
            <a:ext cx="2148840" cy="1316736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Isosceles Triangle 52"/>
          <p:cNvSpPr/>
          <p:nvPr/>
        </p:nvSpPr>
        <p:spPr>
          <a:xfrm>
            <a:off x="5303520" y="4590288"/>
            <a:ext cx="2148840" cy="914400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Isosceles Triangle 53"/>
          <p:cNvSpPr/>
          <p:nvPr/>
        </p:nvSpPr>
        <p:spPr>
          <a:xfrm>
            <a:off x="6812280" y="4389120"/>
            <a:ext cx="2148840" cy="1115568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Isosceles Triangle 54"/>
          <p:cNvSpPr/>
          <p:nvPr/>
        </p:nvSpPr>
        <p:spPr>
          <a:xfrm>
            <a:off x="8321039" y="4187952"/>
            <a:ext cx="2148840" cy="1316736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Isosceles Triangle 55"/>
          <p:cNvSpPr/>
          <p:nvPr/>
        </p:nvSpPr>
        <p:spPr>
          <a:xfrm>
            <a:off x="9829799" y="4590288"/>
            <a:ext cx="2148840" cy="914400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Isosceles Triangle 56"/>
          <p:cNvSpPr/>
          <p:nvPr/>
        </p:nvSpPr>
        <p:spPr>
          <a:xfrm>
            <a:off x="11338559" y="4389120"/>
            <a:ext cx="2148840" cy="1115568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0" y="5715000"/>
            <a:ext cx="12188952" cy="0"/>
          </a:xfrm>
          <a:prstGeom prst="line">
            <a:avLst/>
          </a:prstGeom>
          <a:ln w="15240">
            <a:solidFill>
              <a:srgbClr val="0D4C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749808" y="347472"/>
            <a:ext cx="10698480" cy="6217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000" b="1">
                <a:solidFill>
                  <a:srgbClr val="23C8F6"/>
                </a:solidFill>
                <a:latin typeface="Noto Serif CJK SC"/>
              </a:rPr>
              <a:t>四队长效：让机制跑在平台后面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9808" y="310896"/>
            <a:ext cx="10698480" cy="6217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000" b="1">
                <a:solidFill>
                  <a:srgbClr val="F7FBFF"/>
                </a:solidFill>
                <a:latin typeface="Noto Serif CJK SC"/>
              </a:rPr>
              <a:t>四队长效：让机制跑在平台后面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2194560" y="960120"/>
            <a:ext cx="1508760" cy="0"/>
          </a:xfrm>
          <a:prstGeom prst="line">
            <a:avLst/>
          </a:prstGeom>
          <a:ln w="1397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8485632" y="960120"/>
            <a:ext cx="1508760" cy="0"/>
          </a:xfrm>
          <a:prstGeom prst="line">
            <a:avLst/>
          </a:prstGeom>
          <a:ln w="1397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1280160" y="950976"/>
            <a:ext cx="9601200" cy="34747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300" b="0">
                <a:solidFill>
                  <a:srgbClr val="A7C5D8"/>
                </a:solidFill>
                <a:latin typeface="Noto Sans CJK SC"/>
              </a:rPr>
              <a:t>有人管 · 有钱管 · 有标准管 · 有机制管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02920" y="1828800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01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378457" y="1837029"/>
            <a:ext cx="352044" cy="422452"/>
          </a:xfrm>
          <a:prstGeom prst="rect">
            <a:avLst/>
          </a:prstGeom>
          <a:solidFill>
            <a:srgbClr val="0A4164"/>
          </a:solidFill>
          <a:ln w="12700">
            <a:solidFill>
              <a:srgbClr val="9E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" name="Connector 65"/>
          <p:cNvCxnSpPr/>
          <p:nvPr/>
        </p:nvCxnSpPr>
        <p:spPr>
          <a:xfrm>
            <a:off x="1443837" y="1957730"/>
            <a:ext cx="221285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1443837" y="2048256"/>
            <a:ext cx="221285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1443837" y="2138781"/>
            <a:ext cx="221285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2011680" y="1828800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专班推进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011680" y="2267712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任务统筹 / 进度督办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834639" y="2423160"/>
            <a:ext cx="54864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500" b="1">
                <a:solidFill>
                  <a:srgbClr val="23C8F6"/>
                </a:solidFill>
                <a:latin typeface="DejaVu Sans"/>
              </a:rPr>
              <a:t>››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319272" y="1828800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02</a:t>
            </a:r>
          </a:p>
        </p:txBody>
      </p:sp>
      <p:sp>
        <p:nvSpPr>
          <p:cNvPr id="73" name="Oval 72"/>
          <p:cNvSpPr/>
          <p:nvPr/>
        </p:nvSpPr>
        <p:spPr>
          <a:xfrm>
            <a:off x="4184751" y="1862175"/>
            <a:ext cx="372160" cy="372160"/>
          </a:xfrm>
          <a:prstGeom prst="ellipse">
            <a:avLst/>
          </a:prstGeom>
          <a:solidFill>
            <a:srgbClr val="0C4A70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4300423" y="1977847"/>
            <a:ext cx="140817" cy="140817"/>
          </a:xfrm>
          <a:prstGeom prst="ellipse">
            <a:avLst/>
          </a:prstGeom>
          <a:solidFill>
            <a:srgbClr val="06182D"/>
          </a:solidFill>
          <a:ln w="12700">
            <a:solidFill>
              <a:srgbClr val="9E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577029" y="2013051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4506324" y="2183748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4335627" y="2254453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4164930" y="2183748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4094225" y="2013051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4164930" y="1842354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4335627" y="1771650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4506324" y="1842354"/>
            <a:ext cx="70408" cy="70408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828031" y="1828800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维修服务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828031" y="2267712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工单闭环 / 备件调度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650992" y="2423160"/>
            <a:ext cx="54864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500" b="1">
                <a:solidFill>
                  <a:srgbClr val="23C8F6"/>
                </a:solidFill>
                <a:latin typeface="DejaVu Sans"/>
              </a:rPr>
              <a:t>››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135624" y="1828800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03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935723" y="1987905"/>
            <a:ext cx="502920" cy="226314"/>
          </a:xfrm>
          <a:prstGeom prst="rect">
            <a:avLst/>
          </a:prstGeom>
          <a:solidFill>
            <a:srgbClr val="0A4164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Isosceles Triangle 87"/>
          <p:cNvSpPr/>
          <p:nvPr/>
        </p:nvSpPr>
        <p:spPr>
          <a:xfrm>
            <a:off x="6895490" y="1796796"/>
            <a:ext cx="583387" cy="261518"/>
          </a:xfrm>
          <a:prstGeom prst="triangle">
            <a:avLst/>
          </a:prstGeom>
          <a:solidFill>
            <a:srgbClr val="9EEBFF"/>
          </a:solidFill>
          <a:ln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136892" y="2073402"/>
            <a:ext cx="100584" cy="140817"/>
          </a:xfrm>
          <a:prstGeom prst="rect">
            <a:avLst/>
          </a:prstGeom>
          <a:solidFill>
            <a:srgbClr val="06182D"/>
          </a:solidFill>
          <a:ln w="762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644383" y="1828800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运营管护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644383" y="2267712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巡检更新 / 使用培训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467344" y="2423160"/>
            <a:ext cx="548640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500" b="1">
                <a:solidFill>
                  <a:srgbClr val="23C8F6"/>
                </a:solidFill>
                <a:latin typeface="DejaVu Sans"/>
              </a:rPr>
              <a:t>››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951976" y="1828800"/>
            <a:ext cx="73152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9EEBFF"/>
                </a:solidFill>
                <a:latin typeface="DejaVu Serif"/>
              </a:rPr>
              <a:t>04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792309" y="2048256"/>
            <a:ext cx="85496" cy="125730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9928098" y="1962759"/>
            <a:ext cx="85496" cy="211226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0063886" y="1862175"/>
            <a:ext cx="85496" cy="311810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7" name="Connector 96"/>
          <p:cNvCxnSpPr/>
          <p:nvPr/>
        </p:nvCxnSpPr>
        <p:spPr>
          <a:xfrm>
            <a:off x="9772192" y="2194102"/>
            <a:ext cx="472745" cy="0"/>
          </a:xfrm>
          <a:prstGeom prst="line">
            <a:avLst/>
          </a:prstGeom>
          <a:ln w="1270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10460736" y="1828800"/>
            <a:ext cx="1828800" cy="43891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900" b="1">
                <a:solidFill>
                  <a:srgbClr val="F7FBFF"/>
                </a:solidFill>
                <a:latin typeface="Noto Serif CJK SC"/>
              </a:rPr>
              <a:t>基金保障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460736" y="2267712"/>
            <a:ext cx="2148840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/>
            <a:r>
              <a:rPr sz="1100" b="0">
                <a:solidFill>
                  <a:srgbClr val="A7C5D8"/>
                </a:solidFill>
                <a:latin typeface="Noto Sans CJK SC"/>
              </a:rPr>
              <a:t>资金统筹 / 长效投入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194560" y="4069080"/>
            <a:ext cx="2377440" cy="6583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400" b="1">
                <a:solidFill>
                  <a:srgbClr val="F7FBFF"/>
                </a:solidFill>
                <a:latin typeface="DejaVu Serif"/>
              </a:rPr>
              <a:t>66人</a:t>
            </a:r>
          </a:p>
        </p:txBody>
      </p:sp>
      <p:cxnSp>
        <p:nvCxnSpPr>
          <p:cNvPr id="101" name="Connector 100"/>
          <p:cNvCxnSpPr/>
          <p:nvPr/>
        </p:nvCxnSpPr>
        <p:spPr>
          <a:xfrm>
            <a:off x="2717596" y="4773168"/>
            <a:ext cx="1331367" cy="0"/>
          </a:xfrm>
          <a:prstGeom prst="line">
            <a:avLst/>
          </a:prstGeom>
          <a:ln w="1524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/>
          <p:cNvSpPr txBox="1"/>
          <p:nvPr/>
        </p:nvSpPr>
        <p:spPr>
          <a:xfrm>
            <a:off x="2194560" y="4818888"/>
            <a:ext cx="2377440" cy="42062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200" b="1">
                <a:solidFill>
                  <a:srgbClr val="A7C5D8"/>
                </a:solidFill>
                <a:latin typeface="Noto Sans CJK SC"/>
              </a:rPr>
              <a:t>专业管护团队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937760" y="4069080"/>
            <a:ext cx="2560320" cy="6583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400" b="1">
                <a:solidFill>
                  <a:srgbClr val="F7FBFF"/>
                </a:solidFill>
                <a:latin typeface="DejaVu Serif"/>
              </a:rPr>
              <a:t>近190万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5501030" y="4773168"/>
            <a:ext cx="1433779" cy="0"/>
          </a:xfrm>
          <a:prstGeom prst="line">
            <a:avLst/>
          </a:prstGeom>
          <a:ln w="15240">
            <a:solidFill>
              <a:srgbClr val="F5D0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TextBox 104"/>
          <p:cNvSpPr txBox="1"/>
          <p:nvPr/>
        </p:nvSpPr>
        <p:spPr>
          <a:xfrm>
            <a:off x="4937760" y="4818888"/>
            <a:ext cx="2560320" cy="42062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200" b="1">
                <a:solidFill>
                  <a:srgbClr val="A7C5D8"/>
                </a:solidFill>
                <a:latin typeface="Noto Sans CJK SC"/>
              </a:rPr>
              <a:t>管护基金滚动累计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909560" y="4069080"/>
            <a:ext cx="2468880" cy="6583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400" b="1">
                <a:solidFill>
                  <a:srgbClr val="F7FBFF"/>
                </a:solidFill>
                <a:latin typeface="DejaVu Serif"/>
              </a:rPr>
              <a:t>长期运营</a:t>
            </a:r>
          </a:p>
        </p:txBody>
      </p:sp>
      <p:cxnSp>
        <p:nvCxnSpPr>
          <p:cNvPr id="107" name="Connector 106"/>
          <p:cNvCxnSpPr/>
          <p:nvPr/>
        </p:nvCxnSpPr>
        <p:spPr>
          <a:xfrm>
            <a:off x="8452713" y="4773168"/>
            <a:ext cx="1382573" cy="0"/>
          </a:xfrm>
          <a:prstGeom prst="line">
            <a:avLst/>
          </a:prstGeom>
          <a:ln w="1524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TextBox 107"/>
          <p:cNvSpPr txBox="1"/>
          <p:nvPr/>
        </p:nvSpPr>
        <p:spPr>
          <a:xfrm>
            <a:off x="7909560" y="4818888"/>
            <a:ext cx="2468880" cy="42062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200" b="1">
                <a:solidFill>
                  <a:srgbClr val="A7C5D8"/>
                </a:solidFill>
                <a:latin typeface="Noto Sans CJK SC"/>
              </a:rPr>
              <a:t>从项目上线到持续运转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920240" y="5833872"/>
            <a:ext cx="8321040" cy="4114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700" b="1">
                <a:solidFill>
                  <a:srgbClr val="23C8F6"/>
                </a:solidFill>
                <a:latin typeface="Noto Sans CJK SC"/>
              </a:rPr>
              <a:t>机制不散 · 服务不断 · 数据不乱 · 保障不虚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可编辑_深蓝背景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032503" y="621792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462272" y="905256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892040" y="1188720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321807" y="1472184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751576" y="1755648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181344" y="301752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611112" y="585216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040879" y="868680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70648" y="1152144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00415" y="1435608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330183" y="1719072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759952" y="265176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89719" y="548640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19488" y="832103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049256" y="1115568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479024" y="1399032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908792" y="1682495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338560" y="228600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38328" y="512064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8096" y="795528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97864" y="1078992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627631" y="1362456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057400" y="1645920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487168" y="192024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16936" y="475488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346704" y="758952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776472" y="1042415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206240" y="1325880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Isosceles Triangle 30"/>
          <p:cNvSpPr/>
          <p:nvPr/>
        </p:nvSpPr>
        <p:spPr>
          <a:xfrm>
            <a:off x="-731520" y="3858768"/>
            <a:ext cx="2148840" cy="914400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Isosceles Triangle 31"/>
          <p:cNvSpPr/>
          <p:nvPr/>
        </p:nvSpPr>
        <p:spPr>
          <a:xfrm>
            <a:off x="777239" y="3657600"/>
            <a:ext cx="2148840" cy="1115568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sosceles Triangle 32"/>
          <p:cNvSpPr/>
          <p:nvPr/>
        </p:nvSpPr>
        <p:spPr>
          <a:xfrm>
            <a:off x="2286000" y="3456432"/>
            <a:ext cx="2148840" cy="1316736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sosceles Triangle 33"/>
          <p:cNvSpPr/>
          <p:nvPr/>
        </p:nvSpPr>
        <p:spPr>
          <a:xfrm>
            <a:off x="3794759" y="3858768"/>
            <a:ext cx="2148840" cy="914400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Isosceles Triangle 34"/>
          <p:cNvSpPr/>
          <p:nvPr/>
        </p:nvSpPr>
        <p:spPr>
          <a:xfrm>
            <a:off x="5303520" y="3657600"/>
            <a:ext cx="2148840" cy="1115568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sosceles Triangle 35"/>
          <p:cNvSpPr/>
          <p:nvPr/>
        </p:nvSpPr>
        <p:spPr>
          <a:xfrm>
            <a:off x="6812280" y="3456432"/>
            <a:ext cx="2148840" cy="1316736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sosceles Triangle 36"/>
          <p:cNvSpPr/>
          <p:nvPr/>
        </p:nvSpPr>
        <p:spPr>
          <a:xfrm>
            <a:off x="8321039" y="3858768"/>
            <a:ext cx="2148840" cy="914400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sosceles Triangle 37"/>
          <p:cNvSpPr/>
          <p:nvPr/>
        </p:nvSpPr>
        <p:spPr>
          <a:xfrm>
            <a:off x="9829799" y="3657600"/>
            <a:ext cx="2148840" cy="1115568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Isosceles Triangle 38"/>
          <p:cNvSpPr/>
          <p:nvPr/>
        </p:nvSpPr>
        <p:spPr>
          <a:xfrm>
            <a:off x="11338559" y="3456432"/>
            <a:ext cx="2148840" cy="1316736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Isosceles Triangle 39"/>
          <p:cNvSpPr/>
          <p:nvPr/>
        </p:nvSpPr>
        <p:spPr>
          <a:xfrm>
            <a:off x="-731520" y="4050792"/>
            <a:ext cx="2148840" cy="1115568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Isosceles Triangle 40"/>
          <p:cNvSpPr/>
          <p:nvPr/>
        </p:nvSpPr>
        <p:spPr>
          <a:xfrm>
            <a:off x="777239" y="3849624"/>
            <a:ext cx="2148840" cy="1316736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Isosceles Triangle 41"/>
          <p:cNvSpPr/>
          <p:nvPr/>
        </p:nvSpPr>
        <p:spPr>
          <a:xfrm>
            <a:off x="2286000" y="4251960"/>
            <a:ext cx="2148840" cy="914400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Isosceles Triangle 42"/>
          <p:cNvSpPr/>
          <p:nvPr/>
        </p:nvSpPr>
        <p:spPr>
          <a:xfrm>
            <a:off x="3794759" y="4050792"/>
            <a:ext cx="2148840" cy="1115568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Isosceles Triangle 43"/>
          <p:cNvSpPr/>
          <p:nvPr/>
        </p:nvSpPr>
        <p:spPr>
          <a:xfrm>
            <a:off x="5303520" y="3849624"/>
            <a:ext cx="2148840" cy="1316736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Isosceles Triangle 44"/>
          <p:cNvSpPr/>
          <p:nvPr/>
        </p:nvSpPr>
        <p:spPr>
          <a:xfrm>
            <a:off x="6812280" y="4251960"/>
            <a:ext cx="2148840" cy="914400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Isosceles Triangle 45"/>
          <p:cNvSpPr/>
          <p:nvPr/>
        </p:nvSpPr>
        <p:spPr>
          <a:xfrm>
            <a:off x="8321039" y="4050792"/>
            <a:ext cx="2148840" cy="1115568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Isosceles Triangle 46"/>
          <p:cNvSpPr/>
          <p:nvPr/>
        </p:nvSpPr>
        <p:spPr>
          <a:xfrm>
            <a:off x="9829799" y="3849624"/>
            <a:ext cx="2148840" cy="1316736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Isosceles Triangle 47"/>
          <p:cNvSpPr/>
          <p:nvPr/>
        </p:nvSpPr>
        <p:spPr>
          <a:xfrm>
            <a:off x="11338559" y="4251960"/>
            <a:ext cx="2148840" cy="914400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Isosceles Triangle 48"/>
          <p:cNvSpPr/>
          <p:nvPr/>
        </p:nvSpPr>
        <p:spPr>
          <a:xfrm>
            <a:off x="-731520" y="4187952"/>
            <a:ext cx="2148840" cy="1316736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Isosceles Triangle 49"/>
          <p:cNvSpPr/>
          <p:nvPr/>
        </p:nvSpPr>
        <p:spPr>
          <a:xfrm>
            <a:off x="777239" y="4590288"/>
            <a:ext cx="2148840" cy="914400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Isosceles Triangle 50"/>
          <p:cNvSpPr/>
          <p:nvPr/>
        </p:nvSpPr>
        <p:spPr>
          <a:xfrm>
            <a:off x="2286000" y="4389120"/>
            <a:ext cx="2148840" cy="1115568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Isosceles Triangle 51"/>
          <p:cNvSpPr/>
          <p:nvPr/>
        </p:nvSpPr>
        <p:spPr>
          <a:xfrm>
            <a:off x="3794759" y="4187952"/>
            <a:ext cx="2148840" cy="1316736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Isosceles Triangle 52"/>
          <p:cNvSpPr/>
          <p:nvPr/>
        </p:nvSpPr>
        <p:spPr>
          <a:xfrm>
            <a:off x="5303520" y="4590288"/>
            <a:ext cx="2148840" cy="914400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Isosceles Triangle 53"/>
          <p:cNvSpPr/>
          <p:nvPr/>
        </p:nvSpPr>
        <p:spPr>
          <a:xfrm>
            <a:off x="6812280" y="4389120"/>
            <a:ext cx="2148840" cy="1115568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Isosceles Triangle 54"/>
          <p:cNvSpPr/>
          <p:nvPr/>
        </p:nvSpPr>
        <p:spPr>
          <a:xfrm>
            <a:off x="8321039" y="4187952"/>
            <a:ext cx="2148840" cy="1316736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Isosceles Triangle 55"/>
          <p:cNvSpPr/>
          <p:nvPr/>
        </p:nvSpPr>
        <p:spPr>
          <a:xfrm>
            <a:off x="9829799" y="4590288"/>
            <a:ext cx="2148840" cy="914400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Isosceles Triangle 56"/>
          <p:cNvSpPr/>
          <p:nvPr/>
        </p:nvSpPr>
        <p:spPr>
          <a:xfrm>
            <a:off x="11338559" y="4389120"/>
            <a:ext cx="2148840" cy="1115568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0" y="5715000"/>
            <a:ext cx="12188952" cy="0"/>
          </a:xfrm>
          <a:prstGeom prst="line">
            <a:avLst/>
          </a:prstGeom>
          <a:ln w="15240">
            <a:solidFill>
              <a:srgbClr val="0D4C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749808" y="347472"/>
            <a:ext cx="10698480" cy="6217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000" b="1">
                <a:solidFill>
                  <a:srgbClr val="23C8F6"/>
                </a:solidFill>
                <a:latin typeface="Noto Serif CJK SC"/>
              </a:rPr>
              <a:t>应用成效：从经验管房，走向数据管房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9808" y="310896"/>
            <a:ext cx="10698480" cy="6217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000" b="1">
                <a:solidFill>
                  <a:srgbClr val="F7FBFF"/>
                </a:solidFill>
                <a:latin typeface="Noto Serif CJK SC"/>
              </a:rPr>
              <a:t>应用成效：从经验管房，走向数据管房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2194560" y="960120"/>
            <a:ext cx="1508760" cy="0"/>
          </a:xfrm>
          <a:prstGeom prst="line">
            <a:avLst/>
          </a:prstGeom>
          <a:ln w="1397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8485632" y="960120"/>
            <a:ext cx="1508760" cy="0"/>
          </a:xfrm>
          <a:prstGeom prst="line">
            <a:avLst/>
          </a:prstGeom>
          <a:ln w="1397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1280160" y="950976"/>
            <a:ext cx="9601200" cy="34747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300" b="0">
                <a:solidFill>
                  <a:srgbClr val="A7C5D8"/>
                </a:solidFill>
                <a:latin typeface="Noto Sans CJK SC"/>
              </a:rPr>
              <a:t>资源可见 · 维修提速 · 决策更准 · 资金更省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02920" y="1691640"/>
            <a:ext cx="2423160" cy="6583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400" b="1">
                <a:solidFill>
                  <a:srgbClr val="F7FBFF"/>
                </a:solidFill>
                <a:latin typeface="DejaVu Serif"/>
              </a:rPr>
              <a:t>2442座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1036015" y="2395728"/>
            <a:ext cx="1356969" cy="0"/>
          </a:xfrm>
          <a:prstGeom prst="line">
            <a:avLst/>
          </a:prstGeom>
          <a:ln w="1524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502920" y="2441448"/>
            <a:ext cx="2423160" cy="42062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200" b="1">
                <a:solidFill>
                  <a:srgbClr val="A7C5D8"/>
                </a:solidFill>
                <a:latin typeface="Noto Sans CJK SC"/>
              </a:rPr>
              <a:t>建档并完成健康评估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355848" y="1691640"/>
            <a:ext cx="2423160" cy="6583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400" b="1">
                <a:solidFill>
                  <a:srgbClr val="F7FBFF"/>
                </a:solidFill>
                <a:latin typeface="DejaVu Serif"/>
              </a:rPr>
              <a:t>48次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3888943" y="2395728"/>
            <a:ext cx="1356969" cy="0"/>
          </a:xfrm>
          <a:prstGeom prst="line">
            <a:avLst/>
          </a:prstGeom>
          <a:ln w="1524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3355848" y="2441448"/>
            <a:ext cx="2423160" cy="42062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200" b="1">
                <a:solidFill>
                  <a:srgbClr val="A7C5D8"/>
                </a:solidFill>
                <a:latin typeface="Noto Sans CJK SC"/>
              </a:rPr>
              <a:t>烤房调剂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08776" y="1691640"/>
            <a:ext cx="2423160" cy="6583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400" b="1">
                <a:solidFill>
                  <a:srgbClr val="F7FBFF"/>
                </a:solidFill>
                <a:latin typeface="DejaVu Serif"/>
              </a:rPr>
              <a:t>18次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6741871" y="2395728"/>
            <a:ext cx="1356969" cy="0"/>
          </a:xfrm>
          <a:prstGeom prst="line">
            <a:avLst/>
          </a:prstGeom>
          <a:ln w="1524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6208776" y="2441448"/>
            <a:ext cx="2423160" cy="42062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200" b="1">
                <a:solidFill>
                  <a:srgbClr val="A7C5D8"/>
                </a:solidFill>
                <a:latin typeface="Noto Sans CJK SC"/>
              </a:rPr>
              <a:t>突发故障全部3小时内闭环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061704" y="1691640"/>
            <a:ext cx="2423160" cy="6583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400" b="1">
                <a:solidFill>
                  <a:srgbClr val="F7FBFF"/>
                </a:solidFill>
                <a:latin typeface="DejaVu Serif"/>
              </a:rPr>
              <a:t>95.8%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9594799" y="2395728"/>
            <a:ext cx="1356969" cy="0"/>
          </a:xfrm>
          <a:prstGeom prst="line">
            <a:avLst/>
          </a:prstGeom>
          <a:ln w="1524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9061704" y="2441448"/>
            <a:ext cx="2423160" cy="42062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200" b="1">
                <a:solidFill>
                  <a:srgbClr val="A7C5D8"/>
                </a:solidFill>
                <a:latin typeface="Noto Sans CJK SC"/>
              </a:rPr>
              <a:t>群众综合满意度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02920" y="3886200"/>
            <a:ext cx="2423160" cy="6583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400" b="1">
                <a:solidFill>
                  <a:srgbClr val="F7FBFF"/>
                </a:solidFill>
                <a:latin typeface="DejaVu Serif"/>
              </a:rPr>
              <a:t>340+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1036015" y="4590288"/>
            <a:ext cx="1356969" cy="0"/>
          </a:xfrm>
          <a:prstGeom prst="line">
            <a:avLst/>
          </a:prstGeom>
          <a:ln w="1524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502920" y="4636008"/>
            <a:ext cx="2423160" cy="42062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200" b="1">
                <a:solidFill>
                  <a:srgbClr val="A7C5D8"/>
                </a:solidFill>
                <a:latin typeface="Noto Sans CJK SC"/>
              </a:rPr>
              <a:t>待修烤房筛查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355848" y="3886200"/>
            <a:ext cx="2423160" cy="6583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400" b="1">
                <a:solidFill>
                  <a:srgbClr val="F7FBFF"/>
                </a:solidFill>
                <a:latin typeface="DejaVu Serif"/>
              </a:rPr>
              <a:t>150栋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3888943" y="4590288"/>
            <a:ext cx="1356969" cy="0"/>
          </a:xfrm>
          <a:prstGeom prst="line">
            <a:avLst/>
          </a:prstGeom>
          <a:ln w="1524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3355848" y="4636008"/>
            <a:ext cx="2423160" cy="42062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200" b="1">
                <a:solidFill>
                  <a:srgbClr val="A7C5D8"/>
                </a:solidFill>
                <a:latin typeface="Noto Sans CJK SC"/>
              </a:rPr>
              <a:t>升级纳入计划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208776" y="3886200"/>
            <a:ext cx="2423160" cy="6583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400" b="1">
                <a:solidFill>
                  <a:srgbClr val="F7FBFF"/>
                </a:solidFill>
                <a:latin typeface="DejaVu Serif"/>
              </a:rPr>
              <a:t>1363栋 / 81%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6741871" y="4590288"/>
            <a:ext cx="1356969" cy="0"/>
          </a:xfrm>
          <a:prstGeom prst="line">
            <a:avLst/>
          </a:prstGeom>
          <a:ln w="1524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6208776" y="4636008"/>
            <a:ext cx="2423160" cy="42062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200" b="1">
                <a:solidFill>
                  <a:srgbClr val="A7C5D8"/>
                </a:solidFill>
                <a:latin typeface="Noto Sans CJK SC"/>
              </a:rPr>
              <a:t>合作社统筹管护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061704" y="3886200"/>
            <a:ext cx="2423160" cy="65836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400" b="1">
                <a:solidFill>
                  <a:srgbClr val="F7FBFF"/>
                </a:solidFill>
                <a:latin typeface="DejaVu Serif"/>
              </a:rPr>
              <a:t>近190万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9594799" y="4590288"/>
            <a:ext cx="1356969" cy="0"/>
          </a:xfrm>
          <a:prstGeom prst="line">
            <a:avLst/>
          </a:prstGeom>
          <a:ln w="15240">
            <a:solidFill>
              <a:srgbClr val="F5D0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9061704" y="4636008"/>
            <a:ext cx="2423160" cy="42062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200" b="1">
                <a:solidFill>
                  <a:srgbClr val="A7C5D8"/>
                </a:solidFill>
                <a:latin typeface="Noto Sans CJK SC"/>
              </a:rPr>
              <a:t>管护基金滚动累计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0" y="5897880"/>
            <a:ext cx="8503920" cy="4114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700" b="1">
                <a:solidFill>
                  <a:srgbClr val="23C8F6"/>
                </a:solidFill>
                <a:latin typeface="Noto Sans CJK SC"/>
              </a:rPr>
              <a:t>看得见、调得动、修得快、投得准，才是真正的价值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可编辑_深蓝背景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8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297679" y="777240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727448" y="1060704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157216" y="1344168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586983" y="1627632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016752" y="1911095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46520" y="457200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76288" y="740664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06055" y="1024128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735823" y="1307592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165592" y="1591056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595360" y="1874520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025128" y="420624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54896" y="704088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884664" y="987552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14432" y="1271016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744200" y="1554480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173967" y="1837944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603736" y="384048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03503" y="667512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33271" y="950976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63040" y="1234439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892807" y="1517904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322576" y="1801368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752344" y="347472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182112" y="630936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611880" y="914400"/>
            <a:ext cx="23774" cy="23774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041648" y="1197864"/>
            <a:ext cx="31089" cy="3108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471416" y="1481328"/>
            <a:ext cx="16459" cy="16459"/>
          </a:xfrm>
          <a:prstGeom prst="ellipse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Isosceles Triangle 30"/>
          <p:cNvSpPr/>
          <p:nvPr/>
        </p:nvSpPr>
        <p:spPr>
          <a:xfrm>
            <a:off x="-731520" y="3858768"/>
            <a:ext cx="2148840" cy="914400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Isosceles Triangle 31"/>
          <p:cNvSpPr/>
          <p:nvPr/>
        </p:nvSpPr>
        <p:spPr>
          <a:xfrm>
            <a:off x="777239" y="3657600"/>
            <a:ext cx="2148840" cy="1115568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sosceles Triangle 32"/>
          <p:cNvSpPr/>
          <p:nvPr/>
        </p:nvSpPr>
        <p:spPr>
          <a:xfrm>
            <a:off x="2286000" y="3456432"/>
            <a:ext cx="2148840" cy="1316736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sosceles Triangle 33"/>
          <p:cNvSpPr/>
          <p:nvPr/>
        </p:nvSpPr>
        <p:spPr>
          <a:xfrm>
            <a:off x="3794759" y="3858768"/>
            <a:ext cx="2148840" cy="914400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Isosceles Triangle 34"/>
          <p:cNvSpPr/>
          <p:nvPr/>
        </p:nvSpPr>
        <p:spPr>
          <a:xfrm>
            <a:off x="5303520" y="3657600"/>
            <a:ext cx="2148840" cy="1115568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sosceles Triangle 35"/>
          <p:cNvSpPr/>
          <p:nvPr/>
        </p:nvSpPr>
        <p:spPr>
          <a:xfrm>
            <a:off x="6812280" y="3456432"/>
            <a:ext cx="2148840" cy="1316736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sosceles Triangle 36"/>
          <p:cNvSpPr/>
          <p:nvPr/>
        </p:nvSpPr>
        <p:spPr>
          <a:xfrm>
            <a:off x="8321039" y="3858768"/>
            <a:ext cx="2148840" cy="914400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sosceles Triangle 37"/>
          <p:cNvSpPr/>
          <p:nvPr/>
        </p:nvSpPr>
        <p:spPr>
          <a:xfrm>
            <a:off x="9829799" y="3657600"/>
            <a:ext cx="2148840" cy="1115568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Isosceles Triangle 38"/>
          <p:cNvSpPr/>
          <p:nvPr/>
        </p:nvSpPr>
        <p:spPr>
          <a:xfrm>
            <a:off x="11338559" y="3456432"/>
            <a:ext cx="2148840" cy="1316736"/>
          </a:xfrm>
          <a:prstGeom prst="triangle">
            <a:avLst/>
          </a:prstGeom>
          <a:solidFill>
            <a:srgbClr val="0E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Isosceles Triangle 39"/>
          <p:cNvSpPr/>
          <p:nvPr/>
        </p:nvSpPr>
        <p:spPr>
          <a:xfrm>
            <a:off x="-731520" y="4050792"/>
            <a:ext cx="2148840" cy="1115568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Isosceles Triangle 40"/>
          <p:cNvSpPr/>
          <p:nvPr/>
        </p:nvSpPr>
        <p:spPr>
          <a:xfrm>
            <a:off x="777239" y="3849624"/>
            <a:ext cx="2148840" cy="1316736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Isosceles Triangle 41"/>
          <p:cNvSpPr/>
          <p:nvPr/>
        </p:nvSpPr>
        <p:spPr>
          <a:xfrm>
            <a:off x="2286000" y="4251960"/>
            <a:ext cx="2148840" cy="914400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Isosceles Triangle 42"/>
          <p:cNvSpPr/>
          <p:nvPr/>
        </p:nvSpPr>
        <p:spPr>
          <a:xfrm>
            <a:off x="3794759" y="4050792"/>
            <a:ext cx="2148840" cy="1115568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Isosceles Triangle 43"/>
          <p:cNvSpPr/>
          <p:nvPr/>
        </p:nvSpPr>
        <p:spPr>
          <a:xfrm>
            <a:off x="5303520" y="3849624"/>
            <a:ext cx="2148840" cy="1316736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Isosceles Triangle 44"/>
          <p:cNvSpPr/>
          <p:nvPr/>
        </p:nvSpPr>
        <p:spPr>
          <a:xfrm>
            <a:off x="6812280" y="4251960"/>
            <a:ext cx="2148840" cy="914400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Isosceles Triangle 45"/>
          <p:cNvSpPr/>
          <p:nvPr/>
        </p:nvSpPr>
        <p:spPr>
          <a:xfrm>
            <a:off x="8321039" y="4050792"/>
            <a:ext cx="2148840" cy="1115568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Isosceles Triangle 46"/>
          <p:cNvSpPr/>
          <p:nvPr/>
        </p:nvSpPr>
        <p:spPr>
          <a:xfrm>
            <a:off x="9829799" y="3849624"/>
            <a:ext cx="2148840" cy="1316736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Isosceles Triangle 47"/>
          <p:cNvSpPr/>
          <p:nvPr/>
        </p:nvSpPr>
        <p:spPr>
          <a:xfrm>
            <a:off x="11338559" y="4251960"/>
            <a:ext cx="2148840" cy="914400"/>
          </a:xfrm>
          <a:prstGeom prst="triangle">
            <a:avLst/>
          </a:prstGeom>
          <a:solidFill>
            <a:srgbClr val="09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Isosceles Triangle 48"/>
          <p:cNvSpPr/>
          <p:nvPr/>
        </p:nvSpPr>
        <p:spPr>
          <a:xfrm>
            <a:off x="-731520" y="4187952"/>
            <a:ext cx="2148840" cy="1316736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Isosceles Triangle 49"/>
          <p:cNvSpPr/>
          <p:nvPr/>
        </p:nvSpPr>
        <p:spPr>
          <a:xfrm>
            <a:off x="777239" y="4590288"/>
            <a:ext cx="2148840" cy="914400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Isosceles Triangle 50"/>
          <p:cNvSpPr/>
          <p:nvPr/>
        </p:nvSpPr>
        <p:spPr>
          <a:xfrm>
            <a:off x="2286000" y="4389120"/>
            <a:ext cx="2148840" cy="1115568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Isosceles Triangle 51"/>
          <p:cNvSpPr/>
          <p:nvPr/>
        </p:nvSpPr>
        <p:spPr>
          <a:xfrm>
            <a:off x="3794759" y="4187952"/>
            <a:ext cx="2148840" cy="1316736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Isosceles Triangle 52"/>
          <p:cNvSpPr/>
          <p:nvPr/>
        </p:nvSpPr>
        <p:spPr>
          <a:xfrm>
            <a:off x="5303520" y="4590288"/>
            <a:ext cx="2148840" cy="914400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Isosceles Triangle 53"/>
          <p:cNvSpPr/>
          <p:nvPr/>
        </p:nvSpPr>
        <p:spPr>
          <a:xfrm>
            <a:off x="6812280" y="4389120"/>
            <a:ext cx="2148840" cy="1115568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Isosceles Triangle 54"/>
          <p:cNvSpPr/>
          <p:nvPr/>
        </p:nvSpPr>
        <p:spPr>
          <a:xfrm>
            <a:off x="8321039" y="4187952"/>
            <a:ext cx="2148840" cy="1316736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Isosceles Triangle 55"/>
          <p:cNvSpPr/>
          <p:nvPr/>
        </p:nvSpPr>
        <p:spPr>
          <a:xfrm>
            <a:off x="9829799" y="4590288"/>
            <a:ext cx="2148840" cy="914400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Isosceles Triangle 56"/>
          <p:cNvSpPr/>
          <p:nvPr/>
        </p:nvSpPr>
        <p:spPr>
          <a:xfrm>
            <a:off x="11338559" y="4389120"/>
            <a:ext cx="2148840" cy="1115568"/>
          </a:xfrm>
          <a:prstGeom prst="triangle">
            <a:avLst/>
          </a:prstGeom>
          <a:solidFill>
            <a:srgbClr val="07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0" y="5715000"/>
            <a:ext cx="12188952" cy="0"/>
          </a:xfrm>
          <a:prstGeom prst="line">
            <a:avLst/>
          </a:prstGeom>
          <a:ln w="15240">
            <a:solidFill>
              <a:srgbClr val="0D4C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749808" y="347472"/>
            <a:ext cx="10698480" cy="6217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000" b="1">
                <a:solidFill>
                  <a:srgbClr val="23C8F6"/>
                </a:solidFill>
                <a:latin typeface="Noto Serif CJK SC"/>
              </a:rPr>
              <a:t>总结：一套“智烤管家”，把难题变成闭环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9808" y="310896"/>
            <a:ext cx="10698480" cy="6217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3000" b="1">
                <a:solidFill>
                  <a:srgbClr val="F7FBFF"/>
                </a:solidFill>
                <a:latin typeface="Noto Serif CJK SC"/>
              </a:rPr>
              <a:t>总结：一套“智烤管家”，把难题变成闭环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2194560" y="960120"/>
            <a:ext cx="1508760" cy="0"/>
          </a:xfrm>
          <a:prstGeom prst="line">
            <a:avLst/>
          </a:prstGeom>
          <a:ln w="1397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8485632" y="960120"/>
            <a:ext cx="1508760" cy="0"/>
          </a:xfrm>
          <a:prstGeom prst="line">
            <a:avLst/>
          </a:prstGeom>
          <a:ln w="1397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1280160" y="950976"/>
            <a:ext cx="9601200" cy="34747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300" b="0">
                <a:solidFill>
                  <a:srgbClr val="A7C5D8"/>
                </a:solidFill>
                <a:latin typeface="Noto Sans CJK SC"/>
              </a:rPr>
              <a:t>一库清底  ·  双模决策  ·  三智落地  ·  四队长效</a:t>
            </a:r>
          </a:p>
        </p:txBody>
      </p:sp>
      <p:sp>
        <p:nvSpPr>
          <p:cNvPr id="64" name="Oval 63"/>
          <p:cNvSpPr/>
          <p:nvPr/>
        </p:nvSpPr>
        <p:spPr>
          <a:xfrm>
            <a:off x="1508760" y="2148840"/>
            <a:ext cx="1143000" cy="1143000"/>
          </a:xfrm>
          <a:prstGeom prst="ellipse">
            <a:avLst/>
          </a:prstGeom>
          <a:solidFill>
            <a:srgbClr val="0A3558"/>
          </a:solidFill>
          <a:ln w="1651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877263" y="2486802"/>
            <a:ext cx="396849" cy="476219"/>
          </a:xfrm>
          <a:prstGeom prst="rect">
            <a:avLst/>
          </a:prstGeom>
          <a:solidFill>
            <a:srgbClr val="0A4164"/>
          </a:solidFill>
          <a:ln w="12700">
            <a:solidFill>
              <a:srgbClr val="9E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" name="Connector 65"/>
          <p:cNvCxnSpPr/>
          <p:nvPr/>
        </p:nvCxnSpPr>
        <p:spPr>
          <a:xfrm>
            <a:off x="1950963" y="2622864"/>
            <a:ext cx="249449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1950963" y="2724912"/>
            <a:ext cx="249449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1950963" y="2826959"/>
            <a:ext cx="249449" cy="0"/>
          </a:xfrm>
          <a:prstGeom prst="line">
            <a:avLst/>
          </a:prstGeom>
          <a:ln w="12700">
            <a:solidFill>
              <a:srgbClr val="9EE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914400" y="3429000"/>
            <a:ext cx="2377440" cy="7315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000" b="1">
                <a:solidFill>
                  <a:srgbClr val="F7FBFF"/>
                </a:solidFill>
                <a:latin typeface="Noto Serif CJK SC"/>
              </a:rPr>
              <a:t>01
一库清底</a:t>
            </a:r>
          </a:p>
        </p:txBody>
      </p:sp>
      <p:sp>
        <p:nvSpPr>
          <p:cNvPr id="70" name="Oval 69"/>
          <p:cNvSpPr/>
          <p:nvPr/>
        </p:nvSpPr>
        <p:spPr>
          <a:xfrm>
            <a:off x="4297680" y="2148840"/>
            <a:ext cx="1143000" cy="1143000"/>
          </a:xfrm>
          <a:prstGeom prst="ellipse">
            <a:avLst/>
          </a:prstGeom>
          <a:solidFill>
            <a:srgbClr val="0A3558"/>
          </a:solidFill>
          <a:ln w="1651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626498" y="2724912"/>
            <a:ext cx="96377" cy="141732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779568" y="2628534"/>
            <a:ext cx="96377" cy="238109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932639" y="2515148"/>
            <a:ext cx="96377" cy="351495"/>
          </a:xfrm>
          <a:prstGeom prst="rect">
            <a:avLst/>
          </a:prstGeom>
          <a:solidFill>
            <a:srgbClr val="9EEBFF"/>
          </a:solidFill>
          <a:ln w="635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Connector 73"/>
          <p:cNvCxnSpPr/>
          <p:nvPr/>
        </p:nvCxnSpPr>
        <p:spPr>
          <a:xfrm>
            <a:off x="4603821" y="2889321"/>
            <a:ext cx="532912" cy="0"/>
          </a:xfrm>
          <a:prstGeom prst="line">
            <a:avLst/>
          </a:prstGeom>
          <a:ln w="12700">
            <a:solidFill>
              <a:srgbClr val="23C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3703320" y="3429000"/>
            <a:ext cx="2377440" cy="7315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000" b="1">
                <a:solidFill>
                  <a:srgbClr val="F7FBFF"/>
                </a:solidFill>
                <a:latin typeface="Noto Serif CJK SC"/>
              </a:rPr>
              <a:t>02
双模决策</a:t>
            </a:r>
          </a:p>
        </p:txBody>
      </p:sp>
      <p:sp>
        <p:nvSpPr>
          <p:cNvPr id="76" name="Oval 75"/>
          <p:cNvSpPr/>
          <p:nvPr/>
        </p:nvSpPr>
        <p:spPr>
          <a:xfrm>
            <a:off x="7086600" y="2148840"/>
            <a:ext cx="1143000" cy="1143000"/>
          </a:xfrm>
          <a:prstGeom prst="ellipse">
            <a:avLst/>
          </a:prstGeom>
          <a:solidFill>
            <a:srgbClr val="0A3558"/>
          </a:solidFill>
          <a:ln w="1651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7443764" y="2515148"/>
            <a:ext cx="419526" cy="419526"/>
          </a:xfrm>
          <a:prstGeom prst="ellipse">
            <a:avLst/>
          </a:prstGeom>
          <a:solidFill>
            <a:srgbClr val="0C4A70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7574158" y="2645542"/>
            <a:ext cx="158739" cy="158739"/>
          </a:xfrm>
          <a:prstGeom prst="ellipse">
            <a:avLst/>
          </a:prstGeom>
          <a:solidFill>
            <a:srgbClr val="06182D"/>
          </a:solidFill>
          <a:ln w="12700">
            <a:solidFill>
              <a:srgbClr val="9E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885968" y="2685227"/>
            <a:ext cx="79369" cy="79369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806264" y="2877648"/>
            <a:ext cx="79369" cy="79369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613843" y="2957352"/>
            <a:ext cx="79369" cy="79369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421421" y="2877648"/>
            <a:ext cx="79369" cy="79369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341717" y="2685227"/>
            <a:ext cx="79369" cy="79369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421421" y="2492805"/>
            <a:ext cx="79369" cy="79369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613843" y="2413101"/>
            <a:ext cx="79369" cy="79369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806264" y="2492805"/>
            <a:ext cx="79369" cy="79369"/>
          </a:xfrm>
          <a:prstGeom prst="rect">
            <a:avLst/>
          </a:prstGeom>
          <a:solidFill>
            <a:srgbClr val="9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492240" y="3429000"/>
            <a:ext cx="2377440" cy="7315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000" b="1">
                <a:solidFill>
                  <a:srgbClr val="F7FBFF"/>
                </a:solidFill>
                <a:latin typeface="Noto Serif CJK SC"/>
              </a:rPr>
              <a:t>03
三智落地</a:t>
            </a:r>
          </a:p>
        </p:txBody>
      </p:sp>
      <p:sp>
        <p:nvSpPr>
          <p:cNvPr id="88" name="Oval 87"/>
          <p:cNvSpPr/>
          <p:nvPr/>
        </p:nvSpPr>
        <p:spPr>
          <a:xfrm>
            <a:off x="9875519" y="2148840"/>
            <a:ext cx="1143000" cy="1143000"/>
          </a:xfrm>
          <a:prstGeom prst="ellipse">
            <a:avLst/>
          </a:prstGeom>
          <a:solidFill>
            <a:srgbClr val="0A3558"/>
          </a:solidFill>
          <a:ln w="1651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0158983" y="2656880"/>
            <a:ext cx="566928" cy="255117"/>
          </a:xfrm>
          <a:prstGeom prst="rect">
            <a:avLst/>
          </a:prstGeom>
          <a:solidFill>
            <a:srgbClr val="0A4164"/>
          </a:solidFill>
          <a:ln w="1270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Isosceles Triangle 89"/>
          <p:cNvSpPr/>
          <p:nvPr/>
        </p:nvSpPr>
        <p:spPr>
          <a:xfrm>
            <a:off x="10113629" y="2441448"/>
            <a:ext cx="657636" cy="294802"/>
          </a:xfrm>
          <a:prstGeom prst="triangle">
            <a:avLst/>
          </a:prstGeom>
          <a:solidFill>
            <a:srgbClr val="9EEBFF"/>
          </a:solidFill>
          <a:ln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0385755" y="2753258"/>
            <a:ext cx="113385" cy="158739"/>
          </a:xfrm>
          <a:prstGeom prst="rect">
            <a:avLst/>
          </a:prstGeom>
          <a:solidFill>
            <a:srgbClr val="06182D"/>
          </a:solidFill>
          <a:ln w="7620">
            <a:solidFill>
              <a:srgbClr val="23C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9281159" y="3429000"/>
            <a:ext cx="2377440" cy="7315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000" b="1">
                <a:solidFill>
                  <a:srgbClr val="F7FBFF"/>
                </a:solidFill>
                <a:latin typeface="Noto Serif CJK SC"/>
              </a:rPr>
              <a:t>04
四队长效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14400" y="4892040"/>
            <a:ext cx="10332720" cy="62179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2000" b="1">
                <a:solidFill>
                  <a:srgbClr val="F7FBFF"/>
                </a:solidFill>
                <a:latin typeface="Noto Serif CJK SC"/>
              </a:rPr>
              <a:t>让每一座烤房，都有一份可计算、可调度、可运维、可决策的健康档案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377440" y="5650992"/>
            <a:ext cx="7406640" cy="4572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800" b="1">
                <a:solidFill>
                  <a:srgbClr val="23C8F6"/>
                </a:solidFill>
                <a:latin typeface="Noto Sans CJK SC"/>
              </a:rPr>
              <a:t>从“有多少房”到“有多少有效烤能”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926080" y="6144768"/>
            <a:ext cx="6309360" cy="32004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/>
            <a:r>
              <a:rPr sz="1200" b="0">
                <a:solidFill>
                  <a:srgbClr val="A7C5D8"/>
                </a:solidFill>
                <a:latin typeface="Noto Sans CJK SC"/>
              </a:rPr>
              <a:t>让数据说话 · 让模型决策 · 让管家落地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