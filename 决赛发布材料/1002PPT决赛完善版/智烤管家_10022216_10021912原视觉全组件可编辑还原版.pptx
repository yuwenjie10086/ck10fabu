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0" y="621792"/>
            <a:ext cx="54864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9EEBFF"/>
                </a:solidFill>
                <a:latin typeface="Noto Sans CJK SC"/>
              </a:rPr>
              <a:t>Z H I   K A O   M A N A G 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188720"/>
            <a:ext cx="3794760" cy="10058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5400" b="1">
                <a:solidFill>
                  <a:srgbClr val="F7FBFF"/>
                </a:solidFill>
                <a:latin typeface="Noto Serif CJK SC"/>
              </a:rPr>
              <a:t>智烤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88720"/>
            <a:ext cx="3794760" cy="10058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5400" b="1">
                <a:solidFill>
                  <a:srgbClr val="23C8F6"/>
                </a:solidFill>
                <a:latin typeface="Noto Serif CJK SC"/>
              </a:rPr>
              <a:t>管家</a:t>
            </a:r>
          </a:p>
        </p:txBody>
      </p:sp>
      <p:sp>
        <p:nvSpPr>
          <p:cNvPr id="6" name="Arc 5"/>
          <p:cNvSpPr/>
          <p:nvPr/>
        </p:nvSpPr>
        <p:spPr>
          <a:xfrm rot="10800000">
            <a:off x="2057400" y="91440"/>
            <a:ext cx="8092440" cy="5806440"/>
          </a:xfrm>
          <a:prstGeom prst="arc">
            <a:avLst/>
          </a:prstGeom>
          <a:noFill/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78992" y="2331720"/>
            <a:ext cx="0" cy="2514600"/>
          </a:xfrm>
          <a:prstGeom prst="line">
            <a:avLst/>
          </a:prstGeom>
          <a:ln w="101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82528" y="2331720"/>
            <a:ext cx="0" cy="2514600"/>
          </a:xfrm>
          <a:prstGeom prst="line">
            <a:avLst/>
          </a:prstGeom>
          <a:ln w="101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0" y="2359152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0">
                <a:solidFill>
                  <a:srgbClr val="9EEBFF"/>
                </a:solidFill>
                <a:latin typeface="Noto Sans CJK SC"/>
              </a:rPr>
              <a:t>让每一座烤房，都有一份可计算的“健康档案”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27248"/>
            <a:ext cx="8138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9EEBFF"/>
                </a:solidFill>
                <a:latin typeface="Noto Sans CJK SC"/>
              </a:rPr>
              <a:t>一库清底   |   双模决策   |   三智落地   |   四队长效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913632"/>
            <a:ext cx="8321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F7FBFF"/>
                </a:solidFill>
                <a:latin typeface="Noto Sans CJK SC"/>
              </a:rPr>
              <a:t>基于健康评估的烤房用投管一体化解决方案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6236208"/>
            <a:ext cx="93268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A7C5D8"/>
                </a:solidFill>
                <a:latin typeface="Noto Sans CJK SC"/>
              </a:rPr>
              <a:t>湖北烟草创客大赛 · 决赛发布    宜昌市烟草公司 · 智同道合创客小组   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烟区一线，最怕这 3 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不是“有没有烤房”，而是分配、抢修、投入仍靠经验和人工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0020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分不到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旺季状态不透明｜烟农无法自主选择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09928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81912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2340" y="1741017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7252106" y="1549907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3508" y="1826514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581912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资源调度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20824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一键调度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24912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24912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修不及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27832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故障逐级上报｜找人找件慢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346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06624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4" name="Oval 23"/>
          <p:cNvSpPr/>
          <p:nvPr/>
        </p:nvSpPr>
        <p:spPr>
          <a:xfrm>
            <a:off x="7357719" y="2739999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73391" y="2855671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49997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79292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08595" y="3132277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7898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7194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37898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08595" y="26494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79292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706624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抢修服务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145536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故障定位 / 工单闭环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849624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3849624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投不准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4352544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哪栋该修｜哪个村真缺｜新建难量化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959352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831336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2573" y="4050792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68362" y="3965295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04150" y="3864711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312456" y="4196638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01000" y="3831336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投入决策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270248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缺口测算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43600"/>
            <a:ext cx="80467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根因：资源无统筹 · 投入无量化 · 管护无闭环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三愁背后，是三条链断了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资源、维修、投入没有形成数据联动闭环</a:t>
            </a:r>
          </a:p>
        </p:txBody>
      </p:sp>
      <p:sp>
        <p:nvSpPr>
          <p:cNvPr id="9" name="Oval 8"/>
          <p:cNvSpPr/>
          <p:nvPr/>
        </p:nvSpPr>
        <p:spPr>
          <a:xfrm>
            <a:off x="5550408" y="248716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97296" y="2949488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5751941" y="2734056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24067" y="3045866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675887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01  用房管理断链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07822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空闲不清 / 状态不明 / 调度靠经验</a:t>
            </a:r>
          </a:p>
        </p:txBody>
      </p:sp>
      <p:sp>
        <p:nvSpPr>
          <p:cNvPr id="15" name="Oval 14"/>
          <p:cNvSpPr/>
          <p:nvPr/>
        </p:nvSpPr>
        <p:spPr>
          <a:xfrm>
            <a:off x="271576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6356" y="4499396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66750" y="4629790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8560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8856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6435" y="4941600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4013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34309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4013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6435" y="4397349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8856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02  维修保障断链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199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故障发现慢 / 找人找件慢 / 闭环追踪弱</a:t>
            </a:r>
          </a:p>
        </p:txBody>
      </p:sp>
      <p:sp>
        <p:nvSpPr>
          <p:cNvPr id="28" name="Oval 27"/>
          <p:cNvSpPr/>
          <p:nvPr/>
        </p:nvSpPr>
        <p:spPr>
          <a:xfrm>
            <a:off x="838504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77290" y="4709160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30360" y="4612782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83431" y="4499396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654613" y="4873569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43800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03  投入决策断链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真实需求不清 / 供需错配 / 新改建难量化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88620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076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40480" y="4617720"/>
            <a:ext cx="4480560" cy="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28800" y="5989320"/>
            <a:ext cx="85039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9EEBFF"/>
                </a:solidFill>
                <a:latin typeface="Noto Sans CJK SC"/>
              </a:rPr>
              <a:t>问题不在“有没有房”，而在“用—投—管”没有形成一条数据链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一套方案，做成 4 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从摸清家底，到科学决策，再到真实落地与长效机制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5900" y="226222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1445666" y="207111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87068" y="234772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一库清底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状态可见 / 家底清楚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9333" y="232257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5122" y="223707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40910" y="213649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249216" y="246842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双模决策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健康评估 / 供需推演 / 投入更准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7037679" y="213649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53351" y="225216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957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9252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88555" y="252877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17858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7154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7858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88555" y="204596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59252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三智落地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0938" y="211134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856317" y="223205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56317" y="232257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56317" y="241310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4241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四队长效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专班推进 / 维修服务 / 运营管护 / 基金保障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760720"/>
            <a:ext cx="89611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一库清底：先把家底摸清楚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4大模块 · 18个关键部件 · 一房一档 · 动态更新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9938" y="16998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55317" y="18205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55317" y="191109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55317" y="20016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231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现场采集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位置 / 容量 / 状态 / 设备 / 使用情况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5437479" y="172501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3151" y="184068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29757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59052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88355" y="211729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7658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6954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17658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8355" y="163448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59052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标准判定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正常 / 损坏 / 缺失 · 优良 / 一般 / 较差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9700" y="185074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8989466" y="165963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0868" y="1936241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一房一档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基础信息 / 维修记录 / 用户评价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794760"/>
            <a:ext cx="44805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5D071"/>
                </a:solidFill>
                <a:latin typeface="Noto Sans CJK SC"/>
              </a:rPr>
              <a:t>真实系统证据位：替换为“一房一档”后台/小程序截图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224528"/>
            <a:ext cx="3657600" cy="1005840"/>
          </a:xfrm>
          <a:prstGeom prst="roundRect">
            <a:avLst/>
          </a:prstGeom>
          <a:solidFill>
            <a:srgbClr val="0A2D4C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4416552"/>
            <a:ext cx="3291840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Noto Sans CJK SC"/>
              </a:rPr>
              <a:t>一房一档｜基础信息｜部件状态｜维修记录｜评价</a:t>
            </a:r>
          </a:p>
        </p:txBody>
      </p:sp>
      <p:sp>
        <p:nvSpPr>
          <p:cNvPr id="40" name="Oval 39"/>
          <p:cNvSpPr/>
          <p:nvPr/>
        </p:nvSpPr>
        <p:spPr>
          <a:xfrm>
            <a:off x="1828800" y="434340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6888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63240" y="425196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03320" y="475488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4840" y="44348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83480" y="489204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828800" y="4572000"/>
            <a:ext cx="3840480" cy="731520"/>
          </a:xfrm>
          <a:prstGeom prst="line">
            <a:avLst/>
          </a:prstGeom>
          <a:ln w="12700">
            <a:solidFill>
              <a:srgbClr val="165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结果：空闲房在哪、故障房是谁、可用能力有多少，一眼看清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模型① 烤房健康评估：从打分到估寿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不是给一座烤房一个分数，而是判断还能用多久、哪里先修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9898" y="14712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35277" y="15919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5277" y="168249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5277" y="17730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0312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状态标准化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4大模块 / 18部件 / 指标归一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657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236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815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2645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1500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AHP组合评分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部件状态80% / 管护10% / 现场10%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5845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424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003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3833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2688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寿命与风险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60分预警线 / 风险部位 / 维修优先序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68780" y="4023359"/>
            <a:ext cx="1143000" cy="51435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1577340" y="3589020"/>
            <a:ext cx="1325880" cy="594360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25980" y="4217670"/>
            <a:ext cx="228600" cy="320040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080760" y="3722065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81283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080760" y="4242587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780236" y="4242587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80236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780236" y="3722065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80760" y="3375050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681807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080760" y="4416094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479712" y="4416094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479712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479712" y="3375050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80760" y="301752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991437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080760" y="459486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5170082" y="459486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70082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170082" y="301752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080760" y="301752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080760" y="354330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080760" y="406908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80760" y="406908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170082" y="406908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5170082" y="354330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80760" y="3311956"/>
            <a:ext cx="500872" cy="467945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581632" y="3779901"/>
            <a:ext cx="245883" cy="7203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080760" y="4500219"/>
            <a:ext cx="746755" cy="73609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5461499" y="4426610"/>
            <a:ext cx="619261" cy="1472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461499" y="3743096"/>
            <a:ext cx="54640" cy="683514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516139" y="3311956"/>
            <a:ext cx="564621" cy="431140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048756" y="327995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49628" y="3747897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95511" y="4468215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48756" y="4541824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29495" y="4394606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84135" y="371109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8503920" y="3657600"/>
            <a:ext cx="256032" cy="2898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59952" y="3686584"/>
            <a:ext cx="256032" cy="7194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015984" y="3758529"/>
            <a:ext cx="256032" cy="10847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272016" y="3867003"/>
            <a:ext cx="256032" cy="14205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528048" y="4009058"/>
            <a:ext cx="256032" cy="173726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784080" y="4182784"/>
            <a:ext cx="256032" cy="204002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040112" y="4386786"/>
            <a:ext cx="256032" cy="23318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296144" y="4619971"/>
            <a:ext cx="256032" cy="261478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552176" y="4881449"/>
            <a:ext cx="256032" cy="28902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808208" y="5170473"/>
            <a:ext cx="256032" cy="315927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321040" y="5413248"/>
            <a:ext cx="31089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60分以下自动预警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0160" y="5925312"/>
            <a:ext cx="960120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真正输出：健康等级 · 风险部位 · 剩余寿命趋势 · 维修优先序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模型② 千亩村发展导引：把真实缺口算出来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不问“想建几栋”，先算有效烤能，再判断结构性缺口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459839" y="1514703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5511" y="1630375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2117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1412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0715" y="190698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40018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69313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0018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0715" y="1424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1412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算有效烤能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可用烤房 / 健康折损 / 产能折算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6573" y="1700784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82362" y="1615287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18150" y="1514703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026456" y="1846630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500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判真实缺口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种植规模 / 产业趋势 / 管护能力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18220" y="1640433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8577986" y="1449324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19388" y="1725930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做建设推演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熵权法 + TOPSIS / 地图情景沙盘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7" name="Oval 36"/>
          <p:cNvSpPr/>
          <p:nvPr/>
        </p:nvSpPr>
        <p:spPr>
          <a:xfrm>
            <a:off x="1463040" y="402336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11680" y="4572000"/>
            <a:ext cx="164592" cy="1645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0" y="4160520"/>
            <a:ext cx="164592" cy="164592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46120" y="4663440"/>
            <a:ext cx="164592" cy="164592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49039" y="434340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188720" y="3840480"/>
            <a:ext cx="2926080" cy="1280160"/>
          </a:xfrm>
          <a:prstGeom prst="line">
            <a:avLst/>
          </a:prstGeom>
          <a:ln w="12700">
            <a:solidFill>
              <a:srgbClr val="1A6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754880" y="4879570"/>
            <a:ext cx="324464" cy="423949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57800" y="4596938"/>
            <a:ext cx="324464" cy="706581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4314305"/>
            <a:ext cx="324464" cy="989214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4172989"/>
            <a:ext cx="324464" cy="113053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66560" y="4031672"/>
            <a:ext cx="324464" cy="1271847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79" y="3749039"/>
            <a:ext cx="324464" cy="155448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754880" y="5303520"/>
            <a:ext cx="301752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74920" y="5349240"/>
            <a:ext cx="237744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需求 vs 有效烤能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840480"/>
            <a:ext cx="33832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F7FBFF"/>
                </a:solidFill>
                <a:latin typeface="Noto Sans CJK SC"/>
              </a:rPr>
              <a:t>先调剂 → 再修复 → 仍有结构性缺口才新建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5852160"/>
            <a:ext cx="92354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把“有多少栋”改成“有多少有效能力”，建设才有依据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双模决策：存量评估 + 增量推演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模型①把存量算清，模型②才有资格谈增量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①  健康评估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②  供需推演</a:t>
            </a:r>
          </a:p>
        </p:txBody>
      </p:sp>
      <p:sp>
        <p:nvSpPr>
          <p:cNvPr id="11" name="Oval 10"/>
          <p:cNvSpPr/>
          <p:nvPr/>
        </p:nvSpPr>
        <p:spPr>
          <a:xfrm>
            <a:off x="98755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1595" y="2907243"/>
            <a:ext cx="257129" cy="257129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1513" y="2987161"/>
            <a:ext cx="97292" cy="97292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22623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3772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55836" y="3178271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7901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9050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7901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55836" y="2844698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3772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部件体检</a:t>
            </a:r>
          </a:p>
        </p:txBody>
      </p:sp>
      <p:sp>
        <p:nvSpPr>
          <p:cNvPr id="23" name="Oval 22"/>
          <p:cNvSpPr/>
          <p:nvPr/>
        </p:nvSpPr>
        <p:spPr>
          <a:xfrm>
            <a:off x="24505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972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10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48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5833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031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寿命预测</a:t>
            </a:r>
          </a:p>
        </p:txBody>
      </p:sp>
      <p:sp>
        <p:nvSpPr>
          <p:cNvPr id="29" name="Oval 28"/>
          <p:cNvSpPr/>
          <p:nvPr/>
        </p:nvSpPr>
        <p:spPr>
          <a:xfrm>
            <a:off x="391363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46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97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297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297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66159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35" name="Oval 34"/>
          <p:cNvSpPr/>
          <p:nvPr/>
        </p:nvSpPr>
        <p:spPr>
          <a:xfrm>
            <a:off x="693115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0024" y="2994111"/>
            <a:ext cx="347472" cy="156362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7022226" y="2862072"/>
            <a:ext cx="403067" cy="180685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89012" y="3053181"/>
            <a:ext cx="69494" cy="97292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有效烤能</a:t>
            </a:r>
          </a:p>
        </p:txBody>
      </p:sp>
      <p:sp>
        <p:nvSpPr>
          <p:cNvPr id="40" name="Oval 39"/>
          <p:cNvSpPr/>
          <p:nvPr/>
        </p:nvSpPr>
        <p:spPr>
          <a:xfrm>
            <a:off x="83941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08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346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284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5269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467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真实缺口</a:t>
            </a:r>
          </a:p>
        </p:txBody>
      </p:sp>
      <p:sp>
        <p:nvSpPr>
          <p:cNvPr id="46" name="Oval 45"/>
          <p:cNvSpPr/>
          <p:nvPr/>
        </p:nvSpPr>
        <p:spPr>
          <a:xfrm>
            <a:off x="985723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282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0733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733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733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0976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建设情景</a:t>
            </a:r>
          </a:p>
        </p:txBody>
      </p:sp>
      <p:sp>
        <p:nvSpPr>
          <p:cNvPr id="52" name="Oval 51"/>
          <p:cNvSpPr/>
          <p:nvPr/>
        </p:nvSpPr>
        <p:spPr>
          <a:xfrm>
            <a:off x="5184648" y="3886200"/>
            <a:ext cx="1783080" cy="1783080"/>
          </a:xfrm>
          <a:prstGeom prst="ellipse">
            <a:avLst/>
          </a:prstGeom>
          <a:solidFill>
            <a:srgbClr val="0A3558"/>
          </a:solidFill>
          <a:ln w="2286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1808" y="4233672"/>
            <a:ext cx="150876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双模耦合
输出</a:t>
            </a:r>
          </a:p>
        </p:txBody>
      </p:sp>
      <p:sp>
        <p:nvSpPr>
          <p:cNvPr id="54" name="Oval 53"/>
          <p:cNvSpPr/>
          <p:nvPr/>
        </p:nvSpPr>
        <p:spPr>
          <a:xfrm>
            <a:off x="384048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该修哪栋</a:t>
            </a:r>
          </a:p>
        </p:txBody>
      </p:sp>
      <p:sp>
        <p:nvSpPr>
          <p:cNvPr id="56" name="Oval 55"/>
          <p:cNvSpPr/>
          <p:nvPr/>
        </p:nvSpPr>
        <p:spPr>
          <a:xfrm>
            <a:off x="553212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该补哪里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该建多少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三智落地：把系统能力变成日常动作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不是做一个平台，而是让智用、智投、智管真正进入业务现场</a:t>
            </a:r>
          </a:p>
        </p:txBody>
      </p:sp>
      <p:sp>
        <p:nvSpPr>
          <p:cNvPr id="9" name="Oval 8"/>
          <p:cNvSpPr/>
          <p:nvPr/>
        </p:nvSpPr>
        <p:spPr>
          <a:xfrm>
            <a:off x="1874519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9696" y="2618475"/>
            <a:ext cx="658368" cy="296265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2087026" y="2368296"/>
            <a:ext cx="763706" cy="342351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3043" y="2730398"/>
            <a:ext cx="131673" cy="184343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空闲可见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一键调度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故障报修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7125" y="2697480"/>
            <a:ext cx="111922" cy="16459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884" y="2585557"/>
            <a:ext cx="111922" cy="276514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2644" y="2453883"/>
            <a:ext cx="111922" cy="40818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60790" y="2888406"/>
            <a:ext cx="618866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3776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需求识别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缺口测算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投入更准</a:t>
            </a:r>
          </a:p>
        </p:txBody>
      </p:sp>
      <p:sp>
        <p:nvSpPr>
          <p:cNvPr id="26" name="Oval 25"/>
          <p:cNvSpPr/>
          <p:nvPr/>
        </p:nvSpPr>
        <p:spPr>
          <a:xfrm>
            <a:off x="946404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14803" y="2453883"/>
            <a:ext cx="487192" cy="487192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66228" y="2605308"/>
            <a:ext cx="184343" cy="184343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28330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35771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12314" y="2967410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8856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6297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8856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12314" y="2335377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35771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运行监测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维修留痕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预警闭环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让资源调得动、投入算得清、运行管得住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智用：调度与抢修，真正落到烟农手里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从“打电话找房、找人、找配件”变成一键发起、过程可见、结果回写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579" y="171358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1171346" y="152247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2748" y="179908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找空闲房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就近可选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7378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23275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3275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3275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0060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发起调度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线上申请 / 一键提交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7037679" y="15878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53351" y="17035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957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9252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88555" y="19801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17858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7154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7858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88555" y="14973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59252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故障报修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定位问题 / 自动派单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9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8097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99347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9347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9347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61319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评价回写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19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过程留痕 / 服务闭环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9476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真实小程序
调度申请截图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真实工单/评价
截图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760720"/>
            <a:ext cx="85039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磨坪站雷击案例：精准诊断2处故障部件，3小时内完成抢修复产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智投：把钱投到最该投的地方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存量先体检，增量再推演，选址和投入都用数据说话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231239" y="154213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6911" y="165780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3517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2812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2115" y="193441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11418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0713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1418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82115" y="145161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2812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存量体检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健康等级 / 寿命 / 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3885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9674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5462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093768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82312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缺口识别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需求对比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1444" y="166786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6941210" y="1476755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82612" y="175336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0104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选址推演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0104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村组位置 / 服务半径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4504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9469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65258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01046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909352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97896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效果复盘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7896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投入产出 / 使用率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627880"/>
            <a:ext cx="353961" cy="6299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80160" y="4155440"/>
            <a:ext cx="353961" cy="110236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0" y="4470400"/>
            <a:ext cx="353961" cy="787400"/>
          </a:xfrm>
          <a:prstGeom prst="rect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39" y="3840480"/>
            <a:ext cx="353961" cy="1417320"/>
          </a:xfrm>
          <a:prstGeom prst="rect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3152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601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健康分布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4785360"/>
            <a:ext cx="283169" cy="47244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7912" y="4667250"/>
            <a:ext cx="283169" cy="59055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06824" y="4312920"/>
            <a:ext cx="283169" cy="94488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45736" y="4076699"/>
            <a:ext cx="283169" cy="118110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84648" y="3840480"/>
            <a:ext cx="283169" cy="14173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342900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033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供需缺口</a:t>
            </a:r>
          </a:p>
        </p:txBody>
      </p:sp>
      <p:sp>
        <p:nvSpPr>
          <p:cNvPr id="58" name="Oval 57"/>
          <p:cNvSpPr/>
          <p:nvPr/>
        </p:nvSpPr>
        <p:spPr>
          <a:xfrm>
            <a:off x="6583680" y="402336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2376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416052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21040" y="457200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370332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753904" y="4407408"/>
            <a:ext cx="1203351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281160" y="445312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核心设备升级计划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81160" y="470916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7栋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753904" y="5413248"/>
            <a:ext cx="1203351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281160" y="545896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肖家坪科学新建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5870448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先调剂、再维修、最后才新建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智管：让每一座烤房都有可追溯的生命周期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建档、巡检、维修、评价不断档，数据持续回写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4258" y="2019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129637" y="2140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29637" y="223113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29637" y="2321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97480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建档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责任到人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2693" y="2231135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28482" y="214563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64270" y="204505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72576" y="237698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19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巡检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状态更新 / 风险发现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8317839" y="43310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3511" y="44467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10117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39412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68715" y="47233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98018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7313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8018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68715" y="42405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39412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19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配件留痕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4258" y="4305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129637" y="4426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29637" y="45171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29637" y="4607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97480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回写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评价 / 成本 / 历史沉淀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0" y="251460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92640" y="2926080"/>
            <a:ext cx="0" cy="141732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886200" y="507492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28800" y="2971800"/>
            <a:ext cx="0" cy="137160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0" y="3538727"/>
            <a:ext cx="1371600" cy="61722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4919472" y="3017520"/>
            <a:ext cx="1591055" cy="71323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7840" y="3771900"/>
            <a:ext cx="274320" cy="384048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4434840"/>
            <a:ext cx="29260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档案不断档
责任不断链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四队长效：让机制跑在平台后面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有人管 · 有钱管 · 有标准管 · 有机制管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8457" y="183702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43837" y="195773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43837" y="204825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43837" y="213878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11680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专班推进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任务统筹 / 进度督办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4184751" y="186217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00423" y="197784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7029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06324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5627" y="225445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4930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4225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4930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5627" y="177165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6324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1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备件调度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5723" y="198790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6895490" y="179679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6892" y="207340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4383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运营管护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3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巡检更新 / 使用培训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1976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2309" y="204825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8098" y="196275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3886" y="186217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772192" y="219410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460736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基金保障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0736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资金统筹 / 长效投入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069080"/>
            <a:ext cx="23774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66人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717596" y="4773168"/>
            <a:ext cx="1331367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194560" y="4818888"/>
            <a:ext cx="23774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专业管护团队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069080"/>
            <a:ext cx="256032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01030" y="4773168"/>
            <a:ext cx="143377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37760" y="4818888"/>
            <a:ext cx="25603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4069080"/>
            <a:ext cx="24688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长期运营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52713" y="4773168"/>
            <a:ext cx="1382573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909560" y="4818888"/>
            <a:ext cx="246888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从项目上线到持续运转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833872"/>
            <a:ext cx="832104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机制不散 · 服务不断 · 数据不乱 · 保障不虚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应用成效：从经验管房，走向数据管房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资源可见 · 维修提速 · 决策更准 · 资金更省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2442座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6015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建档并完成健康评估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48次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943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55848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烤房调剂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18次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41871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08776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突发故障全部3小时内闭环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95.8%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94799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61704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群众综合满意度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340+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6015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待修烤房筛查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88943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5848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升级纳入计划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1363栋 / 81%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41871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08776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合作社统筹管护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4799" y="4590288"/>
            <a:ext cx="135696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61704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97880"/>
            <a:ext cx="85039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看得见、调得动、修得快、投得准，才是真正的价值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总结：一套“智烤管家”，把难题变成闭环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一库清底  ·  双模决策  ·  三智落地  ·  四队长效</a:t>
            </a:r>
          </a:p>
        </p:txBody>
      </p:sp>
      <p:sp>
        <p:nvSpPr>
          <p:cNvPr id="9" name="Oval 8"/>
          <p:cNvSpPr/>
          <p:nvPr/>
        </p:nvSpPr>
        <p:spPr>
          <a:xfrm>
            <a:off x="150876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7263" y="2486802"/>
            <a:ext cx="396849" cy="476219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950963" y="2622864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50963" y="2724912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0963" y="2826959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01
一库清底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26498" y="2724912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79568" y="2628534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2639" y="2515148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603821" y="2889321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02
双模决策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43764" y="2515148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74158" y="2645542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5968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06264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3843" y="2957352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1421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1717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21421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13843" y="2413101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06264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03
三智落地</a:t>
            </a:r>
          </a:p>
        </p:txBody>
      </p:sp>
      <p:sp>
        <p:nvSpPr>
          <p:cNvPr id="33" name="Oval 32"/>
          <p:cNvSpPr/>
          <p:nvPr/>
        </p:nvSpPr>
        <p:spPr>
          <a:xfrm>
            <a:off x="9875519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58983" y="2656880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10113629" y="2441448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85755" y="2753258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59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04
四队长效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33272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让每一座烤房，都有一份可计算、可调度、可运维、可决策的健康档案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650992"/>
            <a:ext cx="74066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从“有多少房”到“有多少有效烤能”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144768"/>
            <a:ext cx="6309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A7C5D8"/>
                </a:solidFill>
                <a:latin typeface="Noto Sans CJK SC"/>
              </a:rPr>
              <a:t>让数据说话 · 让模型决策 · 让管家落地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