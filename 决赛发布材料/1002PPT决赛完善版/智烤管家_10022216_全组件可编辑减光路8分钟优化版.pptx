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83280" y="621792"/>
            <a:ext cx="5486400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0">
                <a:solidFill>
                  <a:srgbClr val="9EEBFF"/>
                </a:solidFill>
                <a:latin typeface="Noto Sans CJK SC"/>
              </a:rPr>
              <a:t>Z H I   K A O   M A N A G E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188720"/>
            <a:ext cx="3794760" cy="10058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5400" b="1">
                <a:solidFill>
                  <a:srgbClr val="F7FBFF"/>
                </a:solidFill>
                <a:latin typeface="Noto Serif CJK SC"/>
              </a:rPr>
              <a:t>智烤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1188720"/>
            <a:ext cx="3794760" cy="10058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5400" b="1">
                <a:solidFill>
                  <a:srgbClr val="23C8F6"/>
                </a:solidFill>
                <a:latin typeface="Noto Serif CJK SC"/>
              </a:rPr>
              <a:t>管家</a:t>
            </a:r>
          </a:p>
        </p:txBody>
      </p:sp>
      <p:sp>
        <p:nvSpPr>
          <p:cNvPr id="6" name="Arc 5"/>
          <p:cNvSpPr/>
          <p:nvPr/>
        </p:nvSpPr>
        <p:spPr>
          <a:xfrm rot="10800000">
            <a:off x="2057400" y="91440"/>
            <a:ext cx="8092440" cy="5806440"/>
          </a:xfrm>
          <a:prstGeom prst="arc">
            <a:avLst/>
          </a:prstGeom>
          <a:noFill/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78992" y="2331720"/>
            <a:ext cx="0" cy="2514600"/>
          </a:xfrm>
          <a:prstGeom prst="line">
            <a:avLst/>
          </a:prstGeom>
          <a:ln w="1016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082528" y="2331720"/>
            <a:ext cx="0" cy="2514600"/>
          </a:xfrm>
          <a:prstGeom prst="line">
            <a:avLst/>
          </a:prstGeom>
          <a:ln w="1016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28800" y="2359152"/>
            <a:ext cx="850392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500" b="0">
                <a:solidFill>
                  <a:srgbClr val="9EEBFF"/>
                </a:solidFill>
                <a:latin typeface="Noto Sans CJK SC"/>
              </a:rPr>
              <a:t>让每一座烤房，都有一份可计算的“健康档案”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127248"/>
            <a:ext cx="813816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500" b="1">
                <a:solidFill>
                  <a:srgbClr val="9EEBFF"/>
                </a:solidFill>
                <a:latin typeface="Noto Sans CJK SC"/>
              </a:rPr>
              <a:t>一库清底   |   双模决策   |   三智落地   |   四队长效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913632"/>
            <a:ext cx="832104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500" b="1">
                <a:solidFill>
                  <a:srgbClr val="F7FBFF"/>
                </a:solidFill>
                <a:latin typeface="Noto Sans CJK SC"/>
              </a:rPr>
              <a:t>基于健康评估的烤房用投管一体化解决方案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6236208"/>
            <a:ext cx="9326880" cy="29260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000" b="0">
                <a:solidFill>
                  <a:srgbClr val="A7C5D8"/>
                </a:solidFill>
                <a:latin typeface="Noto Sans CJK SC"/>
              </a:rPr>
              <a:t>湖北烟草创客大赛 · 决赛发布    宜昌市烟草公司 · 智同道合创客小组    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283464"/>
            <a:ext cx="106984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100" b="1">
                <a:solidFill>
                  <a:srgbClr val="F7FBFF"/>
                </a:solidFill>
                <a:latin typeface="Noto Serif CJK SC"/>
              </a:rPr>
              <a:t>烟区一线，最怕这 3 件事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91472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59536"/>
            <a:ext cx="96012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不是“有没有烤房”，而是分配、抢修、投入仍靠经验和人工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658368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00200"/>
            <a:ext cx="210312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7FBFF"/>
                </a:solidFill>
                <a:latin typeface="Noto Serif CJK SC"/>
              </a:rPr>
              <a:t>分不到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03120"/>
            <a:ext cx="347472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旺季状态不透明｜烟农无法自主选择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709928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581912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92340" y="1741017"/>
            <a:ext cx="502920" cy="226314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7252106" y="1549907"/>
            <a:ext cx="583387" cy="261518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3508" y="1826514"/>
            <a:ext cx="100584" cy="140817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581912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资源调度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020824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状态可见 / 一键调度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724912"/>
            <a:ext cx="658368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724912"/>
            <a:ext cx="210312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7FBFF"/>
                </a:solidFill>
                <a:latin typeface="Noto Serif CJK SC"/>
              </a:rPr>
              <a:t>修不及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227832"/>
            <a:ext cx="347472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故障逐级上报｜找人找件慢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83464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706624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24" name="Oval 23"/>
          <p:cNvSpPr/>
          <p:nvPr/>
        </p:nvSpPr>
        <p:spPr>
          <a:xfrm>
            <a:off x="7357719" y="2739999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73391" y="2855671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49997" y="2890875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79292" y="3061572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08595" y="3132277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37898" y="3061572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67194" y="2890875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37898" y="272017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08595" y="264947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79292" y="272017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0" y="2706624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抢修服务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3145536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故障定位 / 工单闭环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849624"/>
            <a:ext cx="658368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8760" y="3849624"/>
            <a:ext cx="210312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7FBFF"/>
                </a:solidFill>
                <a:latin typeface="Noto Serif CJK SC"/>
              </a:rPr>
              <a:t>投不准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08760" y="4352544"/>
            <a:ext cx="347472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哪栋该修｜哪个村真缺｜新建难量化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3959352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3831336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32573" y="4050792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68362" y="3965295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04150" y="3864711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7312456" y="4196638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001000" y="3831336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投入决策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4270248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有效烤能 / 缺口测算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5943600"/>
            <a:ext cx="804672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800" b="1">
                <a:solidFill>
                  <a:srgbClr val="23C8F6"/>
                </a:solidFill>
                <a:latin typeface="Noto Sans CJK SC"/>
              </a:rPr>
              <a:t>根因：资源无统筹 · 投入无量化 · 管护无闭环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reduc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283464"/>
            <a:ext cx="106984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100" b="1">
                <a:solidFill>
                  <a:srgbClr val="F7FBFF"/>
                </a:solidFill>
                <a:latin typeface="Noto Serif CJK SC"/>
              </a:rPr>
              <a:t>三愁背后，是三条链断了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91472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59536"/>
            <a:ext cx="96012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资源、维修、投入没有形成数据联动闭环</a:t>
            </a:r>
          </a:p>
        </p:txBody>
      </p:sp>
      <p:sp>
        <p:nvSpPr>
          <p:cNvPr id="9" name="Oval 8"/>
          <p:cNvSpPr/>
          <p:nvPr/>
        </p:nvSpPr>
        <p:spPr>
          <a:xfrm>
            <a:off x="5550408" y="2487168"/>
            <a:ext cx="1060704" cy="1060704"/>
          </a:xfrm>
          <a:prstGeom prst="ellipse">
            <a:avLst/>
          </a:prstGeom>
          <a:solidFill>
            <a:srgbClr val="0B3557"/>
          </a:solidFill>
          <a:ln w="190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97296" y="2949488"/>
            <a:ext cx="566928" cy="255117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5751941" y="2734056"/>
            <a:ext cx="657636" cy="294802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24067" y="3045866"/>
            <a:ext cx="113385" cy="158739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3675887"/>
            <a:ext cx="274320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7FBFF"/>
                </a:solidFill>
                <a:latin typeface="Noto Serif CJK SC"/>
              </a:rPr>
              <a:t>01  用房管理断链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078224"/>
            <a:ext cx="3291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空闲不清 / 状态不明 / 调度靠经验</a:t>
            </a:r>
          </a:p>
        </p:txBody>
      </p:sp>
      <p:sp>
        <p:nvSpPr>
          <p:cNvPr id="15" name="Oval 14"/>
          <p:cNvSpPr/>
          <p:nvPr/>
        </p:nvSpPr>
        <p:spPr>
          <a:xfrm>
            <a:off x="2715768" y="4178808"/>
            <a:ext cx="1060704" cy="1060704"/>
          </a:xfrm>
          <a:prstGeom prst="ellipse">
            <a:avLst/>
          </a:prstGeom>
          <a:solidFill>
            <a:srgbClr val="0B3557"/>
          </a:solidFill>
          <a:ln w="190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36356" y="4499396"/>
            <a:ext cx="419526" cy="419526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166750" y="4629790"/>
            <a:ext cx="158739" cy="158739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8560" y="4669475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98856" y="4861896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6435" y="4941600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14013" y="4861896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34309" y="4669475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14013" y="4477053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6435" y="4397349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98856" y="4477053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74519" y="5367528"/>
            <a:ext cx="274320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7FBFF"/>
                </a:solidFill>
                <a:latin typeface="Noto Serif CJK SC"/>
              </a:rPr>
              <a:t>02  维修保障断链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199" y="5769864"/>
            <a:ext cx="3291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故障发现慢 / 找人找件慢 / 闭环追踪弱</a:t>
            </a:r>
          </a:p>
        </p:txBody>
      </p:sp>
      <p:sp>
        <p:nvSpPr>
          <p:cNvPr id="28" name="Oval 27"/>
          <p:cNvSpPr/>
          <p:nvPr/>
        </p:nvSpPr>
        <p:spPr>
          <a:xfrm>
            <a:off x="8385048" y="4178808"/>
            <a:ext cx="1060704" cy="1060704"/>
          </a:xfrm>
          <a:prstGeom prst="ellipse">
            <a:avLst/>
          </a:prstGeom>
          <a:solidFill>
            <a:srgbClr val="0B3557"/>
          </a:solidFill>
          <a:ln w="190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77290" y="4709160"/>
            <a:ext cx="96377" cy="141732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30360" y="4612782"/>
            <a:ext cx="96377" cy="238109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83431" y="4499396"/>
            <a:ext cx="96377" cy="351495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8654613" y="4873569"/>
            <a:ext cx="532912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543800" y="5367528"/>
            <a:ext cx="274320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7FBFF"/>
                </a:solidFill>
                <a:latin typeface="Noto Serif CJK SC"/>
              </a:rPr>
              <a:t>03  投入决策断链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5769864"/>
            <a:ext cx="3291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真实需求不清 / 供需错配 / 新改建难量化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3886200" y="3520440"/>
            <a:ext cx="2194560" cy="914400"/>
          </a:xfrm>
          <a:prstGeom prst="line">
            <a:avLst/>
          </a:prstGeom>
          <a:ln w="1651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80760" y="3520440"/>
            <a:ext cx="2194560" cy="914400"/>
          </a:xfrm>
          <a:prstGeom prst="line">
            <a:avLst/>
          </a:prstGeom>
          <a:ln w="1651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840480" y="4617720"/>
            <a:ext cx="4480560" cy="0"/>
          </a:xfrm>
          <a:prstGeom prst="line">
            <a:avLst/>
          </a:prstGeom>
          <a:ln w="1651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828800" y="5989320"/>
            <a:ext cx="85039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600" b="1">
                <a:solidFill>
                  <a:srgbClr val="9EEBFF"/>
                </a:solidFill>
                <a:latin typeface="Noto Sans CJK SC"/>
              </a:rPr>
              <a:t>问题不在“有没有房”，而在“用—投—管”没有形成一条数据链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reduc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283464"/>
            <a:ext cx="106984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100" b="1">
                <a:solidFill>
                  <a:srgbClr val="F7FBFF"/>
                </a:solidFill>
                <a:latin typeface="Noto Serif CJK SC"/>
              </a:rPr>
              <a:t>一套方案，做成 4 件事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91472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59536"/>
            <a:ext cx="96012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从摸清家底，到科学决策，再到真实落地与长效机制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85900" y="2262225"/>
            <a:ext cx="502920" cy="226314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1445666" y="2071116"/>
            <a:ext cx="583387" cy="261518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87068" y="2347722"/>
            <a:ext cx="100584" cy="140817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210312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一库清底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54203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一房一档 / 状态可见 / 家底清楚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15468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10312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9333" y="2322576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05122" y="2237079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40910" y="2136495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4249216" y="2468422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937760" y="210312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双模决策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54203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健康评估 / 供需推演 / 投入更准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15468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10312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25" name="Oval 24"/>
          <p:cNvSpPr/>
          <p:nvPr/>
        </p:nvSpPr>
        <p:spPr>
          <a:xfrm>
            <a:off x="7037679" y="2136495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53351" y="2252167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29957" y="228737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9252" y="245806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88555" y="2528773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17858" y="245806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47154" y="228737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17858" y="211667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88555" y="2045969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59252" y="211667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210312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三智落地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254203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智用 / 智投 / 智管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315468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210312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90938" y="211134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9856317" y="223205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856317" y="2322576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856317" y="241310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424160" y="210312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四队长效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254203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专班推进 / 维修服务 / 运营管护 / 基金保障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5760720"/>
            <a:ext cx="8961120" cy="47548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800" b="1">
                <a:solidFill>
                  <a:srgbClr val="23C8F6"/>
                </a:solidFill>
                <a:latin typeface="Noto Sans CJK SC"/>
              </a:rPr>
              <a:t>把“看不清、修不及、投不准”，变成“看得见、管得住、投得准”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reduc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283464"/>
            <a:ext cx="106984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100" b="1">
                <a:solidFill>
                  <a:srgbClr val="F7FBFF"/>
                </a:solidFill>
                <a:latin typeface="Noto Serif CJK SC"/>
              </a:rPr>
              <a:t>一库清底：先把家底摸清楚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91472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59536"/>
            <a:ext cx="96012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4大模块 · 18个关键部件 · 一房一档 · 动态更新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9938" y="169986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855317" y="182057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55317" y="1911095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55317" y="200162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423160" y="169164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现场采集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13055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位置 / 容量 / 状态 / 设备 / 使用情况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4231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69164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18" name="Oval 17"/>
          <p:cNvSpPr/>
          <p:nvPr/>
        </p:nvSpPr>
        <p:spPr>
          <a:xfrm>
            <a:off x="5437479" y="1725015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53151" y="1840687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29757" y="187589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59052" y="204658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88355" y="2117293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17658" y="204658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6954" y="187589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17658" y="170519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88355" y="1634489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59052" y="170519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169164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标准判定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213055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正常 / 损坏 / 缺失 · 优良 / 一般 / 较差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24231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169164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29700" y="1850745"/>
            <a:ext cx="502920" cy="226314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8989466" y="1659636"/>
            <a:ext cx="583387" cy="261518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30868" y="1936241"/>
            <a:ext cx="100584" cy="140817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169164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一房一档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213055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基础信息 / 维修记录 / 用户评价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3794760"/>
            <a:ext cx="44805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5D071"/>
                </a:solidFill>
                <a:latin typeface="Noto Sans CJK SC"/>
              </a:rPr>
              <a:t>真实系统证据位：替换为“一房一档”后台/小程序截图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4224528"/>
            <a:ext cx="3657600" cy="1005840"/>
          </a:xfrm>
          <a:prstGeom prst="roundRect">
            <a:avLst/>
          </a:prstGeom>
          <a:solidFill>
            <a:srgbClr val="0A2D4C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79" y="4416552"/>
            <a:ext cx="3291840" cy="51206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F7FBFF"/>
                </a:solidFill>
                <a:latin typeface="Noto Sans CJK SC"/>
              </a:rPr>
              <a:t>一房一档｜基础信息｜部件状态｜维修记录｜评价</a:t>
            </a:r>
          </a:p>
        </p:txBody>
      </p:sp>
      <p:sp>
        <p:nvSpPr>
          <p:cNvPr id="40" name="Oval 39"/>
          <p:cNvSpPr/>
          <p:nvPr/>
        </p:nvSpPr>
        <p:spPr>
          <a:xfrm>
            <a:off x="1828800" y="4343400"/>
            <a:ext cx="146304" cy="146304"/>
          </a:xfrm>
          <a:prstGeom prst="ellipse">
            <a:avLst/>
          </a:prstGeom>
          <a:solidFill>
            <a:srgbClr val="5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468880" y="4663440"/>
            <a:ext cx="146304" cy="146304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063240" y="4251960"/>
            <a:ext cx="146304" cy="146304"/>
          </a:xfrm>
          <a:prstGeom prst="ellipse">
            <a:avLst/>
          </a:prstGeom>
          <a:solidFill>
            <a:srgbClr val="F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703320" y="4754880"/>
            <a:ext cx="146304" cy="146304"/>
          </a:xfrm>
          <a:prstGeom prst="ellipse">
            <a:avLst/>
          </a:prstGeom>
          <a:solidFill>
            <a:srgbClr val="5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34840" y="4434840"/>
            <a:ext cx="146304" cy="146304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983480" y="4892040"/>
            <a:ext cx="146304" cy="146304"/>
          </a:xfrm>
          <a:prstGeom prst="ellipse">
            <a:avLst/>
          </a:prstGeom>
          <a:solidFill>
            <a:srgbClr val="F5D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 flipV="1">
            <a:off x="1828800" y="4572000"/>
            <a:ext cx="3840480" cy="731520"/>
          </a:xfrm>
          <a:prstGeom prst="line">
            <a:avLst/>
          </a:prstGeom>
          <a:ln w="12700">
            <a:solidFill>
              <a:srgbClr val="1656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371600" y="5806440"/>
            <a:ext cx="941832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23C8F6"/>
                </a:solidFill>
                <a:latin typeface="Noto Sans CJK SC"/>
              </a:rPr>
              <a:t>结果：空闲房在哪、故障房是谁、可用能力有多少，一眼看清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reduc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283464"/>
            <a:ext cx="106984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100" b="1">
                <a:solidFill>
                  <a:srgbClr val="F7FBFF"/>
                </a:solidFill>
                <a:latin typeface="Noto Serif CJK SC"/>
              </a:rPr>
              <a:t>模型① 烤房健康评估：从打分到估寿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91472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59536"/>
            <a:ext cx="96012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不是给一座烤房一个分数，而是判断还能用多久、哪里先修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9898" y="147126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535277" y="159197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35277" y="1682496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535277" y="177302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103120" y="146304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状态标准化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190195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4大模块 / 18部件 / 指标归一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146304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46573" y="1682496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82362" y="1596999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18150" y="1496415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26456" y="1828342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715000" y="146304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AHP组合评分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190195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部件状态80% / 管护10% / 现场10%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146304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58453" y="1682496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94242" y="1596999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30030" y="1496415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8638336" y="1828342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326880" y="146304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寿命与风险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190195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60分预警线 / 风险部位 / 维修优先序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19659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19659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68780" y="4023359"/>
            <a:ext cx="1143000" cy="514350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1577340" y="3589020"/>
            <a:ext cx="1325880" cy="594360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25980" y="4217670"/>
            <a:ext cx="228600" cy="320040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6080760" y="3722065"/>
            <a:ext cx="300523" cy="173507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381283" y="3895572"/>
            <a:ext cx="0" cy="347015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6080760" y="4242587"/>
            <a:ext cx="300523" cy="173507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5780236" y="4242587"/>
            <a:ext cx="300524" cy="173507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780236" y="3895572"/>
            <a:ext cx="0" cy="347015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780236" y="3722065"/>
            <a:ext cx="300524" cy="173507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080760" y="3375050"/>
            <a:ext cx="601047" cy="347015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681807" y="3722065"/>
            <a:ext cx="0" cy="694029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6080760" y="4416094"/>
            <a:ext cx="601047" cy="347015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5479712" y="4416094"/>
            <a:ext cx="601048" cy="347015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479712" y="3722065"/>
            <a:ext cx="0" cy="694029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479712" y="3375050"/>
            <a:ext cx="601048" cy="347015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080760" y="3017520"/>
            <a:ext cx="910677" cy="525780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991437" y="3543300"/>
            <a:ext cx="0" cy="1051560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6080760" y="4594860"/>
            <a:ext cx="910677" cy="525780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5170082" y="4594860"/>
            <a:ext cx="910678" cy="525780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70082" y="3543300"/>
            <a:ext cx="0" cy="1051560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170082" y="3017520"/>
            <a:ext cx="910678" cy="525780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080760" y="3017520"/>
            <a:ext cx="0" cy="1051560"/>
          </a:xfrm>
          <a:prstGeom prst="line">
            <a:avLst/>
          </a:prstGeom>
          <a:ln w="762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080760" y="3543300"/>
            <a:ext cx="910677" cy="525780"/>
          </a:xfrm>
          <a:prstGeom prst="line">
            <a:avLst/>
          </a:prstGeom>
          <a:ln w="762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080760" y="4069080"/>
            <a:ext cx="910677" cy="525780"/>
          </a:xfrm>
          <a:prstGeom prst="line">
            <a:avLst/>
          </a:prstGeom>
          <a:ln w="762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080760" y="4069080"/>
            <a:ext cx="0" cy="1051560"/>
          </a:xfrm>
          <a:prstGeom prst="line">
            <a:avLst/>
          </a:prstGeom>
          <a:ln w="762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5170082" y="4069080"/>
            <a:ext cx="910678" cy="525780"/>
          </a:xfrm>
          <a:prstGeom prst="line">
            <a:avLst/>
          </a:prstGeom>
          <a:ln w="762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5170082" y="3543300"/>
            <a:ext cx="910678" cy="525780"/>
          </a:xfrm>
          <a:prstGeom prst="line">
            <a:avLst/>
          </a:prstGeom>
          <a:ln w="762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080760" y="3311956"/>
            <a:ext cx="500872" cy="467945"/>
          </a:xfrm>
          <a:prstGeom prst="line">
            <a:avLst/>
          </a:prstGeom>
          <a:ln w="2286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581632" y="3779901"/>
            <a:ext cx="245883" cy="720318"/>
          </a:xfrm>
          <a:prstGeom prst="line">
            <a:avLst/>
          </a:prstGeom>
          <a:ln w="2286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6080760" y="4500219"/>
            <a:ext cx="746755" cy="73609"/>
          </a:xfrm>
          <a:prstGeom prst="line">
            <a:avLst/>
          </a:prstGeom>
          <a:ln w="2286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5461499" y="4426610"/>
            <a:ext cx="619261" cy="147218"/>
          </a:xfrm>
          <a:prstGeom prst="line">
            <a:avLst/>
          </a:prstGeom>
          <a:ln w="2286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461499" y="3743096"/>
            <a:ext cx="54640" cy="683514"/>
          </a:xfrm>
          <a:prstGeom prst="line">
            <a:avLst/>
          </a:prstGeom>
          <a:ln w="2286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516139" y="3311956"/>
            <a:ext cx="564621" cy="431140"/>
          </a:xfrm>
          <a:prstGeom prst="line">
            <a:avLst/>
          </a:prstGeom>
          <a:ln w="2286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6048756" y="3279952"/>
            <a:ext cx="64008" cy="64008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549628" y="3747897"/>
            <a:ext cx="64008" cy="64008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95511" y="4468215"/>
            <a:ext cx="64008" cy="64008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048756" y="4541824"/>
            <a:ext cx="64008" cy="64008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429495" y="4394606"/>
            <a:ext cx="64008" cy="64008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484135" y="3711092"/>
            <a:ext cx="64008" cy="64008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8503920" y="3657600"/>
            <a:ext cx="256032" cy="28984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759952" y="3686584"/>
            <a:ext cx="256032" cy="71945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015984" y="3758529"/>
            <a:ext cx="256032" cy="108474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272016" y="3867003"/>
            <a:ext cx="256032" cy="142055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528048" y="4009058"/>
            <a:ext cx="256032" cy="173726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784080" y="4182784"/>
            <a:ext cx="256032" cy="204002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040112" y="4386786"/>
            <a:ext cx="256032" cy="233185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0296144" y="4619971"/>
            <a:ext cx="256032" cy="261478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0552176" y="4881449"/>
            <a:ext cx="256032" cy="289024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0808208" y="5170473"/>
            <a:ext cx="256032" cy="315927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8321040" y="5413248"/>
            <a:ext cx="310896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F5D071"/>
                </a:solidFill>
                <a:latin typeface="Noto Sans CJK SC"/>
              </a:rPr>
              <a:t>60分以下自动预警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80160" y="5925312"/>
            <a:ext cx="960120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600" b="1">
                <a:solidFill>
                  <a:srgbClr val="23C8F6"/>
                </a:solidFill>
                <a:latin typeface="Noto Sans CJK SC"/>
              </a:rPr>
              <a:t>真正输出：健康等级 · 风险部位 · 剩余寿命趋势 · 维修优先序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reduc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283464"/>
            <a:ext cx="106984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100" b="1">
                <a:solidFill>
                  <a:srgbClr val="F7FBFF"/>
                </a:solidFill>
                <a:latin typeface="Noto Serif CJK SC"/>
              </a:rPr>
              <a:t>模型② 千亩村发展导引：把真实缺口算出来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91472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59536"/>
            <a:ext cx="96012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不问“想建几栋”，先算有效烤能，再判断结构性缺口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0" name="Oval 9"/>
          <p:cNvSpPr/>
          <p:nvPr/>
        </p:nvSpPr>
        <p:spPr>
          <a:xfrm>
            <a:off x="1459839" y="1514703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75511" y="1630375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52117" y="1665579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81412" y="1836276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10715" y="190698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40018" y="1836276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69313" y="1665579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40018" y="1494882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0715" y="142417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81412" y="1494882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0" y="1481328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算有效烤能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1920240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可用烤房 / 健康折损 / 产能折算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1481328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46573" y="1700784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82362" y="1615287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18150" y="1514703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5026456" y="1846630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715000" y="1481328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判真实缺口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1920240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种植规模 / 产业趋势 / 管护能力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1481328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18220" y="1640433"/>
            <a:ext cx="502920" cy="226314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8577986" y="1449324"/>
            <a:ext cx="583387" cy="261518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19388" y="1725930"/>
            <a:ext cx="100584" cy="140817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1481328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做建设推演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1920240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熵权法 + TOPSIS / 地图情景沙盘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19659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19659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37" name="Oval 36"/>
          <p:cNvSpPr/>
          <p:nvPr/>
        </p:nvSpPr>
        <p:spPr>
          <a:xfrm>
            <a:off x="1463040" y="4023360"/>
            <a:ext cx="164592" cy="164592"/>
          </a:xfrm>
          <a:prstGeom prst="ellipse">
            <a:avLst/>
          </a:prstGeom>
          <a:solidFill>
            <a:srgbClr val="5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011680" y="4572000"/>
            <a:ext cx="164592" cy="1645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743200" y="4160520"/>
            <a:ext cx="164592" cy="164592"/>
          </a:xfrm>
          <a:prstGeom prst="ellipse">
            <a:avLst/>
          </a:prstGeom>
          <a:solidFill>
            <a:srgbClr val="F5D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246120" y="4663440"/>
            <a:ext cx="164592" cy="164592"/>
          </a:xfrm>
          <a:prstGeom prst="ellipse">
            <a:avLst/>
          </a:prstGeom>
          <a:solidFill>
            <a:srgbClr val="F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49039" y="4343400"/>
            <a:ext cx="164592" cy="164592"/>
          </a:xfrm>
          <a:prstGeom prst="ellipse">
            <a:avLst/>
          </a:prstGeom>
          <a:solidFill>
            <a:srgbClr val="5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1188720" y="3840480"/>
            <a:ext cx="2926080" cy="1280160"/>
          </a:xfrm>
          <a:prstGeom prst="line">
            <a:avLst/>
          </a:prstGeom>
          <a:ln w="12700">
            <a:solidFill>
              <a:srgbClr val="1A6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4754880" y="4879570"/>
            <a:ext cx="324464" cy="423949"/>
          </a:xfrm>
          <a:prstGeom prst="rect">
            <a:avLst/>
          </a:prstGeom>
          <a:solidFill>
            <a:srgbClr val="188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57800" y="4596938"/>
            <a:ext cx="324464" cy="706581"/>
          </a:xfrm>
          <a:prstGeom prst="rect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760720" y="4314305"/>
            <a:ext cx="324464" cy="989214"/>
          </a:xfrm>
          <a:prstGeom prst="rect">
            <a:avLst/>
          </a:prstGeom>
          <a:solidFill>
            <a:srgbClr val="188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63640" y="4172989"/>
            <a:ext cx="324464" cy="1130530"/>
          </a:xfrm>
          <a:prstGeom prst="rect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766560" y="4031672"/>
            <a:ext cx="324464" cy="1271847"/>
          </a:xfrm>
          <a:prstGeom prst="rect">
            <a:avLst/>
          </a:prstGeom>
          <a:solidFill>
            <a:srgbClr val="188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69479" y="3749039"/>
            <a:ext cx="324464" cy="1554480"/>
          </a:xfrm>
          <a:prstGeom prst="rect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4754880" y="5303520"/>
            <a:ext cx="3017520" cy="0"/>
          </a:xfrm>
          <a:prstGeom prst="line">
            <a:avLst/>
          </a:prstGeom>
          <a:ln w="10160">
            <a:solidFill>
              <a:srgbClr val="3D7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074920" y="5349240"/>
            <a:ext cx="2377440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A7C5D8"/>
                </a:solidFill>
                <a:latin typeface="Noto Sans CJK SC"/>
              </a:rPr>
              <a:t>需求 vs 有效烤能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0" y="3840480"/>
            <a:ext cx="338328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400" b="1">
                <a:solidFill>
                  <a:srgbClr val="F7FBFF"/>
                </a:solidFill>
                <a:latin typeface="Noto Sans CJK SC"/>
              </a:rPr>
              <a:t>先调剂 → 再修复 → 仍有结构性缺口才新建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63040" y="5852160"/>
            <a:ext cx="923544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23C8F6"/>
                </a:solidFill>
                <a:latin typeface="Noto Sans CJK SC"/>
              </a:rPr>
              <a:t>把“有多少栋”改成“有多少有效能力”，建设才有依据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reduc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283464"/>
            <a:ext cx="106984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100" b="1">
                <a:solidFill>
                  <a:srgbClr val="F7FBFF"/>
                </a:solidFill>
                <a:latin typeface="Noto Serif CJK SC"/>
              </a:rPr>
              <a:t>双模决策：存量评估 + 增量推演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91472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59536"/>
            <a:ext cx="96012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模型①把存量算清，模型②才有资格谈增量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54480"/>
            <a:ext cx="384048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100" b="1">
                <a:solidFill>
                  <a:srgbClr val="F7FBFF"/>
                </a:solidFill>
                <a:latin typeface="Noto Serif CJK SC"/>
              </a:rPr>
              <a:t>模型 ①  健康评估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554480"/>
            <a:ext cx="384048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100" b="1">
                <a:solidFill>
                  <a:srgbClr val="F7FBFF"/>
                </a:solidFill>
                <a:latin typeface="Noto Serif CJK SC"/>
              </a:rPr>
              <a:t>模型 ②  供需推演</a:t>
            </a:r>
          </a:p>
        </p:txBody>
      </p:sp>
      <p:sp>
        <p:nvSpPr>
          <p:cNvPr id="11" name="Oval 10"/>
          <p:cNvSpPr/>
          <p:nvPr/>
        </p:nvSpPr>
        <p:spPr>
          <a:xfrm>
            <a:off x="987551" y="2743200"/>
            <a:ext cx="585216" cy="585216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1595" y="2907243"/>
            <a:ext cx="257129" cy="257129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31513" y="2987161"/>
            <a:ext cx="97292" cy="97292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22623" y="3011484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3772" y="3129420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55836" y="3178271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37901" y="3129420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89050" y="3011484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37901" y="2893549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55836" y="2844698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73772" y="2893549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01568"/>
            <a:ext cx="12801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部件体检</a:t>
            </a:r>
          </a:p>
        </p:txBody>
      </p:sp>
      <p:sp>
        <p:nvSpPr>
          <p:cNvPr id="23" name="Oval 22"/>
          <p:cNvSpPr/>
          <p:nvPr/>
        </p:nvSpPr>
        <p:spPr>
          <a:xfrm>
            <a:off x="2450592" y="2743200"/>
            <a:ext cx="585216" cy="585216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97261" y="3035808"/>
            <a:ext cx="59070" cy="86868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91079" y="2976737"/>
            <a:ext cx="59070" cy="145938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84896" y="2907243"/>
            <a:ext cx="59070" cy="215432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2583362" y="3136574"/>
            <a:ext cx="326624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103120" y="3401568"/>
            <a:ext cx="12801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寿命预测</a:t>
            </a:r>
          </a:p>
        </p:txBody>
      </p:sp>
      <p:sp>
        <p:nvSpPr>
          <p:cNvPr id="29" name="Oval 28"/>
          <p:cNvSpPr/>
          <p:nvPr/>
        </p:nvSpPr>
        <p:spPr>
          <a:xfrm>
            <a:off x="3913631" y="2743200"/>
            <a:ext cx="585216" cy="585216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84624" y="2889869"/>
            <a:ext cx="243230" cy="291876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4129796" y="2973263"/>
            <a:ext cx="152887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129796" y="3035808"/>
            <a:ext cx="152887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129796" y="3098352"/>
            <a:ext cx="152887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566159" y="3401568"/>
            <a:ext cx="12801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维修优先序</a:t>
            </a:r>
          </a:p>
        </p:txBody>
      </p:sp>
      <p:sp>
        <p:nvSpPr>
          <p:cNvPr id="35" name="Oval 34"/>
          <p:cNvSpPr/>
          <p:nvPr/>
        </p:nvSpPr>
        <p:spPr>
          <a:xfrm>
            <a:off x="6931152" y="2743200"/>
            <a:ext cx="585216" cy="585216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50024" y="2994111"/>
            <a:ext cx="347472" cy="156362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7022226" y="2862072"/>
            <a:ext cx="403067" cy="180685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89012" y="3053181"/>
            <a:ext cx="69494" cy="97292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3401568"/>
            <a:ext cx="12801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有效烤能</a:t>
            </a:r>
          </a:p>
        </p:txBody>
      </p:sp>
      <p:sp>
        <p:nvSpPr>
          <p:cNvPr id="40" name="Oval 39"/>
          <p:cNvSpPr/>
          <p:nvPr/>
        </p:nvSpPr>
        <p:spPr>
          <a:xfrm>
            <a:off x="8394192" y="2743200"/>
            <a:ext cx="585216" cy="585216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40861" y="3035808"/>
            <a:ext cx="59070" cy="86868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34679" y="2976737"/>
            <a:ext cx="59070" cy="145938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28496" y="2907243"/>
            <a:ext cx="59070" cy="215432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8526962" y="3136574"/>
            <a:ext cx="326624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046720" y="3401568"/>
            <a:ext cx="12801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真实缺口</a:t>
            </a:r>
          </a:p>
        </p:txBody>
      </p:sp>
      <p:sp>
        <p:nvSpPr>
          <p:cNvPr id="46" name="Oval 45"/>
          <p:cNvSpPr/>
          <p:nvPr/>
        </p:nvSpPr>
        <p:spPr>
          <a:xfrm>
            <a:off x="9857232" y="2743200"/>
            <a:ext cx="585216" cy="585216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028224" y="2889869"/>
            <a:ext cx="243230" cy="291876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10073396" y="2973263"/>
            <a:ext cx="152887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73396" y="3035808"/>
            <a:ext cx="152887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073396" y="3098352"/>
            <a:ext cx="152887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509760" y="3401568"/>
            <a:ext cx="12801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建设情景</a:t>
            </a:r>
          </a:p>
        </p:txBody>
      </p:sp>
      <p:sp>
        <p:nvSpPr>
          <p:cNvPr id="52" name="Oval 51"/>
          <p:cNvSpPr/>
          <p:nvPr/>
        </p:nvSpPr>
        <p:spPr>
          <a:xfrm>
            <a:off x="5184648" y="3886200"/>
            <a:ext cx="1783080" cy="1783080"/>
          </a:xfrm>
          <a:prstGeom prst="ellipse">
            <a:avLst/>
          </a:prstGeom>
          <a:solidFill>
            <a:srgbClr val="0A3558"/>
          </a:solidFill>
          <a:ln w="2286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21808" y="4233672"/>
            <a:ext cx="1508760" cy="6400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7FBFF"/>
                </a:solidFill>
                <a:latin typeface="Noto Serif CJK SC"/>
              </a:rPr>
              <a:t>双模耦合
输出</a:t>
            </a:r>
          </a:p>
        </p:txBody>
      </p:sp>
      <p:sp>
        <p:nvSpPr>
          <p:cNvPr id="54" name="Oval 53"/>
          <p:cNvSpPr/>
          <p:nvPr/>
        </p:nvSpPr>
        <p:spPr>
          <a:xfrm>
            <a:off x="3840480" y="5486400"/>
            <a:ext cx="347472" cy="347472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83280" y="5824728"/>
            <a:ext cx="1261872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该修哪栋</a:t>
            </a:r>
          </a:p>
        </p:txBody>
      </p:sp>
      <p:sp>
        <p:nvSpPr>
          <p:cNvPr id="56" name="Oval 55"/>
          <p:cNvSpPr/>
          <p:nvPr/>
        </p:nvSpPr>
        <p:spPr>
          <a:xfrm>
            <a:off x="5532120" y="5486400"/>
            <a:ext cx="347472" cy="347472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74920" y="5824728"/>
            <a:ext cx="1261872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该补哪里</a:t>
            </a:r>
          </a:p>
        </p:txBody>
      </p:sp>
      <p:sp>
        <p:nvSpPr>
          <p:cNvPr id="58" name="Oval 57"/>
          <p:cNvSpPr/>
          <p:nvPr/>
        </p:nvSpPr>
        <p:spPr>
          <a:xfrm>
            <a:off x="7223760" y="5486400"/>
            <a:ext cx="347472" cy="347472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66560" y="5824728"/>
            <a:ext cx="1261872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该建多少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reduc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283464"/>
            <a:ext cx="106984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100" b="1">
                <a:solidFill>
                  <a:srgbClr val="F7FBFF"/>
                </a:solidFill>
                <a:latin typeface="Noto Serif CJK SC"/>
              </a:rPr>
              <a:t>三智落地：把系统能力变成日常动作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91472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59536"/>
            <a:ext cx="96012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不是做一个平台，而是让智用、智投、智管真正进入业务现场</a:t>
            </a:r>
          </a:p>
        </p:txBody>
      </p:sp>
      <p:sp>
        <p:nvSpPr>
          <p:cNvPr id="9" name="Oval 8"/>
          <p:cNvSpPr/>
          <p:nvPr/>
        </p:nvSpPr>
        <p:spPr>
          <a:xfrm>
            <a:off x="1874519" y="2103120"/>
            <a:ext cx="1188720" cy="1188720"/>
          </a:xfrm>
          <a:prstGeom prst="ellipse">
            <a:avLst/>
          </a:prstGeom>
          <a:solidFill>
            <a:srgbClr val="0A3558"/>
          </a:solidFill>
          <a:ln w="1778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39696" y="2618475"/>
            <a:ext cx="658368" cy="296265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2087026" y="2368296"/>
            <a:ext cx="763706" cy="342351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03043" y="2730398"/>
            <a:ext cx="131673" cy="184343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520440"/>
            <a:ext cx="265176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400" b="1">
                <a:solidFill>
                  <a:srgbClr val="F7FBFF"/>
                </a:solidFill>
                <a:latin typeface="Noto Serif CJK SC"/>
              </a:rPr>
              <a:t>智用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069080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空闲可见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462272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一键调度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55464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故障报修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0" y="2103120"/>
            <a:ext cx="1188720" cy="1188720"/>
          </a:xfrm>
          <a:prstGeom prst="ellipse">
            <a:avLst/>
          </a:prstGeom>
          <a:solidFill>
            <a:srgbClr val="0A3558"/>
          </a:solidFill>
          <a:ln w="1778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7125" y="2697480"/>
            <a:ext cx="111922" cy="164592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4884" y="2585557"/>
            <a:ext cx="111922" cy="276514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2644" y="2453883"/>
            <a:ext cx="111922" cy="408188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960790" y="2888406"/>
            <a:ext cx="618866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937760" y="3520440"/>
            <a:ext cx="265176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400" b="1">
                <a:solidFill>
                  <a:srgbClr val="F7FBFF"/>
                </a:solidFill>
                <a:latin typeface="Noto Serif CJK SC"/>
              </a:rPr>
              <a:t>智投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069080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需求识别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462272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缺口测算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855464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投入更准</a:t>
            </a:r>
          </a:p>
        </p:txBody>
      </p:sp>
      <p:sp>
        <p:nvSpPr>
          <p:cNvPr id="26" name="Oval 25"/>
          <p:cNvSpPr/>
          <p:nvPr/>
        </p:nvSpPr>
        <p:spPr>
          <a:xfrm>
            <a:off x="9464040" y="2103120"/>
            <a:ext cx="1188720" cy="1188720"/>
          </a:xfrm>
          <a:prstGeom prst="ellipse">
            <a:avLst/>
          </a:prstGeom>
          <a:solidFill>
            <a:srgbClr val="0A3558"/>
          </a:solidFill>
          <a:ln w="1778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14803" y="2453883"/>
            <a:ext cx="487192" cy="487192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66228" y="2605308"/>
            <a:ext cx="184343" cy="184343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28330" y="2651394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35771" y="2874851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12314" y="2967410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88856" y="2874851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96297" y="2651394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88856" y="2427936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12314" y="2335377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235771" y="2427936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32520" y="3520440"/>
            <a:ext cx="265176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400" b="1">
                <a:solidFill>
                  <a:srgbClr val="F7FBFF"/>
                </a:solidFill>
                <a:latin typeface="Noto Serif CJK SC"/>
              </a:rPr>
              <a:t>智管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4069080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运行监测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4462272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维修留痕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4855464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预警闭环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5806440"/>
            <a:ext cx="850392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23C8F6"/>
                </a:solidFill>
                <a:latin typeface="Noto Sans CJK SC"/>
              </a:rPr>
              <a:t>让资源调得动、投入算得清、运行管得住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reduc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283464"/>
            <a:ext cx="106984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100" b="1">
                <a:solidFill>
                  <a:srgbClr val="F7FBFF"/>
                </a:solidFill>
                <a:latin typeface="Noto Serif CJK SC"/>
              </a:rPr>
              <a:t>智用：调度与抢修，真正落到烟农手里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91472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59536"/>
            <a:ext cx="96012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从“打电话找房、找人、找配件”变成一键发起、过程可见、结果回写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5448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1579" y="1713585"/>
            <a:ext cx="502920" cy="226314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1171346" y="1522476"/>
            <a:ext cx="583387" cy="261518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12748" y="1799082"/>
            <a:ext cx="100584" cy="140817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155448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找空闲房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993391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状态可见 / 就近可选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14884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55448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7378" y="156270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232757" y="168341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32757" y="1773936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232757" y="186446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00600" y="155448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发起调度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1993391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线上申请 / 一键提交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214884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155448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25" name="Oval 24"/>
          <p:cNvSpPr/>
          <p:nvPr/>
        </p:nvSpPr>
        <p:spPr>
          <a:xfrm>
            <a:off x="7037679" y="1587855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53351" y="1703527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29957" y="173873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9252" y="190942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88555" y="1980133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17858" y="190942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47154" y="173873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17858" y="156803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88555" y="1497330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59252" y="156803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155448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故障报修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1993391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定位问题 / 自动派单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214884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59" y="155448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28097" y="156270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9993477" y="168341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993477" y="1773936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93477" y="186446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561319" y="155448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评价回写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1319" y="1993391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过程留痕 / 服务闭环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94760" y="3794760"/>
            <a:ext cx="1874519" cy="1234440"/>
          </a:xfrm>
          <a:prstGeom prst="roundRect">
            <a:avLst/>
          </a:prstGeom>
          <a:solidFill>
            <a:srgbClr val="0A2C4A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77639" y="4041648"/>
            <a:ext cx="1508760" cy="6858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F5D071"/>
                </a:solidFill>
                <a:latin typeface="Noto Sans CJK SC"/>
              </a:rPr>
              <a:t>真实小程序
调度申请截图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15400" y="3794760"/>
            <a:ext cx="1874519" cy="1234440"/>
          </a:xfrm>
          <a:prstGeom prst="roundRect">
            <a:avLst/>
          </a:prstGeom>
          <a:solidFill>
            <a:srgbClr val="0A2C4A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98280" y="4041648"/>
            <a:ext cx="1508760" cy="6858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F5D071"/>
                </a:solidFill>
                <a:latin typeface="Noto Sans CJK SC"/>
              </a:rPr>
              <a:t>真实工单/评价
截图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0" y="5760720"/>
            <a:ext cx="8503920" cy="47548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600" b="1">
                <a:solidFill>
                  <a:srgbClr val="23C8F6"/>
                </a:solidFill>
                <a:latin typeface="Noto Sans CJK SC"/>
              </a:rPr>
              <a:t>磨坪站雷击案例：精准诊断2处故障部件，3小时内完成抢修复产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reduc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283464"/>
            <a:ext cx="106984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100" b="1">
                <a:solidFill>
                  <a:srgbClr val="F7FBFF"/>
                </a:solidFill>
                <a:latin typeface="Noto Serif CJK SC"/>
              </a:rPr>
              <a:t>智投：把钱投到最该投的地方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91472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59536"/>
            <a:ext cx="96012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存量先体检，增量再推演，选址和投入都用数据说话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0" name="Oval 9"/>
          <p:cNvSpPr/>
          <p:nvPr/>
        </p:nvSpPr>
        <p:spPr>
          <a:xfrm>
            <a:off x="1231239" y="1542135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6911" y="1657807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23517" y="169301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2812" y="186370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82115" y="1934413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11418" y="186370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0713" y="169301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11418" y="152231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82115" y="1451610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52812" y="152231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74519" y="150876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存量体检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194767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健康等级 / 寿命 / 风险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210312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73552" y="150876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3885" y="1728216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49674" y="1642719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5462" y="1542135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4093768" y="1874062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782312" y="150876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缺口识别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2312" y="194767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有效烤能 / 需求对比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96712" y="210312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1344" y="150876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81444" y="1667865"/>
            <a:ext cx="502920" cy="226314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6941210" y="1476755"/>
            <a:ext cx="583387" cy="261518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82612" y="1753362"/>
            <a:ext cx="100584" cy="140817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90104" y="150876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选址推演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0104" y="194767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村组位置 / 服务半径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04504" y="210312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150876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29469" y="1728216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65258" y="1642719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201046" y="1542135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9909352" y="1874062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597896" y="150876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效果复盘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97896" y="194767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投入产出 / 使用率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627880"/>
            <a:ext cx="353961" cy="629920"/>
          </a:xfrm>
          <a:prstGeom prst="rect">
            <a:avLst/>
          </a:prstGeom>
          <a:solidFill>
            <a:srgbClr val="188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80160" y="4155440"/>
            <a:ext cx="353961" cy="1102360"/>
          </a:xfrm>
          <a:prstGeom prst="rect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28800" y="4470400"/>
            <a:ext cx="353961" cy="787400"/>
          </a:xfrm>
          <a:prstGeom prst="rect">
            <a:avLst/>
          </a:prstGeom>
          <a:solidFill>
            <a:srgbClr val="5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377439" y="3840480"/>
            <a:ext cx="353961" cy="1417320"/>
          </a:xfrm>
          <a:prstGeom prst="rect">
            <a:avLst/>
          </a:prstGeom>
          <a:solidFill>
            <a:srgbClr val="F5D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731520" y="5257800"/>
            <a:ext cx="2194560" cy="0"/>
          </a:xfrm>
          <a:prstGeom prst="line">
            <a:avLst/>
          </a:prstGeom>
          <a:ln w="10160">
            <a:solidFill>
              <a:srgbClr val="3D7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60120" y="5303520"/>
            <a:ext cx="1737360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A7C5D8"/>
                </a:solidFill>
                <a:latin typeface="Noto Sans CJK SC"/>
              </a:rPr>
              <a:t>健康分布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29000" y="4785360"/>
            <a:ext cx="283169" cy="472440"/>
          </a:xfrm>
          <a:prstGeom prst="rect">
            <a:avLst/>
          </a:prstGeom>
          <a:solidFill>
            <a:srgbClr val="188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867912" y="4667250"/>
            <a:ext cx="283169" cy="590550"/>
          </a:xfrm>
          <a:prstGeom prst="rect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06824" y="4312920"/>
            <a:ext cx="283169" cy="944880"/>
          </a:xfrm>
          <a:prstGeom prst="rect">
            <a:avLst/>
          </a:prstGeom>
          <a:solidFill>
            <a:srgbClr val="188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745736" y="4076699"/>
            <a:ext cx="283169" cy="1181100"/>
          </a:xfrm>
          <a:prstGeom prst="rect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84648" y="3840480"/>
            <a:ext cx="283169" cy="1417320"/>
          </a:xfrm>
          <a:prstGeom prst="rect">
            <a:avLst/>
          </a:prstGeom>
          <a:solidFill>
            <a:srgbClr val="188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3429000" y="5257800"/>
            <a:ext cx="2194560" cy="0"/>
          </a:xfrm>
          <a:prstGeom prst="line">
            <a:avLst/>
          </a:prstGeom>
          <a:ln w="10160">
            <a:solidFill>
              <a:srgbClr val="3D7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703320" y="5303520"/>
            <a:ext cx="1737360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A7C5D8"/>
                </a:solidFill>
                <a:latin typeface="Noto Sans CJK SC"/>
              </a:rPr>
              <a:t>供需缺口</a:t>
            </a:r>
          </a:p>
        </p:txBody>
      </p:sp>
      <p:sp>
        <p:nvSpPr>
          <p:cNvPr id="58" name="Oval 57"/>
          <p:cNvSpPr/>
          <p:nvPr/>
        </p:nvSpPr>
        <p:spPr>
          <a:xfrm>
            <a:off x="6583680" y="4023360"/>
            <a:ext cx="146304" cy="146304"/>
          </a:xfrm>
          <a:prstGeom prst="ellipse">
            <a:avLst/>
          </a:prstGeom>
          <a:solidFill>
            <a:srgbClr val="5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223760" y="4663440"/>
            <a:ext cx="146304" cy="146304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72400" y="4160520"/>
            <a:ext cx="146304" cy="146304"/>
          </a:xfrm>
          <a:prstGeom prst="ellipse">
            <a:avLst/>
          </a:prstGeom>
          <a:solidFill>
            <a:srgbClr val="F5D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321040" y="4572000"/>
            <a:ext cx="146304" cy="146304"/>
          </a:xfrm>
          <a:prstGeom prst="ellipse">
            <a:avLst/>
          </a:prstGeom>
          <a:solidFill>
            <a:srgbClr val="F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81160" y="3703320"/>
            <a:ext cx="214884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150栋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753904" y="4407408"/>
            <a:ext cx="1203351" cy="0"/>
          </a:xfrm>
          <a:prstGeom prst="line">
            <a:avLst/>
          </a:prstGeom>
          <a:ln w="1524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9281160" y="4453128"/>
            <a:ext cx="214884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核心设备升级计划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81160" y="4709160"/>
            <a:ext cx="214884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7栋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9753904" y="5413248"/>
            <a:ext cx="1203351" cy="0"/>
          </a:xfrm>
          <a:prstGeom prst="line">
            <a:avLst/>
          </a:prstGeom>
          <a:ln w="15240">
            <a:solidFill>
              <a:srgbClr val="F5D0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9281160" y="5458968"/>
            <a:ext cx="214884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肖家坪科学新建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83280" y="5870448"/>
            <a:ext cx="53949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23C8F6"/>
                </a:solidFill>
                <a:latin typeface="Noto Sans CJK SC"/>
              </a:rPr>
              <a:t>先调剂、再维修、最后才新建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reduc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283464"/>
            <a:ext cx="106984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100" b="1">
                <a:solidFill>
                  <a:srgbClr val="F7FBFF"/>
                </a:solidFill>
                <a:latin typeface="Noto Serif CJK SC"/>
              </a:rPr>
              <a:t>智管：让每一座烤房都有可追溯的生命周期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91472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59536"/>
            <a:ext cx="96012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建档、巡检、维修、评价不断档，数据持续回写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011679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64258" y="201990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2129637" y="214061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129637" y="2231135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29637" y="232166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697480" y="2011679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建档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450591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一房一档 / 责任到人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59" y="2011679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92693" y="2231135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28482" y="2145639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64270" y="2045055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72576" y="2376982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961119" y="2011679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巡检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2450591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状态更新 / 风险发现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59" y="429768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24" name="Oval 23"/>
          <p:cNvSpPr/>
          <p:nvPr/>
        </p:nvSpPr>
        <p:spPr>
          <a:xfrm>
            <a:off x="8317839" y="4331055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33511" y="4446727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10117" y="448193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39412" y="465262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68715" y="4723333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98018" y="465262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7313" y="448193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98018" y="431123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68715" y="4240530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39412" y="431123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19" y="429768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维修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19" y="473659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工单闭环 / 配件留痕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429768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64258" y="430590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2129637" y="442661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129637" y="4517136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129637" y="460766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697480" y="429768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回写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97480" y="473659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评价 / 成本 / 历史沉淀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840480" y="2514600"/>
            <a:ext cx="4160520" cy="0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692640" y="2926080"/>
            <a:ext cx="0" cy="1417320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3886200" y="5074920"/>
            <a:ext cx="4160520" cy="0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828800" y="2971800"/>
            <a:ext cx="0" cy="1371600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5029200" y="3538727"/>
            <a:ext cx="1371600" cy="617220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4919472" y="3017520"/>
            <a:ext cx="1591055" cy="713232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577840" y="3771900"/>
            <a:ext cx="274320" cy="384048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17720" y="4434840"/>
            <a:ext cx="29260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7FBFF"/>
                </a:solidFill>
                <a:latin typeface="Noto Serif CJK SC"/>
              </a:rPr>
              <a:t>档案不断档
责任不断链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reduc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283464"/>
            <a:ext cx="106984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100" b="1">
                <a:solidFill>
                  <a:srgbClr val="F7FBFF"/>
                </a:solidFill>
                <a:latin typeface="Noto Serif CJK SC"/>
              </a:rPr>
              <a:t>四队长效：让机制跑在平台后面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91472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59536"/>
            <a:ext cx="96012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有人管 · 有钱管 · 有标准管 · 有机制管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8457" y="183702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443837" y="195773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43837" y="2048256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43837" y="213878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11680" y="182880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专班推进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26771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任务统筹 / 进度督办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39" y="24231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2" y="182880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18" name="Oval 17"/>
          <p:cNvSpPr/>
          <p:nvPr/>
        </p:nvSpPr>
        <p:spPr>
          <a:xfrm>
            <a:off x="4184751" y="1862175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00423" y="1977847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7029" y="201305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06324" y="218374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35627" y="2254453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4930" y="218374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94225" y="201305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4930" y="184235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35627" y="1771650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06324" y="184235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8031" y="182880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维修服务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8031" y="226771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工单闭环 / 备件调度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50992" y="24231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35624" y="182880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35723" y="1987905"/>
            <a:ext cx="502920" cy="226314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6895490" y="1796796"/>
            <a:ext cx="583387" cy="261518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36892" y="2073402"/>
            <a:ext cx="100584" cy="140817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44383" y="182880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运营管护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44383" y="226771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巡检更新 / 使用培训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24231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51976" y="182880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92309" y="2048256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928098" y="1962759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63886" y="1862175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9772192" y="2194102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460736" y="182880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基金保障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0736" y="226771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资金统筹 / 长效投入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94560" y="4069080"/>
            <a:ext cx="237744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66人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717596" y="4773168"/>
            <a:ext cx="1331367" cy="0"/>
          </a:xfrm>
          <a:prstGeom prst="line">
            <a:avLst/>
          </a:prstGeom>
          <a:ln w="1524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194560" y="4818888"/>
            <a:ext cx="237744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专业管护团队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60" y="4069080"/>
            <a:ext cx="256032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近190万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501030" y="4773168"/>
            <a:ext cx="1433779" cy="0"/>
          </a:xfrm>
          <a:prstGeom prst="line">
            <a:avLst/>
          </a:prstGeom>
          <a:ln w="15240">
            <a:solidFill>
              <a:srgbClr val="F5D0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937760" y="4818888"/>
            <a:ext cx="256032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管护基金滚动累计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09560" y="4069080"/>
            <a:ext cx="24688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长期运营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452713" y="4773168"/>
            <a:ext cx="1382573" cy="0"/>
          </a:xfrm>
          <a:prstGeom prst="line">
            <a:avLst/>
          </a:prstGeom>
          <a:ln w="1524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909560" y="4818888"/>
            <a:ext cx="246888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从项目上线到持续运转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5833872"/>
            <a:ext cx="832104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23C8F6"/>
                </a:solidFill>
                <a:latin typeface="Noto Sans CJK SC"/>
              </a:rPr>
              <a:t>机制不散 · 服务不断 · 数据不乱 · 保障不虚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reduc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283464"/>
            <a:ext cx="106984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100" b="1">
                <a:solidFill>
                  <a:srgbClr val="F7FBFF"/>
                </a:solidFill>
                <a:latin typeface="Noto Serif CJK SC"/>
              </a:rPr>
              <a:t>应用成效：从经验管房，走向数据管房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91472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59536"/>
            <a:ext cx="96012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资源可见 · 维修提速 · 决策更准 · 资金更省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2442座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36015" y="2395728"/>
            <a:ext cx="1356969" cy="0"/>
          </a:xfrm>
          <a:prstGeom prst="line">
            <a:avLst/>
          </a:prstGeom>
          <a:ln w="1524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244144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建档并完成健康评估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169164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48次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88943" y="2395728"/>
            <a:ext cx="1356969" cy="0"/>
          </a:xfrm>
          <a:prstGeom prst="line">
            <a:avLst/>
          </a:prstGeom>
          <a:ln w="1524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55848" y="244144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烤房调剂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69164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18次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41871" y="2395728"/>
            <a:ext cx="1356969" cy="0"/>
          </a:xfrm>
          <a:prstGeom prst="line">
            <a:avLst/>
          </a:prstGeom>
          <a:ln w="1524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08776" y="244144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突发故障全部3小时内闭环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704" y="169164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95.8%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94799" y="2395728"/>
            <a:ext cx="1356969" cy="0"/>
          </a:xfrm>
          <a:prstGeom prst="line">
            <a:avLst/>
          </a:prstGeom>
          <a:ln w="1524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061704" y="244144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群众综合满意度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88620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340+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36015" y="4590288"/>
            <a:ext cx="1356969" cy="0"/>
          </a:xfrm>
          <a:prstGeom prst="line">
            <a:avLst/>
          </a:prstGeom>
          <a:ln w="1524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463600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待修烤房筛查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388620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150栋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88943" y="4590288"/>
            <a:ext cx="1356969" cy="0"/>
          </a:xfrm>
          <a:prstGeom prst="line">
            <a:avLst/>
          </a:prstGeom>
          <a:ln w="1524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55848" y="463600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升级纳入计划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8776" y="388620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1363栋 / 81%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41871" y="4590288"/>
            <a:ext cx="1356969" cy="0"/>
          </a:xfrm>
          <a:prstGeom prst="line">
            <a:avLst/>
          </a:prstGeom>
          <a:ln w="1524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08776" y="463600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合作社统筹管护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61704" y="388620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近190万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94799" y="4590288"/>
            <a:ext cx="1356969" cy="0"/>
          </a:xfrm>
          <a:prstGeom prst="line">
            <a:avLst/>
          </a:prstGeom>
          <a:ln w="15240">
            <a:solidFill>
              <a:srgbClr val="F5D0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061704" y="463600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管护基金滚动累计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897880"/>
            <a:ext cx="850392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23C8F6"/>
                </a:solidFill>
                <a:latin typeface="Noto Sans CJK SC"/>
              </a:rPr>
              <a:t>看得见、调得动、修得快、投得准，才是真正的价值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允许不可编辑" descr="zhikao_bg_reduc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283464"/>
            <a:ext cx="106984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100" b="1">
                <a:solidFill>
                  <a:srgbClr val="F7FBFF"/>
                </a:solidFill>
                <a:latin typeface="Noto Serif CJK SC"/>
              </a:rPr>
              <a:t>总结：一套“智烤管家”，把难题变成闭环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91472" y="658368"/>
            <a:ext cx="160020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3968" y="512064"/>
            <a:ext cx="32004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23C8F6"/>
                </a:solidFill>
                <a:latin typeface="Noto Sans CJK SC"/>
              </a:rPr>
              <a:t>///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59536"/>
            <a:ext cx="96012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一库清底  ·  双模决策  ·  三智落地  ·  四队长效</a:t>
            </a:r>
          </a:p>
        </p:txBody>
      </p:sp>
      <p:sp>
        <p:nvSpPr>
          <p:cNvPr id="9" name="Oval 8"/>
          <p:cNvSpPr/>
          <p:nvPr/>
        </p:nvSpPr>
        <p:spPr>
          <a:xfrm>
            <a:off x="1508760" y="2148840"/>
            <a:ext cx="1143000" cy="1143000"/>
          </a:xfrm>
          <a:prstGeom prst="ellipse">
            <a:avLst/>
          </a:prstGeom>
          <a:solidFill>
            <a:srgbClr val="0A3558"/>
          </a:solidFill>
          <a:ln w="1651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77263" y="2486802"/>
            <a:ext cx="396849" cy="476219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950963" y="2622864"/>
            <a:ext cx="249449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950963" y="2724912"/>
            <a:ext cx="249449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950963" y="2826959"/>
            <a:ext cx="249449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3429000"/>
            <a:ext cx="237744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7FBFF"/>
                </a:solidFill>
                <a:latin typeface="Noto Serif CJK SC"/>
              </a:rPr>
              <a:t>01
一库清底</a:t>
            </a:r>
          </a:p>
        </p:txBody>
      </p:sp>
      <p:sp>
        <p:nvSpPr>
          <p:cNvPr id="15" name="Oval 14"/>
          <p:cNvSpPr/>
          <p:nvPr/>
        </p:nvSpPr>
        <p:spPr>
          <a:xfrm>
            <a:off x="4297680" y="2148840"/>
            <a:ext cx="1143000" cy="1143000"/>
          </a:xfrm>
          <a:prstGeom prst="ellipse">
            <a:avLst/>
          </a:prstGeom>
          <a:solidFill>
            <a:srgbClr val="0A3558"/>
          </a:solidFill>
          <a:ln w="1651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26498" y="2724912"/>
            <a:ext cx="96377" cy="141732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79568" y="2628534"/>
            <a:ext cx="96377" cy="238109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2639" y="2515148"/>
            <a:ext cx="96377" cy="351495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4603821" y="2889321"/>
            <a:ext cx="532912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703320" y="3429000"/>
            <a:ext cx="237744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7FBFF"/>
                </a:solidFill>
                <a:latin typeface="Noto Serif CJK SC"/>
              </a:rPr>
              <a:t>02
双模决策</a:t>
            </a:r>
          </a:p>
        </p:txBody>
      </p:sp>
      <p:sp>
        <p:nvSpPr>
          <p:cNvPr id="21" name="Oval 20"/>
          <p:cNvSpPr/>
          <p:nvPr/>
        </p:nvSpPr>
        <p:spPr>
          <a:xfrm>
            <a:off x="7086600" y="2148840"/>
            <a:ext cx="1143000" cy="1143000"/>
          </a:xfrm>
          <a:prstGeom prst="ellipse">
            <a:avLst/>
          </a:prstGeom>
          <a:solidFill>
            <a:srgbClr val="0A3558"/>
          </a:solidFill>
          <a:ln w="1651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43764" y="2515148"/>
            <a:ext cx="419526" cy="419526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74158" y="2645542"/>
            <a:ext cx="158739" cy="158739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85968" y="2685227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06264" y="2877648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13843" y="2957352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21421" y="2877648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41717" y="2685227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21421" y="2492805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13843" y="2413101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06264" y="2492805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429000"/>
            <a:ext cx="237744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7FBFF"/>
                </a:solidFill>
                <a:latin typeface="Noto Serif CJK SC"/>
              </a:rPr>
              <a:t>03
三智落地</a:t>
            </a:r>
          </a:p>
        </p:txBody>
      </p:sp>
      <p:sp>
        <p:nvSpPr>
          <p:cNvPr id="33" name="Oval 32"/>
          <p:cNvSpPr/>
          <p:nvPr/>
        </p:nvSpPr>
        <p:spPr>
          <a:xfrm>
            <a:off x="9875519" y="2148840"/>
            <a:ext cx="1143000" cy="1143000"/>
          </a:xfrm>
          <a:prstGeom prst="ellipse">
            <a:avLst/>
          </a:prstGeom>
          <a:solidFill>
            <a:srgbClr val="0A3558"/>
          </a:solidFill>
          <a:ln w="1651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58983" y="2656880"/>
            <a:ext cx="566928" cy="255117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10113629" y="2441448"/>
            <a:ext cx="657636" cy="294802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385755" y="2753258"/>
            <a:ext cx="113385" cy="158739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59" y="3429000"/>
            <a:ext cx="237744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7FBFF"/>
                </a:solidFill>
                <a:latin typeface="Noto Serif CJK SC"/>
              </a:rPr>
              <a:t>04
四队长效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892040"/>
            <a:ext cx="1033272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7FBFF"/>
                </a:solidFill>
                <a:latin typeface="Noto Serif CJK SC"/>
              </a:rPr>
              <a:t>让每一座烤房，都有一份可计算、可调度、可运维、可决策的健康档案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5650992"/>
            <a:ext cx="740664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800" b="1">
                <a:solidFill>
                  <a:srgbClr val="23C8F6"/>
                </a:solidFill>
                <a:latin typeface="Noto Sans CJK SC"/>
              </a:rPr>
              <a:t>从“有多少房”到“有多少有效烤能”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6144768"/>
            <a:ext cx="6309360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0">
                <a:solidFill>
                  <a:srgbClr val="A7C5D8"/>
                </a:solidFill>
                <a:latin typeface="Noto Sans CJK SC"/>
              </a:rPr>
              <a:t>让数据说话 · 让模型决策 · 让管家落地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