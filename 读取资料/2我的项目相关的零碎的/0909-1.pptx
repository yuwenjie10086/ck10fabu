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257" r:id="rId3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3238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127000" dist="50800" dir="2700000" algn="bl" rotWithShape="0">
              <a:srgbClr val="1B4633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3238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模型 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7486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健康评估 —— 树状拆解到每一分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249238" y="1572895"/>
            <a:ext cx="7112000" cy="3877945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1612900000" dist="645160000" dir="-1" algn="bl" rotWithShape="0">
              <a:srgbClr val="1B4633">
                <a:alpha val="214748364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7358" y="1627505"/>
            <a:ext cx="6629400" cy="567055"/>
          </a:xfrm>
          <a:prstGeom prst="roundRect">
            <a:avLst>
              <a:gd name="adj" fmla="val 9677"/>
            </a:avLst>
          </a:prstGeom>
          <a:solidFill>
            <a:srgbClr val="14532D"/>
          </a:solidFill>
          <a:effectLst>
            <a:outerShdw blurRad="2147483647" dist="2147483647" dir="-1" algn="bl" rotWithShape="0">
              <a:srgbClr val="1B4633">
                <a:alpha val="214748364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603" y="1627505"/>
            <a:ext cx="6630035" cy="567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H = 0.80·P</a:t>
            </a:r>
            <a:r>
              <a:rPr lang="zh-CN" altLang="en-US" sz="17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总</a:t>
            </a: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  <a:sym typeface="+mn-ea"/>
              </a:rPr>
              <a:t>部件分</a:t>
            </a: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+ 0.10·M</a:t>
            </a: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  <a:sym typeface="+mn-ea"/>
              </a:rPr>
              <a:t>管护分</a:t>
            </a: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+ 0.10·E</a:t>
            </a: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  <a:sym typeface="+mn-ea"/>
              </a:rPr>
              <a:t>人工分</a:t>
            </a:r>
            <a:r>
              <a:rPr lang="en-US" sz="1100" dirty="0">
                <a:solidFill>
                  <a:srgbClr val="DCEBE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（0~100）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18858" y="2350135"/>
            <a:ext cx="5642610" cy="365760"/>
          </a:xfrm>
          <a:prstGeom prst="roundRect">
            <a:avLst>
              <a:gd name="adj" fmla="val 10000"/>
            </a:avLst>
          </a:prstGeom>
          <a:solidFill>
            <a:srgbClr val="2E8B6A"/>
          </a:solidFill>
        </p:spPr>
      </p:sp>
      <p:sp>
        <p:nvSpPr>
          <p:cNvPr id="12" name="Text 10"/>
          <p:cNvSpPr/>
          <p:nvPr/>
        </p:nvSpPr>
        <p:spPr>
          <a:xfrm>
            <a:off x="1117918" y="2350135"/>
            <a:ext cx="5257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① </a:t>
            </a:r>
            <a:r>
              <a:rPr lang="zh-CN" altLang="en-US" sz="125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总</a:t>
            </a: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部件分 </a:t>
            </a:r>
            <a:r>
              <a:rPr lang="en-US" altLang="zh-CN" sz="125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P = Σ( W</a:t>
            </a:r>
            <a:r>
              <a:rPr lang="en-US" altLang="en-US" sz="125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ᵢ × </a:t>
            </a:r>
            <a:r>
              <a:rPr lang="en-US" altLang="zh-CN" sz="125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score</a:t>
            </a:r>
            <a:r>
              <a:rPr lang="en-US" altLang="en-US" sz="125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ᵢ ) / </a:t>
            </a:r>
            <a:r>
              <a:rPr lang="en-US" altLang="zh-CN" sz="125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ΣW</a:t>
            </a:r>
            <a:r>
              <a:rPr lang="en-US" altLang="en-US" sz="125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ᵢ × 100</a:t>
            </a: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　</a:t>
            </a:r>
            <a:r>
              <a:rPr lang="en-US" sz="1000" dirty="0">
                <a:solidFill>
                  <a:srgbClr val="DCEBE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　（</a:t>
            </a:r>
            <a:r>
              <a:rPr lang="en-US" altLang="zh-CN" sz="1000" dirty="0">
                <a:solidFill>
                  <a:srgbClr val="DCEBE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ΣW</a:t>
            </a:r>
            <a:r>
              <a:rPr lang="en-US" altLang="en-US" sz="1000" dirty="0">
                <a:solidFill>
                  <a:srgbClr val="DCEBE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ᵢ = 80</a:t>
            </a:r>
            <a:r>
              <a:rPr lang="en-US" sz="1000" dirty="0">
                <a:solidFill>
                  <a:srgbClr val="DCEBE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63943" y="2853055"/>
            <a:ext cx="5446395" cy="402590"/>
          </a:xfrm>
          <a:prstGeom prst="roundRect">
            <a:avLst>
              <a:gd name="adj" fmla="val 9091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8553" y="2853055"/>
            <a:ext cx="5392420" cy="402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653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每个部件 </a:t>
            </a:r>
            <a:r>
              <a:rPr lang="en-US" altLang="zh-CN" sz="1200" dirty="0"/>
              <a:t>score</a:t>
            </a:r>
            <a:r>
              <a:rPr lang="en-US" altLang="en-US" sz="1200" dirty="0"/>
              <a:t>ᵢ = 100 × ( 0.50×</a:t>
            </a:r>
            <a:r>
              <a:rPr lang="en-US" altLang="zh-CN" sz="1200" dirty="0"/>
              <a:t>S_status + 0.35×R_remain + 0.15×C_eval )</a:t>
            </a:r>
            <a:endParaRPr lang="en-US" altLang="zh-CN" sz="1200" dirty="0"/>
          </a:p>
        </p:txBody>
      </p:sp>
      <p:sp>
        <p:nvSpPr>
          <p:cNvPr id="16" name="Shape 14"/>
          <p:cNvSpPr/>
          <p:nvPr/>
        </p:nvSpPr>
        <p:spPr>
          <a:xfrm>
            <a:off x="823278" y="3328670"/>
            <a:ext cx="3749675" cy="384175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718" y="3328416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150" dirty="0">
                <a:sym typeface="+mn-ea"/>
              </a:rPr>
              <a:t>S_status</a:t>
            </a:r>
            <a:r>
              <a:rPr lang="en-US" sz="1150" b="1" dirty="0">
                <a:solidFill>
                  <a:srgbClr val="16653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状态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032318" y="3328670"/>
            <a:ext cx="250063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正常1.0 ·</a:t>
            </a:r>
            <a:r>
              <a:rPr lang="zh-CN" altLang="en-US" sz="125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一</a:t>
            </a:r>
            <a:r>
              <a:rPr lang="zh-CN" altLang="en-US" sz="105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  <a:sym typeface="+mn-ea"/>
              </a:rPr>
              <a:t>一般</a:t>
            </a: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0.7 · 损坏0.3 · 缺失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31378" y="3785870"/>
            <a:ext cx="4004310" cy="384175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22818" y="3785616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150" dirty="0">
                <a:sym typeface="+mn-ea"/>
              </a:rPr>
              <a:t>R_remain </a:t>
            </a:r>
            <a:r>
              <a:rPr lang="en-US" sz="1150" b="1" dirty="0">
                <a:solidFill>
                  <a:srgbClr val="16653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寿命比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39478" y="3785235"/>
            <a:ext cx="2712085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剩余年限 ÷ 指导寿命（修复年→回春归零）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10113" y="3328670"/>
            <a:ext cx="2516505" cy="384175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9333" y="3339465"/>
            <a:ext cx="162814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150" dirty="0">
                <a:sym typeface="+mn-ea"/>
              </a:rPr>
              <a:t>C_eval</a:t>
            </a:r>
            <a:r>
              <a:rPr lang="en-US" sz="1150" b="1" dirty="0">
                <a:solidFill>
                  <a:srgbClr val="16653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评价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42293" y="3328670"/>
            <a:ext cx="1627505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好1.0 · 差0.5 · 缺省0.8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398" y="4398010"/>
            <a:ext cx="3291840" cy="475488"/>
          </a:xfrm>
          <a:prstGeom prst="roundRect">
            <a:avLst>
              <a:gd name="adj" fmla="val 11538"/>
            </a:avLst>
          </a:prstGeom>
          <a:solidFill>
            <a:srgbClr val="C77E1B"/>
          </a:solidFill>
        </p:spPr>
      </p:sp>
      <p:sp>
        <p:nvSpPr>
          <p:cNvPr id="29" name="Text 27"/>
          <p:cNvSpPr/>
          <p:nvPr/>
        </p:nvSpPr>
        <p:spPr>
          <a:xfrm>
            <a:off x="640398" y="439801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② 管护分 M ×0.10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398" y="4635754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集中100 · 分户80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069398" y="4398010"/>
            <a:ext cx="3063240" cy="475615"/>
          </a:xfrm>
          <a:prstGeom prst="roundRect">
            <a:avLst>
              <a:gd name="adj" fmla="val 11538"/>
            </a:avLst>
          </a:prstGeom>
          <a:solidFill>
            <a:srgbClr val="B8922A"/>
          </a:solidFill>
        </p:spPr>
      </p:sp>
      <p:sp>
        <p:nvSpPr>
          <p:cNvPr id="32" name="Text 30"/>
          <p:cNvSpPr/>
          <p:nvPr/>
        </p:nvSpPr>
        <p:spPr>
          <a:xfrm>
            <a:off x="4069398" y="439801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③ 人工分 E ×0.10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069398" y="4635754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好100 · 中80 · 差50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398" y="4992370"/>
            <a:ext cx="6400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6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贡献 Cᵢ = Wᵢ×scoreᵢ÷100　　健康状况五档：≥90优良 / ≥75良好 / ≥60一般 / ≥40预警 / &lt;40危险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544118" y="1572768"/>
            <a:ext cx="4142232" cy="475488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-1" algn="bl" rotWithShape="0">
              <a:srgbClr val="1B4633">
                <a:alpha val="2147483647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772718" y="1664208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单栋算例 · 老房 KF018</a:t>
            </a:r>
            <a:r>
              <a:rPr lang="en-US" sz="950" dirty="0">
                <a:solidFill>
                  <a:srgbClr val="5C6B6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（2009建 · 示意）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772718" y="1965960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逐部件 score → 权重贡献：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72718" y="2212848"/>
            <a:ext cx="196596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屋顶/墙体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647238" y="2212848"/>
            <a:ext cx="18288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8B6A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10·88→8.80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718" y="2395728"/>
            <a:ext cx="196596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大门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647238" y="2395728"/>
            <a:ext cx="18288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8B6A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10·90→9.00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72718" y="2578608"/>
            <a:ext cx="196596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挂烟梁柱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647238" y="2578608"/>
            <a:ext cx="18288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8B6A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5·92→4.60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72718" y="2761488"/>
            <a:ext cx="196596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加热器/燃烧机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647238" y="2761488"/>
            <a:ext cx="18288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8B6A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15·86→12.9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718" y="2944368"/>
            <a:ext cx="196596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散热管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647238" y="2944368"/>
            <a:ext cx="18288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8B6A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4·80→3.20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772718" y="3127248"/>
            <a:ext cx="196596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炉膛/燃烧室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647238" y="3127248"/>
            <a:ext cx="18288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8B6A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4·82→3.28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772718" y="3310128"/>
            <a:ext cx="196596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清灰门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647238" y="3310128"/>
            <a:ext cx="18288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8B6A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3·78→2.34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772718" y="3493008"/>
            <a:ext cx="196596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烟囱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647238" y="3493008"/>
            <a:ext cx="18288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8B6A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4·84→3.36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772718" y="3675888"/>
            <a:ext cx="196596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自控仪主板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647238" y="3675888"/>
            <a:ext cx="18288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8B6A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8·70→5.60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772718" y="3858768"/>
            <a:ext cx="196596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温湿度探头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647238" y="3858768"/>
            <a:ext cx="18288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8B6A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6·66→3.96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772718" y="4041648"/>
            <a:ext cx="196596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水壶/压力传感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647238" y="4041648"/>
            <a:ext cx="18288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8B6A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6·68→4.08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772718" y="4224528"/>
            <a:ext cx="196596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循环风机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647238" y="4224528"/>
            <a:ext cx="18288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8B6A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5·88→4.40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772718" y="4425696"/>
            <a:ext cx="3749040" cy="274320"/>
          </a:xfrm>
          <a:prstGeom prst="roundRect">
            <a:avLst>
              <a:gd name="adj" fmla="val 13333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72718" y="4425696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653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ΣW=80 · ΣC=65.52 → P_norm = 81.9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7772718" y="4718304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6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M=100(集中) · E=100(评价好)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772718" y="4937760"/>
            <a:ext cx="3749040" cy="676656"/>
          </a:xfrm>
          <a:prstGeom prst="roundRect">
            <a:avLst>
              <a:gd name="adj" fmla="val 8108"/>
            </a:avLst>
          </a:prstGeom>
          <a:solidFill>
            <a:srgbClr val="14532D"/>
          </a:solidFill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7772718" y="4937760"/>
            <a:ext cx="374904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BE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H = 0.8×81.9 + 0.1×100 + 0.1×100 = 85.5
</a:t>
            </a: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→ 健康等级【良好】(≥75)·风险Top3：探头/水壶/主板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3238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3238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模型 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7486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剩余寿命 —— 五层递进到"几年"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505774" y="1115568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左：五层公式树（怎么算）　右：2009老房保养算例（维修能续命·不能回春）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3238" y="1572768"/>
            <a:ext cx="68580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838" y="1627632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14532D"/>
          </a:solidFill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838" y="1627632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life = clamp( life_raw , 0 , year_cap 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932238" y="2194560"/>
            <a:ext cx="10973" cy="109728"/>
          </a:xfrm>
          <a:prstGeom prst="line">
            <a:avLst/>
          </a:prstGeom>
          <a:noFill/>
          <a:ln w="17780">
            <a:solidFill>
              <a:srgbClr val="6B8F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838" y="2304288"/>
            <a:ext cx="6400800" cy="384048"/>
          </a:xfrm>
          <a:prstGeom prst="roundRect">
            <a:avLst>
              <a:gd name="adj" fmla="val 9524"/>
            </a:avLst>
          </a:prstGeom>
          <a:solidFill>
            <a:srgbClr val="2E8B6A"/>
          </a:solidFill>
        </p:spPr>
      </p:sp>
      <p:sp>
        <p:nvSpPr>
          <p:cNvPr id="12" name="Text 10"/>
          <p:cNvSpPr/>
          <p:nvPr/>
        </p:nvSpPr>
        <p:spPr>
          <a:xfrm>
            <a:off x="823278" y="2304288"/>
            <a:ext cx="6217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life_raw = ( hard_limit×0.6 + soft_avg×0.4 )×repair_decay×health_factor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838" y="2834640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438" y="283464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653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A类 硬上限　</a:t>
            </a:r>
            <a:r>
              <a:rPr lang="en-US" sz="1000" b="1" dirty="0">
                <a:solidFill>
                  <a:srgbClr val="B23A2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×0.6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52078" y="283464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hard_limit = min(屋顶, 大门, 挂烟梁) 最短寿命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32438" y="283464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结构性定“生死上限”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1838" y="3493008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438" y="3493008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653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B类 软平均　</a:t>
            </a:r>
            <a:r>
              <a:rPr lang="en-US" sz="1000" b="1" dirty="0">
                <a:solidFill>
                  <a:srgbClr val="2E8B6A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×0.4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652078" y="3493008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soft_avg = Σ(寿命×重要度) ÷ Σ重要度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32438" y="3493008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功能性定“运行质量”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838" y="4151376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438" y="4151376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653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维修 复衰　</a:t>
            </a:r>
            <a:r>
              <a:rPr lang="en-US" sz="1000" b="1" dirty="0">
                <a:solidFill>
                  <a:srgbClr val="C77E1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e^衰减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652078" y="4151376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repair_decay = e^(−0.08×维修次数)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32438" y="4151376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修1次0.92 · 修3次0.79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1838" y="4809744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438" y="4809744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653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健康 校准　</a:t>
            </a:r>
            <a:r>
              <a:rPr lang="en-US" sz="1000" b="1" dirty="0">
                <a:solidFill>
                  <a:srgbClr val="C77E1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加速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652078" y="4809744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health_factor = 0.70 + 0.30×(H/100)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532438" y="4809744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H=100→1.00 · H=40→0.82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31838" y="5522976"/>
            <a:ext cx="6400800" cy="457200"/>
          </a:xfrm>
          <a:prstGeom prst="roundRect">
            <a:avLst>
              <a:gd name="adj" fmla="val 12000"/>
            </a:avLst>
          </a:prstGeom>
          <a:solidFill>
            <a:srgbClr val="C77E1B"/>
          </a:solidFill>
        </p:spPr>
      </p:sp>
      <p:sp>
        <p:nvSpPr>
          <p:cNvPr id="34" name="Text 32"/>
          <p:cNvSpPr/>
          <p:nvPr/>
        </p:nvSpPr>
        <p:spPr>
          <a:xfrm>
            <a:off x="731838" y="5522976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L5 年限收缩+钳制：year_cap = max(0, 15−房龄×0.55)，老房不虚高、新+2.65封顶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558" y="6035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四级预警：≤0紧急 · 1~4建议维修 · 4~7需关注 · &gt;7正常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544118" y="1572768"/>
            <a:ext cx="4142232" cy="475488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772718" y="1664208"/>
            <a:ext cx="3749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单栋算例 · 2009老房</a:t>
            </a:r>
            <a:r>
              <a:rPr lang="en-US" sz="900" dirty="0">
                <a:solidFill>
                  <a:srgbClr val="5C6B6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（2022换自控·2024修散热, H=71）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772718" y="210312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82446" y="210312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L1 硬上限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098598" y="210312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屋顶最弱 → hard_limit = 2.5年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772718" y="2624328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82446" y="2624328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L2 软平均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098598" y="2624328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soft_avg = 5.0 年（9功能件加权均值）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772718" y="3145536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82446" y="3145536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L3 维修复衰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098598" y="3145536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修2次 → e^(−0.16) = 0.852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772718" y="3666744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82446" y="3666744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L4 健康校准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098598" y="3666744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H=71 → 0.70+0.30×0.71 = 0.913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772718" y="4187952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82446" y="4187952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life_raw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098598" y="418795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(2.5×0.65+5×0.35)×0.852×0.913 = 2.63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772718" y="470916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82446" y="470916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L5 年限收缩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098598" y="470916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year_cap = 15−17×0.55 = 5.65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772718" y="5257800"/>
            <a:ext cx="3749040" cy="731520"/>
          </a:xfrm>
          <a:prstGeom prst="roundRect">
            <a:avLst>
              <a:gd name="adj" fmla="val 7500"/>
            </a:avLst>
          </a:prstGeom>
          <a:solidFill>
            <a:srgbClr val="14532D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772718" y="5257800"/>
            <a:ext cx="3749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life = clamp(2.63, 0, 5.65) = 2.6 年
</a:t>
            </a: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→ 建议维修（1~4年）· 退役年≈2029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772718" y="6053328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B23A2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维修能续命但不能回春：老房即使换新设备，也被年限收缩约束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3238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3238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模型 ③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7486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村级发展指数 —— 三维度算到"建几座"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505774" y="1115568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左：三维度公式树（怎么算）　右：一个千亩村算到底（算给评委看）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3238" y="1572768"/>
            <a:ext cx="68580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9" algn="bl" rotWithShape="0">
              <a:srgbClr val="1B4633">
                <a:alpha val="2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838" y="1627632"/>
            <a:ext cx="6400800" cy="640080"/>
          </a:xfrm>
          <a:prstGeom prst="roundRect">
            <a:avLst>
              <a:gd name="adj" fmla="val 8571"/>
            </a:avLst>
          </a:prstGeom>
          <a:solidFill>
            <a:srgbClr val="14532D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838" y="1627632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V = 0.50·Hc + 0.30·Lc + 0.20·Dc　</a:t>
            </a:r>
            <a:r>
              <a:rPr lang="en-US" sz="1250" b="1" dirty="0">
                <a:solidFill>
                  <a:srgbClr val="B8922A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新建需求分 N = 100 − V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32238" y="2286000"/>
            <a:ext cx="10973" cy="109728"/>
          </a:xfrm>
          <a:prstGeom prst="line">
            <a:avLst/>
          </a:prstGeom>
          <a:noFill/>
          <a:ln w="17780">
            <a:solidFill>
              <a:srgbClr val="6B8F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838" y="2487168"/>
            <a:ext cx="64008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438" y="2542032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Hc 有效烤能指数 ×0.50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0438" y="2871216"/>
            <a:ext cx="61722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单栋 E=健康分/100×容量×状态(在用1.0·闲置0.4·待修0.1)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A=在用ΣE ， B=闲置ΣE×0.4 ， C=待修ΣE×0.1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Q=0.7A+0.2B+0.1C ， Hc=min(100, Q/D×100)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838" y="3840480"/>
            <a:ext cx="64008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438" y="3895344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Lc 承载匹配指数 ×0.30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438" y="4224528"/>
            <a:ext cx="61722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压力 P = D ÷ Q · 分档：≤0.85→100 · ≤1→85 · ≤1.2→70 · ≤1.5→50 · &gt;1.5→30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838" y="5193792"/>
            <a:ext cx="64008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438" y="5248656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Dc 发展因子指数 ×0.20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0438" y="5577840"/>
            <a:ext cx="61722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五维各0.2：规模增长 · 管护缴费 · 政策争取 · 服务能力 · 扩张韧性 → Dc=五维均值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838" y="6108192"/>
            <a:ext cx="6400800" cy="493776"/>
          </a:xfrm>
          <a:prstGeom prst="roundRect">
            <a:avLst>
              <a:gd name="adj" fmla="val 11111"/>
            </a:avLst>
          </a:prstGeom>
          <a:solidFill>
            <a:srgbClr val="C77E1B"/>
          </a:solidFill>
        </p:spPr>
      </p:sp>
      <p:sp>
        <p:nvSpPr>
          <p:cNvPr id="24" name="Text 22"/>
          <p:cNvSpPr/>
          <p:nvPr/>
        </p:nvSpPr>
        <p:spPr>
          <a:xfrm>
            <a:off x="731838" y="6181217"/>
            <a:ext cx="640080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决策：V越低→烤能缺口越大→新建越迫切　N越高→优先级越高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544118" y="1572768"/>
            <a:ext cx="4142232" cy="475488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96188" y="1664335"/>
            <a:ext cx="3971290" cy="416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单村算例（10 座烤房）</a:t>
            </a:r>
            <a:r>
              <a:rPr lang="en-US" sz="900" dirty="0">
                <a:solidFill>
                  <a:srgbClr val="5C6B6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  容量50担/座 · 理论需求 D=450担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718" y="2048256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在用7座·</a:t>
            </a:r>
            <a:r>
              <a:rPr lang="zh-CN" altLang="en-US" sz="1100" b="1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烤房健康均分约</a:t>
            </a:r>
            <a:r>
              <a:rPr lang="en-US" sz="1100" b="1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80分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60218" y="2048510"/>
            <a:ext cx="22072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6A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A = 7×80/100×50 = 280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718" y="2450592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闲置2座·</a:t>
            </a:r>
            <a:r>
              <a:rPr lang="zh-CN" altLang="en-US" sz="1100" b="1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  <a:sym typeface="+mn-ea"/>
              </a:rPr>
              <a:t>烤房健康均分</a:t>
            </a:r>
            <a:r>
              <a:rPr lang="en-US" sz="1100" b="1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65分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510078" y="2450465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6A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B = 2×65×50×0.4/100 = 26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72718" y="2852928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待修1座·</a:t>
            </a:r>
            <a:r>
              <a:rPr lang="zh-CN" altLang="en-US" sz="1100" b="1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  <a:sym typeface="+mn-ea"/>
              </a:rPr>
              <a:t>烤房健康均分</a:t>
            </a:r>
            <a:r>
              <a:rPr lang="en-US" sz="1100" b="1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45分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510078" y="2853055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B6A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C = 1×45×50×0.1/100 = 2.25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772718" y="3227832"/>
            <a:ext cx="3749040" cy="18288"/>
          </a:xfrm>
          <a:prstGeom prst="rect">
            <a:avLst/>
          </a:prstGeom>
          <a:solidFill>
            <a:srgbClr val="D6E3DA"/>
          </a:solidFill>
        </p:spPr>
      </p:sp>
      <p:sp>
        <p:nvSpPr>
          <p:cNvPr id="34" name="Shape 32"/>
          <p:cNvSpPr/>
          <p:nvPr/>
        </p:nvSpPr>
        <p:spPr>
          <a:xfrm>
            <a:off x="7772718" y="3310128"/>
            <a:ext cx="3749040" cy="438912"/>
          </a:xfrm>
          <a:prstGeom prst="roundRect">
            <a:avLst>
              <a:gd name="adj" fmla="val 8333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82446" y="3310128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Q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49958" y="3310128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0.7×280+0.2×26+0.1×2.25 = 201.43担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72718" y="3822192"/>
            <a:ext cx="3749040" cy="438912"/>
          </a:xfrm>
          <a:prstGeom prst="roundRect">
            <a:avLst>
              <a:gd name="adj" fmla="val 8333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82446" y="3822192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Hc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549958" y="3822192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201.43/450×100 = 44.8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772718" y="4334256"/>
            <a:ext cx="3749040" cy="438912"/>
          </a:xfrm>
          <a:prstGeom prst="roundRect">
            <a:avLst>
              <a:gd name="adj" fmla="val 8333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82446" y="4334256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549958" y="4334256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450/201.43 = 2.23 → Lc = 30(严重不足)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72718" y="4846320"/>
            <a:ext cx="3749040" cy="438912"/>
          </a:xfrm>
          <a:prstGeom prst="roundRect">
            <a:avLst>
              <a:gd name="adj" fmla="val 8333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82446" y="4846320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Dc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549958" y="4846320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301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(85+80+70+75+40)/5 = 70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772718" y="5394960"/>
            <a:ext cx="3749040" cy="713232"/>
          </a:xfrm>
          <a:prstGeom prst="roundRect">
            <a:avLst>
              <a:gd name="adj" fmla="val 7692"/>
            </a:avLst>
          </a:prstGeom>
          <a:solidFill>
            <a:srgbClr val="14532D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772718" y="5394960"/>
            <a:ext cx="37490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BE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V = 0.5×44.8 + 0.3×30 + 0.2×70 = 45.4
</a:t>
            </a: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→ N = 54.6 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772718" y="6181344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C6B6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建议优先配建约5座 · 新增后再算 ΔV 检验是否值得建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2289</Words>
  <Application>WPS 文字</Application>
  <PresentationFormat>宽屏</PresentationFormat>
  <Paragraphs>216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微软雅黑</vt:lpstr>
      <vt:lpstr>微软雅黑</vt:lpstr>
      <vt:lpstr>MS PGothic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上善若水</cp:lastModifiedBy>
  <cp:revision>164</cp:revision>
  <dcterms:created xsi:type="dcterms:W3CDTF">2026-09-09T08:16:23Z</dcterms:created>
  <dcterms:modified xsi:type="dcterms:W3CDTF">2026-09-09T08:16:23Z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9EC9BD5FED4B1686C015A16A09A61438_41</vt:lpwstr>
  </property>
</Properties>
</file>