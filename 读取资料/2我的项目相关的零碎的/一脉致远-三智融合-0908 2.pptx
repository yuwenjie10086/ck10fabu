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89" r:id="rId3"/>
    <p:sldId id="279" r:id="rId5"/>
    <p:sldId id="280" r:id="rId6"/>
    <p:sldId id="281" r:id="rId7"/>
    <p:sldId id="282" r:id="rId8"/>
    <p:sldId id="275" r:id="rId9"/>
    <p:sldId id="276" r:id="rId10"/>
    <p:sldId id="271" r:id="rId11"/>
    <p:sldId id="283" r:id="rId12"/>
    <p:sldId id="284" r:id="rId13"/>
    <p:sldId id="277" r:id="rId14"/>
    <p:sldId id="278" r:id="rId15"/>
    <p:sldId id="272" r:id="rId16"/>
    <p:sldId id="273" r:id="rId17"/>
    <p:sldId id="274" r:id="rId18"/>
    <p:sldId id="258" r:id="rId19"/>
    <p:sldId id="259" r:id="rId20"/>
    <p:sldId id="260" r:id="rId21"/>
    <p:sldId id="261" r:id="rId22"/>
    <p:sldId id="262" r:id="rId23"/>
    <p:sldId id="263" r:id="rId24"/>
    <p:sldId id="264" r:id="rId25"/>
    <p:sldId id="265" r:id="rId26"/>
    <p:sldId id="266" r:id="rId27"/>
    <p:sldId id="267" r:id="rId28"/>
    <p:sldId id="268" r:id="rId29"/>
    <p:sldId id="294" r:id="rId30"/>
    <p:sldId id="269" r:id="rId31"/>
  </p:sldIdLst>
  <p:sldSz cx="12191365" cy="6858000"/>
  <p:notesSz cx="6858000" cy="1219136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4" Type="http://schemas.openxmlformats.org/officeDocument/2006/relationships/tableStyles" Target="tableStyles.xml"/><Relationship Id="rId33" Type="http://schemas.openxmlformats.org/officeDocument/2006/relationships/viewProps" Target="viewProps.xml"/><Relationship Id="rId32" Type="http://schemas.openxmlformats.org/officeDocument/2006/relationships/presProps" Target="presProps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9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502920" y="502920"/>
            <a:ext cx="1737360" cy="475488"/>
          </a:xfrm>
          <a:prstGeom prst="roundRect">
            <a:avLst>
              <a:gd name="adj" fmla="val 50000"/>
            </a:avLst>
          </a:prstGeom>
          <a:solidFill>
            <a:srgbClr val="14532D"/>
          </a:solidFill>
          <a:effectLst>
            <a:outerShdw blurRad="2147483647" dist="2147483647" dir="1" algn="bl" rotWithShape="0">
              <a:srgbClr val="1B4633">
                <a:alpha val="2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502920" y="502920"/>
            <a:ext cx="173736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模型一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2487168" y="365760"/>
            <a:ext cx="905256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430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烤房健康评估模型 —— 给每一栋烤房做"CT体检"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2505456" y="1115568"/>
            <a:ext cx="91440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C6B6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拆解4部位18部件，量化评分定状态与寿命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" y="1554480"/>
            <a:ext cx="11183112" cy="4709160"/>
          </a:xfrm>
          <a:prstGeom prst="roundRect">
            <a:avLst>
              <a:gd name="adj" fmla="val 2718"/>
            </a:avLst>
          </a:prstGeom>
          <a:solidFill>
            <a:srgbClr val="FFFFFF"/>
          </a:solidFill>
          <a:ln w="12700">
            <a:solidFill>
              <a:srgbClr val="D6E3DA"/>
            </a:solidFill>
            <a:prstDash val="solid"/>
          </a:ln>
          <a:effectLst>
            <a:outerShdw blurRad="2147483647" dist="2147483647" dir="9" algn="bl" rotWithShape="0">
              <a:srgbClr val="1B4633">
                <a:alpha val="2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77240" y="1828800"/>
            <a:ext cx="4315460" cy="822960"/>
          </a:xfrm>
          <a:prstGeom prst="roundRect">
            <a:avLst>
              <a:gd name="adj" fmla="val 11111"/>
            </a:avLst>
          </a:prstGeom>
          <a:solidFill>
            <a:srgbClr val="E7F2EA"/>
          </a:solidFill>
          <a:ln w="12700">
            <a:solidFill>
              <a:srgbClr val="D6E3DA"/>
            </a:solidFill>
            <a:prstDash val="solid"/>
          </a:ln>
          <a:effectLst>
            <a:outerShdw blurRad="2147483647" dist="2147483647" dir="5" algn="bl" rotWithShape="0">
              <a:srgbClr val="1B4633">
                <a:alpha val="2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914400" y="1920240"/>
            <a:ext cx="475488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653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输入：</a:t>
            </a:r>
            <a:r>
              <a:rPr lang="en-US" sz="1300" dirty="0">
                <a:solidFill>
                  <a:srgbClr val="1430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 </a:t>
            </a:r>
            <a:r>
              <a:rPr lang="zh-CN" altLang="en-US" sz="1300" dirty="0">
                <a:solidFill>
                  <a:srgbClr val="1430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烤房及部件信息</a:t>
            </a:r>
            <a:r>
              <a:rPr lang="en-US" sz="1300" dirty="0">
                <a:solidFill>
                  <a:srgbClr val="1430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 ·  历史维修记录 · 人工评价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318760" y="1828800"/>
            <a:ext cx="6224270" cy="822960"/>
          </a:xfrm>
          <a:prstGeom prst="roundRect">
            <a:avLst>
              <a:gd name="adj" fmla="val 11111"/>
            </a:avLst>
          </a:prstGeom>
          <a:solidFill>
            <a:srgbClr val="14532D"/>
          </a:solidFill>
          <a:ln w="12700">
            <a:solidFill>
              <a:srgbClr val="D6E3DA"/>
            </a:solidFill>
            <a:prstDash val="solid"/>
          </a:ln>
          <a:effectLst>
            <a:outerShdw blurRad="2147483647" dist="2147483647" dir="3" algn="bl" rotWithShape="0">
              <a:srgbClr val="1B4633">
                <a:alpha val="2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434330" y="1908810"/>
            <a:ext cx="5848985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输出：</a:t>
            </a:r>
            <a:r>
              <a:rPr lang="en-US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 健康分  · 剩余寿命</a:t>
            </a:r>
            <a:r>
              <a:rPr lang="en-US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  <a:sym typeface="+mn-ea"/>
              </a:rPr>
              <a:t>· 健康等级 · 风险部件</a:t>
            </a:r>
            <a:r>
              <a:rPr lang="zh-CN" altLang="en-US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  <a:sym typeface="+mn-ea"/>
              </a:rPr>
              <a:t>排序</a:t>
            </a:r>
            <a:endParaRPr lang="zh-CN" altLang="en-US" dirty="0">
              <a:solidFill>
                <a:srgbClr val="FFFFFF"/>
              </a:solidFill>
              <a:latin typeface="微软雅黑" pitchFamily="34" charset="0"/>
              <a:ea typeface="微软雅黑" pitchFamily="34" charset="-122"/>
              <a:cs typeface="微软雅黑" pitchFamily="34" charset="-120"/>
              <a:sym typeface="+mn-ea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777240" y="3017520"/>
            <a:ext cx="109728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1700" b="1" dirty="0">
                <a:solidFill>
                  <a:srgbClr val="16653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总</a:t>
            </a:r>
            <a:r>
              <a:rPr lang="zh-CN" altLang="en-US" sz="1700" b="1" dirty="0">
                <a:solidFill>
                  <a:srgbClr val="16653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公式</a:t>
            </a:r>
            <a:endParaRPr lang="zh-CN" altLang="en-US" sz="1700" b="1" dirty="0">
              <a:solidFill>
                <a:srgbClr val="166534"/>
              </a:solidFill>
              <a:latin typeface="微软雅黑" pitchFamily="34" charset="0"/>
              <a:ea typeface="微软雅黑" pitchFamily="34" charset="-122"/>
              <a:cs typeface="微软雅黑" pitchFamily="34" charset="-12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777240" y="3383280"/>
            <a:ext cx="10881360" cy="548640"/>
          </a:xfrm>
          <a:prstGeom prst="roundRect">
            <a:avLst>
              <a:gd name="adj" fmla="val 13333"/>
            </a:avLst>
          </a:prstGeom>
          <a:solidFill>
            <a:srgbClr val="14532D"/>
          </a:solidFill>
          <a:effectLst>
            <a:outerShdw blurRad="2147483647" dist="2147483647" dir="2" algn="bl" rotWithShape="0">
              <a:srgbClr val="1B4633">
                <a:alpha val="2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77240" y="3383280"/>
            <a:ext cx="1088136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H = 0.80×部件分 + 0.10×管护分 + 0.10×人工分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777240" y="4206240"/>
            <a:ext cx="109728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653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健康等级划分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777240" y="4572000"/>
            <a:ext cx="2103120" cy="1097280"/>
          </a:xfrm>
          <a:prstGeom prst="roundRect">
            <a:avLst>
              <a:gd name="adj" fmla="val 6667"/>
            </a:avLst>
          </a:prstGeom>
          <a:solidFill>
            <a:srgbClr val="2E8B6A"/>
          </a:solidFill>
          <a:effectLst>
            <a:outerShdw blurRad="2147483647" dist="2147483647" dir="1" algn="bl" rotWithShape="0">
              <a:srgbClr val="1B4633">
                <a:alpha val="2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77240" y="4709160"/>
            <a:ext cx="21031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优良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777240" y="5120640"/>
            <a:ext cx="21031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0F7F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85-100分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2990088" y="4572000"/>
            <a:ext cx="2103120" cy="1097280"/>
          </a:xfrm>
          <a:prstGeom prst="roundRect">
            <a:avLst>
              <a:gd name="adj" fmla="val 6667"/>
            </a:avLst>
          </a:prstGeom>
          <a:solidFill>
            <a:srgbClr val="5FB292"/>
          </a:solidFill>
          <a:effectLst>
            <a:outerShdw blurRad="2147483647" dist="2147483647" dir="7" algn="bl" rotWithShape="0">
              <a:srgbClr val="1B4633">
                <a:alpha val="2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2990088" y="4709160"/>
            <a:ext cx="21031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良好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2990088" y="5120640"/>
            <a:ext cx="21031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0F7F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70-85分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202936" y="4572000"/>
            <a:ext cx="2103120" cy="1097280"/>
          </a:xfrm>
          <a:prstGeom prst="roundRect">
            <a:avLst>
              <a:gd name="adj" fmla="val 6667"/>
            </a:avLst>
          </a:prstGeom>
          <a:solidFill>
            <a:srgbClr val="F39C12"/>
          </a:solidFill>
          <a:effectLst>
            <a:outerShdw blurRad="2147483647" dist="2147483647" dir="4" algn="bl" rotWithShape="0">
              <a:srgbClr val="1B4633">
                <a:alpha val="2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5202936" y="4709160"/>
            <a:ext cx="21031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一般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5202936" y="5120640"/>
            <a:ext cx="21031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0F7F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60-70分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7415784" y="4572000"/>
            <a:ext cx="2103120" cy="1097280"/>
          </a:xfrm>
          <a:prstGeom prst="roundRect">
            <a:avLst>
              <a:gd name="adj" fmla="val 6667"/>
            </a:avLst>
          </a:prstGeom>
          <a:solidFill>
            <a:srgbClr val="C77E1B"/>
          </a:solidFill>
          <a:effectLst>
            <a:outerShdw blurRad="2147483647" dist="2147483647" dir="2" algn="bl" rotWithShape="0">
              <a:srgbClr val="1B4633">
                <a:alpha val="2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7415784" y="4709160"/>
            <a:ext cx="21031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预警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7415784" y="5120640"/>
            <a:ext cx="21031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0F7F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45-60分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9628632" y="4572000"/>
            <a:ext cx="2103120" cy="1097280"/>
          </a:xfrm>
          <a:prstGeom prst="roundRect">
            <a:avLst>
              <a:gd name="adj" fmla="val 6667"/>
            </a:avLst>
          </a:prstGeom>
          <a:solidFill>
            <a:srgbClr val="B23A24"/>
          </a:solidFill>
          <a:effectLst>
            <a:outerShdw blurRad="2147483647" dist="2147483647" dir="1" algn="bl" rotWithShape="0">
              <a:srgbClr val="1B4633">
                <a:alpha val="2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9628632" y="4709160"/>
            <a:ext cx="21031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危险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9628632" y="5120640"/>
            <a:ext cx="21031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0F7F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&lt;45分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502920" y="6446520"/>
            <a:ext cx="822960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C6B6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解决"先修哪一台、优先换哪些部件" —— 从经验判断走向数据研判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502920" y="502920"/>
            <a:ext cx="1737360" cy="475488"/>
          </a:xfrm>
          <a:prstGeom prst="roundRect">
            <a:avLst>
              <a:gd name="adj" fmla="val 50000"/>
            </a:avLst>
          </a:prstGeom>
          <a:solidFill>
            <a:srgbClr val="14532D"/>
          </a:solidFill>
          <a:effectLst>
            <a:outerShdw blurRad="127000" dist="50800" dir="2700000" algn="bl" rotWithShape="0">
              <a:srgbClr val="1B4633">
                <a:alpha val="2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502920" y="502920"/>
            <a:ext cx="173736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模型 ①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2487168" y="365760"/>
            <a:ext cx="905256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430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烤房健康评估 —— 分式拆解与</a:t>
            </a:r>
            <a:r>
              <a:rPr lang="zh-CN" altLang="en-US" sz="2800" b="1" dirty="0">
                <a:solidFill>
                  <a:srgbClr val="1430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示例</a:t>
            </a:r>
            <a:r>
              <a:rPr lang="zh-CN" altLang="en-US" sz="2800" b="1" dirty="0">
                <a:solidFill>
                  <a:srgbClr val="1430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计算</a:t>
            </a:r>
            <a:endParaRPr lang="zh-CN" altLang="en-US" sz="2800" b="1" dirty="0">
              <a:solidFill>
                <a:srgbClr val="14301F"/>
              </a:solidFill>
              <a:latin typeface="微软雅黑" pitchFamily="34" charset="0"/>
              <a:ea typeface="微软雅黑" pitchFamily="34" charset="-122"/>
              <a:cs typeface="微软雅黑" pitchFamily="34" charset="-120"/>
            </a:endParaRPr>
          </a:p>
        </p:txBody>
      </p:sp>
      <p:sp>
        <p:nvSpPr>
          <p:cNvPr id="6" name="Text 4"/>
          <p:cNvSpPr/>
          <p:nvPr/>
        </p:nvSpPr>
        <p:spPr>
          <a:xfrm>
            <a:off x="2505456" y="1115568"/>
            <a:ext cx="91440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C6B6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左：H 树状拆解（怎么算）　右：一栋烤房 12 部件逐项得分算到底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02920" y="1554480"/>
            <a:ext cx="6720840" cy="4709160"/>
          </a:xfrm>
          <a:prstGeom prst="roundRect">
            <a:avLst>
              <a:gd name="adj" fmla="val 2718"/>
            </a:avLst>
          </a:prstGeom>
          <a:solidFill>
            <a:srgbClr val="FFFFFF"/>
          </a:solidFill>
          <a:ln w="12700">
            <a:solidFill>
              <a:srgbClr val="D6E3DA"/>
            </a:solidFill>
            <a:prstDash val="solid"/>
          </a:ln>
          <a:effectLst>
            <a:outerShdw blurRad="1612900000" dist="645160000" dir="-1" algn="bl" rotWithShape="0">
              <a:srgbClr val="1B4633">
                <a:alpha val="2147483647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77240" y="1609344"/>
            <a:ext cx="6172200" cy="566928"/>
          </a:xfrm>
          <a:prstGeom prst="roundRect">
            <a:avLst>
              <a:gd name="adj" fmla="val 12903"/>
            </a:avLst>
          </a:prstGeom>
          <a:solidFill>
            <a:srgbClr val="14532D"/>
          </a:solidFill>
          <a:effectLst>
            <a:outerShdw blurRad="2147483647" dist="2147483647" dir="-1" algn="bl" rotWithShape="0">
              <a:srgbClr val="1B4633">
                <a:alpha val="2147483647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777240" y="1609344"/>
            <a:ext cx="617220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H = 0.80×P_norm　+　0.10×M　+　0.10×E</a:t>
            </a:r>
            <a:endParaRPr lang="en-US" sz="1900" dirty="0"/>
          </a:p>
        </p:txBody>
      </p:sp>
      <p:sp>
        <p:nvSpPr>
          <p:cNvPr id="10" name="Shape 8"/>
          <p:cNvSpPr/>
          <p:nvPr/>
        </p:nvSpPr>
        <p:spPr>
          <a:xfrm>
            <a:off x="3858768" y="2194560"/>
            <a:ext cx="10973" cy="109728"/>
          </a:xfrm>
          <a:prstGeom prst="line">
            <a:avLst/>
          </a:prstGeom>
          <a:noFill/>
          <a:ln w="17780">
            <a:solidFill>
              <a:srgbClr val="6B8F7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77240" y="2304288"/>
            <a:ext cx="6172200" cy="329184"/>
          </a:xfrm>
          <a:prstGeom prst="roundRect">
            <a:avLst>
              <a:gd name="adj" fmla="val 16667"/>
            </a:avLst>
          </a:prstGeom>
          <a:solidFill>
            <a:srgbClr val="2E8B6A"/>
          </a:solidFill>
        </p:spPr>
      </p:sp>
      <p:sp>
        <p:nvSpPr>
          <p:cNvPr id="12" name="Text 10"/>
          <p:cNvSpPr/>
          <p:nvPr/>
        </p:nvSpPr>
        <p:spPr>
          <a:xfrm>
            <a:off x="868680" y="2304288"/>
            <a:ext cx="603504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部件归一化分 P_norm ×0.80　</a:t>
            </a:r>
            <a:r>
              <a:rPr lang="en-US" sz="1100" dirty="0">
                <a:solidFill>
                  <a:srgbClr val="DCEBE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（12 部件 · 合计权重 ΣW = 80）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77240" y="2724912"/>
            <a:ext cx="3017520" cy="1005840"/>
          </a:xfrm>
          <a:prstGeom prst="roundRect">
            <a:avLst>
              <a:gd name="adj" fmla="val 9091"/>
            </a:avLst>
          </a:prstGeom>
          <a:solidFill>
            <a:srgbClr val="E7F2EA"/>
          </a:solidFill>
          <a:ln w="12700">
            <a:solidFill>
              <a:srgbClr val="D6E3D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77240" y="2724912"/>
            <a:ext cx="91440" cy="1005840"/>
          </a:xfrm>
          <a:prstGeom prst="rect">
            <a:avLst/>
          </a:prstGeom>
          <a:solidFill>
            <a:srgbClr val="166534"/>
          </a:solidFill>
        </p:spPr>
      </p:sp>
      <p:sp>
        <p:nvSpPr>
          <p:cNvPr id="15" name="Text 13"/>
          <p:cNvSpPr/>
          <p:nvPr/>
        </p:nvSpPr>
        <p:spPr>
          <a:xfrm>
            <a:off x="941832" y="2779776"/>
            <a:ext cx="2779776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653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主体　</a:t>
            </a:r>
            <a:r>
              <a:rPr lang="en-US" sz="950" b="1" dirty="0">
                <a:solidFill>
                  <a:srgbClr val="C77E1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 类·定生死</a:t>
            </a:r>
            <a:r>
              <a:rPr lang="en-US" sz="1100" b="1" dirty="0">
                <a:solidFill>
                  <a:srgbClr val="5C6B6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　权重 25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941832" y="3145536"/>
            <a:ext cx="2743200" cy="5120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1430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屋顶/墙体 10 · 大门 10 · 挂烟梁柱 5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977640" y="2724912"/>
            <a:ext cx="3017520" cy="1005840"/>
          </a:xfrm>
          <a:prstGeom prst="roundRect">
            <a:avLst>
              <a:gd name="adj" fmla="val 9091"/>
            </a:avLst>
          </a:prstGeom>
          <a:solidFill>
            <a:srgbClr val="E7F2EA"/>
          </a:solidFill>
          <a:ln w="12700">
            <a:solidFill>
              <a:srgbClr val="D6E3D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977640" y="2724912"/>
            <a:ext cx="91440" cy="1005840"/>
          </a:xfrm>
          <a:prstGeom prst="rect">
            <a:avLst/>
          </a:prstGeom>
          <a:solidFill>
            <a:srgbClr val="166534"/>
          </a:solidFill>
        </p:spPr>
      </p:sp>
      <p:sp>
        <p:nvSpPr>
          <p:cNvPr id="19" name="Text 17"/>
          <p:cNvSpPr/>
          <p:nvPr/>
        </p:nvSpPr>
        <p:spPr>
          <a:xfrm>
            <a:off x="4142232" y="2779776"/>
            <a:ext cx="2779776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653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加热　</a:t>
            </a:r>
            <a:r>
              <a:rPr lang="en-US" sz="950" b="1" dirty="0">
                <a:solidFill>
                  <a:srgbClr val="C77E1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B 类·定质量</a:t>
            </a:r>
            <a:r>
              <a:rPr lang="en-US" sz="1100" b="1" dirty="0">
                <a:solidFill>
                  <a:srgbClr val="5C6B6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　权重 15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4142232" y="3145536"/>
            <a:ext cx="2743200" cy="5120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1430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加热器/燃烧机 15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777240" y="3858768"/>
            <a:ext cx="3017520" cy="1005840"/>
          </a:xfrm>
          <a:prstGeom prst="roundRect">
            <a:avLst>
              <a:gd name="adj" fmla="val 9091"/>
            </a:avLst>
          </a:prstGeom>
          <a:solidFill>
            <a:srgbClr val="E7F2EA"/>
          </a:solidFill>
          <a:ln w="12700">
            <a:solidFill>
              <a:srgbClr val="D6E3D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77240" y="3858768"/>
            <a:ext cx="91440" cy="1005840"/>
          </a:xfrm>
          <a:prstGeom prst="rect">
            <a:avLst/>
          </a:prstGeom>
          <a:solidFill>
            <a:srgbClr val="166534"/>
          </a:solidFill>
        </p:spPr>
      </p:sp>
      <p:sp>
        <p:nvSpPr>
          <p:cNvPr id="23" name="Text 21"/>
          <p:cNvSpPr/>
          <p:nvPr/>
        </p:nvSpPr>
        <p:spPr>
          <a:xfrm>
            <a:off x="941832" y="3913632"/>
            <a:ext cx="2779776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653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散热　</a:t>
            </a:r>
            <a:r>
              <a:rPr lang="en-US" sz="950" b="1" dirty="0">
                <a:solidFill>
                  <a:srgbClr val="C77E1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B 类·定质量</a:t>
            </a:r>
            <a:r>
              <a:rPr lang="en-US" sz="1100" b="1" dirty="0">
                <a:solidFill>
                  <a:srgbClr val="5C6B6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　权重 15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941832" y="4279392"/>
            <a:ext cx="2743200" cy="5120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1430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散热管 4 · 炉膛 4 · 清灰门 3 · 烟囱 4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3977640" y="3858768"/>
            <a:ext cx="3017520" cy="1005840"/>
          </a:xfrm>
          <a:prstGeom prst="roundRect">
            <a:avLst>
              <a:gd name="adj" fmla="val 9091"/>
            </a:avLst>
          </a:prstGeom>
          <a:solidFill>
            <a:srgbClr val="E7F2EA"/>
          </a:solidFill>
          <a:ln w="12700">
            <a:solidFill>
              <a:srgbClr val="D6E3D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977640" y="3858768"/>
            <a:ext cx="91440" cy="1005840"/>
          </a:xfrm>
          <a:prstGeom prst="rect">
            <a:avLst/>
          </a:prstGeom>
          <a:solidFill>
            <a:srgbClr val="166534"/>
          </a:solidFill>
        </p:spPr>
      </p:sp>
      <p:sp>
        <p:nvSpPr>
          <p:cNvPr id="27" name="Text 25"/>
          <p:cNvSpPr/>
          <p:nvPr/>
        </p:nvSpPr>
        <p:spPr>
          <a:xfrm>
            <a:off x="4142232" y="3913632"/>
            <a:ext cx="2779776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653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自控　</a:t>
            </a:r>
            <a:r>
              <a:rPr lang="en-US" sz="950" b="1" dirty="0">
                <a:solidFill>
                  <a:srgbClr val="C77E1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B 类·定质量</a:t>
            </a:r>
            <a:r>
              <a:rPr lang="en-US" sz="1100" b="1" dirty="0">
                <a:solidFill>
                  <a:srgbClr val="5C6B6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　权重 25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4142232" y="4279392"/>
            <a:ext cx="2743200" cy="5120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1430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自控主板 8 · 探头 6 · 水壶 6 · 循环风机 5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3858768" y="3401568"/>
            <a:ext cx="10973" cy="475488"/>
          </a:xfrm>
          <a:prstGeom prst="line">
            <a:avLst/>
          </a:prstGeom>
          <a:noFill/>
          <a:ln w="17780">
            <a:solidFill>
              <a:srgbClr val="6B8F7C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77240" y="4992624"/>
            <a:ext cx="6172200" cy="384048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12700">
            <a:solidFill>
              <a:srgbClr val="2E8B6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68680" y="4992624"/>
            <a:ext cx="598932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6653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每个部件 score = 100×(0.50 状态 + 0.35 寿命比 + 0.15 评价)　　P_norm = Σ(W×score)/ΣW×100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3858768" y="5376672"/>
            <a:ext cx="10973" cy="109728"/>
          </a:xfrm>
          <a:prstGeom prst="line">
            <a:avLst/>
          </a:prstGeom>
          <a:noFill/>
          <a:ln w="17780">
            <a:solidFill>
              <a:srgbClr val="6B8F7C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77240" y="5486400"/>
            <a:ext cx="3017520" cy="548640"/>
          </a:xfrm>
          <a:prstGeom prst="roundRect">
            <a:avLst>
              <a:gd name="adj" fmla="val 13333"/>
            </a:avLst>
          </a:prstGeom>
          <a:solidFill>
            <a:srgbClr val="C77E1B"/>
          </a:solidFill>
          <a:effectLst>
            <a:outerShdw blurRad="2147483647" dist="2147483647" dir="-1" algn="bl" rotWithShape="0">
              <a:srgbClr val="1B4633">
                <a:alpha val="2147483647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777240" y="5522976"/>
            <a:ext cx="30175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管护分 M ×0.10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777240" y="5788152"/>
            <a:ext cx="301752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集中 100 · 分户 80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3931920" y="5486400"/>
            <a:ext cx="3017520" cy="548640"/>
          </a:xfrm>
          <a:prstGeom prst="roundRect">
            <a:avLst>
              <a:gd name="adj" fmla="val 13333"/>
            </a:avLst>
          </a:prstGeom>
          <a:solidFill>
            <a:srgbClr val="C77E1B"/>
          </a:solidFill>
          <a:effectLst>
            <a:outerShdw blurRad="2147483647" dist="2147483647" dir="3" algn="bl" rotWithShape="0">
              <a:srgbClr val="1B4633">
                <a:alpha val="2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3931920" y="5522976"/>
            <a:ext cx="30175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人工分 E ×0.10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3931920" y="5788152"/>
            <a:ext cx="301752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好 100 · 中 80 · 差 50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777240" y="6053328"/>
            <a:ext cx="61722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FA89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状态1.0/0.7/0.3 · 寿命比=剩余/指导寿命 · 评价1.0/0.5/0.8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7406640" y="1554480"/>
            <a:ext cx="4279392" cy="4709160"/>
          </a:xfrm>
          <a:prstGeom prst="roundRect">
            <a:avLst>
              <a:gd name="adj" fmla="val 2991"/>
            </a:avLst>
          </a:prstGeom>
          <a:solidFill>
            <a:srgbClr val="FFFFFF"/>
          </a:solidFill>
          <a:ln w="12700">
            <a:solidFill>
              <a:srgbClr val="D6E3DA"/>
            </a:solidFill>
            <a:prstDash val="solid"/>
          </a:ln>
          <a:effectLst>
            <a:outerShdw blurRad="2147483647" dist="2147483647" dir="2" algn="bl" rotWithShape="0">
              <a:srgbClr val="1B4633">
                <a:alpha val="2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7635240" y="1664208"/>
            <a:ext cx="384048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653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单栋算例 · 老房 KF018</a:t>
            </a:r>
            <a:r>
              <a:rPr lang="en-US" sz="1000" dirty="0">
                <a:solidFill>
                  <a:srgbClr val="5C6B6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（2009 建 · 示意）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7635240" y="1993392"/>
            <a:ext cx="384048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C6B6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12 部件：权重 · 得分 → 贡献 C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7635240" y="2249424"/>
            <a:ext cx="1965960" cy="1920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430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屋顶/墙体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9601200" y="2249424"/>
            <a:ext cx="1874520" cy="1920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2E8B6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10·88→8.80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7635240" y="2450592"/>
            <a:ext cx="1965960" cy="1920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430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大门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9601200" y="2450592"/>
            <a:ext cx="1874520" cy="1920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2E8B6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10·90→9.00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7635240" y="2651760"/>
            <a:ext cx="1965960" cy="1920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430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挂烟梁柱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9601200" y="2651760"/>
            <a:ext cx="1874520" cy="1920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2E8B6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5·92→4.60</a:t>
            </a:r>
            <a:endParaRPr lang="en-US" sz="950" dirty="0"/>
          </a:p>
        </p:txBody>
      </p:sp>
      <p:sp>
        <p:nvSpPr>
          <p:cNvPr id="49" name="Text 47"/>
          <p:cNvSpPr/>
          <p:nvPr/>
        </p:nvSpPr>
        <p:spPr>
          <a:xfrm>
            <a:off x="7635240" y="2852928"/>
            <a:ext cx="1965960" cy="1920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430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加热器/燃烧机</a:t>
            </a:r>
            <a:endParaRPr lang="en-US" sz="950" dirty="0"/>
          </a:p>
        </p:txBody>
      </p:sp>
      <p:sp>
        <p:nvSpPr>
          <p:cNvPr id="50" name="Text 48"/>
          <p:cNvSpPr/>
          <p:nvPr/>
        </p:nvSpPr>
        <p:spPr>
          <a:xfrm>
            <a:off x="9601200" y="2852928"/>
            <a:ext cx="1874520" cy="1920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2E8B6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15·86→12.9</a:t>
            </a:r>
            <a:endParaRPr lang="en-US" sz="950" dirty="0"/>
          </a:p>
        </p:txBody>
      </p:sp>
      <p:sp>
        <p:nvSpPr>
          <p:cNvPr id="51" name="Text 49"/>
          <p:cNvSpPr/>
          <p:nvPr/>
        </p:nvSpPr>
        <p:spPr>
          <a:xfrm>
            <a:off x="7635240" y="3054096"/>
            <a:ext cx="1965960" cy="1920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430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散热管</a:t>
            </a:r>
            <a:endParaRPr lang="en-US" sz="950" dirty="0"/>
          </a:p>
        </p:txBody>
      </p:sp>
      <p:sp>
        <p:nvSpPr>
          <p:cNvPr id="52" name="Text 50"/>
          <p:cNvSpPr/>
          <p:nvPr/>
        </p:nvSpPr>
        <p:spPr>
          <a:xfrm>
            <a:off x="9601200" y="3054096"/>
            <a:ext cx="1874520" cy="1920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2E8B6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4·80→3.20</a:t>
            </a:r>
            <a:endParaRPr lang="en-US" sz="950" dirty="0"/>
          </a:p>
        </p:txBody>
      </p:sp>
      <p:sp>
        <p:nvSpPr>
          <p:cNvPr id="53" name="Text 51"/>
          <p:cNvSpPr/>
          <p:nvPr/>
        </p:nvSpPr>
        <p:spPr>
          <a:xfrm>
            <a:off x="7635240" y="3255264"/>
            <a:ext cx="1965960" cy="1920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430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炉膛/燃烧室</a:t>
            </a:r>
            <a:endParaRPr lang="en-US" sz="950" dirty="0"/>
          </a:p>
        </p:txBody>
      </p:sp>
      <p:sp>
        <p:nvSpPr>
          <p:cNvPr id="54" name="Text 52"/>
          <p:cNvSpPr/>
          <p:nvPr/>
        </p:nvSpPr>
        <p:spPr>
          <a:xfrm>
            <a:off x="9601200" y="3255264"/>
            <a:ext cx="1874520" cy="1920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2E8B6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4·82→3.28</a:t>
            </a:r>
            <a:endParaRPr lang="en-US" sz="950" dirty="0"/>
          </a:p>
        </p:txBody>
      </p:sp>
      <p:sp>
        <p:nvSpPr>
          <p:cNvPr id="55" name="Text 53"/>
          <p:cNvSpPr/>
          <p:nvPr/>
        </p:nvSpPr>
        <p:spPr>
          <a:xfrm>
            <a:off x="7635240" y="3456432"/>
            <a:ext cx="1965960" cy="1920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430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清灰门</a:t>
            </a:r>
            <a:endParaRPr lang="en-US" sz="950" dirty="0"/>
          </a:p>
        </p:txBody>
      </p:sp>
      <p:sp>
        <p:nvSpPr>
          <p:cNvPr id="56" name="Text 54"/>
          <p:cNvSpPr/>
          <p:nvPr/>
        </p:nvSpPr>
        <p:spPr>
          <a:xfrm>
            <a:off x="9601200" y="3456432"/>
            <a:ext cx="1874520" cy="1920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2E8B6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3·78→2.34</a:t>
            </a:r>
            <a:endParaRPr lang="en-US" sz="950" dirty="0"/>
          </a:p>
        </p:txBody>
      </p:sp>
      <p:sp>
        <p:nvSpPr>
          <p:cNvPr id="57" name="Text 55"/>
          <p:cNvSpPr/>
          <p:nvPr/>
        </p:nvSpPr>
        <p:spPr>
          <a:xfrm>
            <a:off x="7635240" y="3657600"/>
            <a:ext cx="1965960" cy="1920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430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烟囱</a:t>
            </a:r>
            <a:endParaRPr lang="en-US" sz="950" dirty="0"/>
          </a:p>
        </p:txBody>
      </p:sp>
      <p:sp>
        <p:nvSpPr>
          <p:cNvPr id="58" name="Text 56"/>
          <p:cNvSpPr/>
          <p:nvPr/>
        </p:nvSpPr>
        <p:spPr>
          <a:xfrm>
            <a:off x="9601200" y="3657600"/>
            <a:ext cx="1874520" cy="1920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2E8B6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4·84→3.36</a:t>
            </a:r>
            <a:endParaRPr lang="en-US" sz="950" dirty="0"/>
          </a:p>
        </p:txBody>
      </p:sp>
      <p:sp>
        <p:nvSpPr>
          <p:cNvPr id="59" name="Text 57"/>
          <p:cNvSpPr/>
          <p:nvPr/>
        </p:nvSpPr>
        <p:spPr>
          <a:xfrm>
            <a:off x="7635240" y="3858768"/>
            <a:ext cx="1965960" cy="1920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430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自控仪主板</a:t>
            </a:r>
            <a:endParaRPr lang="en-US" sz="950" dirty="0"/>
          </a:p>
        </p:txBody>
      </p:sp>
      <p:sp>
        <p:nvSpPr>
          <p:cNvPr id="60" name="Text 58"/>
          <p:cNvSpPr/>
          <p:nvPr/>
        </p:nvSpPr>
        <p:spPr>
          <a:xfrm>
            <a:off x="9601200" y="3858768"/>
            <a:ext cx="1874520" cy="1920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2E8B6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8·70→5.60</a:t>
            </a:r>
            <a:endParaRPr lang="en-US" sz="950" dirty="0"/>
          </a:p>
        </p:txBody>
      </p:sp>
      <p:sp>
        <p:nvSpPr>
          <p:cNvPr id="61" name="Text 59"/>
          <p:cNvSpPr/>
          <p:nvPr/>
        </p:nvSpPr>
        <p:spPr>
          <a:xfrm>
            <a:off x="7635240" y="4059936"/>
            <a:ext cx="1965960" cy="1920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430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温湿度探头</a:t>
            </a:r>
            <a:endParaRPr lang="en-US" sz="950" dirty="0"/>
          </a:p>
        </p:txBody>
      </p:sp>
      <p:sp>
        <p:nvSpPr>
          <p:cNvPr id="62" name="Text 60"/>
          <p:cNvSpPr/>
          <p:nvPr/>
        </p:nvSpPr>
        <p:spPr>
          <a:xfrm>
            <a:off x="9601200" y="4059936"/>
            <a:ext cx="1874520" cy="1920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2E8B6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6·66→3.96</a:t>
            </a:r>
            <a:endParaRPr lang="en-US" sz="950" dirty="0"/>
          </a:p>
        </p:txBody>
      </p:sp>
      <p:sp>
        <p:nvSpPr>
          <p:cNvPr id="63" name="Text 61"/>
          <p:cNvSpPr/>
          <p:nvPr/>
        </p:nvSpPr>
        <p:spPr>
          <a:xfrm>
            <a:off x="7635240" y="4261104"/>
            <a:ext cx="1965960" cy="1920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430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水壶/压力传感</a:t>
            </a:r>
            <a:endParaRPr lang="en-US" sz="950" dirty="0"/>
          </a:p>
        </p:txBody>
      </p:sp>
      <p:sp>
        <p:nvSpPr>
          <p:cNvPr id="64" name="Text 62"/>
          <p:cNvSpPr/>
          <p:nvPr/>
        </p:nvSpPr>
        <p:spPr>
          <a:xfrm>
            <a:off x="9601200" y="4261104"/>
            <a:ext cx="1874520" cy="1920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2E8B6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6·68→4.08</a:t>
            </a:r>
            <a:endParaRPr lang="en-US" sz="950" dirty="0"/>
          </a:p>
        </p:txBody>
      </p:sp>
      <p:sp>
        <p:nvSpPr>
          <p:cNvPr id="65" name="Text 63"/>
          <p:cNvSpPr/>
          <p:nvPr/>
        </p:nvSpPr>
        <p:spPr>
          <a:xfrm>
            <a:off x="7635240" y="4462272"/>
            <a:ext cx="1965960" cy="1920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430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循环风机</a:t>
            </a:r>
            <a:endParaRPr lang="en-US" sz="950" dirty="0"/>
          </a:p>
        </p:txBody>
      </p:sp>
      <p:sp>
        <p:nvSpPr>
          <p:cNvPr id="66" name="Text 64"/>
          <p:cNvSpPr/>
          <p:nvPr/>
        </p:nvSpPr>
        <p:spPr>
          <a:xfrm>
            <a:off x="9601200" y="4462272"/>
            <a:ext cx="1874520" cy="1920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2E8B6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5·88→4.40</a:t>
            </a:r>
            <a:endParaRPr lang="en-US" sz="950" dirty="0"/>
          </a:p>
        </p:txBody>
      </p:sp>
      <p:sp>
        <p:nvSpPr>
          <p:cNvPr id="67" name="Shape 65"/>
          <p:cNvSpPr/>
          <p:nvPr/>
        </p:nvSpPr>
        <p:spPr>
          <a:xfrm>
            <a:off x="7635240" y="4681728"/>
            <a:ext cx="3840480" cy="292608"/>
          </a:xfrm>
          <a:prstGeom prst="roundRect">
            <a:avLst>
              <a:gd name="adj" fmla="val 18750"/>
            </a:avLst>
          </a:prstGeom>
          <a:solidFill>
            <a:srgbClr val="E7F2EA"/>
          </a:solidFill>
          <a:ln w="12700">
            <a:solidFill>
              <a:srgbClr val="D6E3DA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7635240" y="4681728"/>
            <a:ext cx="384048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6653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ΣW = 80 · ΣC = 65.52 → P_norm = 81.9</a:t>
            </a:r>
            <a:endParaRPr lang="en-US" sz="1100" dirty="0"/>
          </a:p>
        </p:txBody>
      </p:sp>
      <p:sp>
        <p:nvSpPr>
          <p:cNvPr id="69" name="Text 67"/>
          <p:cNvSpPr/>
          <p:nvPr/>
        </p:nvSpPr>
        <p:spPr>
          <a:xfrm>
            <a:off x="7635240" y="5029200"/>
            <a:ext cx="38404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C6B6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管护 M = 100（集中）　人工 E = 100（好）</a:t>
            </a:r>
            <a:endParaRPr lang="en-US" sz="1050" dirty="0"/>
          </a:p>
        </p:txBody>
      </p:sp>
      <p:sp>
        <p:nvSpPr>
          <p:cNvPr id="70" name="Shape 68"/>
          <p:cNvSpPr/>
          <p:nvPr/>
        </p:nvSpPr>
        <p:spPr>
          <a:xfrm>
            <a:off x="7635240" y="5321808"/>
            <a:ext cx="3840480" cy="713232"/>
          </a:xfrm>
          <a:prstGeom prst="roundRect">
            <a:avLst>
              <a:gd name="adj" fmla="val 10256"/>
            </a:avLst>
          </a:prstGeom>
          <a:solidFill>
            <a:srgbClr val="14532D"/>
          </a:solidFill>
          <a:effectLst>
            <a:outerShdw blurRad="2147483647" dist="2147483647" dir="1" algn="bl" rotWithShape="0">
              <a:srgbClr val="1B4633">
                <a:alpha val="2"/>
              </a:srgbClr>
            </a:outerShdw>
          </a:effectLst>
        </p:spPr>
      </p:sp>
      <p:sp>
        <p:nvSpPr>
          <p:cNvPr id="71" name="Text 69"/>
          <p:cNvSpPr/>
          <p:nvPr/>
        </p:nvSpPr>
        <p:spPr>
          <a:xfrm>
            <a:off x="7635240" y="5321808"/>
            <a:ext cx="3840480" cy="713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DCEBE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H = 0.8×81.9 + 0.1×100 + 0.1×100 = 85.5 分
</a:t>
            </a:r>
            <a:r>
              <a:rPr lang="en-US" sz="13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→ 健康等级【优良】</a:t>
            </a:r>
            <a:endParaRPr lang="en-US" sz="1150" dirty="0"/>
          </a:p>
        </p:txBody>
      </p:sp>
      <p:sp>
        <p:nvSpPr>
          <p:cNvPr id="72" name="Text 70"/>
          <p:cNvSpPr/>
          <p:nvPr/>
        </p:nvSpPr>
        <p:spPr>
          <a:xfrm>
            <a:off x="502920" y="6446520"/>
            <a:ext cx="822960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C6B6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总分式拆解：H → 部件（12部件权重×得分归一化）＋ 管护 ＋ 人工 —— 每一步都可复核</a:t>
            </a:r>
            <a:endParaRPr lang="en-US" sz="1100" dirty="0"/>
          </a:p>
        </p:txBody>
      </p:sp>
      <p:sp>
        <p:nvSpPr>
          <p:cNvPr id="73" name="Text 71"/>
          <p:cNvSpPr/>
          <p:nvPr/>
        </p:nvSpPr>
        <p:spPr>
          <a:xfrm>
            <a:off x="8686800" y="6446520"/>
            <a:ext cx="301752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C6B6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宜昌市烟草专卖局（公司）</a:t>
            </a:r>
            <a:endParaRPr lang="en-US" sz="1100" dirty="0"/>
          </a:p>
        </p:txBody>
      </p:sp>
      <p:sp>
        <p:nvSpPr>
          <p:cNvPr id="74" name="Watermark"/>
          <p:cNvSpPr txBox="1"/>
          <p:nvPr/>
        </p:nvSpPr>
        <p:spPr>
          <a:xfrm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90204"/>
                <a:ea typeface="宋体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90204"/>
              <a:ea typeface="宋体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502920" y="502920"/>
            <a:ext cx="1737360" cy="475488"/>
          </a:xfrm>
          <a:prstGeom prst="roundRect">
            <a:avLst>
              <a:gd name="adj" fmla="val 50000"/>
            </a:avLst>
          </a:prstGeom>
          <a:solidFill>
            <a:srgbClr val="14532D"/>
          </a:solidFill>
          <a:effectLst>
            <a:outerShdw blurRad="2147483647" dist="2147483647" dir="7" algn="bl" rotWithShape="0">
              <a:srgbClr val="1B4633">
                <a:alpha val="2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502920" y="502920"/>
            <a:ext cx="173736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模型 ①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2487168" y="365760"/>
            <a:ext cx="905256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430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烤房健康评估 —— 预警层级与公共方法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2505456" y="1115568"/>
            <a:ext cx="91440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C6B6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健康分定“当前状态·该修哪”，并输出风险部位排序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02920" y="1554480"/>
            <a:ext cx="6720840" cy="4709160"/>
          </a:xfrm>
          <a:prstGeom prst="roundRect">
            <a:avLst>
              <a:gd name="adj" fmla="val 2718"/>
            </a:avLst>
          </a:prstGeom>
          <a:solidFill>
            <a:srgbClr val="FFFFFF"/>
          </a:solidFill>
          <a:ln w="12700">
            <a:solidFill>
              <a:srgbClr val="D6E3DA"/>
            </a:solidFill>
            <a:prstDash val="solid"/>
          </a:ln>
          <a:effectLst>
            <a:outerShdw blurRad="2147483647" dist="2147483647" dir="4" algn="bl" rotWithShape="0">
              <a:srgbClr val="1B4633">
                <a:alpha val="2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77240" y="1737360"/>
            <a:ext cx="61264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653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① 健康分 · 五级分档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777240" y="2157984"/>
            <a:ext cx="1152144" cy="713232"/>
          </a:xfrm>
          <a:prstGeom prst="roundRect">
            <a:avLst>
              <a:gd name="adj" fmla="val 10256"/>
            </a:avLst>
          </a:prstGeom>
          <a:solidFill>
            <a:srgbClr val="2E8B6A"/>
          </a:solidFill>
          <a:effectLst>
            <a:outerShdw blurRad="2147483647" dist="2147483647" dir="2" algn="bl" rotWithShape="0">
              <a:srgbClr val="1B4633">
                <a:alpha val="2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777240" y="2194560"/>
            <a:ext cx="1152144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优良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777240" y="2542032"/>
            <a:ext cx="1152144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0F7F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85-100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029968" y="2157984"/>
            <a:ext cx="1152144" cy="713232"/>
          </a:xfrm>
          <a:prstGeom prst="roundRect">
            <a:avLst>
              <a:gd name="adj" fmla="val 10256"/>
            </a:avLst>
          </a:prstGeom>
          <a:solidFill>
            <a:srgbClr val="5FB292"/>
          </a:solidFill>
          <a:effectLst>
            <a:outerShdw blurRad="2147483647" dist="2147483647" dir="1" algn="bl" rotWithShape="0">
              <a:srgbClr val="1B4633">
                <a:alpha val="2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029968" y="2194560"/>
            <a:ext cx="1152144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良好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2029968" y="2542032"/>
            <a:ext cx="1152144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0F7F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70-85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282696" y="2157984"/>
            <a:ext cx="1152144" cy="713232"/>
          </a:xfrm>
          <a:prstGeom prst="roundRect">
            <a:avLst>
              <a:gd name="adj" fmla="val 10256"/>
            </a:avLst>
          </a:prstGeom>
          <a:solidFill>
            <a:srgbClr val="F39C12"/>
          </a:solidFill>
          <a:effectLst>
            <a:outerShdw blurRad="2147483647" dist="2147483647" dir="9" algn="bl" rotWithShape="0">
              <a:srgbClr val="1B4633">
                <a:alpha val="2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282696" y="2194560"/>
            <a:ext cx="1152144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一般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3282696" y="2542032"/>
            <a:ext cx="1152144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0F7F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60-70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35424" y="2157984"/>
            <a:ext cx="1152144" cy="713232"/>
          </a:xfrm>
          <a:prstGeom prst="roundRect">
            <a:avLst>
              <a:gd name="adj" fmla="val 10256"/>
            </a:avLst>
          </a:prstGeom>
          <a:solidFill>
            <a:srgbClr val="C77E1B"/>
          </a:solidFill>
          <a:effectLst>
            <a:outerShdw blurRad="2147483647" dist="2147483647" dir="5" algn="bl" rotWithShape="0">
              <a:srgbClr val="1B4633">
                <a:alpha val="2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535424" y="2194560"/>
            <a:ext cx="1152144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预警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4535424" y="2542032"/>
            <a:ext cx="1152144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0F7F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45-60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788152" y="2157984"/>
            <a:ext cx="1152144" cy="713232"/>
          </a:xfrm>
          <a:prstGeom prst="roundRect">
            <a:avLst>
              <a:gd name="adj" fmla="val 10256"/>
            </a:avLst>
          </a:prstGeom>
          <a:solidFill>
            <a:srgbClr val="B23A24"/>
          </a:solidFill>
          <a:effectLst>
            <a:outerShdw blurRad="2147483647" dist="2147483647" dir="3" algn="bl" rotWithShape="0">
              <a:srgbClr val="1B4633">
                <a:alpha val="2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788152" y="2194560"/>
            <a:ext cx="1152144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危险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5788152" y="2542032"/>
            <a:ext cx="1152144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0F7F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&lt;45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777240" y="2980944"/>
            <a:ext cx="612648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C6B6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导出：风险部位 Top3（谁最拖累健康分）　·　健康分直供“剩余寿命”模型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777240" y="3401568"/>
            <a:ext cx="6126480" cy="18288"/>
          </a:xfrm>
          <a:prstGeom prst="rect">
            <a:avLst/>
          </a:prstGeom>
          <a:solidFill>
            <a:srgbClr val="D6E3DA"/>
          </a:solidFill>
        </p:spPr>
      </p:sp>
      <p:sp>
        <p:nvSpPr>
          <p:cNvPr id="26" name="Text 24"/>
          <p:cNvSpPr/>
          <p:nvPr/>
        </p:nvSpPr>
        <p:spPr>
          <a:xfrm>
            <a:off x="777240" y="3511296"/>
            <a:ext cx="61264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653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② 三大系数（单部件得分公式）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777240" y="3950208"/>
            <a:ext cx="6126480" cy="457200"/>
          </a:xfrm>
          <a:prstGeom prst="roundRect">
            <a:avLst>
              <a:gd name="adj" fmla="val 16000"/>
            </a:avLst>
          </a:prstGeom>
          <a:solidFill>
            <a:srgbClr val="E7F2EA"/>
          </a:solidFill>
          <a:ln w="12700">
            <a:solidFill>
              <a:srgbClr val="D6E3D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14400" y="3950208"/>
            <a:ext cx="16916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653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0.50 状态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2651760" y="3950208"/>
            <a:ext cx="41605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430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正常1.0 · 异常0.7 · 损坏0.3 · 缺失0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777240" y="4498848"/>
            <a:ext cx="6126480" cy="457200"/>
          </a:xfrm>
          <a:prstGeom prst="roundRect">
            <a:avLst>
              <a:gd name="adj" fmla="val 16000"/>
            </a:avLst>
          </a:prstGeom>
          <a:solidFill>
            <a:srgbClr val="E7F2EA"/>
          </a:solidFill>
          <a:ln w="12700">
            <a:solidFill>
              <a:srgbClr val="D6E3D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14400" y="4498848"/>
            <a:ext cx="16916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653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0.35 寿命比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2651760" y="4498848"/>
            <a:ext cx="41605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430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剩余年限 / 指导寿命（对接寿命模型）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777240" y="5047488"/>
            <a:ext cx="6126480" cy="457200"/>
          </a:xfrm>
          <a:prstGeom prst="roundRect">
            <a:avLst>
              <a:gd name="adj" fmla="val 16000"/>
            </a:avLst>
          </a:prstGeom>
          <a:solidFill>
            <a:srgbClr val="E7F2EA"/>
          </a:solidFill>
          <a:ln w="12700">
            <a:solidFill>
              <a:srgbClr val="D6E3D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14400" y="5047488"/>
            <a:ext cx="16916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653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0.15 评价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2651760" y="5047488"/>
            <a:ext cx="41605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430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优良/好1.0 · 差0.5 · 缺省0.8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777240" y="5614416"/>
            <a:ext cx="612648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430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得分权重：A类结构性(主体25) 定生死　＋　B类功能性(55) 定质量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777240" y="5943600"/>
            <a:ext cx="6126480" cy="256032"/>
          </a:xfrm>
          <a:prstGeom prst="roundRect">
            <a:avLst>
              <a:gd name="adj" fmla="val 21429"/>
            </a:avLst>
          </a:prstGeom>
          <a:solidFill>
            <a:srgbClr val="FFFFFF"/>
          </a:solidFill>
          <a:ln w="12700">
            <a:solidFill>
              <a:srgbClr val="D6E3D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77240" y="5943600"/>
            <a:ext cx="61264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C6B6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分数越高越健康：A/B类部件得分统一量纲，跨栋可比较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7406640" y="1554480"/>
            <a:ext cx="4279392" cy="4709160"/>
          </a:xfrm>
          <a:prstGeom prst="roundRect">
            <a:avLst>
              <a:gd name="adj" fmla="val 2991"/>
            </a:avLst>
          </a:prstGeom>
          <a:solidFill>
            <a:srgbClr val="FFFFFF"/>
          </a:solidFill>
          <a:ln w="12700">
            <a:solidFill>
              <a:srgbClr val="D6E3DA"/>
            </a:solidFill>
            <a:prstDash val="solid"/>
          </a:ln>
          <a:effectLst>
            <a:outerShdw blurRad="2147483647" dist="2147483647" dir="2" algn="bl" rotWithShape="0">
              <a:srgbClr val="1B4633">
                <a:alpha val="2"/>
              </a:srgbClr>
            </a:outerShdw>
          </a:effectLst>
        </p:spPr>
      </p:sp>
      <p:sp>
        <p:nvSpPr>
          <p:cNvPr id="40" name="Text 38"/>
          <p:cNvSpPr/>
          <p:nvPr/>
        </p:nvSpPr>
        <p:spPr>
          <a:xfrm>
            <a:off x="7635240" y="1737360"/>
            <a:ext cx="384048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6653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公共方法</a:t>
            </a:r>
            <a:endParaRPr lang="en-US" sz="1700" dirty="0"/>
          </a:p>
        </p:txBody>
      </p:sp>
      <p:sp>
        <p:nvSpPr>
          <p:cNvPr id="41" name="Shape 39"/>
          <p:cNvSpPr/>
          <p:nvPr/>
        </p:nvSpPr>
        <p:spPr>
          <a:xfrm>
            <a:off x="7635240" y="2231136"/>
            <a:ext cx="3840480" cy="914400"/>
          </a:xfrm>
          <a:prstGeom prst="roundRect">
            <a:avLst>
              <a:gd name="adj" fmla="val 10000"/>
            </a:avLst>
          </a:prstGeom>
          <a:solidFill>
            <a:srgbClr val="E7F2EA"/>
          </a:solidFill>
          <a:ln w="12700">
            <a:solidFill>
              <a:srgbClr val="D6E3DA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7635240" y="2231136"/>
            <a:ext cx="91440" cy="914400"/>
          </a:xfrm>
          <a:prstGeom prst="rect">
            <a:avLst/>
          </a:prstGeom>
          <a:solidFill>
            <a:srgbClr val="C77E1B"/>
          </a:solidFill>
        </p:spPr>
      </p:sp>
      <p:sp>
        <p:nvSpPr>
          <p:cNvPr id="43" name="Text 41"/>
          <p:cNvSpPr/>
          <p:nvPr/>
        </p:nvSpPr>
        <p:spPr>
          <a:xfrm>
            <a:off x="7863840" y="2322576"/>
            <a:ext cx="347472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653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A/B 双类加权</a:t>
            </a:r>
            <a:endParaRPr lang="en-US" sz="1400" dirty="0"/>
          </a:p>
        </p:txBody>
      </p:sp>
      <p:sp>
        <p:nvSpPr>
          <p:cNvPr id="44" name="Text 42"/>
          <p:cNvSpPr/>
          <p:nvPr/>
        </p:nvSpPr>
        <p:spPr>
          <a:xfrm>
            <a:off x="7863840" y="2651760"/>
            <a:ext cx="347472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rgbClr val="5C6B6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A类结构性25 · 定生死；B类功能性55 · 定质量；ΣW=80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7635240" y="3273552"/>
            <a:ext cx="3840480" cy="914400"/>
          </a:xfrm>
          <a:prstGeom prst="roundRect">
            <a:avLst>
              <a:gd name="adj" fmla="val 10000"/>
            </a:avLst>
          </a:prstGeom>
          <a:solidFill>
            <a:srgbClr val="E7F2EA"/>
          </a:solidFill>
          <a:ln w="12700">
            <a:solidFill>
              <a:srgbClr val="D6E3DA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7635240" y="3273552"/>
            <a:ext cx="91440" cy="914400"/>
          </a:xfrm>
          <a:prstGeom prst="rect">
            <a:avLst/>
          </a:prstGeom>
          <a:solidFill>
            <a:srgbClr val="C77E1B"/>
          </a:solidFill>
        </p:spPr>
      </p:sp>
      <p:sp>
        <p:nvSpPr>
          <p:cNvPr id="47" name="Text 45"/>
          <p:cNvSpPr/>
          <p:nvPr/>
        </p:nvSpPr>
        <p:spPr>
          <a:xfrm>
            <a:off x="7863840" y="3364992"/>
            <a:ext cx="347472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653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三系数综合</a:t>
            </a:r>
            <a:endParaRPr lang="en-US" sz="1400" dirty="0"/>
          </a:p>
        </p:txBody>
      </p:sp>
      <p:sp>
        <p:nvSpPr>
          <p:cNvPr id="48" name="Text 46"/>
          <p:cNvSpPr/>
          <p:nvPr/>
        </p:nvSpPr>
        <p:spPr>
          <a:xfrm>
            <a:off x="7863840" y="3694176"/>
            <a:ext cx="347472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rgbClr val="5C6B6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score = 100×(0.50状态 + 0.35寿命比 + 0.15评价)</a:t>
            </a:r>
            <a:endParaRPr lang="en-US" sz="1050" dirty="0"/>
          </a:p>
        </p:txBody>
      </p:sp>
      <p:sp>
        <p:nvSpPr>
          <p:cNvPr id="49" name="Shape 47"/>
          <p:cNvSpPr/>
          <p:nvPr/>
        </p:nvSpPr>
        <p:spPr>
          <a:xfrm>
            <a:off x="7635240" y="4315968"/>
            <a:ext cx="3840480" cy="914400"/>
          </a:xfrm>
          <a:prstGeom prst="roundRect">
            <a:avLst>
              <a:gd name="adj" fmla="val 10000"/>
            </a:avLst>
          </a:prstGeom>
          <a:solidFill>
            <a:srgbClr val="E7F2EA"/>
          </a:solidFill>
          <a:ln w="12700">
            <a:solidFill>
              <a:srgbClr val="D6E3DA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7635240" y="4315968"/>
            <a:ext cx="91440" cy="914400"/>
          </a:xfrm>
          <a:prstGeom prst="rect">
            <a:avLst/>
          </a:prstGeom>
          <a:solidFill>
            <a:srgbClr val="C77E1B"/>
          </a:solidFill>
        </p:spPr>
      </p:sp>
      <p:sp>
        <p:nvSpPr>
          <p:cNvPr id="51" name="Text 49"/>
          <p:cNvSpPr/>
          <p:nvPr/>
        </p:nvSpPr>
        <p:spPr>
          <a:xfrm>
            <a:off x="7863840" y="4407408"/>
            <a:ext cx="347472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653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归一化加权</a:t>
            </a:r>
            <a:endParaRPr lang="en-US" sz="1400" dirty="0"/>
          </a:p>
        </p:txBody>
      </p:sp>
      <p:sp>
        <p:nvSpPr>
          <p:cNvPr id="52" name="Text 50"/>
          <p:cNvSpPr/>
          <p:nvPr/>
        </p:nvSpPr>
        <p:spPr>
          <a:xfrm>
            <a:off x="7863840" y="4736592"/>
            <a:ext cx="347472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rgbClr val="5C6B6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P_norm = Σ(Wᵢ×scoreᵢ) / ΣWᵢ × 100</a:t>
            </a:r>
            <a:endParaRPr lang="en-US" sz="1050" dirty="0"/>
          </a:p>
        </p:txBody>
      </p:sp>
      <p:sp>
        <p:nvSpPr>
          <p:cNvPr id="53" name="Shape 51"/>
          <p:cNvSpPr/>
          <p:nvPr/>
        </p:nvSpPr>
        <p:spPr>
          <a:xfrm>
            <a:off x="7635240" y="5358384"/>
            <a:ext cx="3840480" cy="914400"/>
          </a:xfrm>
          <a:prstGeom prst="roundRect">
            <a:avLst>
              <a:gd name="adj" fmla="val 10000"/>
            </a:avLst>
          </a:prstGeom>
          <a:solidFill>
            <a:srgbClr val="E7F2EA"/>
          </a:solidFill>
          <a:ln w="12700">
            <a:solidFill>
              <a:srgbClr val="D6E3DA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7635240" y="5358384"/>
            <a:ext cx="91440" cy="914400"/>
          </a:xfrm>
          <a:prstGeom prst="rect">
            <a:avLst/>
          </a:prstGeom>
          <a:solidFill>
            <a:srgbClr val="C77E1B"/>
          </a:solidFill>
        </p:spPr>
      </p:sp>
      <p:sp>
        <p:nvSpPr>
          <p:cNvPr id="55" name="Text 53"/>
          <p:cNvSpPr/>
          <p:nvPr/>
        </p:nvSpPr>
        <p:spPr>
          <a:xfrm>
            <a:off x="7863840" y="5449824"/>
            <a:ext cx="347472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653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全链衔接</a:t>
            </a:r>
            <a:endParaRPr lang="en-US" sz="1400" dirty="0"/>
          </a:p>
        </p:txBody>
      </p:sp>
      <p:sp>
        <p:nvSpPr>
          <p:cNvPr id="56" name="Text 54"/>
          <p:cNvSpPr/>
          <p:nvPr/>
        </p:nvSpPr>
        <p:spPr>
          <a:xfrm>
            <a:off x="7863840" y="5779008"/>
            <a:ext cx="347472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rgbClr val="5C6B6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部件寿命比直供寿命预测；风险Top3指导修复优先序</a:t>
            </a:r>
            <a:endParaRPr lang="en-US" sz="1050" dirty="0"/>
          </a:p>
        </p:txBody>
      </p:sp>
      <p:sp>
        <p:nvSpPr>
          <p:cNvPr id="57" name="Text 55"/>
          <p:cNvSpPr/>
          <p:nvPr/>
        </p:nvSpPr>
        <p:spPr>
          <a:xfrm>
            <a:off x="502920" y="6446520"/>
            <a:ext cx="822960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C6B6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专家权重表 + 三系数合成 + 归一化 —— 保证可解释、可复核、可衔接寿命模型</a:t>
            </a:r>
            <a:endParaRPr lang="en-US" sz="1100" dirty="0"/>
          </a:p>
        </p:txBody>
      </p:sp>
      <p:sp>
        <p:nvSpPr>
          <p:cNvPr id="58" name="Text 56"/>
          <p:cNvSpPr/>
          <p:nvPr/>
        </p:nvSpPr>
        <p:spPr>
          <a:xfrm>
            <a:off x="8686800" y="6446520"/>
            <a:ext cx="301752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C6B6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宜昌市烟草专卖局（公司）</a:t>
            </a:r>
            <a:endParaRPr lang="en-US" sz="1100" dirty="0"/>
          </a:p>
        </p:txBody>
      </p:sp>
      <p:sp>
        <p:nvSpPr>
          <p:cNvPr id="59" name="Watermark"/>
          <p:cNvSpPr txBox="1"/>
          <p:nvPr/>
        </p:nvSpPr>
        <p:spPr>
          <a:xfrm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90204"/>
                <a:ea typeface="宋体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90204"/>
              <a:ea typeface="宋体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502920" y="502920"/>
            <a:ext cx="1737360" cy="475488"/>
          </a:xfrm>
          <a:prstGeom prst="roundRect">
            <a:avLst>
              <a:gd name="adj" fmla="val 50000"/>
            </a:avLst>
          </a:prstGeom>
          <a:solidFill>
            <a:srgbClr val="14532D"/>
          </a:solidFill>
          <a:effectLst>
            <a:outerShdw blurRad="2147483647" dist="2147483647" dir="1" algn="bl" rotWithShape="0">
              <a:srgbClr val="1B4633">
                <a:alpha val="2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502920" y="502920"/>
            <a:ext cx="173736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模型 ②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2487168" y="365760"/>
            <a:ext cx="905256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430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剩余寿命预测 —— 五层递进与单栋算例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2505456" y="1115568"/>
            <a:ext cx="91440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C6B6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左：五层递进公式树（怎么算）　右：老房保养算例（维修续命·不能回春）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02920" y="1554480"/>
            <a:ext cx="6720840" cy="4709160"/>
          </a:xfrm>
          <a:prstGeom prst="roundRect">
            <a:avLst>
              <a:gd name="adj" fmla="val 2718"/>
            </a:avLst>
          </a:prstGeom>
          <a:solidFill>
            <a:srgbClr val="FFFFFF"/>
          </a:solidFill>
          <a:ln w="12700">
            <a:solidFill>
              <a:srgbClr val="D6E3DA"/>
            </a:solidFill>
            <a:prstDash val="solid"/>
          </a:ln>
          <a:effectLst>
            <a:outerShdw blurRad="2147483647" dist="2147483647" dir="7" algn="bl" rotWithShape="0">
              <a:srgbClr val="1B4633">
                <a:alpha val="2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77240" y="1609344"/>
            <a:ext cx="6172200" cy="640080"/>
          </a:xfrm>
          <a:prstGeom prst="roundRect">
            <a:avLst>
              <a:gd name="adj" fmla="val 11429"/>
            </a:avLst>
          </a:prstGeom>
          <a:solidFill>
            <a:srgbClr val="14532D"/>
          </a:solidFill>
          <a:effectLst>
            <a:outerShdw blurRad="2147483647" dist="2147483647" dir="4" algn="bl" rotWithShape="0">
              <a:srgbClr val="1B4633">
                <a:alpha val="2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777240" y="1609344"/>
            <a:ext cx="61722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life = clamp( life_raw , 0, year_cap )</a:t>
            </a:r>
            <a:endParaRPr lang="en-US" sz="1900" dirty="0"/>
          </a:p>
        </p:txBody>
      </p:sp>
      <p:sp>
        <p:nvSpPr>
          <p:cNvPr id="10" name="Shape 8"/>
          <p:cNvSpPr/>
          <p:nvPr/>
        </p:nvSpPr>
        <p:spPr>
          <a:xfrm>
            <a:off x="3858768" y="2267712"/>
            <a:ext cx="10973" cy="109728"/>
          </a:xfrm>
          <a:prstGeom prst="line">
            <a:avLst/>
          </a:prstGeom>
          <a:noFill/>
          <a:ln w="17780">
            <a:solidFill>
              <a:srgbClr val="6B8F7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77240" y="2377440"/>
            <a:ext cx="6172200" cy="420624"/>
          </a:xfrm>
          <a:prstGeom prst="roundRect">
            <a:avLst>
              <a:gd name="adj" fmla="val 13043"/>
            </a:avLst>
          </a:prstGeom>
          <a:solidFill>
            <a:srgbClr val="2E8B6A"/>
          </a:solidFill>
        </p:spPr>
      </p:sp>
      <p:sp>
        <p:nvSpPr>
          <p:cNvPr id="12" name="Text 10"/>
          <p:cNvSpPr/>
          <p:nvPr/>
        </p:nvSpPr>
        <p:spPr>
          <a:xfrm>
            <a:off x="868680" y="2377440"/>
            <a:ext cx="5989320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life_raw = ( hard_limit×0.65 + soft_avg×0.35 ) × repair_decay × health_factor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777240" y="2926080"/>
            <a:ext cx="617220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D6E3D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77240" y="2926080"/>
            <a:ext cx="109728" cy="566928"/>
          </a:xfrm>
          <a:prstGeom prst="rect">
            <a:avLst/>
          </a:prstGeom>
          <a:solidFill>
            <a:srgbClr val="B23A24"/>
          </a:solidFill>
        </p:spPr>
      </p:sp>
      <p:sp>
        <p:nvSpPr>
          <p:cNvPr id="15" name="Text 13"/>
          <p:cNvSpPr/>
          <p:nvPr/>
        </p:nvSpPr>
        <p:spPr>
          <a:xfrm>
            <a:off x="1005840" y="2926080"/>
            <a:ext cx="182880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653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A类硬上限　</a:t>
            </a:r>
            <a:r>
              <a:rPr lang="en-US" sz="1100" b="1" dirty="0">
                <a:solidFill>
                  <a:srgbClr val="B23A2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×0.65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834640" y="2926080"/>
            <a:ext cx="274320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430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hard_limit = min(屋顶, 大门, 挂烟梁)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577840" y="2926080"/>
            <a:ext cx="132588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C6B6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结构性 · 定“生死上限”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777240" y="3602736"/>
            <a:ext cx="617220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D6E3D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77240" y="3602736"/>
            <a:ext cx="109728" cy="566928"/>
          </a:xfrm>
          <a:prstGeom prst="rect">
            <a:avLst/>
          </a:prstGeom>
          <a:solidFill>
            <a:srgbClr val="2E8B6A"/>
          </a:solidFill>
        </p:spPr>
      </p:sp>
      <p:sp>
        <p:nvSpPr>
          <p:cNvPr id="20" name="Text 18"/>
          <p:cNvSpPr/>
          <p:nvPr/>
        </p:nvSpPr>
        <p:spPr>
          <a:xfrm>
            <a:off x="1005840" y="3602736"/>
            <a:ext cx="182880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653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B类软平均　</a:t>
            </a:r>
            <a:r>
              <a:rPr lang="en-US" sz="1100" b="1" dirty="0">
                <a:solidFill>
                  <a:srgbClr val="2E8B6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×0.35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2834640" y="3602736"/>
            <a:ext cx="274320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430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soft_avg = Σ(B类寿命×重要度)/Σ重要度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5577840" y="3602736"/>
            <a:ext cx="132588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C6B6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功能性 · 定“运行质量”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777240" y="4279392"/>
            <a:ext cx="617220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D6E3D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77240" y="4279392"/>
            <a:ext cx="109728" cy="566928"/>
          </a:xfrm>
          <a:prstGeom prst="rect">
            <a:avLst/>
          </a:prstGeom>
          <a:solidFill>
            <a:srgbClr val="C77E1B"/>
          </a:solidFill>
        </p:spPr>
      </p:sp>
      <p:sp>
        <p:nvSpPr>
          <p:cNvPr id="25" name="Text 23"/>
          <p:cNvSpPr/>
          <p:nvPr/>
        </p:nvSpPr>
        <p:spPr>
          <a:xfrm>
            <a:off x="1005840" y="4279392"/>
            <a:ext cx="182880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653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维修复衰　</a:t>
            </a:r>
            <a:r>
              <a:rPr lang="en-US" sz="1100" b="1" dirty="0">
                <a:solidFill>
                  <a:srgbClr val="C77E1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递减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2834640" y="4279392"/>
            <a:ext cx="274320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430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repair_decay = e^(−0.08×维修次数)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5577840" y="4279392"/>
            <a:ext cx="132588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C6B6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修1次0.92 · 修3次0.79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777240" y="4956048"/>
            <a:ext cx="617220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D6E3D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77240" y="4956048"/>
            <a:ext cx="109728" cy="566928"/>
          </a:xfrm>
          <a:prstGeom prst="rect">
            <a:avLst/>
          </a:prstGeom>
          <a:solidFill>
            <a:srgbClr val="C77E1B"/>
          </a:solidFill>
        </p:spPr>
      </p:sp>
      <p:sp>
        <p:nvSpPr>
          <p:cNvPr id="30" name="Text 28"/>
          <p:cNvSpPr/>
          <p:nvPr/>
        </p:nvSpPr>
        <p:spPr>
          <a:xfrm>
            <a:off x="1005840" y="4956048"/>
            <a:ext cx="182880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653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健康校准　</a:t>
            </a:r>
            <a:r>
              <a:rPr lang="en-US" sz="1100" b="1" dirty="0">
                <a:solidFill>
                  <a:srgbClr val="C77E1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加速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2834640" y="4956048"/>
            <a:ext cx="274320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430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health_factor = 0.70 + 0.30×(H/100)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5577840" y="4956048"/>
            <a:ext cx="132588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C6B6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H=100→1.00 · H=40→0.82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777240" y="5669280"/>
            <a:ext cx="6172200" cy="493776"/>
          </a:xfrm>
          <a:prstGeom prst="roundRect">
            <a:avLst>
              <a:gd name="adj" fmla="val 14815"/>
            </a:avLst>
          </a:prstGeom>
          <a:solidFill>
            <a:srgbClr val="C77E1B"/>
          </a:solidFill>
          <a:effectLst>
            <a:outerShdw blurRad="2147483647" dist="2147483647" dir="2" algn="bl" rotWithShape="0">
              <a:srgbClr val="1B4633">
                <a:alpha val="2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777240" y="5669280"/>
            <a:ext cx="6172200" cy="49377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L5 年限收缩 + 钳制：year_cap = max(0, 15−房龄×0.55)，老房不虚高</a:t>
            </a:r>
            <a:endParaRPr lang="en-US" sz="1250" dirty="0"/>
          </a:p>
        </p:txBody>
      </p:sp>
      <p:sp>
        <p:nvSpPr>
          <p:cNvPr id="35" name="Shape 33"/>
          <p:cNvSpPr/>
          <p:nvPr/>
        </p:nvSpPr>
        <p:spPr>
          <a:xfrm>
            <a:off x="7406640" y="1554480"/>
            <a:ext cx="4279392" cy="4709160"/>
          </a:xfrm>
          <a:prstGeom prst="roundRect">
            <a:avLst>
              <a:gd name="adj" fmla="val 2991"/>
            </a:avLst>
          </a:prstGeom>
          <a:solidFill>
            <a:srgbClr val="FFFFFF"/>
          </a:solidFill>
          <a:ln w="12700">
            <a:solidFill>
              <a:srgbClr val="D6E3DA"/>
            </a:solidFill>
            <a:prstDash val="solid"/>
          </a:ln>
          <a:effectLst>
            <a:outerShdw blurRad="2147483647" dist="2147483647" dir="1" algn="bl" rotWithShape="0">
              <a:srgbClr val="1B4633">
                <a:alpha val="2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7635240" y="1664208"/>
            <a:ext cx="384048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653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单栋算例 · 2009年老房</a:t>
            </a:r>
            <a:r>
              <a:rPr lang="en-US" sz="1000" dirty="0">
                <a:solidFill>
                  <a:srgbClr val="5C6B6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（2022换自控·2024修散热）</a:t>
            </a:r>
            <a:endParaRPr lang="en-US" sz="1400" dirty="0"/>
          </a:p>
        </p:txBody>
      </p:sp>
      <p:sp>
        <p:nvSpPr>
          <p:cNvPr id="37" name="Shape 35"/>
          <p:cNvSpPr/>
          <p:nvPr/>
        </p:nvSpPr>
        <p:spPr>
          <a:xfrm>
            <a:off x="7635240" y="2121408"/>
            <a:ext cx="3840480" cy="4572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D6E3D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772400" y="2121408"/>
            <a:ext cx="12344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6653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A类硬上限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9006840" y="2121408"/>
            <a:ext cx="23774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950" dirty="0">
                <a:solidFill>
                  <a:srgbClr val="1430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hard_limit = 2.5 年（屋顶最弱）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7635240" y="2651760"/>
            <a:ext cx="3840480" cy="4572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D6E3D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772400" y="2651760"/>
            <a:ext cx="12344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6653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B类软平均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9006840" y="2651760"/>
            <a:ext cx="23774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950" dirty="0">
                <a:solidFill>
                  <a:srgbClr val="1430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soft_avg = 5.0 年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7635240" y="3182112"/>
            <a:ext cx="3840480" cy="4572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D6E3DA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772400" y="3182112"/>
            <a:ext cx="12344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6653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维修复衰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9006840" y="3182112"/>
            <a:ext cx="23774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950" dirty="0">
                <a:solidFill>
                  <a:srgbClr val="1430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修2次 → e^(−0.16) = 0.852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7635240" y="3712464"/>
            <a:ext cx="3840480" cy="4572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D6E3DA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7772400" y="3712464"/>
            <a:ext cx="12344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6653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健康校准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9006840" y="3712464"/>
            <a:ext cx="23774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950" dirty="0">
                <a:solidFill>
                  <a:srgbClr val="1430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H=71 → 0.70+0.30×0.71 = 0.913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7635240" y="4242816"/>
            <a:ext cx="3840480" cy="4572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D6E3DA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7772400" y="4242816"/>
            <a:ext cx="12344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6653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life_raw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9006840" y="4242816"/>
            <a:ext cx="23774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950" dirty="0">
                <a:solidFill>
                  <a:srgbClr val="1430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(2.5×0.65+5.0×0.35)×0.852×0.913 = 2.63年</a:t>
            </a:r>
            <a:endParaRPr lang="en-US" sz="950" dirty="0"/>
          </a:p>
        </p:txBody>
      </p:sp>
      <p:sp>
        <p:nvSpPr>
          <p:cNvPr id="52" name="Shape 50"/>
          <p:cNvSpPr/>
          <p:nvPr/>
        </p:nvSpPr>
        <p:spPr>
          <a:xfrm>
            <a:off x="7635240" y="4773168"/>
            <a:ext cx="3840480" cy="4572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D6E3DA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7772400" y="4773168"/>
            <a:ext cx="12344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6653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年限收缩</a:t>
            </a:r>
            <a:endParaRPr lang="en-US" sz="1100" dirty="0"/>
          </a:p>
        </p:txBody>
      </p:sp>
      <p:sp>
        <p:nvSpPr>
          <p:cNvPr id="54" name="Text 52"/>
          <p:cNvSpPr/>
          <p:nvPr/>
        </p:nvSpPr>
        <p:spPr>
          <a:xfrm>
            <a:off x="9006840" y="4773168"/>
            <a:ext cx="23774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950" dirty="0">
                <a:solidFill>
                  <a:srgbClr val="1430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year_cap = 15−17×0.55 = 5.65</a:t>
            </a:r>
            <a:endParaRPr lang="en-US" sz="950" dirty="0"/>
          </a:p>
        </p:txBody>
      </p:sp>
      <p:sp>
        <p:nvSpPr>
          <p:cNvPr id="55" name="Shape 53"/>
          <p:cNvSpPr/>
          <p:nvPr/>
        </p:nvSpPr>
        <p:spPr>
          <a:xfrm>
            <a:off x="7635240" y="5340096"/>
            <a:ext cx="3840480" cy="749808"/>
          </a:xfrm>
          <a:prstGeom prst="roundRect">
            <a:avLst>
              <a:gd name="adj" fmla="val 9756"/>
            </a:avLst>
          </a:prstGeom>
          <a:solidFill>
            <a:srgbClr val="14532D"/>
          </a:solidFill>
          <a:effectLst>
            <a:outerShdw blurRad="2147483647" dist="2147483647" dir="9" algn="bl" rotWithShape="0">
              <a:srgbClr val="1B4633">
                <a:alpha val="2"/>
              </a:srgbClr>
            </a:outerShdw>
          </a:effectLst>
        </p:spPr>
      </p:sp>
      <p:sp>
        <p:nvSpPr>
          <p:cNvPr id="56" name="Text 54"/>
          <p:cNvSpPr/>
          <p:nvPr/>
        </p:nvSpPr>
        <p:spPr>
          <a:xfrm>
            <a:off x="7635240" y="5340096"/>
            <a:ext cx="3840480" cy="7498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DCEBE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life = clamp(2.63, 0, 5.65) = 2.6 年
</a:t>
            </a:r>
            <a:r>
              <a:rPr lang="en-US" sz="13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→ 建议维修（1-4年）</a:t>
            </a:r>
            <a:endParaRPr lang="en-US" sz="1200" dirty="0"/>
          </a:p>
        </p:txBody>
      </p:sp>
      <p:sp>
        <p:nvSpPr>
          <p:cNvPr id="57" name="Text 55"/>
          <p:cNvSpPr/>
          <p:nvPr/>
        </p:nvSpPr>
        <p:spPr>
          <a:xfrm>
            <a:off x="7635240" y="6144768"/>
            <a:ext cx="38404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950" dirty="0">
                <a:solidFill>
                  <a:srgbClr val="B23A2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维修能续命但不能回春：老房即使换了新设备，也被年限收缩约束</a:t>
            </a:r>
            <a:endParaRPr lang="en-US" sz="950" dirty="0"/>
          </a:p>
        </p:txBody>
      </p:sp>
      <p:sp>
        <p:nvSpPr>
          <p:cNvPr id="58" name="Text 56"/>
          <p:cNvSpPr/>
          <p:nvPr/>
        </p:nvSpPr>
        <p:spPr>
          <a:xfrm>
            <a:off x="502920" y="6446520"/>
            <a:ext cx="822960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C6B6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五层递进：硬上限 ＋ 软平均 → 维修 → 健康 → 年限 —— 把“物理老化”算成服务年数</a:t>
            </a:r>
            <a:endParaRPr lang="en-US" sz="1100" dirty="0"/>
          </a:p>
        </p:txBody>
      </p:sp>
      <p:sp>
        <p:nvSpPr>
          <p:cNvPr id="59" name="Text 57"/>
          <p:cNvSpPr/>
          <p:nvPr/>
        </p:nvSpPr>
        <p:spPr>
          <a:xfrm>
            <a:off x="8686800" y="6446520"/>
            <a:ext cx="301752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C6B6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宜昌市烟草专卖局（公司）</a:t>
            </a:r>
            <a:endParaRPr lang="en-US" sz="1100" dirty="0"/>
          </a:p>
        </p:txBody>
      </p:sp>
      <p:sp>
        <p:nvSpPr>
          <p:cNvPr id="60" name="Watermark"/>
          <p:cNvSpPr txBox="1"/>
          <p:nvPr/>
        </p:nvSpPr>
        <p:spPr>
          <a:xfrm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90204"/>
                <a:ea typeface="宋体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90204"/>
              <a:ea typeface="宋体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502920" y="502920"/>
            <a:ext cx="1737360" cy="475488"/>
          </a:xfrm>
          <a:prstGeom prst="roundRect">
            <a:avLst>
              <a:gd name="adj" fmla="val 50000"/>
            </a:avLst>
          </a:prstGeom>
          <a:solidFill>
            <a:srgbClr val="14532D"/>
          </a:solidFill>
          <a:effectLst>
            <a:outerShdw blurRad="2147483647" dist="2147483647" dir="5" algn="bl" rotWithShape="0">
              <a:srgbClr val="1B4633">
                <a:alpha val="2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502920" y="502920"/>
            <a:ext cx="173736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模型 ②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2487168" y="365760"/>
            <a:ext cx="905256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430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剩余寿命预测 —— 四级预警与公共方法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2505456" y="1115568"/>
            <a:ext cx="91440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C6B6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把剩余寿命换算成“多紧急”，直接驱动维修排程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02920" y="1554480"/>
            <a:ext cx="6720840" cy="4709160"/>
          </a:xfrm>
          <a:prstGeom prst="roundRect">
            <a:avLst>
              <a:gd name="adj" fmla="val 2718"/>
            </a:avLst>
          </a:prstGeom>
          <a:solidFill>
            <a:srgbClr val="FFFFFF"/>
          </a:solidFill>
          <a:ln w="12700">
            <a:solidFill>
              <a:srgbClr val="D6E3DA"/>
            </a:solidFill>
            <a:prstDash val="solid"/>
          </a:ln>
          <a:effectLst>
            <a:outerShdw blurRad="2147483647" dist="2147483647" dir="3" algn="bl" rotWithShape="0">
              <a:srgbClr val="1B4633">
                <a:alpha val="2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77240" y="1737360"/>
            <a:ext cx="612648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6653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剩余寿命 · 四级预警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777240" y="2212848"/>
            <a:ext cx="1444752" cy="822960"/>
          </a:xfrm>
          <a:prstGeom prst="roundRect">
            <a:avLst>
              <a:gd name="adj" fmla="val 8889"/>
            </a:avLst>
          </a:prstGeom>
          <a:solidFill>
            <a:srgbClr val="B23A24"/>
          </a:solidFill>
          <a:effectLst>
            <a:outerShdw blurRad="2147483647" dist="2147483647" dir="2" algn="bl" rotWithShape="0">
              <a:srgbClr val="1B4633">
                <a:alpha val="2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777240" y="2249424"/>
            <a:ext cx="1444752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紧急维修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77240" y="2596896"/>
            <a:ext cx="1444752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0F7F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≤0年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77240" y="3054096"/>
            <a:ext cx="1444752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000"/>
              </a:lnSpc>
              <a:buNone/>
            </a:pPr>
            <a:r>
              <a:rPr lang="en-US" sz="850" dirty="0">
                <a:solidFill>
                  <a:srgbClr val="5C6B6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立即处置 · 停用待修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2331720" y="2212848"/>
            <a:ext cx="1444752" cy="822960"/>
          </a:xfrm>
          <a:prstGeom prst="roundRect">
            <a:avLst>
              <a:gd name="adj" fmla="val 8889"/>
            </a:avLst>
          </a:prstGeom>
          <a:solidFill>
            <a:srgbClr val="C77E1B"/>
          </a:solidFill>
          <a:effectLst>
            <a:outerShdw blurRad="2147483647" dist="2147483647" dir="1" algn="bl" rotWithShape="0">
              <a:srgbClr val="1B4633">
                <a:alpha val="2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2331720" y="2249424"/>
            <a:ext cx="1444752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建议维修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331720" y="2596896"/>
            <a:ext cx="1444752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0F7F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1-4年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331720" y="3054096"/>
            <a:ext cx="1444752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000"/>
              </a:lnSpc>
              <a:buNone/>
            </a:pPr>
            <a:r>
              <a:rPr lang="en-US" sz="850" dirty="0">
                <a:solidFill>
                  <a:srgbClr val="5C6B6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纳入当年维修计划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3886200" y="2212848"/>
            <a:ext cx="1444752" cy="822960"/>
          </a:xfrm>
          <a:prstGeom prst="roundRect">
            <a:avLst>
              <a:gd name="adj" fmla="val 8889"/>
            </a:avLst>
          </a:prstGeom>
          <a:solidFill>
            <a:srgbClr val="D99E2B"/>
          </a:solidFill>
          <a:effectLst>
            <a:outerShdw blurRad="2147483647" dist="2147483647" dir="7" algn="bl" rotWithShape="0">
              <a:srgbClr val="1B4633">
                <a:alpha val="2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3886200" y="2249424"/>
            <a:ext cx="1444752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需关注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886200" y="2596896"/>
            <a:ext cx="1444752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0F7F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4-7年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886200" y="3054096"/>
            <a:ext cx="1444752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000"/>
              </a:lnSpc>
              <a:buNone/>
            </a:pPr>
            <a:r>
              <a:rPr lang="en-US" sz="850" dirty="0">
                <a:solidFill>
                  <a:srgbClr val="5C6B6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跟踪监测 · 提前备件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5440680" y="2212848"/>
            <a:ext cx="1444752" cy="822960"/>
          </a:xfrm>
          <a:prstGeom prst="roundRect">
            <a:avLst>
              <a:gd name="adj" fmla="val 8889"/>
            </a:avLst>
          </a:prstGeom>
          <a:solidFill>
            <a:srgbClr val="2E8B6A"/>
          </a:solidFill>
          <a:effectLst>
            <a:outerShdw blurRad="2147483647" dist="2147483647" dir="4" algn="bl" rotWithShape="0">
              <a:srgbClr val="1B4633">
                <a:alpha val="2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440680" y="2249424"/>
            <a:ext cx="1444752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正常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440680" y="2596896"/>
            <a:ext cx="1444752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0F7F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&gt;7年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440680" y="3054096"/>
            <a:ext cx="1444752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000"/>
              </a:lnSpc>
              <a:buNone/>
            </a:pPr>
            <a:r>
              <a:rPr lang="en-US" sz="850" dirty="0">
                <a:solidFill>
                  <a:srgbClr val="5C6B6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按周期巡检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777240" y="3474720"/>
            <a:ext cx="6126480" cy="18288"/>
          </a:xfrm>
          <a:prstGeom prst="rect">
            <a:avLst/>
          </a:prstGeom>
          <a:solidFill>
            <a:srgbClr val="D6E3DA"/>
          </a:solidFill>
        </p:spPr>
      </p:sp>
      <p:sp>
        <p:nvSpPr>
          <p:cNvPr id="26" name="Text 24"/>
          <p:cNvSpPr/>
          <p:nvPr/>
        </p:nvSpPr>
        <p:spPr>
          <a:xfrm>
            <a:off x="777240" y="3657600"/>
            <a:ext cx="61264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653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A/B 双类语义：A类结构性定“生死上限”、B类功能性定“运行质量”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777240" y="4023360"/>
            <a:ext cx="612648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C6B6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屋顶/大门/挂烟梁 任一生质量损坏 → 整栋报废（硬上限接管寿命）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777240" y="4572000"/>
            <a:ext cx="6126480" cy="914400"/>
          </a:xfrm>
          <a:prstGeom prst="roundRect">
            <a:avLst>
              <a:gd name="adj" fmla="val 10000"/>
            </a:avLst>
          </a:prstGeom>
          <a:solidFill>
            <a:srgbClr val="E7F2EA"/>
          </a:solidFill>
          <a:ln w="12700">
            <a:solidFill>
              <a:srgbClr val="D6E3D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60120" y="4663440"/>
            <a:ext cx="576072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653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输出：剩余年数 + 风险部位 Top3 + 预警等级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960120" y="5010912"/>
            <a:ext cx="576072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C6B6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“修哪里、何时修、多急” → 智投·抢修排程，让维修台账与寿命联动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7406640" y="1554480"/>
            <a:ext cx="4279392" cy="4709160"/>
          </a:xfrm>
          <a:prstGeom prst="roundRect">
            <a:avLst>
              <a:gd name="adj" fmla="val 2991"/>
            </a:avLst>
          </a:prstGeom>
          <a:solidFill>
            <a:srgbClr val="FFFFFF"/>
          </a:solidFill>
          <a:ln w="12700">
            <a:solidFill>
              <a:srgbClr val="D6E3DA"/>
            </a:solidFill>
            <a:prstDash val="solid"/>
          </a:ln>
          <a:effectLst>
            <a:outerShdw blurRad="2147483647" dist="2147483647" dir="2" algn="bl" rotWithShape="0">
              <a:srgbClr val="1B4633">
                <a:alpha val="2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7635240" y="1737360"/>
            <a:ext cx="384048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6653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公共方法</a:t>
            </a:r>
            <a:endParaRPr lang="en-US" sz="1700" dirty="0"/>
          </a:p>
        </p:txBody>
      </p:sp>
      <p:sp>
        <p:nvSpPr>
          <p:cNvPr id="33" name="Shape 31"/>
          <p:cNvSpPr/>
          <p:nvPr/>
        </p:nvSpPr>
        <p:spPr>
          <a:xfrm>
            <a:off x="7635240" y="2231136"/>
            <a:ext cx="3840480" cy="914400"/>
          </a:xfrm>
          <a:prstGeom prst="roundRect">
            <a:avLst>
              <a:gd name="adj" fmla="val 10000"/>
            </a:avLst>
          </a:prstGeom>
          <a:solidFill>
            <a:srgbClr val="E7F2EA"/>
          </a:solidFill>
          <a:ln w="12700">
            <a:solidFill>
              <a:srgbClr val="D6E3DA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7635240" y="2231136"/>
            <a:ext cx="91440" cy="914400"/>
          </a:xfrm>
          <a:prstGeom prst="rect">
            <a:avLst/>
          </a:prstGeom>
          <a:solidFill>
            <a:srgbClr val="C77E1B"/>
          </a:solidFill>
        </p:spPr>
      </p:sp>
      <p:sp>
        <p:nvSpPr>
          <p:cNvPr id="35" name="Text 33"/>
          <p:cNvSpPr/>
          <p:nvPr/>
        </p:nvSpPr>
        <p:spPr>
          <a:xfrm>
            <a:off x="7863840" y="2322576"/>
            <a:ext cx="347472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653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短板约束 min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7863840" y="2651760"/>
            <a:ext cx="347472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rgbClr val="5C6B6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A类取最短寿命为“硬上限”，唯一决定能否续命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7635240" y="3273552"/>
            <a:ext cx="3840480" cy="914400"/>
          </a:xfrm>
          <a:prstGeom prst="roundRect">
            <a:avLst>
              <a:gd name="adj" fmla="val 10000"/>
            </a:avLst>
          </a:prstGeom>
          <a:solidFill>
            <a:srgbClr val="E7F2EA"/>
          </a:solidFill>
          <a:ln w="12700">
            <a:solidFill>
              <a:srgbClr val="D6E3DA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635240" y="3273552"/>
            <a:ext cx="91440" cy="914400"/>
          </a:xfrm>
          <a:prstGeom prst="rect">
            <a:avLst/>
          </a:prstGeom>
          <a:solidFill>
            <a:srgbClr val="C77E1B"/>
          </a:solidFill>
        </p:spPr>
      </p:sp>
      <p:sp>
        <p:nvSpPr>
          <p:cNvPr id="39" name="Text 37"/>
          <p:cNvSpPr/>
          <p:nvPr/>
        </p:nvSpPr>
        <p:spPr>
          <a:xfrm>
            <a:off x="7863840" y="3364992"/>
            <a:ext cx="347472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653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重要度加权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7863840" y="3694176"/>
            <a:ext cx="347472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rgbClr val="5C6B6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B类按重要度系数（自控1.25~风机1.00）加权平均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7635240" y="4315968"/>
            <a:ext cx="3840480" cy="914400"/>
          </a:xfrm>
          <a:prstGeom prst="roundRect">
            <a:avLst>
              <a:gd name="adj" fmla="val 10000"/>
            </a:avLst>
          </a:prstGeom>
          <a:solidFill>
            <a:srgbClr val="E7F2EA"/>
          </a:solidFill>
          <a:ln w="12700">
            <a:solidFill>
              <a:srgbClr val="D6E3DA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7635240" y="4315968"/>
            <a:ext cx="91440" cy="914400"/>
          </a:xfrm>
          <a:prstGeom prst="rect">
            <a:avLst/>
          </a:prstGeom>
          <a:solidFill>
            <a:srgbClr val="C77E1B"/>
          </a:solidFill>
        </p:spPr>
      </p:sp>
      <p:sp>
        <p:nvSpPr>
          <p:cNvPr id="43" name="Text 41"/>
          <p:cNvSpPr/>
          <p:nvPr/>
        </p:nvSpPr>
        <p:spPr>
          <a:xfrm>
            <a:off x="7863840" y="4407408"/>
            <a:ext cx="347472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653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指数维修复衰</a:t>
            </a:r>
            <a:endParaRPr lang="en-US" sz="1400" dirty="0"/>
          </a:p>
        </p:txBody>
      </p:sp>
      <p:sp>
        <p:nvSpPr>
          <p:cNvPr id="44" name="Text 42"/>
          <p:cNvSpPr/>
          <p:nvPr/>
        </p:nvSpPr>
        <p:spPr>
          <a:xfrm>
            <a:off x="7863840" y="4736592"/>
            <a:ext cx="347472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rgbClr val="5C6B6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exp(−0.08×维修次数)，越修越不靠谱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7635240" y="5358384"/>
            <a:ext cx="3840480" cy="914400"/>
          </a:xfrm>
          <a:prstGeom prst="roundRect">
            <a:avLst>
              <a:gd name="adj" fmla="val 10000"/>
            </a:avLst>
          </a:prstGeom>
          <a:solidFill>
            <a:srgbClr val="E7F2EA"/>
          </a:solidFill>
          <a:ln w="12700">
            <a:solidFill>
              <a:srgbClr val="D6E3DA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7635240" y="5358384"/>
            <a:ext cx="91440" cy="914400"/>
          </a:xfrm>
          <a:prstGeom prst="rect">
            <a:avLst/>
          </a:prstGeom>
          <a:solidFill>
            <a:srgbClr val="C77E1B"/>
          </a:solidFill>
        </p:spPr>
      </p:sp>
      <p:sp>
        <p:nvSpPr>
          <p:cNvPr id="47" name="Text 45"/>
          <p:cNvSpPr/>
          <p:nvPr/>
        </p:nvSpPr>
        <p:spPr>
          <a:xfrm>
            <a:off x="7863840" y="5449824"/>
            <a:ext cx="347472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653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健康加速因子</a:t>
            </a:r>
            <a:endParaRPr lang="en-US" sz="1400" dirty="0"/>
          </a:p>
        </p:txBody>
      </p:sp>
      <p:sp>
        <p:nvSpPr>
          <p:cNvPr id="48" name="Text 46"/>
          <p:cNvSpPr/>
          <p:nvPr/>
        </p:nvSpPr>
        <p:spPr>
          <a:xfrm>
            <a:off x="7863840" y="5779008"/>
            <a:ext cx="347472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rgbClr val="5C6B6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health=0.70+0.30×H/100，健康差则寿命指数缩水</a:t>
            </a:r>
            <a:endParaRPr lang="en-US" sz="1050" dirty="0"/>
          </a:p>
        </p:txBody>
      </p:sp>
      <p:sp>
        <p:nvSpPr>
          <p:cNvPr id="49" name="Text 47"/>
          <p:cNvSpPr/>
          <p:nvPr/>
        </p:nvSpPr>
        <p:spPr>
          <a:xfrm>
            <a:off x="502920" y="6446520"/>
            <a:ext cx="822960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C6B6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短板约束 + 重要度 + 维修衰减 + 健康加速 + 年限收缩 —— 五层递进可复核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8686800" y="6446520"/>
            <a:ext cx="301752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C6B6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宜昌市烟草专卖局（公司）</a:t>
            </a:r>
            <a:endParaRPr lang="en-US" sz="1100" dirty="0"/>
          </a:p>
        </p:txBody>
      </p:sp>
      <p:sp>
        <p:nvSpPr>
          <p:cNvPr id="51" name="Watermark"/>
          <p:cNvSpPr txBox="1"/>
          <p:nvPr/>
        </p:nvSpPr>
        <p:spPr>
          <a:xfrm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90204"/>
                <a:ea typeface="宋体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90204"/>
              <a:ea typeface="宋体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502920" y="502920"/>
            <a:ext cx="1737360" cy="475488"/>
          </a:xfrm>
          <a:prstGeom prst="roundRect">
            <a:avLst>
              <a:gd name="adj" fmla="val 50000"/>
            </a:avLst>
          </a:prstGeom>
          <a:solidFill>
            <a:srgbClr val="14532D"/>
          </a:solidFill>
          <a:effectLst>
            <a:outerShdw blurRad="127000" dist="50800" dir="2700000" algn="bl" rotWithShape="0">
              <a:srgbClr val="1B4633">
                <a:alpha val="2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502920" y="502920"/>
            <a:ext cx="173736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模型 ①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2468880" y="365760"/>
            <a:ext cx="905256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430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烤房健康评估 —— 总公式与单栋算例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2487168" y="1115568"/>
            <a:ext cx="91440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C6B6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左：算法分层结构（怎么算）　右：给一栋老房算到底（算给评委看）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02920" y="1554480"/>
            <a:ext cx="6720840" cy="4709160"/>
          </a:xfrm>
          <a:prstGeom prst="roundRect">
            <a:avLst>
              <a:gd name="adj" fmla="val 2718"/>
            </a:avLst>
          </a:prstGeom>
          <a:solidFill>
            <a:srgbClr val="FFFFFF"/>
          </a:solidFill>
          <a:ln w="12700">
            <a:solidFill>
              <a:srgbClr val="D6E3DA"/>
            </a:solidFill>
            <a:prstDash val="solid"/>
          </a:ln>
          <a:effectLst>
            <a:outerShdw blurRad="1612900000" dist="645160000" dir="-1" algn="bl" rotWithShape="0">
              <a:srgbClr val="1B4633">
                <a:alpha val="2147483647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77240" y="1737360"/>
            <a:ext cx="6172200" cy="548640"/>
          </a:xfrm>
          <a:prstGeom prst="roundRect">
            <a:avLst>
              <a:gd name="adj" fmla="val 13333"/>
            </a:avLst>
          </a:prstGeom>
          <a:solidFill>
            <a:srgbClr val="14532D"/>
          </a:solidFill>
          <a:effectLst>
            <a:outerShdw blurRad="2147483647" dist="2147483647" dir="-1" algn="bl" rotWithShape="0">
              <a:srgbClr val="1B4633">
                <a:alpha val="2147483647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777240" y="1737360"/>
            <a:ext cx="61722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H = 0.80×部件分 + 0.10×管护分 + 0.10×人工分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777240" y="2340864"/>
            <a:ext cx="61722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6653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部件分 = ΣCᵢ / ΣWᵢ × 100　（Cᵢ = 部件权重×健康得分 ÷ 100）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777240" y="2779776"/>
            <a:ext cx="3017520" cy="1225296"/>
          </a:xfrm>
          <a:prstGeom prst="roundRect">
            <a:avLst>
              <a:gd name="adj" fmla="val 7463"/>
            </a:avLst>
          </a:prstGeom>
          <a:solidFill>
            <a:srgbClr val="E7F2EA"/>
          </a:solidFill>
          <a:ln w="12700">
            <a:solidFill>
              <a:srgbClr val="D6E3D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77240" y="2779776"/>
            <a:ext cx="91440" cy="1225296"/>
          </a:xfrm>
          <a:prstGeom prst="rect">
            <a:avLst/>
          </a:prstGeom>
          <a:solidFill>
            <a:srgbClr val="166534"/>
          </a:solidFill>
        </p:spPr>
      </p:sp>
      <p:sp>
        <p:nvSpPr>
          <p:cNvPr id="13" name="Text 11"/>
          <p:cNvSpPr/>
          <p:nvPr/>
        </p:nvSpPr>
        <p:spPr>
          <a:xfrm>
            <a:off x="960120" y="2871216"/>
            <a:ext cx="27432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653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加热 </a:t>
            </a:r>
            <a:r>
              <a:rPr lang="en-US" sz="1200" b="1" dirty="0">
                <a:solidFill>
                  <a:srgbClr val="2E8B6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JR</a:t>
            </a:r>
            <a:r>
              <a:rPr lang="en-US" sz="1400" b="1" dirty="0">
                <a:solidFill>
                  <a:srgbClr val="C77E1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　×0.30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960120" y="3236976"/>
            <a:ext cx="2743200" cy="5029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1430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加热器/燃烧机 · 送料电机/风机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960120" y="3694176"/>
            <a:ext cx="27432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C6B6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内部：状态40% + 退化30% + 部件评价30%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977640" y="2779776"/>
            <a:ext cx="3017520" cy="1225296"/>
          </a:xfrm>
          <a:prstGeom prst="roundRect">
            <a:avLst>
              <a:gd name="adj" fmla="val 7463"/>
            </a:avLst>
          </a:prstGeom>
          <a:solidFill>
            <a:srgbClr val="E7F2EA"/>
          </a:solidFill>
          <a:ln w="12700">
            <a:solidFill>
              <a:srgbClr val="D6E3D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977640" y="2779776"/>
            <a:ext cx="91440" cy="1225296"/>
          </a:xfrm>
          <a:prstGeom prst="rect">
            <a:avLst/>
          </a:prstGeom>
          <a:solidFill>
            <a:srgbClr val="166534"/>
          </a:solidFill>
        </p:spPr>
      </p:sp>
      <p:sp>
        <p:nvSpPr>
          <p:cNvPr id="18" name="Text 16"/>
          <p:cNvSpPr/>
          <p:nvPr/>
        </p:nvSpPr>
        <p:spPr>
          <a:xfrm>
            <a:off x="4160520" y="2871216"/>
            <a:ext cx="27432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653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散热 </a:t>
            </a:r>
            <a:r>
              <a:rPr lang="en-US" sz="1200" b="1" dirty="0">
                <a:solidFill>
                  <a:srgbClr val="2E8B6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SR</a:t>
            </a:r>
            <a:r>
              <a:rPr lang="en-US" sz="1400" b="1" dirty="0">
                <a:solidFill>
                  <a:srgbClr val="C77E1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　×0.26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160520" y="3236976"/>
            <a:ext cx="2743200" cy="5029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1430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散热管 · 炉膛/燃烧室 · 清灰门 · 烟囱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160520" y="3694176"/>
            <a:ext cx="27432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C6B6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内部：状态40% + 退化30% + 部件评价30%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777240" y="4133088"/>
            <a:ext cx="3017520" cy="1225296"/>
          </a:xfrm>
          <a:prstGeom prst="roundRect">
            <a:avLst>
              <a:gd name="adj" fmla="val 7463"/>
            </a:avLst>
          </a:prstGeom>
          <a:solidFill>
            <a:srgbClr val="E7F2EA"/>
          </a:solidFill>
          <a:ln w="12700">
            <a:solidFill>
              <a:srgbClr val="D6E3D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77240" y="4133088"/>
            <a:ext cx="91440" cy="1225296"/>
          </a:xfrm>
          <a:prstGeom prst="rect">
            <a:avLst/>
          </a:prstGeom>
          <a:solidFill>
            <a:srgbClr val="166534"/>
          </a:solidFill>
        </p:spPr>
      </p:sp>
      <p:sp>
        <p:nvSpPr>
          <p:cNvPr id="23" name="Text 21"/>
          <p:cNvSpPr/>
          <p:nvPr/>
        </p:nvSpPr>
        <p:spPr>
          <a:xfrm>
            <a:off x="960120" y="4224528"/>
            <a:ext cx="27432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653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自控 </a:t>
            </a:r>
            <a:r>
              <a:rPr lang="en-US" sz="1200" b="1" dirty="0">
                <a:solidFill>
                  <a:srgbClr val="2E8B6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ZK</a:t>
            </a:r>
            <a:r>
              <a:rPr lang="en-US" sz="1400" b="1" dirty="0">
                <a:solidFill>
                  <a:srgbClr val="C77E1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　×0.26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960120" y="4590288"/>
            <a:ext cx="2743200" cy="5029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1430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自控仪/主板 · 温湿度探头 · 压力传感 · 循环风机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960120" y="5047488"/>
            <a:ext cx="27432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C6B6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内部：状态40% + 退化30% + 部件评价30%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977640" y="4133088"/>
            <a:ext cx="3017520" cy="1225296"/>
          </a:xfrm>
          <a:prstGeom prst="roundRect">
            <a:avLst>
              <a:gd name="adj" fmla="val 7463"/>
            </a:avLst>
          </a:prstGeom>
          <a:solidFill>
            <a:srgbClr val="E7F2EA"/>
          </a:solidFill>
          <a:ln w="12700">
            <a:solidFill>
              <a:srgbClr val="D6E3D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977640" y="4133088"/>
            <a:ext cx="91440" cy="1225296"/>
          </a:xfrm>
          <a:prstGeom prst="rect">
            <a:avLst/>
          </a:prstGeom>
          <a:solidFill>
            <a:srgbClr val="166534"/>
          </a:solidFill>
        </p:spPr>
      </p:sp>
      <p:sp>
        <p:nvSpPr>
          <p:cNvPr id="28" name="Text 26"/>
          <p:cNvSpPr/>
          <p:nvPr/>
        </p:nvSpPr>
        <p:spPr>
          <a:xfrm>
            <a:off x="4160520" y="4224528"/>
            <a:ext cx="27432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653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主体 </a:t>
            </a:r>
            <a:r>
              <a:rPr lang="en-US" sz="1200" b="1" dirty="0">
                <a:solidFill>
                  <a:srgbClr val="2E8B6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ZT</a:t>
            </a:r>
            <a:r>
              <a:rPr lang="en-US" sz="1400" b="1" dirty="0">
                <a:solidFill>
                  <a:srgbClr val="C77E1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　×0.18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4160520" y="4590288"/>
            <a:ext cx="2743200" cy="5029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1430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屋顶/墙体 · 挂烟梁 · 大门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4160520" y="5047488"/>
            <a:ext cx="27432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C6B6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内部：状态40% + 退化30% + 部件评价30%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777240" y="5541264"/>
            <a:ext cx="6172200" cy="512064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D6E3D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77240" y="5541264"/>
            <a:ext cx="6172200" cy="5120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77E1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管护分 ×0.10：</a:t>
            </a:r>
            <a:r>
              <a:rPr lang="en-US" sz="1150" dirty="0">
                <a:solidFill>
                  <a:srgbClr val="1430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集中100 · 分户80　　</a:t>
            </a:r>
            <a:r>
              <a:rPr lang="en-US" sz="1200" b="1" dirty="0">
                <a:solidFill>
                  <a:srgbClr val="C77E1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人工分 ×0.10：</a:t>
            </a:r>
            <a:r>
              <a:rPr lang="en-US" sz="1150" dirty="0">
                <a:solidFill>
                  <a:srgbClr val="1430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好100 · 中80 · 差50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777240" y="6089904"/>
            <a:ext cx="61722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FA89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退化按 CDCI 三段式曲线 · 维修台账完工后重置该部件退化年龄 · 缺数据兜底5分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7406640" y="1554480"/>
            <a:ext cx="4279392" cy="4709160"/>
          </a:xfrm>
          <a:prstGeom prst="roundRect">
            <a:avLst>
              <a:gd name="adj" fmla="val 2991"/>
            </a:avLst>
          </a:prstGeom>
          <a:solidFill>
            <a:srgbClr val="FFFFFF"/>
          </a:solidFill>
          <a:ln w="12700">
            <a:solidFill>
              <a:srgbClr val="D6E3DA"/>
            </a:solidFill>
            <a:prstDash val="solid"/>
          </a:ln>
          <a:effectLst>
            <a:outerShdw blurRad="2147483647" dist="2147483647" dir="-1" algn="bl" rotWithShape="0">
              <a:srgbClr val="1B4633">
                <a:alpha val="2147483647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7635240" y="1700784"/>
            <a:ext cx="384048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653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单栋算例 · 老房 K0818</a:t>
            </a:r>
            <a:r>
              <a:rPr lang="en-US" sz="1050" dirty="0">
                <a:solidFill>
                  <a:srgbClr val="5C6B6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（2009 建 · 示意）</a:t>
            </a:r>
            <a:endParaRPr lang="en-US" sz="1500" dirty="0"/>
          </a:p>
        </p:txBody>
      </p:sp>
      <p:sp>
        <p:nvSpPr>
          <p:cNvPr id="36" name="Text 34"/>
          <p:cNvSpPr/>
          <p:nvPr/>
        </p:nvSpPr>
        <p:spPr>
          <a:xfrm>
            <a:off x="7635240" y="2048256"/>
            <a:ext cx="38404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C6B6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逐部件贡献分 Cᵢ（总权重 W=80）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7635240" y="2322576"/>
            <a:ext cx="2377440" cy="2468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430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加热器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9875520" y="2322576"/>
            <a:ext cx="1600200" cy="2468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2E8B6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9.00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7635240" y="2569464"/>
            <a:ext cx="2377440" cy="2468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430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散热器(4项)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9875520" y="2569464"/>
            <a:ext cx="1600200" cy="2468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2E8B6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13.07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7635240" y="2816352"/>
            <a:ext cx="2377440" cy="2468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430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自控仪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9875520" y="2816352"/>
            <a:ext cx="1600200" cy="2468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2E8B6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2.40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7635240" y="3063240"/>
            <a:ext cx="2377440" cy="2468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430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温湿度探头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9875520" y="3063240"/>
            <a:ext cx="1600200" cy="2468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2E8B6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1.80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7635240" y="3310128"/>
            <a:ext cx="2377440" cy="2468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430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水壶/压力传感</a:t>
            </a:r>
            <a:endParaRPr lang="en-US" sz="1050" dirty="0"/>
          </a:p>
        </p:txBody>
      </p:sp>
      <p:sp>
        <p:nvSpPr>
          <p:cNvPr id="46" name="Text 44"/>
          <p:cNvSpPr/>
          <p:nvPr/>
        </p:nvSpPr>
        <p:spPr>
          <a:xfrm>
            <a:off x="9875520" y="3310128"/>
            <a:ext cx="1600200" cy="2468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2E8B6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1.80</a:t>
            </a:r>
            <a:endParaRPr lang="en-US" sz="1050" dirty="0"/>
          </a:p>
        </p:txBody>
      </p:sp>
      <p:sp>
        <p:nvSpPr>
          <p:cNvPr id="47" name="Text 45"/>
          <p:cNvSpPr/>
          <p:nvPr/>
        </p:nvSpPr>
        <p:spPr>
          <a:xfrm>
            <a:off x="7635240" y="3557016"/>
            <a:ext cx="2377440" cy="2468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430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循环风机</a:t>
            </a:r>
            <a:endParaRPr lang="en-US" sz="1050" dirty="0"/>
          </a:p>
        </p:txBody>
      </p:sp>
      <p:sp>
        <p:nvSpPr>
          <p:cNvPr id="48" name="Text 46"/>
          <p:cNvSpPr/>
          <p:nvPr/>
        </p:nvSpPr>
        <p:spPr>
          <a:xfrm>
            <a:off x="9875520" y="3557016"/>
            <a:ext cx="1600200" cy="2468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2E8B6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4.35</a:t>
            </a:r>
            <a:endParaRPr lang="en-US" sz="1050" dirty="0"/>
          </a:p>
        </p:txBody>
      </p:sp>
      <p:sp>
        <p:nvSpPr>
          <p:cNvPr id="49" name="Text 47"/>
          <p:cNvSpPr/>
          <p:nvPr/>
        </p:nvSpPr>
        <p:spPr>
          <a:xfrm>
            <a:off x="7635240" y="3803904"/>
            <a:ext cx="2377440" cy="2468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430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屋顶/墙体</a:t>
            </a:r>
            <a:endParaRPr lang="en-US" sz="1050" dirty="0"/>
          </a:p>
        </p:txBody>
      </p:sp>
      <p:sp>
        <p:nvSpPr>
          <p:cNvPr id="50" name="Text 48"/>
          <p:cNvSpPr/>
          <p:nvPr/>
        </p:nvSpPr>
        <p:spPr>
          <a:xfrm>
            <a:off x="9875520" y="3803904"/>
            <a:ext cx="1600200" cy="2468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2E8B6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4.70</a:t>
            </a:r>
            <a:endParaRPr lang="en-US" sz="1050" dirty="0"/>
          </a:p>
        </p:txBody>
      </p:sp>
      <p:sp>
        <p:nvSpPr>
          <p:cNvPr id="51" name="Text 49"/>
          <p:cNvSpPr/>
          <p:nvPr/>
        </p:nvSpPr>
        <p:spPr>
          <a:xfrm>
            <a:off x="7635240" y="4050792"/>
            <a:ext cx="2377440" cy="2468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430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挂烟梁</a:t>
            </a:r>
            <a:endParaRPr lang="en-US" sz="1050" dirty="0"/>
          </a:p>
        </p:txBody>
      </p:sp>
      <p:sp>
        <p:nvSpPr>
          <p:cNvPr id="52" name="Text 50"/>
          <p:cNvSpPr/>
          <p:nvPr/>
        </p:nvSpPr>
        <p:spPr>
          <a:xfrm>
            <a:off x="9875520" y="4050792"/>
            <a:ext cx="1600200" cy="2468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2E8B6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2.00</a:t>
            </a:r>
            <a:endParaRPr lang="en-US" sz="1050" dirty="0"/>
          </a:p>
        </p:txBody>
      </p:sp>
      <p:sp>
        <p:nvSpPr>
          <p:cNvPr id="53" name="Text 51"/>
          <p:cNvSpPr/>
          <p:nvPr/>
        </p:nvSpPr>
        <p:spPr>
          <a:xfrm>
            <a:off x="7635240" y="4297680"/>
            <a:ext cx="2377440" cy="2468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430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大门</a:t>
            </a:r>
            <a:endParaRPr lang="en-US" sz="1050" dirty="0"/>
          </a:p>
        </p:txBody>
      </p:sp>
      <p:sp>
        <p:nvSpPr>
          <p:cNvPr id="54" name="Text 52"/>
          <p:cNvSpPr/>
          <p:nvPr/>
        </p:nvSpPr>
        <p:spPr>
          <a:xfrm>
            <a:off x="9875520" y="4297680"/>
            <a:ext cx="1600200" cy="2468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2E8B6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10.00</a:t>
            </a:r>
            <a:endParaRPr lang="en-US" sz="1050" dirty="0"/>
          </a:p>
        </p:txBody>
      </p:sp>
      <p:sp>
        <p:nvSpPr>
          <p:cNvPr id="55" name="Shape 53"/>
          <p:cNvSpPr/>
          <p:nvPr/>
        </p:nvSpPr>
        <p:spPr>
          <a:xfrm>
            <a:off x="7635240" y="4562856"/>
            <a:ext cx="3840480" cy="310896"/>
          </a:xfrm>
          <a:prstGeom prst="roundRect">
            <a:avLst>
              <a:gd name="adj" fmla="val 17647"/>
            </a:avLst>
          </a:prstGeom>
          <a:solidFill>
            <a:srgbClr val="E7F2EA"/>
          </a:solidFill>
          <a:ln w="12700">
            <a:solidFill>
              <a:srgbClr val="D6E3DA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7635240" y="4562856"/>
            <a:ext cx="384048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6653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ΣW = 80　ΣC = 49.12 → 部件分 P = 61.4</a:t>
            </a:r>
            <a:endParaRPr lang="en-US" sz="1150" dirty="0"/>
          </a:p>
        </p:txBody>
      </p:sp>
      <p:sp>
        <p:nvSpPr>
          <p:cNvPr id="57" name="Text 55"/>
          <p:cNvSpPr/>
          <p:nvPr/>
        </p:nvSpPr>
        <p:spPr>
          <a:xfrm>
            <a:off x="7635240" y="4928616"/>
            <a:ext cx="38404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C6B6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管护 M = 100（集中）　人工 E = 100（好）</a:t>
            </a:r>
            <a:endParaRPr lang="en-US" sz="1100" dirty="0"/>
          </a:p>
        </p:txBody>
      </p:sp>
      <p:sp>
        <p:nvSpPr>
          <p:cNvPr id="58" name="Shape 56"/>
          <p:cNvSpPr/>
          <p:nvPr/>
        </p:nvSpPr>
        <p:spPr>
          <a:xfrm>
            <a:off x="7635240" y="5257800"/>
            <a:ext cx="3840480" cy="658368"/>
          </a:xfrm>
          <a:prstGeom prst="roundRect">
            <a:avLst>
              <a:gd name="adj" fmla="val 11111"/>
            </a:avLst>
          </a:prstGeom>
          <a:solidFill>
            <a:srgbClr val="14532D"/>
          </a:solidFill>
          <a:effectLst>
            <a:outerShdw blurRad="2147483647" dist="2147483647" dir="3" algn="bl" rotWithShape="0">
              <a:srgbClr val="1B4633">
                <a:alpha val="2"/>
              </a:srgbClr>
            </a:outerShdw>
          </a:effectLst>
        </p:spPr>
      </p:sp>
      <p:sp>
        <p:nvSpPr>
          <p:cNvPr id="59" name="Text 57"/>
          <p:cNvSpPr/>
          <p:nvPr/>
        </p:nvSpPr>
        <p:spPr>
          <a:xfrm>
            <a:off x="7635240" y="5257800"/>
            <a:ext cx="384048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DCEBE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H = 0.8×61.4 + 0.1×100 + 0.1×100
</a:t>
            </a:r>
            <a:r>
              <a:rPr lang="en-US" sz="125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= 49.12 + 10 + 10 = 69.12 分 → 健康等级【一般】</a:t>
            </a:r>
            <a:endParaRPr lang="en-US" sz="1200" dirty="0"/>
          </a:p>
        </p:txBody>
      </p:sp>
      <p:sp>
        <p:nvSpPr>
          <p:cNvPr id="60" name="Text 58"/>
          <p:cNvSpPr/>
          <p:nvPr/>
        </p:nvSpPr>
        <p:spPr>
          <a:xfrm>
            <a:off x="7635240" y="6007608"/>
            <a:ext cx="38404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rgbClr val="B23A2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短板=自控仪(6年) → 风险缺口直指自控，与实物“自控最易坏”吻合</a:t>
            </a:r>
            <a:endParaRPr lang="en-US" sz="1050" dirty="0"/>
          </a:p>
        </p:txBody>
      </p:sp>
      <p:sp>
        <p:nvSpPr>
          <p:cNvPr id="61" name="Text 59"/>
          <p:cNvSpPr/>
          <p:nvPr/>
        </p:nvSpPr>
        <p:spPr>
          <a:xfrm>
            <a:off x="502920" y="6446520"/>
            <a:ext cx="822960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C6B6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“部件分=归一化得分·四个部位内部再细分” —— 讲清每一步谁贡献了多少</a:t>
            </a:r>
            <a:endParaRPr lang="en-US" sz="1100" dirty="0"/>
          </a:p>
        </p:txBody>
      </p:sp>
      <p:sp>
        <p:nvSpPr>
          <p:cNvPr id="62" name="Text 60"/>
          <p:cNvSpPr/>
          <p:nvPr/>
        </p:nvSpPr>
        <p:spPr>
          <a:xfrm>
            <a:off x="8686800" y="6446520"/>
            <a:ext cx="301752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C6B6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宜昌市烟草专卖局（公司）</a:t>
            </a:r>
            <a:endParaRPr lang="en-US" sz="1100" dirty="0"/>
          </a:p>
        </p:txBody>
      </p:sp>
      <p:sp>
        <p:nvSpPr>
          <p:cNvPr id="63" name="Watermark"/>
          <p:cNvSpPr txBox="1"/>
          <p:nvPr/>
        </p:nvSpPr>
        <p:spPr>
          <a:xfrm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90204"/>
                <a:ea typeface="宋体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90204"/>
              <a:ea typeface="宋体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502920" y="502920"/>
            <a:ext cx="1737360" cy="475488"/>
          </a:xfrm>
          <a:prstGeom prst="roundRect">
            <a:avLst>
              <a:gd name="adj" fmla="val 50000"/>
            </a:avLst>
          </a:prstGeom>
          <a:solidFill>
            <a:srgbClr val="14532D"/>
          </a:solidFill>
          <a:effectLst>
            <a:outerShdw blurRad="2147483647" dist="2147483647" dir="2" algn="bl" rotWithShape="0">
              <a:srgbClr val="1B4633">
                <a:alpha val="2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502920" y="502920"/>
            <a:ext cx="173736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模型 ①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2468880" y="365760"/>
            <a:ext cx="905256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430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烤房健康评估 —— 预警层级与公共方法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2487168" y="1115568"/>
            <a:ext cx="91440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C6B6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健康分定“该修哪”，寿命预测定“何时修”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02920" y="1554480"/>
            <a:ext cx="6720840" cy="4709160"/>
          </a:xfrm>
          <a:prstGeom prst="roundRect">
            <a:avLst>
              <a:gd name="adj" fmla="val 2718"/>
            </a:avLst>
          </a:prstGeom>
          <a:solidFill>
            <a:srgbClr val="FFFFFF"/>
          </a:solidFill>
          <a:ln w="12700">
            <a:solidFill>
              <a:srgbClr val="D6E3DA"/>
            </a:solidFill>
            <a:prstDash val="solid"/>
          </a:ln>
          <a:effectLst>
            <a:outerShdw blurRad="2147483647" dist="2147483647" dir="1" algn="bl" rotWithShape="0">
              <a:srgbClr val="1B4633">
                <a:alpha val="2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77240" y="1737360"/>
            <a:ext cx="61264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653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① 健康分 · 五级分档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777240" y="2157984"/>
            <a:ext cx="1152144" cy="713232"/>
          </a:xfrm>
          <a:prstGeom prst="roundRect">
            <a:avLst>
              <a:gd name="adj" fmla="val 10256"/>
            </a:avLst>
          </a:prstGeom>
          <a:solidFill>
            <a:srgbClr val="2E8B6A"/>
          </a:solidFill>
          <a:effectLst>
            <a:outerShdw blurRad="2147483647" dist="2147483647" dir="7" algn="bl" rotWithShape="0">
              <a:srgbClr val="1B4633">
                <a:alpha val="2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777240" y="2194560"/>
            <a:ext cx="1152144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优良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777240" y="2542032"/>
            <a:ext cx="1152144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0F7F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85-100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029968" y="2157984"/>
            <a:ext cx="1152144" cy="713232"/>
          </a:xfrm>
          <a:prstGeom prst="roundRect">
            <a:avLst>
              <a:gd name="adj" fmla="val 10256"/>
            </a:avLst>
          </a:prstGeom>
          <a:solidFill>
            <a:srgbClr val="5FB292"/>
          </a:solidFill>
          <a:effectLst>
            <a:outerShdw blurRad="2147483647" dist="2147483647" dir="4" algn="bl" rotWithShape="0">
              <a:srgbClr val="1B4633">
                <a:alpha val="2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029968" y="2194560"/>
            <a:ext cx="1152144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良好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2029968" y="2542032"/>
            <a:ext cx="1152144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0F7F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70-85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282696" y="2157984"/>
            <a:ext cx="1152144" cy="713232"/>
          </a:xfrm>
          <a:prstGeom prst="roundRect">
            <a:avLst>
              <a:gd name="adj" fmla="val 10256"/>
            </a:avLst>
          </a:prstGeom>
          <a:solidFill>
            <a:srgbClr val="F39C12"/>
          </a:solidFill>
          <a:effectLst>
            <a:outerShdw blurRad="2147483647" dist="2147483647" dir="2" algn="bl" rotWithShape="0">
              <a:srgbClr val="1B4633">
                <a:alpha val="2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282696" y="2194560"/>
            <a:ext cx="1152144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一般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3282696" y="2542032"/>
            <a:ext cx="1152144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0F7F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60-70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35424" y="2157984"/>
            <a:ext cx="1152144" cy="713232"/>
          </a:xfrm>
          <a:prstGeom prst="roundRect">
            <a:avLst>
              <a:gd name="adj" fmla="val 10256"/>
            </a:avLst>
          </a:prstGeom>
          <a:solidFill>
            <a:srgbClr val="C77E1B"/>
          </a:solidFill>
          <a:effectLst>
            <a:outerShdw blurRad="2147483647" dist="2147483647" dir="1" algn="bl" rotWithShape="0">
              <a:srgbClr val="1B4633">
                <a:alpha val="2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535424" y="2194560"/>
            <a:ext cx="1152144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预警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4535424" y="2542032"/>
            <a:ext cx="1152144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0F7F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45-60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788152" y="2157984"/>
            <a:ext cx="1152144" cy="713232"/>
          </a:xfrm>
          <a:prstGeom prst="roundRect">
            <a:avLst>
              <a:gd name="adj" fmla="val 10256"/>
            </a:avLst>
          </a:prstGeom>
          <a:solidFill>
            <a:srgbClr val="B23A24"/>
          </a:solidFill>
          <a:effectLst>
            <a:outerShdw blurRad="2147483647" dist="2147483647" dir="9" algn="bl" rotWithShape="0">
              <a:srgbClr val="1B4633">
                <a:alpha val="2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788152" y="2194560"/>
            <a:ext cx="1152144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危险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5788152" y="2542032"/>
            <a:ext cx="1152144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0F7F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&lt;45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777240" y="3108960"/>
            <a:ext cx="6126480" cy="18288"/>
          </a:xfrm>
          <a:prstGeom prst="rect">
            <a:avLst/>
          </a:prstGeom>
          <a:solidFill>
            <a:srgbClr val="D6E3DA"/>
          </a:solidFill>
        </p:spPr>
      </p:sp>
      <p:sp>
        <p:nvSpPr>
          <p:cNvPr id="25" name="Text 23"/>
          <p:cNvSpPr/>
          <p:nvPr/>
        </p:nvSpPr>
        <p:spPr>
          <a:xfrm>
            <a:off x="777240" y="3255264"/>
            <a:ext cx="61264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653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② 剩余寿命 · 四级预警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777240" y="3675888"/>
            <a:ext cx="1444752" cy="713232"/>
          </a:xfrm>
          <a:prstGeom prst="roundRect">
            <a:avLst>
              <a:gd name="adj" fmla="val 10256"/>
            </a:avLst>
          </a:prstGeom>
          <a:solidFill>
            <a:srgbClr val="B23A24"/>
          </a:solidFill>
          <a:effectLst>
            <a:outerShdw blurRad="2147483647" dist="2147483647" dir="5" algn="bl" rotWithShape="0">
              <a:srgbClr val="1B4633">
                <a:alpha val="2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777240" y="3712464"/>
            <a:ext cx="1444752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紧急维修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777240" y="4059936"/>
            <a:ext cx="1444752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0F7F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≤0年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777240" y="4407408"/>
            <a:ext cx="1444752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C6B6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立即处置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2331720" y="3675888"/>
            <a:ext cx="1444752" cy="713232"/>
          </a:xfrm>
          <a:prstGeom prst="roundRect">
            <a:avLst>
              <a:gd name="adj" fmla="val 10256"/>
            </a:avLst>
          </a:prstGeom>
          <a:solidFill>
            <a:srgbClr val="C77E1B"/>
          </a:solidFill>
          <a:effectLst>
            <a:outerShdw blurRad="2147483647" dist="2147483647" dir="3" algn="bl" rotWithShape="0">
              <a:srgbClr val="1B4633">
                <a:alpha val="2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2331720" y="3712464"/>
            <a:ext cx="1444752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建议维修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2331720" y="4059936"/>
            <a:ext cx="1444752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0F7F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0-4年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2331720" y="4407408"/>
            <a:ext cx="1444752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C6B6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纳入当年维修计划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3886200" y="3675888"/>
            <a:ext cx="1444752" cy="713232"/>
          </a:xfrm>
          <a:prstGeom prst="roundRect">
            <a:avLst>
              <a:gd name="adj" fmla="val 10256"/>
            </a:avLst>
          </a:prstGeom>
          <a:solidFill>
            <a:srgbClr val="D99E2B"/>
          </a:solidFill>
          <a:effectLst>
            <a:outerShdw blurRad="2147483647" dist="2147483647" dir="2" algn="bl" rotWithShape="0">
              <a:srgbClr val="1B4633">
                <a:alpha val="2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3886200" y="3712464"/>
            <a:ext cx="1444752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需关注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3886200" y="4059936"/>
            <a:ext cx="1444752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0F7F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4-7年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3886200" y="4407408"/>
            <a:ext cx="1444752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C6B6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跟踪监测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5440680" y="3675888"/>
            <a:ext cx="1444752" cy="713232"/>
          </a:xfrm>
          <a:prstGeom prst="roundRect">
            <a:avLst>
              <a:gd name="adj" fmla="val 10256"/>
            </a:avLst>
          </a:prstGeom>
          <a:solidFill>
            <a:srgbClr val="2E8B6A"/>
          </a:solidFill>
          <a:effectLst>
            <a:outerShdw blurRad="2147483647" dist="2147483647" dir="1" algn="bl" rotWithShape="0">
              <a:srgbClr val="1B4633">
                <a:alpha val="2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5440680" y="3712464"/>
            <a:ext cx="1444752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正常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5440680" y="4059936"/>
            <a:ext cx="1444752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0F7F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&gt;7年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5440680" y="4407408"/>
            <a:ext cx="1444752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C6B6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按周期巡检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777240" y="4754880"/>
            <a:ext cx="60350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30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寿命 = (0.60×短板寿命 + 0.40×部位均值) × 健康校准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777240" y="5138928"/>
            <a:ext cx="603504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C6B6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“短板约束优先 + 部位均值平滑 + 健康分校准” → 剩余服役年数</a:t>
            </a:r>
            <a:endParaRPr lang="en-US" sz="1150" dirty="0"/>
          </a:p>
        </p:txBody>
      </p:sp>
      <p:sp>
        <p:nvSpPr>
          <p:cNvPr id="44" name="Shape 42"/>
          <p:cNvSpPr/>
          <p:nvPr/>
        </p:nvSpPr>
        <p:spPr>
          <a:xfrm>
            <a:off x="777240" y="5577840"/>
            <a:ext cx="6126480" cy="566928"/>
          </a:xfrm>
          <a:prstGeom prst="roundRect">
            <a:avLst>
              <a:gd name="adj" fmla="val 12903"/>
            </a:avLst>
          </a:prstGeom>
          <a:solidFill>
            <a:srgbClr val="14532D"/>
          </a:solidFill>
          <a:effectLst>
            <a:outerShdw blurRad="2147483647" dist="2147483647" dir="7" algn="bl" rotWithShape="0">
              <a:srgbClr val="1B4633">
                <a:alpha val="2"/>
              </a:srgbClr>
            </a:outerShdw>
          </a:effectLst>
        </p:spPr>
      </p:sp>
      <p:sp>
        <p:nvSpPr>
          <p:cNvPr id="45" name="Text 43"/>
          <p:cNvSpPr/>
          <p:nvPr/>
        </p:nvSpPr>
        <p:spPr>
          <a:xfrm>
            <a:off x="777240" y="5577840"/>
            <a:ext cx="612648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B8922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联动：</a:t>
            </a:r>
            <a:r>
              <a:rPr lang="en-US" sz="13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健康分【该修哪】＋ 寿命【何时修】＋ 维修台账【回弹】 → 智投·修复决策</a:t>
            </a:r>
            <a:endParaRPr lang="en-US" sz="1300" dirty="0"/>
          </a:p>
        </p:txBody>
      </p:sp>
      <p:sp>
        <p:nvSpPr>
          <p:cNvPr id="46" name="Shape 44"/>
          <p:cNvSpPr/>
          <p:nvPr/>
        </p:nvSpPr>
        <p:spPr>
          <a:xfrm>
            <a:off x="7406640" y="1554480"/>
            <a:ext cx="4279392" cy="4709160"/>
          </a:xfrm>
          <a:prstGeom prst="roundRect">
            <a:avLst>
              <a:gd name="adj" fmla="val 2991"/>
            </a:avLst>
          </a:prstGeom>
          <a:solidFill>
            <a:srgbClr val="FFFFFF"/>
          </a:solidFill>
          <a:ln w="12700">
            <a:solidFill>
              <a:srgbClr val="D6E3DA"/>
            </a:solidFill>
            <a:prstDash val="solid"/>
          </a:ln>
          <a:effectLst>
            <a:outerShdw blurRad="2147483647" dist="2147483647" dir="4" algn="bl" rotWithShape="0">
              <a:srgbClr val="1B4633">
                <a:alpha val="2"/>
              </a:srgbClr>
            </a:outerShdw>
          </a:effectLst>
        </p:spPr>
      </p:sp>
      <p:sp>
        <p:nvSpPr>
          <p:cNvPr id="47" name="Text 45"/>
          <p:cNvSpPr/>
          <p:nvPr/>
        </p:nvSpPr>
        <p:spPr>
          <a:xfrm>
            <a:off x="7635240" y="1737360"/>
            <a:ext cx="384048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6653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公共方法</a:t>
            </a:r>
            <a:endParaRPr lang="en-US" sz="1700" dirty="0"/>
          </a:p>
        </p:txBody>
      </p:sp>
      <p:sp>
        <p:nvSpPr>
          <p:cNvPr id="48" name="Shape 46"/>
          <p:cNvSpPr/>
          <p:nvPr/>
        </p:nvSpPr>
        <p:spPr>
          <a:xfrm>
            <a:off x="7635240" y="2231136"/>
            <a:ext cx="3840480" cy="914400"/>
          </a:xfrm>
          <a:prstGeom prst="roundRect">
            <a:avLst>
              <a:gd name="adj" fmla="val 10000"/>
            </a:avLst>
          </a:prstGeom>
          <a:solidFill>
            <a:srgbClr val="E7F2EA"/>
          </a:solidFill>
          <a:ln w="12700">
            <a:solidFill>
              <a:srgbClr val="D6E3DA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7635240" y="2231136"/>
            <a:ext cx="91440" cy="914400"/>
          </a:xfrm>
          <a:prstGeom prst="rect">
            <a:avLst/>
          </a:prstGeom>
          <a:solidFill>
            <a:srgbClr val="C77E1B"/>
          </a:solidFill>
        </p:spPr>
      </p:sp>
      <p:sp>
        <p:nvSpPr>
          <p:cNvPr id="50" name="Text 48"/>
          <p:cNvSpPr/>
          <p:nvPr/>
        </p:nvSpPr>
        <p:spPr>
          <a:xfrm>
            <a:off x="7863840" y="2322576"/>
            <a:ext cx="347472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653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AHP 层次分析</a:t>
            </a:r>
            <a:endParaRPr lang="en-US" sz="1500" dirty="0"/>
          </a:p>
        </p:txBody>
      </p:sp>
      <p:sp>
        <p:nvSpPr>
          <p:cNvPr id="51" name="Text 49"/>
          <p:cNvSpPr/>
          <p:nvPr/>
        </p:nvSpPr>
        <p:spPr>
          <a:xfrm>
            <a:off x="7863840" y="2651760"/>
            <a:ext cx="347472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rgbClr val="5C6B6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四部位权重打分（0.30/0.26/0.26/0.18），专家经验量化</a:t>
            </a:r>
            <a:endParaRPr lang="en-US" sz="1050" dirty="0"/>
          </a:p>
        </p:txBody>
      </p:sp>
      <p:sp>
        <p:nvSpPr>
          <p:cNvPr id="52" name="Shape 50"/>
          <p:cNvSpPr/>
          <p:nvPr/>
        </p:nvSpPr>
        <p:spPr>
          <a:xfrm>
            <a:off x="7635240" y="3273552"/>
            <a:ext cx="3840480" cy="914400"/>
          </a:xfrm>
          <a:prstGeom prst="roundRect">
            <a:avLst>
              <a:gd name="adj" fmla="val 10000"/>
            </a:avLst>
          </a:prstGeom>
          <a:solidFill>
            <a:srgbClr val="E7F2EA"/>
          </a:solidFill>
          <a:ln w="12700">
            <a:solidFill>
              <a:srgbClr val="D6E3DA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7635240" y="3273552"/>
            <a:ext cx="91440" cy="914400"/>
          </a:xfrm>
          <a:prstGeom prst="rect">
            <a:avLst/>
          </a:prstGeom>
          <a:solidFill>
            <a:srgbClr val="C77E1B"/>
          </a:solidFill>
        </p:spPr>
      </p:sp>
      <p:sp>
        <p:nvSpPr>
          <p:cNvPr id="54" name="Text 52"/>
          <p:cNvSpPr/>
          <p:nvPr/>
        </p:nvSpPr>
        <p:spPr>
          <a:xfrm>
            <a:off x="7863840" y="3364992"/>
            <a:ext cx="347472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653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CDCI 三段退化</a:t>
            </a:r>
            <a:endParaRPr lang="en-US" sz="1500" dirty="0"/>
          </a:p>
        </p:txBody>
      </p:sp>
      <p:sp>
        <p:nvSpPr>
          <p:cNvPr id="55" name="Text 53"/>
          <p:cNvSpPr/>
          <p:nvPr/>
        </p:nvSpPr>
        <p:spPr>
          <a:xfrm>
            <a:off x="7863840" y="3694176"/>
            <a:ext cx="347472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rgbClr val="5C6B6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部件损耗曲线拟合，维修台账完工后重置退化年龄</a:t>
            </a:r>
            <a:endParaRPr lang="en-US" sz="1050" dirty="0"/>
          </a:p>
        </p:txBody>
      </p:sp>
      <p:sp>
        <p:nvSpPr>
          <p:cNvPr id="56" name="Shape 54"/>
          <p:cNvSpPr/>
          <p:nvPr/>
        </p:nvSpPr>
        <p:spPr>
          <a:xfrm>
            <a:off x="7635240" y="4315968"/>
            <a:ext cx="3840480" cy="914400"/>
          </a:xfrm>
          <a:prstGeom prst="roundRect">
            <a:avLst>
              <a:gd name="adj" fmla="val 10000"/>
            </a:avLst>
          </a:prstGeom>
          <a:solidFill>
            <a:srgbClr val="E7F2EA"/>
          </a:solidFill>
          <a:ln w="12700">
            <a:solidFill>
              <a:srgbClr val="D6E3DA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7635240" y="4315968"/>
            <a:ext cx="91440" cy="914400"/>
          </a:xfrm>
          <a:prstGeom prst="rect">
            <a:avLst/>
          </a:prstGeom>
          <a:solidFill>
            <a:srgbClr val="C77E1B"/>
          </a:solidFill>
        </p:spPr>
      </p:sp>
      <p:sp>
        <p:nvSpPr>
          <p:cNvPr id="58" name="Text 56"/>
          <p:cNvSpPr/>
          <p:nvPr/>
        </p:nvSpPr>
        <p:spPr>
          <a:xfrm>
            <a:off x="7863840" y="4407408"/>
            <a:ext cx="347472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653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随机森林</a:t>
            </a:r>
            <a:endParaRPr lang="en-US" sz="1500" dirty="0"/>
          </a:p>
        </p:txBody>
      </p:sp>
      <p:sp>
        <p:nvSpPr>
          <p:cNvPr id="59" name="Text 57"/>
          <p:cNvSpPr/>
          <p:nvPr/>
        </p:nvSpPr>
        <p:spPr>
          <a:xfrm>
            <a:off x="7863840" y="4736592"/>
            <a:ext cx="347472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rgbClr val="5C6B6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健康分 → 分级预警 + 关键部件归因（谁拖累最多）</a:t>
            </a:r>
            <a:endParaRPr lang="en-US" sz="1050" dirty="0"/>
          </a:p>
        </p:txBody>
      </p:sp>
      <p:sp>
        <p:nvSpPr>
          <p:cNvPr id="60" name="Shape 58"/>
          <p:cNvSpPr/>
          <p:nvPr/>
        </p:nvSpPr>
        <p:spPr>
          <a:xfrm>
            <a:off x="7635240" y="5358384"/>
            <a:ext cx="3840480" cy="914400"/>
          </a:xfrm>
          <a:prstGeom prst="roundRect">
            <a:avLst>
              <a:gd name="adj" fmla="val 10000"/>
            </a:avLst>
          </a:prstGeom>
          <a:solidFill>
            <a:srgbClr val="E7F2EA"/>
          </a:solidFill>
          <a:ln w="12700">
            <a:solidFill>
              <a:srgbClr val="D6E3DA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7635240" y="5358384"/>
            <a:ext cx="91440" cy="914400"/>
          </a:xfrm>
          <a:prstGeom prst="rect">
            <a:avLst/>
          </a:prstGeom>
          <a:solidFill>
            <a:srgbClr val="C77E1B"/>
          </a:solidFill>
        </p:spPr>
      </p:sp>
      <p:sp>
        <p:nvSpPr>
          <p:cNvPr id="62" name="Text 60"/>
          <p:cNvSpPr/>
          <p:nvPr/>
        </p:nvSpPr>
        <p:spPr>
          <a:xfrm>
            <a:off x="7863840" y="5449824"/>
            <a:ext cx="347472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653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决策融合</a:t>
            </a:r>
            <a:endParaRPr lang="en-US" sz="1500" dirty="0"/>
          </a:p>
        </p:txBody>
      </p:sp>
      <p:sp>
        <p:nvSpPr>
          <p:cNvPr id="63" name="Text 61"/>
          <p:cNvSpPr/>
          <p:nvPr/>
        </p:nvSpPr>
        <p:spPr>
          <a:xfrm>
            <a:off x="7863840" y="5779008"/>
            <a:ext cx="347472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rgbClr val="5C6B6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机制模型 × 数据驱动（LSTM）双轮 → 校准预测</a:t>
            </a:r>
            <a:endParaRPr lang="en-US" sz="1050" dirty="0"/>
          </a:p>
        </p:txBody>
      </p:sp>
      <p:sp>
        <p:nvSpPr>
          <p:cNvPr id="64" name="Text 62"/>
          <p:cNvSpPr/>
          <p:nvPr/>
        </p:nvSpPr>
        <p:spPr>
          <a:xfrm>
            <a:off x="502920" y="6446520"/>
            <a:ext cx="822960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C6B6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一套“专家权重 + 退化拟合 + 数据驱动”的方法组合，保证可解释、可复核</a:t>
            </a:r>
            <a:endParaRPr lang="en-US" sz="1100" dirty="0"/>
          </a:p>
        </p:txBody>
      </p:sp>
      <p:sp>
        <p:nvSpPr>
          <p:cNvPr id="65" name="Text 63"/>
          <p:cNvSpPr/>
          <p:nvPr/>
        </p:nvSpPr>
        <p:spPr>
          <a:xfrm>
            <a:off x="8686800" y="6446520"/>
            <a:ext cx="301752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C6B6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宜昌市烟草专卖局（公司）</a:t>
            </a:r>
            <a:endParaRPr lang="en-US" sz="1100" dirty="0"/>
          </a:p>
        </p:txBody>
      </p:sp>
      <p:sp>
        <p:nvSpPr>
          <p:cNvPr id="66" name="Watermark"/>
          <p:cNvSpPr txBox="1"/>
          <p:nvPr/>
        </p:nvSpPr>
        <p:spPr>
          <a:xfrm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90204"/>
                <a:ea typeface="宋体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90204"/>
              <a:ea typeface="宋体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502920" y="502920"/>
            <a:ext cx="1737360" cy="475488"/>
          </a:xfrm>
          <a:prstGeom prst="roundRect">
            <a:avLst>
              <a:gd name="adj" fmla="val 50000"/>
            </a:avLst>
          </a:prstGeom>
          <a:solidFill>
            <a:srgbClr val="14532D"/>
          </a:solidFill>
          <a:effectLst>
            <a:outerShdw blurRad="2147483647" dist="2147483647" dir="5" algn="bl" rotWithShape="0">
              <a:srgbClr val="1B4633">
                <a:alpha val="2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502920" y="502920"/>
            <a:ext cx="173736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模型 ①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2377440" y="365760"/>
            <a:ext cx="914400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430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烤房健康评估 — 量化“该不该修·修哪里</a:t>
            </a:r>
            <a:r>
              <a:rPr lang="en-US" sz="2900" b="1" dirty="0">
                <a:solidFill>
                  <a:srgbClr val="1430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  <a:sym typeface="+mn-ea"/>
              </a:rPr>
              <a:t>·</a:t>
            </a:r>
            <a:r>
              <a:rPr lang="zh-CN" altLang="en-US" sz="2900" b="1" dirty="0">
                <a:solidFill>
                  <a:srgbClr val="1430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什么时候修</a:t>
            </a:r>
            <a:r>
              <a:rPr lang="en-US" sz="2900" b="1" dirty="0">
                <a:solidFill>
                  <a:srgbClr val="1430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”</a:t>
            </a:r>
            <a:endParaRPr lang="en-US" sz="2900" dirty="0"/>
          </a:p>
        </p:txBody>
      </p:sp>
      <p:sp>
        <p:nvSpPr>
          <p:cNvPr id="6" name="Text 4"/>
          <p:cNvSpPr/>
          <p:nvPr/>
        </p:nvSpPr>
        <p:spPr>
          <a:xfrm>
            <a:off x="2395728" y="1115568"/>
            <a:ext cx="93268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C6B6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核心解“智投·修复决策”缺量化依据之痛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02920" y="1691640"/>
            <a:ext cx="5623560" cy="3017520"/>
          </a:xfrm>
          <a:prstGeom prst="roundRect">
            <a:avLst>
              <a:gd name="adj" fmla="val 4242"/>
            </a:avLst>
          </a:prstGeom>
          <a:solidFill>
            <a:srgbClr val="FFFFFF"/>
          </a:solidFill>
          <a:ln w="12700">
            <a:solidFill>
              <a:srgbClr val="D6E3DA"/>
            </a:solidFill>
            <a:prstDash val="solid"/>
          </a:ln>
          <a:effectLst>
            <a:outerShdw blurRad="2147483647" dist="2147483647" dir="3" algn="bl" rotWithShape="0">
              <a:srgbClr val="1B4633">
                <a:alpha val="2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31520" y="1847088"/>
            <a:ext cx="1371600" cy="402336"/>
          </a:xfrm>
          <a:prstGeom prst="roundRect">
            <a:avLst>
              <a:gd name="adj" fmla="val 50000"/>
            </a:avLst>
          </a:prstGeom>
          <a:solidFill>
            <a:srgbClr val="166534"/>
          </a:solidFill>
          <a:effectLst>
            <a:outerShdw blurRad="2147483647" dist="2147483647" dir="2" algn="bl" rotWithShape="0">
              <a:srgbClr val="1B4633">
                <a:alpha val="2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731520" y="1847088"/>
            <a:ext cx="1371600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健康分 H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77240" y="2395728"/>
            <a:ext cx="521208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653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H </a:t>
            </a:r>
            <a:r>
              <a:rPr lang="en-US" sz="2000" b="1" dirty="0">
                <a:solidFill>
                  <a:srgbClr val="1430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 = 部件分×0.80 + 管护分×0.10 + 人工分×0.10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777240" y="2999232"/>
            <a:ext cx="512064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C6B6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部件分 P：加热/散热/自控/主体 12项，增强BMHI + CDCI三段式退化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777240" y="3401568"/>
            <a:ext cx="512064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C6B6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按「状态 + 剩余寿命占比 + 维修记录」融合打分 → 0—100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777240" y="3931920"/>
            <a:ext cx="1005840" cy="475488"/>
          </a:xfrm>
          <a:prstGeom prst="roundRect">
            <a:avLst>
              <a:gd name="adj" fmla="val 15385"/>
            </a:avLst>
          </a:prstGeom>
          <a:solidFill>
            <a:srgbClr val="2E8B6A"/>
          </a:solidFill>
        </p:spPr>
      </p:sp>
      <p:sp>
        <p:nvSpPr>
          <p:cNvPr id="14" name="Text 12"/>
          <p:cNvSpPr/>
          <p:nvPr/>
        </p:nvSpPr>
        <p:spPr>
          <a:xfrm>
            <a:off x="777240" y="3931920"/>
            <a:ext cx="10058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优良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77240" y="4187952"/>
            <a:ext cx="100584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C6B6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100-85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1856232" y="3931920"/>
            <a:ext cx="1005840" cy="475488"/>
          </a:xfrm>
          <a:prstGeom prst="roundRect">
            <a:avLst>
              <a:gd name="adj" fmla="val 15385"/>
            </a:avLst>
          </a:prstGeom>
          <a:solidFill>
            <a:srgbClr val="5FB292"/>
          </a:solidFill>
        </p:spPr>
      </p:sp>
      <p:sp>
        <p:nvSpPr>
          <p:cNvPr id="17" name="Text 15"/>
          <p:cNvSpPr/>
          <p:nvPr/>
        </p:nvSpPr>
        <p:spPr>
          <a:xfrm>
            <a:off x="1856232" y="3931920"/>
            <a:ext cx="10058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良好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856232" y="4187952"/>
            <a:ext cx="100584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C6B6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85-70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2935224" y="3931920"/>
            <a:ext cx="1005840" cy="475488"/>
          </a:xfrm>
          <a:prstGeom prst="roundRect">
            <a:avLst>
              <a:gd name="adj" fmla="val 15385"/>
            </a:avLst>
          </a:prstGeom>
          <a:solidFill>
            <a:srgbClr val="F39C12"/>
          </a:solidFill>
        </p:spPr>
      </p:sp>
      <p:sp>
        <p:nvSpPr>
          <p:cNvPr id="20" name="Text 18"/>
          <p:cNvSpPr/>
          <p:nvPr/>
        </p:nvSpPr>
        <p:spPr>
          <a:xfrm>
            <a:off x="2935224" y="3931920"/>
            <a:ext cx="10058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一般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2935224" y="4187952"/>
            <a:ext cx="100584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C6B6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70-60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014216" y="3931920"/>
            <a:ext cx="1005840" cy="475488"/>
          </a:xfrm>
          <a:prstGeom prst="roundRect">
            <a:avLst>
              <a:gd name="adj" fmla="val 15385"/>
            </a:avLst>
          </a:prstGeom>
          <a:solidFill>
            <a:srgbClr val="C77E1B"/>
          </a:solidFill>
        </p:spPr>
      </p:sp>
      <p:sp>
        <p:nvSpPr>
          <p:cNvPr id="23" name="Text 21"/>
          <p:cNvSpPr/>
          <p:nvPr/>
        </p:nvSpPr>
        <p:spPr>
          <a:xfrm>
            <a:off x="4014216" y="3931920"/>
            <a:ext cx="10058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预警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014216" y="4187952"/>
            <a:ext cx="100584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C6B6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60-45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5093208" y="3931920"/>
            <a:ext cx="1005840" cy="475488"/>
          </a:xfrm>
          <a:prstGeom prst="roundRect">
            <a:avLst>
              <a:gd name="adj" fmla="val 15385"/>
            </a:avLst>
          </a:prstGeom>
          <a:solidFill>
            <a:srgbClr val="B23A24"/>
          </a:solidFill>
        </p:spPr>
      </p:sp>
      <p:sp>
        <p:nvSpPr>
          <p:cNvPr id="26" name="Text 24"/>
          <p:cNvSpPr/>
          <p:nvPr/>
        </p:nvSpPr>
        <p:spPr>
          <a:xfrm>
            <a:off x="5093208" y="3931920"/>
            <a:ext cx="10058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危险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093208" y="4187952"/>
            <a:ext cx="100584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C6B6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&lt;45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777240" y="4370832"/>
            <a:ext cx="5029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C6B6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（五级分档 · 阈值以规则库为准）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309360" y="1691640"/>
            <a:ext cx="5394960" cy="3017520"/>
          </a:xfrm>
          <a:prstGeom prst="roundRect">
            <a:avLst>
              <a:gd name="adj" fmla="val 4242"/>
            </a:avLst>
          </a:prstGeom>
          <a:solidFill>
            <a:srgbClr val="FFFFFF"/>
          </a:solidFill>
          <a:ln w="12700">
            <a:solidFill>
              <a:srgbClr val="D6E3DA"/>
            </a:solidFill>
            <a:prstDash val="solid"/>
          </a:ln>
          <a:effectLst>
            <a:outerShdw blurRad="2147483647" dist="2147483647" dir="1" algn="bl" rotWithShape="0">
              <a:srgbClr val="1B4633">
                <a:alpha val="2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537960" y="1847088"/>
            <a:ext cx="1737360" cy="402336"/>
          </a:xfrm>
          <a:prstGeom prst="roundRect">
            <a:avLst>
              <a:gd name="adj" fmla="val 50000"/>
            </a:avLst>
          </a:prstGeom>
          <a:solidFill>
            <a:srgbClr val="2E8B6A"/>
          </a:solidFill>
          <a:effectLst>
            <a:outerShdw blurRad="2147483647" dist="2147483647" dir="7" algn="bl" rotWithShape="0">
              <a:srgbClr val="1B4633">
                <a:alpha val="2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6537960" y="1847088"/>
            <a:ext cx="1737360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剩余寿命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6537960" y="2395728"/>
            <a:ext cx="502920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1430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寿命 = (0.60×短板寿命 + 0.40×部位均值)×健康校准</a:t>
            </a:r>
            <a:endParaRPr lang="en-US" sz="1650" dirty="0"/>
          </a:p>
        </p:txBody>
      </p:sp>
      <p:sp>
        <p:nvSpPr>
          <p:cNvPr id="33" name="Text 31"/>
          <p:cNvSpPr/>
          <p:nvPr/>
        </p:nvSpPr>
        <p:spPr>
          <a:xfrm>
            <a:off x="6537960" y="3127248"/>
            <a:ext cx="50292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C6B6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“短板约束 + 部位均值 + 健康分校准”的剩余服役年数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6537960" y="3639312"/>
            <a:ext cx="1005840" cy="475488"/>
          </a:xfrm>
          <a:prstGeom prst="roundRect">
            <a:avLst>
              <a:gd name="adj" fmla="val 15385"/>
            </a:avLst>
          </a:prstGeom>
          <a:solidFill>
            <a:srgbClr val="B23A24"/>
          </a:solidFill>
        </p:spPr>
      </p:sp>
      <p:sp>
        <p:nvSpPr>
          <p:cNvPr id="35" name="Text 33"/>
          <p:cNvSpPr/>
          <p:nvPr/>
        </p:nvSpPr>
        <p:spPr>
          <a:xfrm>
            <a:off x="6537960" y="3639312"/>
            <a:ext cx="10058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紧急维修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6537960" y="3895344"/>
            <a:ext cx="100584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C6B6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≤0年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7863840" y="3639312"/>
            <a:ext cx="1005840" cy="475488"/>
          </a:xfrm>
          <a:prstGeom prst="roundRect">
            <a:avLst>
              <a:gd name="adj" fmla="val 15385"/>
            </a:avLst>
          </a:prstGeom>
          <a:solidFill>
            <a:srgbClr val="C77E1B"/>
          </a:solidFill>
        </p:spPr>
      </p:sp>
      <p:sp>
        <p:nvSpPr>
          <p:cNvPr id="38" name="Text 36"/>
          <p:cNvSpPr/>
          <p:nvPr/>
        </p:nvSpPr>
        <p:spPr>
          <a:xfrm>
            <a:off x="7863840" y="3639312"/>
            <a:ext cx="10058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建议维修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7863840" y="3895344"/>
            <a:ext cx="100584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C6B6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0-4年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9189720" y="3639312"/>
            <a:ext cx="1005840" cy="475488"/>
          </a:xfrm>
          <a:prstGeom prst="roundRect">
            <a:avLst>
              <a:gd name="adj" fmla="val 15385"/>
            </a:avLst>
          </a:prstGeom>
          <a:solidFill>
            <a:srgbClr val="D99E2B"/>
          </a:solidFill>
        </p:spPr>
      </p:sp>
      <p:sp>
        <p:nvSpPr>
          <p:cNvPr id="41" name="Text 39"/>
          <p:cNvSpPr/>
          <p:nvPr/>
        </p:nvSpPr>
        <p:spPr>
          <a:xfrm>
            <a:off x="9189720" y="3639312"/>
            <a:ext cx="10058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需关注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9189720" y="3895344"/>
            <a:ext cx="100584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C6B6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4-7年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10515600" y="3639312"/>
            <a:ext cx="1005840" cy="475488"/>
          </a:xfrm>
          <a:prstGeom prst="roundRect">
            <a:avLst>
              <a:gd name="adj" fmla="val 15385"/>
            </a:avLst>
          </a:prstGeom>
          <a:solidFill>
            <a:srgbClr val="166534"/>
          </a:solidFill>
        </p:spPr>
      </p:sp>
      <p:sp>
        <p:nvSpPr>
          <p:cNvPr id="44" name="Text 42"/>
          <p:cNvSpPr/>
          <p:nvPr/>
        </p:nvSpPr>
        <p:spPr>
          <a:xfrm>
            <a:off x="10515600" y="3639312"/>
            <a:ext cx="10058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正常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10515600" y="3895344"/>
            <a:ext cx="100584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C6B6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&gt;7年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6537960" y="4078224"/>
            <a:ext cx="48463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C6B6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（四级预警）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502920" y="4892040"/>
            <a:ext cx="11201400" cy="1463040"/>
          </a:xfrm>
          <a:prstGeom prst="roundRect">
            <a:avLst>
              <a:gd name="adj" fmla="val 8750"/>
            </a:avLst>
          </a:prstGeom>
          <a:solidFill>
            <a:srgbClr val="FFFFFF"/>
          </a:solidFill>
          <a:ln w="12700">
            <a:solidFill>
              <a:srgbClr val="D6E3DA"/>
            </a:solidFill>
            <a:prstDash val="solid"/>
          </a:ln>
          <a:effectLst>
            <a:outerShdw blurRad="2147483647" dist="2147483647" dir="4" algn="bl" rotWithShape="0">
              <a:srgbClr val="1B4633">
                <a:alpha val="2"/>
              </a:srgbClr>
            </a:outerShdw>
          </a:effectLst>
        </p:spPr>
      </p:sp>
      <p:sp>
        <p:nvSpPr>
          <p:cNvPr id="48" name="Shape 46"/>
          <p:cNvSpPr/>
          <p:nvPr/>
        </p:nvSpPr>
        <p:spPr>
          <a:xfrm>
            <a:off x="731520" y="5047488"/>
            <a:ext cx="1463040" cy="402336"/>
          </a:xfrm>
          <a:prstGeom prst="roundRect">
            <a:avLst>
              <a:gd name="adj" fmla="val 50000"/>
            </a:avLst>
          </a:prstGeom>
          <a:solidFill>
            <a:srgbClr val="C77E1B"/>
          </a:solidFill>
          <a:effectLst>
            <a:outerShdw blurRad="2147483647" dist="2147483647" dir="2" algn="bl" rotWithShape="0">
              <a:srgbClr val="1B4633">
                <a:alpha val="2"/>
              </a:srgbClr>
            </a:outerShdw>
          </a:effectLst>
        </p:spPr>
      </p:sp>
      <p:sp>
        <p:nvSpPr>
          <p:cNvPr id="49" name="Text 47"/>
          <p:cNvSpPr/>
          <p:nvPr/>
        </p:nvSpPr>
        <p:spPr>
          <a:xfrm>
            <a:off x="731520" y="5047488"/>
            <a:ext cx="1463040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公共方法</a:t>
            </a:r>
            <a:endParaRPr lang="en-US" sz="1500" dirty="0"/>
          </a:p>
        </p:txBody>
      </p:sp>
      <p:sp>
        <p:nvSpPr>
          <p:cNvPr id="50" name="Text 48"/>
          <p:cNvSpPr/>
          <p:nvPr/>
        </p:nvSpPr>
        <p:spPr>
          <a:xfrm>
            <a:off x="2377440" y="5029200"/>
            <a:ext cx="2194560" cy="1143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6653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AHP 层次分析</a:t>
            </a:r>
            <a:endParaRPr lang="en-US" sz="1450" dirty="0"/>
          </a:p>
          <a:p>
            <a:pPr marL="0" indent="0">
              <a:buNone/>
            </a:pPr>
            <a:r>
              <a:rPr lang="en-US" sz="1200" dirty="0">
                <a:solidFill>
                  <a:srgbClr val="5C6B6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部件权重打分</a:t>
            </a:r>
            <a:endParaRPr lang="en-US" sz="1450" dirty="0"/>
          </a:p>
        </p:txBody>
      </p:sp>
      <p:sp>
        <p:nvSpPr>
          <p:cNvPr id="51" name="Text 49"/>
          <p:cNvSpPr/>
          <p:nvPr/>
        </p:nvSpPr>
        <p:spPr>
          <a:xfrm>
            <a:off x="4663440" y="5029200"/>
            <a:ext cx="2194560" cy="1143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6653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CDCI 三段退化</a:t>
            </a:r>
            <a:endParaRPr lang="en-US" sz="1450" dirty="0"/>
          </a:p>
          <a:p>
            <a:pPr marL="0" indent="0">
              <a:buNone/>
            </a:pPr>
            <a:r>
              <a:rPr lang="en-US" sz="1200" dirty="0">
                <a:solidFill>
                  <a:srgbClr val="5C6B6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损耗曲线 · 台账重置</a:t>
            </a:r>
            <a:endParaRPr lang="en-US" sz="1450" dirty="0"/>
          </a:p>
        </p:txBody>
      </p:sp>
      <p:sp>
        <p:nvSpPr>
          <p:cNvPr id="52" name="Text 50"/>
          <p:cNvSpPr/>
          <p:nvPr/>
        </p:nvSpPr>
        <p:spPr>
          <a:xfrm>
            <a:off x="6949440" y="5029200"/>
            <a:ext cx="2194560" cy="1143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6653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随机森林</a:t>
            </a:r>
            <a:endParaRPr lang="en-US" sz="1450" dirty="0"/>
          </a:p>
          <a:p>
            <a:pPr marL="0" indent="0">
              <a:buNone/>
            </a:pPr>
            <a:r>
              <a:rPr lang="en-US" sz="1200" dirty="0">
                <a:solidFill>
                  <a:srgbClr val="5C6B6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健康分级预警归因</a:t>
            </a:r>
            <a:endParaRPr lang="en-US" sz="1450" dirty="0"/>
          </a:p>
        </p:txBody>
      </p:sp>
      <p:sp>
        <p:nvSpPr>
          <p:cNvPr id="53" name="Text 51"/>
          <p:cNvSpPr/>
          <p:nvPr/>
        </p:nvSpPr>
        <p:spPr>
          <a:xfrm>
            <a:off x="9235440" y="5029200"/>
            <a:ext cx="2194560" cy="1143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6653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决策融合</a:t>
            </a:r>
            <a:endParaRPr lang="en-US" sz="1450" dirty="0"/>
          </a:p>
          <a:p>
            <a:pPr marL="0" indent="0">
              <a:buNone/>
            </a:pPr>
            <a:r>
              <a:rPr lang="en-US" sz="1200" dirty="0">
                <a:solidFill>
                  <a:srgbClr val="5C6B6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机制+数据 LSTM 双轮</a:t>
            </a:r>
            <a:endParaRPr lang="en-US" sz="1450" dirty="0"/>
          </a:p>
        </p:txBody>
      </p:sp>
      <p:sp>
        <p:nvSpPr>
          <p:cNvPr id="54" name="Text 52"/>
          <p:cNvSpPr/>
          <p:nvPr/>
        </p:nvSpPr>
        <p:spPr>
          <a:xfrm>
            <a:off x="502920" y="6446520"/>
            <a:ext cx="82296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C6B6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健康分定位“该修哪”，寿命预测定位“何时修” —— 智投修复的量化依据</a:t>
            </a:r>
            <a:endParaRPr lang="en-US" sz="1150" dirty="0"/>
          </a:p>
        </p:txBody>
      </p:sp>
      <p:sp>
        <p:nvSpPr>
          <p:cNvPr id="55" name="Text 53"/>
          <p:cNvSpPr/>
          <p:nvPr/>
        </p:nvSpPr>
        <p:spPr>
          <a:xfrm>
            <a:off x="8412480" y="6446520"/>
            <a:ext cx="329184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50" dirty="0">
                <a:solidFill>
                  <a:srgbClr val="5C6B6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宜昌市烟草专卖局（公司）</a:t>
            </a:r>
            <a:endParaRPr lang="en-US" sz="1150" dirty="0"/>
          </a:p>
        </p:txBody>
      </p:sp>
      <p:sp>
        <p:nvSpPr>
          <p:cNvPr id="56" name="Watermark"/>
          <p:cNvSpPr txBox="1"/>
          <p:nvPr/>
        </p:nvSpPr>
        <p:spPr>
          <a:xfrm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90204"/>
                <a:ea typeface="宋体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90204"/>
              <a:ea typeface="宋体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502920" y="502920"/>
            <a:ext cx="1737360" cy="475488"/>
          </a:xfrm>
          <a:prstGeom prst="roundRect">
            <a:avLst>
              <a:gd name="adj" fmla="val 50000"/>
            </a:avLst>
          </a:prstGeom>
          <a:solidFill>
            <a:srgbClr val="14532D"/>
          </a:solidFill>
          <a:effectLst>
            <a:outerShdw blurRad="2147483647" dist="2147483647" dir="1" algn="bl" rotWithShape="0">
              <a:srgbClr val="1B4633">
                <a:alpha val="2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502920" y="502920"/>
            <a:ext cx="173736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模型 ③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2487168" y="365760"/>
            <a:ext cx="905256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430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千亩村发展指数 —— 总公式与单村算例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2505456" y="1115568"/>
            <a:ext cx="91440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C6B6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左：三维度算法结构（怎么算）　右：给一个千亩村算到底（算给评委看）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02920" y="1554480"/>
            <a:ext cx="6720840" cy="4709160"/>
          </a:xfrm>
          <a:prstGeom prst="roundRect">
            <a:avLst>
              <a:gd name="adj" fmla="val 2718"/>
            </a:avLst>
          </a:prstGeom>
          <a:solidFill>
            <a:srgbClr val="FFFFFF"/>
          </a:solidFill>
          <a:ln w="12700">
            <a:solidFill>
              <a:srgbClr val="D6E3DA"/>
            </a:solidFill>
            <a:prstDash val="solid"/>
          </a:ln>
          <a:effectLst>
            <a:outerShdw blurRad="2147483647" dist="2147483647" dir="9" algn="bl" rotWithShape="0">
              <a:srgbClr val="1B4633">
                <a:alpha val="2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77240" y="1737360"/>
            <a:ext cx="6172200" cy="713232"/>
          </a:xfrm>
          <a:prstGeom prst="roundRect">
            <a:avLst>
              <a:gd name="adj" fmla="val 10256"/>
            </a:avLst>
          </a:prstGeom>
          <a:solidFill>
            <a:srgbClr val="14532D"/>
          </a:solidFill>
          <a:effectLst>
            <a:outerShdw blurRad="2147483647" dist="2147483647" dir="5" algn="bl" rotWithShape="0">
              <a:srgbClr val="1B4633">
                <a:alpha val="2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777240" y="1737360"/>
            <a:ext cx="6172200" cy="713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V = 0.50×Hc + 0.30×Lc + 0.20×Dc　　</a:t>
            </a:r>
            <a:r>
              <a:rPr lang="en-US" sz="1500" b="1" dirty="0">
                <a:solidFill>
                  <a:srgbClr val="B8922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新建需求分 N = 100 − V</a:t>
            </a:r>
            <a:endParaRPr lang="en-US" sz="1900" dirty="0"/>
          </a:p>
        </p:txBody>
      </p:sp>
      <p:sp>
        <p:nvSpPr>
          <p:cNvPr id="10" name="Shape 8"/>
          <p:cNvSpPr/>
          <p:nvPr/>
        </p:nvSpPr>
        <p:spPr>
          <a:xfrm>
            <a:off x="777240" y="2578608"/>
            <a:ext cx="617220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6E3D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77240" y="2578608"/>
            <a:ext cx="109728" cy="1188720"/>
          </a:xfrm>
          <a:prstGeom prst="rect">
            <a:avLst/>
          </a:prstGeom>
          <a:solidFill>
            <a:srgbClr val="2E8B6A"/>
          </a:solidFill>
        </p:spPr>
      </p:sp>
      <p:sp>
        <p:nvSpPr>
          <p:cNvPr id="12" name="Text 10"/>
          <p:cNvSpPr/>
          <p:nvPr/>
        </p:nvSpPr>
        <p:spPr>
          <a:xfrm>
            <a:off x="1005840" y="2651760"/>
            <a:ext cx="56692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653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Hc 有效烤能</a:t>
            </a:r>
            <a:r>
              <a:rPr lang="en-US" sz="1500" b="1" dirty="0">
                <a:solidFill>
                  <a:srgbClr val="2E8B6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　50%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005840" y="3017520"/>
            <a:ext cx="5715000" cy="6949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100" dirty="0">
                <a:solidFill>
                  <a:srgbClr val="5C6B6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单栋 E = 健康分/100 × 容量 × 状态（在用1.0·闲置0.4·待修0.1）</a:t>
            </a:r>
            <a:endParaRPr lang="en-US" sz="110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100" dirty="0">
                <a:solidFill>
                  <a:srgbClr val="5C6B6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村级 Q = 在用70% + 闲置20% + 待修10%　Hc = min(100, Q/D×100)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77240" y="3895344"/>
            <a:ext cx="617220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6E3D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77240" y="3895344"/>
            <a:ext cx="109728" cy="1188720"/>
          </a:xfrm>
          <a:prstGeom prst="rect">
            <a:avLst/>
          </a:prstGeom>
          <a:solidFill>
            <a:srgbClr val="C77E1B"/>
          </a:solidFill>
        </p:spPr>
      </p:sp>
      <p:sp>
        <p:nvSpPr>
          <p:cNvPr id="16" name="Text 14"/>
          <p:cNvSpPr/>
          <p:nvPr/>
        </p:nvSpPr>
        <p:spPr>
          <a:xfrm>
            <a:off x="1005840" y="3968496"/>
            <a:ext cx="56692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653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Lc 承载匹配</a:t>
            </a:r>
            <a:r>
              <a:rPr lang="en-US" sz="1500" b="1" dirty="0">
                <a:solidFill>
                  <a:srgbClr val="C77E1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　30%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005840" y="4334256"/>
            <a:ext cx="5715000" cy="6949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100" dirty="0">
                <a:solidFill>
                  <a:srgbClr val="5C6B6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压力比 P = 需求 / 实际承载，按五档映射得分（见右页）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777240" y="5212080"/>
            <a:ext cx="617220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6E3D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77240" y="5212080"/>
            <a:ext cx="109728" cy="1188720"/>
          </a:xfrm>
          <a:prstGeom prst="rect">
            <a:avLst/>
          </a:prstGeom>
          <a:solidFill>
            <a:srgbClr val="B23A24"/>
          </a:solidFill>
        </p:spPr>
      </p:sp>
      <p:sp>
        <p:nvSpPr>
          <p:cNvPr id="20" name="Text 18"/>
          <p:cNvSpPr/>
          <p:nvPr/>
        </p:nvSpPr>
        <p:spPr>
          <a:xfrm>
            <a:off x="1005840" y="5285232"/>
            <a:ext cx="56692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653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Dc 发展因子</a:t>
            </a:r>
            <a:r>
              <a:rPr lang="en-US" sz="1500" b="1" dirty="0">
                <a:solidFill>
                  <a:srgbClr val="B23A2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　20%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1005840" y="5650992"/>
            <a:ext cx="5715000" cy="6949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100" dirty="0">
                <a:solidFill>
                  <a:srgbClr val="5C6B6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五维等权：规模 / 管护缴费 / 政策 / 服务 / 扩张韧性　Dc = 均值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777240" y="5614416"/>
            <a:ext cx="6172200" cy="530352"/>
          </a:xfrm>
          <a:prstGeom prst="roundRect">
            <a:avLst>
              <a:gd name="adj" fmla="val 13793"/>
            </a:avLst>
          </a:prstGeom>
          <a:solidFill>
            <a:srgbClr val="C77E1B"/>
          </a:solidFill>
          <a:effectLst>
            <a:outerShdw blurRad="2147483647" dist="2147483647" dir="3" algn="bl" rotWithShape="0">
              <a:srgbClr val="1B4633">
                <a:alpha val="2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777240" y="5614416"/>
            <a:ext cx="6172200" cy="5303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决策规则：V 越低 → 越需新建补建 ｜ N 越高 → 新建优先级越高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7406640" y="1554480"/>
            <a:ext cx="4279392" cy="4709160"/>
          </a:xfrm>
          <a:prstGeom prst="roundRect">
            <a:avLst>
              <a:gd name="adj" fmla="val 2991"/>
            </a:avLst>
          </a:prstGeom>
          <a:solidFill>
            <a:srgbClr val="FFFFFF"/>
          </a:solidFill>
          <a:ln w="12700">
            <a:solidFill>
              <a:srgbClr val="D6E3DA"/>
            </a:solidFill>
            <a:prstDash val="solid"/>
          </a:ln>
          <a:effectLst>
            <a:outerShdw blurRad="2147483647" dist="2147483647" dir="2" algn="bl" rotWithShape="0">
              <a:srgbClr val="1B4633">
                <a:alpha val="2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7635240" y="1700784"/>
            <a:ext cx="384048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653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单村算例（10 座烤房）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7635240" y="2103120"/>
            <a:ext cx="201168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430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在用 7座·均80分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9646920" y="2103120"/>
            <a:ext cx="182880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50" dirty="0">
                <a:solidFill>
                  <a:srgbClr val="5C6B6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 = 7×80%×50 = 280 担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7635240" y="2523744"/>
            <a:ext cx="201168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430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闲置 2座·均65分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9646920" y="2523744"/>
            <a:ext cx="182880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50" dirty="0">
                <a:solidFill>
                  <a:srgbClr val="5C6B6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B = 2×65%×50×0.4 = 26 担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7635240" y="2944368"/>
            <a:ext cx="201168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430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待修 1座·均45分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9646920" y="2944368"/>
            <a:ext cx="182880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50" dirty="0">
                <a:solidFill>
                  <a:srgbClr val="5C6B6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C = 1×45%×50×0.1 = 2.25 担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7635240" y="3346704"/>
            <a:ext cx="3840480" cy="18288"/>
          </a:xfrm>
          <a:prstGeom prst="rect">
            <a:avLst/>
          </a:prstGeom>
          <a:solidFill>
            <a:srgbClr val="D6E3DA"/>
          </a:solidFill>
        </p:spPr>
      </p:sp>
      <p:sp>
        <p:nvSpPr>
          <p:cNvPr id="33" name="Text 31"/>
          <p:cNvSpPr/>
          <p:nvPr/>
        </p:nvSpPr>
        <p:spPr>
          <a:xfrm>
            <a:off x="7635240" y="3438144"/>
            <a:ext cx="38404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1430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Q = 0.70×280+0.20×26+0.10×2.25 = 201.43 担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7635240" y="3913632"/>
            <a:ext cx="38404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1430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理论需求 D = 450 担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7635240" y="4389120"/>
            <a:ext cx="38404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1430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Hc = min(100, 201.43/450×100) = 44.8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7635240" y="4864608"/>
            <a:ext cx="38404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1430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P = 450/201.43 = 2.23（&gt;1.5）→ Lc = 30 · 严重不足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7635240" y="5340096"/>
            <a:ext cx="38404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1430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Dc = (85+80+70+75+40)/5 = 70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7635240" y="5861304"/>
            <a:ext cx="3840480" cy="749808"/>
          </a:xfrm>
          <a:prstGeom prst="roundRect">
            <a:avLst>
              <a:gd name="adj" fmla="val 9756"/>
            </a:avLst>
          </a:prstGeom>
          <a:solidFill>
            <a:srgbClr val="14532D"/>
          </a:solidFill>
          <a:effectLst>
            <a:outerShdw blurRad="2147483647" dist="2147483647" dir="1" algn="bl" rotWithShape="0">
              <a:srgbClr val="1B4633">
                <a:alpha val="2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7635240" y="5861304"/>
            <a:ext cx="3840480" cy="7498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DCEBE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V = 0.50×44.8+0.30×30+0.20×70 = 45.4
</a:t>
            </a:r>
            <a:r>
              <a:rPr lang="en-US" sz="125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→ N = 100−45.4 = 54.6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7635240" y="6702552"/>
            <a:ext cx="384048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rgbClr val="B23A2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缺口 ≈ 450−201 = 249 担 → 建议优先配建（约建5座）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502920" y="6446520"/>
            <a:ext cx="822960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C6B6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三层递进：有效烤能 ⊙ 承载匹配 ⊙ 发展潜力 —— 从“数据”直接走到“建几座”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8686800" y="6446520"/>
            <a:ext cx="301752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C6B6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宜昌市烟草专卖局（公司）</a:t>
            </a:r>
            <a:endParaRPr lang="en-US" sz="1100" dirty="0"/>
          </a:p>
        </p:txBody>
      </p:sp>
      <p:sp>
        <p:nvSpPr>
          <p:cNvPr id="43" name="Watermark"/>
          <p:cNvSpPr txBox="1"/>
          <p:nvPr/>
        </p:nvSpPr>
        <p:spPr>
          <a:xfrm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90204"/>
                <a:ea typeface="宋体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90204"/>
              <a:ea typeface="宋体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502920" y="502920"/>
            <a:ext cx="1737360" cy="475488"/>
          </a:xfrm>
          <a:prstGeom prst="roundRect">
            <a:avLst>
              <a:gd name="adj" fmla="val 50000"/>
            </a:avLst>
          </a:prstGeom>
          <a:solidFill>
            <a:srgbClr val="14532D"/>
          </a:solidFill>
          <a:effectLst>
            <a:outerShdw blurRad="2147483647" dist="2147483647" dir="7" algn="bl" rotWithShape="0">
              <a:srgbClr val="1B4633">
                <a:alpha val="2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502920" y="502920"/>
            <a:ext cx="173736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模型 ③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2487168" y="365760"/>
            <a:ext cx="905256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430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千亩村发展指数 —— 判定层级与公共方法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2505456" y="1115568"/>
            <a:ext cx="91440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C6B6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承载匹配五档把“紧不紧张”量化成可比较的分数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02920" y="1554480"/>
            <a:ext cx="6720840" cy="4709160"/>
          </a:xfrm>
          <a:prstGeom prst="roundRect">
            <a:avLst>
              <a:gd name="adj" fmla="val 2718"/>
            </a:avLst>
          </a:prstGeom>
          <a:solidFill>
            <a:srgbClr val="FFFFFF"/>
          </a:solidFill>
          <a:ln w="12700">
            <a:solidFill>
              <a:srgbClr val="D6E3DA"/>
            </a:solidFill>
            <a:prstDash val="solid"/>
          </a:ln>
          <a:effectLst>
            <a:outerShdw blurRad="2147483647" dist="2147483647" dir="4" algn="bl" rotWithShape="0">
              <a:srgbClr val="1B4633">
                <a:alpha val="2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77240" y="1737360"/>
            <a:ext cx="612648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6653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承载匹配 Lc · 五档判定层级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777240" y="2212848"/>
            <a:ext cx="6126480" cy="658368"/>
          </a:xfrm>
          <a:prstGeom prst="roundRect">
            <a:avLst>
              <a:gd name="adj" fmla="val 11111"/>
            </a:avLst>
          </a:prstGeom>
          <a:solidFill>
            <a:srgbClr val="2E8B6A"/>
          </a:solidFill>
          <a:effectLst>
            <a:outerShdw blurRad="2147483647" dist="2147483647" dir="2" algn="bl" rotWithShape="0">
              <a:srgbClr val="1B4633">
                <a:alpha val="2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777240" y="2212848"/>
            <a:ext cx="137160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P ≤ 0.85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2240280" y="2212848"/>
            <a:ext cx="237744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100 分 · 烤能富余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663440" y="2212848"/>
            <a:ext cx="210312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F0F7F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存量优化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77240" y="2980944"/>
            <a:ext cx="5146243" cy="658368"/>
          </a:xfrm>
          <a:prstGeom prst="roundRect">
            <a:avLst>
              <a:gd name="adj" fmla="val 11111"/>
            </a:avLst>
          </a:prstGeom>
          <a:solidFill>
            <a:srgbClr val="5FB292"/>
          </a:solidFill>
          <a:effectLst>
            <a:outerShdw blurRad="2147483647" dist="2147483647" dir="1" algn="bl" rotWithShape="0">
              <a:srgbClr val="1B4633">
                <a:alpha val="2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77240" y="2980944"/>
            <a:ext cx="137160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0.85-1.0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2240280" y="2980944"/>
            <a:ext cx="237744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85 分 · 供需匹配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663440" y="2980944"/>
            <a:ext cx="210312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F0F7F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动态平衡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77240" y="3749040"/>
            <a:ext cx="4166006" cy="658368"/>
          </a:xfrm>
          <a:prstGeom prst="roundRect">
            <a:avLst>
              <a:gd name="adj" fmla="val 11111"/>
            </a:avLst>
          </a:prstGeom>
          <a:solidFill>
            <a:srgbClr val="F39C12"/>
          </a:solidFill>
          <a:effectLst>
            <a:outerShdw blurRad="2147483647" dist="2147483647" dir="1" algn="bl" rotWithShape="0">
              <a:srgbClr val="1B4633">
                <a:alpha val="2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777240" y="3749040"/>
            <a:ext cx="137160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1.0-1.2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2240280" y="3749040"/>
            <a:ext cx="237744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70 分 · 略紧张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663440" y="3749040"/>
            <a:ext cx="210312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F0F7F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择机扩建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777240" y="4517136"/>
            <a:ext cx="3185770" cy="658368"/>
          </a:xfrm>
          <a:prstGeom prst="roundRect">
            <a:avLst>
              <a:gd name="adj" fmla="val 11111"/>
            </a:avLst>
          </a:prstGeom>
          <a:solidFill>
            <a:srgbClr val="C77E1B"/>
          </a:solidFill>
          <a:effectLst>
            <a:outerShdw blurRad="2147483647" dist="2147483647" dir="6" algn="bl" rotWithShape="0">
              <a:srgbClr val="1B4633">
                <a:alpha val="2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777240" y="4517136"/>
            <a:ext cx="137160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1.2-1.5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2240280" y="4517136"/>
            <a:ext cx="237744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50 分 · 明显紧张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663440" y="4517136"/>
            <a:ext cx="210312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F0F7F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启动新建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777240" y="5285232"/>
            <a:ext cx="6126480" cy="658368"/>
          </a:xfrm>
          <a:prstGeom prst="roundRect">
            <a:avLst>
              <a:gd name="adj" fmla="val 11111"/>
            </a:avLst>
          </a:prstGeom>
          <a:solidFill>
            <a:srgbClr val="B23A24"/>
          </a:solidFill>
          <a:effectLst>
            <a:outerShdw blurRad="2147483647" dist="2147483647" dir="3" algn="bl" rotWithShape="0">
              <a:srgbClr val="1B4633">
                <a:alpha val="2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777240" y="5285232"/>
            <a:ext cx="137160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&gt; 1.5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2240280" y="5285232"/>
            <a:ext cx="237744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30 分 · 严重不足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663440" y="5285232"/>
            <a:ext cx="210312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F0F7F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紧急建设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777240" y="5650992"/>
            <a:ext cx="6126480" cy="512064"/>
          </a:xfrm>
          <a:prstGeom prst="roundRect">
            <a:avLst>
              <a:gd name="adj" fmla="val 14286"/>
            </a:avLst>
          </a:prstGeom>
          <a:solidFill>
            <a:srgbClr val="14532D"/>
          </a:solidFill>
          <a:effectLst>
            <a:outerShdw blurRad="2147483647" dist="2147483647" dir="2" algn="bl" rotWithShape="0">
              <a:srgbClr val="1B4633">
                <a:alpha val="2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777240" y="5650992"/>
            <a:ext cx="6126480" cy="5120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越靠右越“紧张” → 越该优先新建；Lc 越低 → 拖低 V → 抬高 N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7406640" y="1554480"/>
            <a:ext cx="4279392" cy="4709160"/>
          </a:xfrm>
          <a:prstGeom prst="roundRect">
            <a:avLst>
              <a:gd name="adj" fmla="val 2991"/>
            </a:avLst>
          </a:prstGeom>
          <a:solidFill>
            <a:srgbClr val="FFFFFF"/>
          </a:solidFill>
          <a:ln w="12700">
            <a:solidFill>
              <a:srgbClr val="D6E3DA"/>
            </a:solidFill>
            <a:prstDash val="solid"/>
          </a:ln>
          <a:effectLst>
            <a:outerShdw blurRad="2147483647" dist="2147483647" dir="1" algn="bl" rotWithShape="0">
              <a:srgbClr val="1B4633">
                <a:alpha val="2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7635240" y="1737360"/>
            <a:ext cx="384048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6653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公共方法</a:t>
            </a:r>
            <a:endParaRPr lang="en-US" sz="1700" dirty="0"/>
          </a:p>
        </p:txBody>
      </p:sp>
      <p:sp>
        <p:nvSpPr>
          <p:cNvPr id="33" name="Shape 31"/>
          <p:cNvSpPr/>
          <p:nvPr/>
        </p:nvSpPr>
        <p:spPr>
          <a:xfrm>
            <a:off x="7635240" y="2231136"/>
            <a:ext cx="3840480" cy="914400"/>
          </a:xfrm>
          <a:prstGeom prst="roundRect">
            <a:avLst>
              <a:gd name="adj" fmla="val 10000"/>
            </a:avLst>
          </a:prstGeom>
          <a:solidFill>
            <a:srgbClr val="E7F2EA"/>
          </a:solidFill>
          <a:ln w="12700">
            <a:solidFill>
              <a:srgbClr val="D6E3DA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7635240" y="2231136"/>
            <a:ext cx="91440" cy="914400"/>
          </a:xfrm>
          <a:prstGeom prst="rect">
            <a:avLst/>
          </a:prstGeom>
          <a:solidFill>
            <a:srgbClr val="C77E1B"/>
          </a:solidFill>
        </p:spPr>
      </p:sp>
      <p:sp>
        <p:nvSpPr>
          <p:cNvPr id="35" name="Text 33"/>
          <p:cNvSpPr/>
          <p:nvPr/>
        </p:nvSpPr>
        <p:spPr>
          <a:xfrm>
            <a:off x="7863840" y="2340864"/>
            <a:ext cx="347472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653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熵权法</a:t>
            </a:r>
            <a:endParaRPr lang="en-US" sz="1500" dirty="0"/>
          </a:p>
        </p:txBody>
      </p:sp>
      <p:sp>
        <p:nvSpPr>
          <p:cNvPr id="36" name="Text 34"/>
          <p:cNvSpPr/>
          <p:nvPr/>
        </p:nvSpPr>
        <p:spPr>
          <a:xfrm>
            <a:off x="7863840" y="2688336"/>
            <a:ext cx="34747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rgbClr val="5C6B6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从数据客观求权重，减少人为拍板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7635240" y="3273552"/>
            <a:ext cx="3840480" cy="914400"/>
          </a:xfrm>
          <a:prstGeom prst="roundRect">
            <a:avLst>
              <a:gd name="adj" fmla="val 10000"/>
            </a:avLst>
          </a:prstGeom>
          <a:solidFill>
            <a:srgbClr val="E7F2EA"/>
          </a:solidFill>
          <a:ln w="12700">
            <a:solidFill>
              <a:srgbClr val="D6E3DA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635240" y="3273552"/>
            <a:ext cx="91440" cy="914400"/>
          </a:xfrm>
          <a:prstGeom prst="rect">
            <a:avLst/>
          </a:prstGeom>
          <a:solidFill>
            <a:srgbClr val="C77E1B"/>
          </a:solidFill>
        </p:spPr>
      </p:sp>
      <p:sp>
        <p:nvSpPr>
          <p:cNvPr id="39" name="Text 37"/>
          <p:cNvSpPr/>
          <p:nvPr/>
        </p:nvSpPr>
        <p:spPr>
          <a:xfrm>
            <a:off x="7863840" y="3383280"/>
            <a:ext cx="347472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653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AHP 层次分析</a:t>
            </a:r>
            <a:endParaRPr lang="en-US" sz="1500" dirty="0"/>
          </a:p>
        </p:txBody>
      </p:sp>
      <p:sp>
        <p:nvSpPr>
          <p:cNvPr id="40" name="Text 38"/>
          <p:cNvSpPr/>
          <p:nvPr/>
        </p:nvSpPr>
        <p:spPr>
          <a:xfrm>
            <a:off x="7863840" y="3730752"/>
            <a:ext cx="34747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rgbClr val="5C6B6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专家主观校正，主客观权重融合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7635240" y="4315968"/>
            <a:ext cx="3840480" cy="914400"/>
          </a:xfrm>
          <a:prstGeom prst="roundRect">
            <a:avLst>
              <a:gd name="adj" fmla="val 10000"/>
            </a:avLst>
          </a:prstGeom>
          <a:solidFill>
            <a:srgbClr val="E7F2EA"/>
          </a:solidFill>
          <a:ln w="12700">
            <a:solidFill>
              <a:srgbClr val="D6E3DA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7635240" y="4315968"/>
            <a:ext cx="91440" cy="914400"/>
          </a:xfrm>
          <a:prstGeom prst="rect">
            <a:avLst/>
          </a:prstGeom>
          <a:solidFill>
            <a:srgbClr val="C77E1B"/>
          </a:solidFill>
        </p:spPr>
      </p:sp>
      <p:sp>
        <p:nvSpPr>
          <p:cNvPr id="43" name="Text 41"/>
          <p:cNvSpPr/>
          <p:nvPr/>
        </p:nvSpPr>
        <p:spPr>
          <a:xfrm>
            <a:off x="7863840" y="4425696"/>
            <a:ext cx="347472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653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TOPSIS 排序</a:t>
            </a:r>
            <a:endParaRPr lang="en-US" sz="1500" dirty="0"/>
          </a:p>
        </p:txBody>
      </p:sp>
      <p:sp>
        <p:nvSpPr>
          <p:cNvPr id="44" name="Text 42"/>
          <p:cNvSpPr/>
          <p:nvPr/>
        </p:nvSpPr>
        <p:spPr>
          <a:xfrm>
            <a:off x="7863840" y="4773168"/>
            <a:ext cx="34747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rgbClr val="5C6B6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候选村点位多目标比选，逼近理想解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7635240" y="5358384"/>
            <a:ext cx="3840480" cy="914400"/>
          </a:xfrm>
          <a:prstGeom prst="roundRect">
            <a:avLst>
              <a:gd name="adj" fmla="val 10000"/>
            </a:avLst>
          </a:prstGeom>
          <a:solidFill>
            <a:srgbClr val="E7F2EA"/>
          </a:solidFill>
          <a:ln w="12700">
            <a:solidFill>
              <a:srgbClr val="D6E3DA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7635240" y="5358384"/>
            <a:ext cx="91440" cy="914400"/>
          </a:xfrm>
          <a:prstGeom prst="rect">
            <a:avLst/>
          </a:prstGeom>
          <a:solidFill>
            <a:srgbClr val="C77E1B"/>
          </a:solidFill>
        </p:spPr>
      </p:sp>
      <p:sp>
        <p:nvSpPr>
          <p:cNvPr id="47" name="Text 45"/>
          <p:cNvSpPr/>
          <p:nvPr/>
        </p:nvSpPr>
        <p:spPr>
          <a:xfrm>
            <a:off x="7863840" y="5468112"/>
            <a:ext cx="347472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653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发展因子五维</a:t>
            </a:r>
            <a:endParaRPr lang="en-US" sz="1500" dirty="0"/>
          </a:p>
        </p:txBody>
      </p:sp>
      <p:sp>
        <p:nvSpPr>
          <p:cNvPr id="48" name="Text 46"/>
          <p:cNvSpPr/>
          <p:nvPr/>
        </p:nvSpPr>
        <p:spPr>
          <a:xfrm>
            <a:off x="7863840" y="5815584"/>
            <a:ext cx="34747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rgbClr val="5C6B6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规模 / 管护缴费 / 政策 / 服务 / 扩张韧性</a:t>
            </a:r>
            <a:endParaRPr lang="en-US" sz="1050" dirty="0"/>
          </a:p>
        </p:txBody>
      </p:sp>
      <p:sp>
        <p:nvSpPr>
          <p:cNvPr id="49" name="Shape 47"/>
          <p:cNvSpPr/>
          <p:nvPr/>
        </p:nvSpPr>
        <p:spPr>
          <a:xfrm>
            <a:off x="7635240" y="5614416"/>
            <a:ext cx="3840480" cy="512064"/>
          </a:xfrm>
          <a:prstGeom prst="roundRect">
            <a:avLst>
              <a:gd name="adj" fmla="val 14286"/>
            </a:avLst>
          </a:prstGeom>
          <a:solidFill>
            <a:srgbClr val="E7F2EA"/>
          </a:solidFill>
          <a:ln w="12700">
            <a:solidFill>
              <a:srgbClr val="2E8B6A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7635240" y="5614416"/>
            <a:ext cx="3840480" cy="5120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6653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衔接：模型③直接复用模型①②的健康分与寿命作为输入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502920" y="6446520"/>
            <a:ext cx="822960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C6B6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三大模型串成闭环：健康分 → 剩余寿命 → 新建/修复决策 —— 从经验拍板走向数据驱动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8686800" y="6446520"/>
            <a:ext cx="301752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C6B6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宜昌市烟草专卖局（公司）</a:t>
            </a:r>
            <a:endParaRPr lang="en-US" sz="1100" dirty="0"/>
          </a:p>
        </p:txBody>
      </p:sp>
      <p:sp>
        <p:nvSpPr>
          <p:cNvPr id="53" name="Watermark"/>
          <p:cNvSpPr txBox="1"/>
          <p:nvPr/>
        </p:nvSpPr>
        <p:spPr>
          <a:xfrm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90204"/>
                <a:ea typeface="宋体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90204"/>
              <a:ea typeface="宋体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502920" y="502920"/>
            <a:ext cx="1737360" cy="475488"/>
          </a:xfrm>
          <a:prstGeom prst="roundRect">
            <a:avLst>
              <a:gd name="adj" fmla="val 50000"/>
            </a:avLst>
          </a:prstGeom>
          <a:solidFill>
            <a:srgbClr val="14532D"/>
          </a:solidFill>
          <a:effectLst>
            <a:outerShdw blurRad="2147483647" dist="2147483647" dir="2" algn="bl" rotWithShape="0">
              <a:srgbClr val="1B4633">
                <a:alpha val="2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502920" y="502920"/>
            <a:ext cx="173736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模型 ②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2468880" y="365760"/>
            <a:ext cx="905256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430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千亩村发展指数 —— 总公式与单村算例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2487168" y="1115568"/>
            <a:ext cx="91440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C6B6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左：三维度算法结构（怎么算）　右：给一个千亩村算到底（算给评委看）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02920" y="1554480"/>
            <a:ext cx="6720840" cy="4709160"/>
          </a:xfrm>
          <a:prstGeom prst="roundRect">
            <a:avLst>
              <a:gd name="adj" fmla="val 2718"/>
            </a:avLst>
          </a:prstGeom>
          <a:solidFill>
            <a:srgbClr val="FFFFFF"/>
          </a:solidFill>
          <a:ln w="12700">
            <a:solidFill>
              <a:srgbClr val="D6E3DA"/>
            </a:solidFill>
            <a:prstDash val="solid"/>
          </a:ln>
          <a:effectLst>
            <a:outerShdw blurRad="2147483647" dist="2147483647" dir="1" algn="bl" rotWithShape="0">
              <a:srgbClr val="1B4633">
                <a:alpha val="2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77240" y="1737360"/>
            <a:ext cx="6172200" cy="713232"/>
          </a:xfrm>
          <a:prstGeom prst="roundRect">
            <a:avLst>
              <a:gd name="adj" fmla="val 10256"/>
            </a:avLst>
          </a:prstGeom>
          <a:solidFill>
            <a:srgbClr val="14532D"/>
          </a:solidFill>
          <a:effectLst>
            <a:outerShdw blurRad="2147483647" dist="2147483647" dir="9" algn="bl" rotWithShape="0">
              <a:srgbClr val="1B4633">
                <a:alpha val="2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777240" y="1737360"/>
            <a:ext cx="6172200" cy="713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V = 0.50×Hc + 0.30×Lc + 0.20×Dc　　</a:t>
            </a:r>
            <a:endParaRPr lang="en-US" sz="1900" b="1" dirty="0">
              <a:solidFill>
                <a:srgbClr val="FFFFFF"/>
              </a:solidFill>
              <a:latin typeface="微软雅黑" pitchFamily="34" charset="0"/>
              <a:ea typeface="微软雅黑" pitchFamily="34" charset="-122"/>
              <a:cs typeface="微软雅黑" pitchFamily="34" charset="-120"/>
            </a:endParaRPr>
          </a:p>
          <a:p>
            <a:pPr marL="0" indent="0" algn="ctr">
              <a:buNone/>
            </a:pPr>
            <a:r>
              <a:rPr lang="en-US" sz="1500" b="1" dirty="0">
                <a:solidFill>
                  <a:srgbClr val="B8922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新建需求分 N = 100 − V</a:t>
            </a:r>
            <a:endParaRPr lang="en-US" sz="1900" dirty="0"/>
          </a:p>
        </p:txBody>
      </p:sp>
      <p:sp>
        <p:nvSpPr>
          <p:cNvPr id="10" name="Shape 8"/>
          <p:cNvSpPr/>
          <p:nvPr/>
        </p:nvSpPr>
        <p:spPr>
          <a:xfrm>
            <a:off x="777240" y="2578608"/>
            <a:ext cx="617220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6E3D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77240" y="2578608"/>
            <a:ext cx="109728" cy="1188720"/>
          </a:xfrm>
          <a:prstGeom prst="rect">
            <a:avLst/>
          </a:prstGeom>
          <a:solidFill>
            <a:srgbClr val="2E8B6A"/>
          </a:solidFill>
        </p:spPr>
      </p:sp>
      <p:sp>
        <p:nvSpPr>
          <p:cNvPr id="12" name="Text 10"/>
          <p:cNvSpPr/>
          <p:nvPr/>
        </p:nvSpPr>
        <p:spPr>
          <a:xfrm>
            <a:off x="1005840" y="2651760"/>
            <a:ext cx="56692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653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Hc 有效烤能</a:t>
            </a:r>
            <a:r>
              <a:rPr lang="en-US" sz="1500" b="1" dirty="0">
                <a:solidFill>
                  <a:srgbClr val="2E8B6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　50%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005840" y="3017520"/>
            <a:ext cx="5715000" cy="6949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100" dirty="0">
                <a:solidFill>
                  <a:srgbClr val="5C6B6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单栋 E = 健康分/100 × 容量 × 状态折算（在用1.0·闲置0.4·待修0.1）</a:t>
            </a:r>
            <a:endParaRPr lang="en-US" sz="110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100" dirty="0">
                <a:solidFill>
                  <a:srgbClr val="5C6B6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村级 Q = 在用的70% + 闲置B的20% + 待修C的10%</a:t>
            </a:r>
            <a:endParaRPr lang="en-US" sz="110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100" dirty="0">
                <a:solidFill>
                  <a:srgbClr val="5C6B6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Hc = min(100, Q / D × 100)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77240" y="3895344"/>
            <a:ext cx="617220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6E3D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77240" y="3895344"/>
            <a:ext cx="109728" cy="1188720"/>
          </a:xfrm>
          <a:prstGeom prst="rect">
            <a:avLst/>
          </a:prstGeom>
          <a:solidFill>
            <a:srgbClr val="C77E1B"/>
          </a:solidFill>
        </p:spPr>
      </p:sp>
      <p:sp>
        <p:nvSpPr>
          <p:cNvPr id="16" name="Text 14"/>
          <p:cNvSpPr/>
          <p:nvPr/>
        </p:nvSpPr>
        <p:spPr>
          <a:xfrm>
            <a:off x="1005840" y="3968496"/>
            <a:ext cx="56692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653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Lc 承载匹配</a:t>
            </a:r>
            <a:r>
              <a:rPr lang="en-US" sz="1500" b="1" dirty="0">
                <a:solidFill>
                  <a:srgbClr val="C77E1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　30%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005840" y="4334256"/>
            <a:ext cx="5715000" cy="6949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100" dirty="0">
                <a:solidFill>
                  <a:srgbClr val="5C6B6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压力比 P = 需求设备 / 实际承载</a:t>
            </a:r>
            <a:endParaRPr lang="en-US" sz="110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100" dirty="0">
                <a:solidFill>
                  <a:srgbClr val="5C6B6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按 P 值五档映射得分（见右页判定层级）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777240" y="5212080"/>
            <a:ext cx="617220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6E3D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77240" y="5212080"/>
            <a:ext cx="109728" cy="1188720"/>
          </a:xfrm>
          <a:prstGeom prst="rect">
            <a:avLst/>
          </a:prstGeom>
          <a:solidFill>
            <a:srgbClr val="B23A24"/>
          </a:solidFill>
        </p:spPr>
      </p:sp>
      <p:sp>
        <p:nvSpPr>
          <p:cNvPr id="20" name="Text 18"/>
          <p:cNvSpPr/>
          <p:nvPr/>
        </p:nvSpPr>
        <p:spPr>
          <a:xfrm>
            <a:off x="1005840" y="5285232"/>
            <a:ext cx="56692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653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Dc 发展因子</a:t>
            </a:r>
            <a:r>
              <a:rPr lang="en-US" sz="1500" b="1" dirty="0">
                <a:solidFill>
                  <a:srgbClr val="B23A2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　20%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1005840" y="5650992"/>
            <a:ext cx="5715000" cy="6949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100" dirty="0">
                <a:solidFill>
                  <a:srgbClr val="5C6B6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五维等权：规模 / 管护缴费 / 政策 / 服务 / 扩张韧性</a:t>
            </a:r>
            <a:endParaRPr lang="en-US" sz="110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100" dirty="0">
                <a:solidFill>
                  <a:srgbClr val="5C6B6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Dc = Σ五维得分 ÷ 5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777240" y="5614416"/>
            <a:ext cx="6172200" cy="530352"/>
          </a:xfrm>
          <a:prstGeom prst="roundRect">
            <a:avLst>
              <a:gd name="adj" fmla="val 13793"/>
            </a:avLst>
          </a:prstGeom>
          <a:solidFill>
            <a:srgbClr val="C77E1B"/>
          </a:solidFill>
          <a:effectLst>
            <a:outerShdw blurRad="2147483647" dist="2147483647" dir="5" algn="bl" rotWithShape="0">
              <a:srgbClr val="1B4633">
                <a:alpha val="2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777240" y="5614416"/>
            <a:ext cx="6172200" cy="5303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决策规则：V 越低 → 越需新建补建 ｜ N 越高 → 新建优先级越高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7406640" y="1554480"/>
            <a:ext cx="4279392" cy="4709160"/>
          </a:xfrm>
          <a:prstGeom prst="roundRect">
            <a:avLst>
              <a:gd name="adj" fmla="val 2991"/>
            </a:avLst>
          </a:prstGeom>
          <a:solidFill>
            <a:srgbClr val="FFFFFF"/>
          </a:solidFill>
          <a:ln w="12700">
            <a:solidFill>
              <a:srgbClr val="D6E3DA"/>
            </a:solidFill>
            <a:prstDash val="solid"/>
          </a:ln>
          <a:effectLst>
            <a:outerShdw blurRad="2147483647" dist="2147483647" dir="3" algn="bl" rotWithShape="0">
              <a:srgbClr val="1B4633">
                <a:alpha val="2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7635240" y="1700784"/>
            <a:ext cx="384048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653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单村算例（10 座烤房）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7635240" y="2103120"/>
            <a:ext cx="201168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430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在用 7座·均80分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9646920" y="2103120"/>
            <a:ext cx="182880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50" dirty="0">
                <a:solidFill>
                  <a:srgbClr val="5C6B6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 = 7×80%×50 = 280 担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7635240" y="2523744"/>
            <a:ext cx="201168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430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闲置 2座·均65分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9646920" y="2523744"/>
            <a:ext cx="182880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50" dirty="0">
                <a:solidFill>
                  <a:srgbClr val="5C6B6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B = 2×65%×50×0.4 = 26 担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7635240" y="2944368"/>
            <a:ext cx="201168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430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待修 1座·均45分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9646920" y="2944368"/>
            <a:ext cx="182880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50" dirty="0">
                <a:solidFill>
                  <a:srgbClr val="5C6B6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C = 1×45%×50×0.1 = 2.25 担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7635240" y="3346704"/>
            <a:ext cx="3840480" cy="18288"/>
          </a:xfrm>
          <a:prstGeom prst="rect">
            <a:avLst/>
          </a:prstGeom>
          <a:solidFill>
            <a:srgbClr val="D6E3DA"/>
          </a:solidFill>
        </p:spPr>
      </p:sp>
      <p:sp>
        <p:nvSpPr>
          <p:cNvPr id="33" name="Text 31"/>
          <p:cNvSpPr/>
          <p:nvPr/>
        </p:nvSpPr>
        <p:spPr>
          <a:xfrm>
            <a:off x="7635240" y="3438144"/>
            <a:ext cx="38404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1430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Q = 0.70×280+0.20×26+0.10×2.25 = 201.43 担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7635240" y="3913632"/>
            <a:ext cx="38404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1430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理论需求 D = 450 担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7635240" y="4389120"/>
            <a:ext cx="38404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1430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Hc = min(100, 201.43/450×100) = 44.8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7635240" y="4864608"/>
            <a:ext cx="38404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1430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压力比 P = 450/201.43 = 2.23（&gt;1.5）→ Lc = 30 · 严重不足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7635240" y="5340096"/>
            <a:ext cx="38404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1430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Dc = 五维均值 = (85+80+70+75+40)/5 = 70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7635240" y="5861304"/>
            <a:ext cx="3840480" cy="749808"/>
          </a:xfrm>
          <a:prstGeom prst="roundRect">
            <a:avLst>
              <a:gd name="adj" fmla="val 9756"/>
            </a:avLst>
          </a:prstGeom>
          <a:solidFill>
            <a:srgbClr val="14532D"/>
          </a:solidFill>
          <a:effectLst>
            <a:outerShdw blurRad="2147483647" dist="2147483647" dir="2" algn="bl" rotWithShape="0">
              <a:srgbClr val="1B4633">
                <a:alpha val="2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7635240" y="5861304"/>
            <a:ext cx="3840480" cy="7498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DCEBE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V = 0.50×44.8 + 0.30×30 + 0.20×70
</a:t>
            </a:r>
            <a:r>
              <a:rPr lang="en-US" sz="125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= 22.4 + 9 + 14 = 45.4　→　N = 100−45.4 = 54.6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7070725" y="6576695"/>
            <a:ext cx="4404995" cy="38417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rgbClr val="B23A2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缺口 ≈ 450−201 = 249 担 → 建议优先配建（≈50担/座 → 约建5座）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502920" y="6446520"/>
            <a:ext cx="822960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C6B6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三层递进：有效烤能 ⊙ 承载匹配 ⊙ 发展潜力 —— 从“数据”直接走到“要不要建、建几座”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8686800" y="6446520"/>
            <a:ext cx="301752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C6B6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宜昌市烟草专卖局（公司）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502920" y="502920"/>
            <a:ext cx="1737360" cy="475488"/>
          </a:xfrm>
          <a:prstGeom prst="roundRect">
            <a:avLst>
              <a:gd name="adj" fmla="val 50000"/>
            </a:avLst>
          </a:prstGeom>
          <a:solidFill>
            <a:srgbClr val="14532D"/>
          </a:solidFill>
          <a:effectLst>
            <a:outerShdw blurRad="2147483647" dist="2147483647" dir="1" algn="bl" rotWithShape="0">
              <a:srgbClr val="1B4633">
                <a:alpha val="2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502920" y="502920"/>
            <a:ext cx="173736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模型 ②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2468880" y="365760"/>
            <a:ext cx="905256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430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千亩村发展指数 —— 判定层级与公共方法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2487168" y="1115568"/>
            <a:ext cx="91440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C6B6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承载匹配五档把“紧不紧张”量化成可比较的分数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02920" y="1554480"/>
            <a:ext cx="6720840" cy="4709160"/>
          </a:xfrm>
          <a:prstGeom prst="roundRect">
            <a:avLst>
              <a:gd name="adj" fmla="val 2718"/>
            </a:avLst>
          </a:prstGeom>
          <a:solidFill>
            <a:srgbClr val="FFFFFF"/>
          </a:solidFill>
          <a:ln w="12700">
            <a:solidFill>
              <a:srgbClr val="D6E3DA"/>
            </a:solidFill>
            <a:prstDash val="solid"/>
          </a:ln>
          <a:effectLst>
            <a:outerShdw blurRad="2147483647" dist="2147483647" dir="7" algn="bl" rotWithShape="0">
              <a:srgbClr val="1B4633">
                <a:alpha val="2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77240" y="1737360"/>
            <a:ext cx="612648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6653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承载匹配 Lc · 五档判定层级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777240" y="2212848"/>
            <a:ext cx="6126480" cy="658368"/>
          </a:xfrm>
          <a:prstGeom prst="roundRect">
            <a:avLst>
              <a:gd name="adj" fmla="val 11111"/>
            </a:avLst>
          </a:prstGeom>
          <a:solidFill>
            <a:srgbClr val="2E8B6A"/>
          </a:solidFill>
          <a:effectLst>
            <a:outerShdw blurRad="2147483647" dist="2147483647" dir="4" algn="bl" rotWithShape="0">
              <a:srgbClr val="1B4633">
                <a:alpha val="2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777240" y="2212848"/>
            <a:ext cx="137160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P ≤ 0.85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2286000" y="2212848"/>
            <a:ext cx="210312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100 分 · 烤能富余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26280" y="2212848"/>
            <a:ext cx="228600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F0F7F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存量优化，无需新建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777240" y="2980944"/>
            <a:ext cx="5207508" cy="658368"/>
          </a:xfrm>
          <a:prstGeom prst="roundRect">
            <a:avLst>
              <a:gd name="adj" fmla="val 11111"/>
            </a:avLst>
          </a:prstGeom>
          <a:solidFill>
            <a:srgbClr val="5FB292"/>
          </a:solidFill>
          <a:effectLst>
            <a:outerShdw blurRad="2147483647" dist="2147483647" dir="2" algn="bl" rotWithShape="0">
              <a:srgbClr val="1B4633">
                <a:alpha val="2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77240" y="2980944"/>
            <a:ext cx="137160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0.85 - 1.0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2286000" y="2980944"/>
            <a:ext cx="210312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85 分 · 供需匹配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26280" y="2980944"/>
            <a:ext cx="228600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F0F7F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动态平衡，预防性维护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777240" y="3749040"/>
            <a:ext cx="4288536" cy="658368"/>
          </a:xfrm>
          <a:prstGeom prst="roundRect">
            <a:avLst>
              <a:gd name="adj" fmla="val 11111"/>
            </a:avLst>
          </a:prstGeom>
          <a:solidFill>
            <a:srgbClr val="F39C12"/>
          </a:solidFill>
          <a:effectLst>
            <a:outerShdw blurRad="2147483647" dist="2147483647" dir="1" algn="bl" rotWithShape="0">
              <a:srgbClr val="1B4633">
                <a:alpha val="2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777240" y="3749040"/>
            <a:ext cx="137160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1.0 - 1.2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2286000" y="3749040"/>
            <a:ext cx="210312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70 分 · 略紧张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526280" y="3749040"/>
            <a:ext cx="228600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F0F7F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关注瓶颈，择机扩建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777240" y="4517136"/>
            <a:ext cx="3369564" cy="658368"/>
          </a:xfrm>
          <a:prstGeom prst="roundRect">
            <a:avLst>
              <a:gd name="adj" fmla="val 11111"/>
            </a:avLst>
          </a:prstGeom>
          <a:solidFill>
            <a:srgbClr val="C77E1B"/>
          </a:solidFill>
          <a:effectLst>
            <a:outerShdw blurRad="2147483647" dist="2147483647" dir="9" algn="bl" rotWithShape="0">
              <a:srgbClr val="1B4633">
                <a:alpha val="2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777240" y="4517136"/>
            <a:ext cx="137160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1.2 - 1.5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2286000" y="4517136"/>
            <a:ext cx="210312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50 分 · 明显紧张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526280" y="4517136"/>
            <a:ext cx="228600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F0F7F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优先安排，启动新建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777240" y="5285232"/>
            <a:ext cx="6126480" cy="658368"/>
          </a:xfrm>
          <a:prstGeom prst="roundRect">
            <a:avLst>
              <a:gd name="adj" fmla="val 11111"/>
            </a:avLst>
          </a:prstGeom>
          <a:solidFill>
            <a:srgbClr val="B23A24"/>
          </a:solidFill>
          <a:effectLst>
            <a:outerShdw blurRad="2147483647" dist="2147483647" dir="5" algn="bl" rotWithShape="0">
              <a:srgbClr val="1B4633">
                <a:alpha val="2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777240" y="5285232"/>
            <a:ext cx="137160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&gt; 1.5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2286000" y="5285232"/>
            <a:ext cx="210312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30 分 · 严重不足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526280" y="5285232"/>
            <a:ext cx="228600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F0F7F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紧急建设，突破供给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777240" y="5650992"/>
            <a:ext cx="6126480" cy="512064"/>
          </a:xfrm>
          <a:prstGeom prst="roundRect">
            <a:avLst>
              <a:gd name="adj" fmla="val 14286"/>
            </a:avLst>
          </a:prstGeom>
          <a:solidFill>
            <a:srgbClr val="14532D"/>
          </a:solidFill>
          <a:effectLst>
            <a:outerShdw blurRad="2147483647" dist="2147483647" dir="3" algn="bl" rotWithShape="0">
              <a:srgbClr val="1B4633">
                <a:alpha val="2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777240" y="5650992"/>
            <a:ext cx="6126480" cy="5120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越靠右越“紧张” → 越该优先新建；Lc 越低，拖低 V → 抬高 N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7406640" y="1554480"/>
            <a:ext cx="4279392" cy="4709160"/>
          </a:xfrm>
          <a:prstGeom prst="roundRect">
            <a:avLst>
              <a:gd name="adj" fmla="val 2991"/>
            </a:avLst>
          </a:prstGeom>
          <a:solidFill>
            <a:srgbClr val="FFFFFF"/>
          </a:solidFill>
          <a:ln w="12700">
            <a:solidFill>
              <a:srgbClr val="D6E3DA"/>
            </a:solidFill>
            <a:prstDash val="solid"/>
          </a:ln>
          <a:effectLst>
            <a:outerShdw blurRad="2147483647" dist="2147483647" dir="2" algn="bl" rotWithShape="0">
              <a:srgbClr val="1B4633">
                <a:alpha val="2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7635240" y="1737360"/>
            <a:ext cx="384048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6653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公共方法</a:t>
            </a:r>
            <a:endParaRPr lang="en-US" sz="1700" dirty="0"/>
          </a:p>
        </p:txBody>
      </p:sp>
      <p:sp>
        <p:nvSpPr>
          <p:cNvPr id="33" name="Shape 31"/>
          <p:cNvSpPr/>
          <p:nvPr/>
        </p:nvSpPr>
        <p:spPr>
          <a:xfrm>
            <a:off x="7635240" y="2231136"/>
            <a:ext cx="3840480" cy="914400"/>
          </a:xfrm>
          <a:prstGeom prst="roundRect">
            <a:avLst>
              <a:gd name="adj" fmla="val 10000"/>
            </a:avLst>
          </a:prstGeom>
          <a:solidFill>
            <a:srgbClr val="E7F2EA"/>
          </a:solidFill>
          <a:ln w="12700">
            <a:solidFill>
              <a:srgbClr val="D6E3DA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7635240" y="2231136"/>
            <a:ext cx="91440" cy="914400"/>
          </a:xfrm>
          <a:prstGeom prst="rect">
            <a:avLst/>
          </a:prstGeom>
          <a:solidFill>
            <a:srgbClr val="C77E1B"/>
          </a:solidFill>
        </p:spPr>
      </p:sp>
      <p:sp>
        <p:nvSpPr>
          <p:cNvPr id="35" name="Text 33"/>
          <p:cNvSpPr/>
          <p:nvPr/>
        </p:nvSpPr>
        <p:spPr>
          <a:xfrm>
            <a:off x="7863840" y="2340864"/>
            <a:ext cx="347472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653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熵权法</a:t>
            </a:r>
            <a:endParaRPr lang="en-US" sz="1500" dirty="0"/>
          </a:p>
        </p:txBody>
      </p:sp>
      <p:sp>
        <p:nvSpPr>
          <p:cNvPr id="36" name="Text 34"/>
          <p:cNvSpPr/>
          <p:nvPr/>
        </p:nvSpPr>
        <p:spPr>
          <a:xfrm>
            <a:off x="7863840" y="2688336"/>
            <a:ext cx="34747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rgbClr val="5C6B6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从数据客观求权重，减少人为拍板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7635240" y="3273552"/>
            <a:ext cx="3840480" cy="914400"/>
          </a:xfrm>
          <a:prstGeom prst="roundRect">
            <a:avLst>
              <a:gd name="adj" fmla="val 10000"/>
            </a:avLst>
          </a:prstGeom>
          <a:solidFill>
            <a:srgbClr val="E7F2EA"/>
          </a:solidFill>
          <a:ln w="12700">
            <a:solidFill>
              <a:srgbClr val="D6E3DA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635240" y="3273552"/>
            <a:ext cx="91440" cy="914400"/>
          </a:xfrm>
          <a:prstGeom prst="rect">
            <a:avLst/>
          </a:prstGeom>
          <a:solidFill>
            <a:srgbClr val="C77E1B"/>
          </a:solidFill>
        </p:spPr>
      </p:sp>
      <p:sp>
        <p:nvSpPr>
          <p:cNvPr id="39" name="Text 37"/>
          <p:cNvSpPr/>
          <p:nvPr/>
        </p:nvSpPr>
        <p:spPr>
          <a:xfrm>
            <a:off x="7863840" y="3383280"/>
            <a:ext cx="347472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653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AHP 层次分析</a:t>
            </a:r>
            <a:endParaRPr lang="en-US" sz="1500" dirty="0"/>
          </a:p>
        </p:txBody>
      </p:sp>
      <p:sp>
        <p:nvSpPr>
          <p:cNvPr id="40" name="Text 38"/>
          <p:cNvSpPr/>
          <p:nvPr/>
        </p:nvSpPr>
        <p:spPr>
          <a:xfrm>
            <a:off x="7863840" y="3730752"/>
            <a:ext cx="34747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rgbClr val="5C6B6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专家主观校正，主客观权重融合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7635240" y="4315968"/>
            <a:ext cx="3840480" cy="914400"/>
          </a:xfrm>
          <a:prstGeom prst="roundRect">
            <a:avLst>
              <a:gd name="adj" fmla="val 10000"/>
            </a:avLst>
          </a:prstGeom>
          <a:solidFill>
            <a:srgbClr val="E7F2EA"/>
          </a:solidFill>
          <a:ln w="12700">
            <a:solidFill>
              <a:srgbClr val="D6E3DA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7635240" y="4315968"/>
            <a:ext cx="91440" cy="914400"/>
          </a:xfrm>
          <a:prstGeom prst="rect">
            <a:avLst/>
          </a:prstGeom>
          <a:solidFill>
            <a:srgbClr val="C77E1B"/>
          </a:solidFill>
        </p:spPr>
      </p:sp>
      <p:sp>
        <p:nvSpPr>
          <p:cNvPr id="43" name="Text 41"/>
          <p:cNvSpPr/>
          <p:nvPr/>
        </p:nvSpPr>
        <p:spPr>
          <a:xfrm>
            <a:off x="7863840" y="4425696"/>
            <a:ext cx="347472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653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TOPSIS 排序</a:t>
            </a:r>
            <a:endParaRPr lang="en-US" sz="1500" dirty="0"/>
          </a:p>
        </p:txBody>
      </p:sp>
      <p:sp>
        <p:nvSpPr>
          <p:cNvPr id="44" name="Text 42"/>
          <p:cNvSpPr/>
          <p:nvPr/>
        </p:nvSpPr>
        <p:spPr>
          <a:xfrm>
            <a:off x="7863840" y="4773168"/>
            <a:ext cx="34747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rgbClr val="5C6B6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候选村点位多目标比选，逼近理想解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7635240" y="5358384"/>
            <a:ext cx="3840480" cy="914400"/>
          </a:xfrm>
          <a:prstGeom prst="roundRect">
            <a:avLst>
              <a:gd name="adj" fmla="val 10000"/>
            </a:avLst>
          </a:prstGeom>
          <a:solidFill>
            <a:srgbClr val="E7F2EA"/>
          </a:solidFill>
          <a:ln w="12700">
            <a:solidFill>
              <a:srgbClr val="D6E3DA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7635240" y="5358384"/>
            <a:ext cx="91440" cy="914400"/>
          </a:xfrm>
          <a:prstGeom prst="rect">
            <a:avLst/>
          </a:prstGeom>
          <a:solidFill>
            <a:srgbClr val="C77E1B"/>
          </a:solidFill>
        </p:spPr>
      </p:sp>
      <p:sp>
        <p:nvSpPr>
          <p:cNvPr id="47" name="Text 45"/>
          <p:cNvSpPr/>
          <p:nvPr/>
        </p:nvSpPr>
        <p:spPr>
          <a:xfrm>
            <a:off x="7863840" y="5468112"/>
            <a:ext cx="347472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653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发展因子五维</a:t>
            </a:r>
            <a:endParaRPr lang="en-US" sz="1500" dirty="0"/>
          </a:p>
        </p:txBody>
      </p:sp>
      <p:sp>
        <p:nvSpPr>
          <p:cNvPr id="48" name="Text 46"/>
          <p:cNvSpPr/>
          <p:nvPr/>
        </p:nvSpPr>
        <p:spPr>
          <a:xfrm>
            <a:off x="7863840" y="5815584"/>
            <a:ext cx="34747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rgbClr val="5C6B6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规模 / 管护缴费 / 政策 / 服务 / 扩张韧性</a:t>
            </a:r>
            <a:endParaRPr lang="en-US" sz="1050" dirty="0"/>
          </a:p>
        </p:txBody>
      </p:sp>
      <p:sp>
        <p:nvSpPr>
          <p:cNvPr id="50" name="Text 48"/>
          <p:cNvSpPr/>
          <p:nvPr/>
        </p:nvSpPr>
        <p:spPr>
          <a:xfrm>
            <a:off x="7635240" y="5614416"/>
            <a:ext cx="3840480" cy="5120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6653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衔接：模型②直接复用模型①的健康分作为输入</a:t>
            </a:r>
            <a:endParaRPr lang="en-US" sz="1150" dirty="0"/>
          </a:p>
        </p:txBody>
      </p:sp>
      <p:sp>
        <p:nvSpPr>
          <p:cNvPr id="51" name="Text 49"/>
          <p:cNvSpPr/>
          <p:nvPr/>
        </p:nvSpPr>
        <p:spPr>
          <a:xfrm>
            <a:off x="502920" y="6446520"/>
            <a:ext cx="822960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C6B6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两模型“算得清” → 新建与修复决策“有据可依” —— 从经验拍板走向数据驱动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8686800" y="6446520"/>
            <a:ext cx="301752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C6B6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宜昌市烟草专卖局（公司）</a:t>
            </a:r>
            <a:endParaRPr lang="en-US" sz="1100" dirty="0"/>
          </a:p>
        </p:txBody>
      </p:sp>
      <p:sp>
        <p:nvSpPr>
          <p:cNvPr id="53" name="Watermark"/>
          <p:cNvSpPr txBox="1"/>
          <p:nvPr/>
        </p:nvSpPr>
        <p:spPr>
          <a:xfrm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90204"/>
                <a:ea typeface="宋体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90204"/>
              <a:ea typeface="宋体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502920" y="502920"/>
            <a:ext cx="1737360" cy="475488"/>
          </a:xfrm>
          <a:prstGeom prst="roundRect">
            <a:avLst>
              <a:gd name="adj" fmla="val 50000"/>
            </a:avLst>
          </a:prstGeom>
          <a:solidFill>
            <a:srgbClr val="14532D"/>
          </a:solidFill>
          <a:effectLst>
            <a:outerShdw blurRad="2147483647" dist="2147483647" dir="1" algn="bl" rotWithShape="0">
              <a:srgbClr val="1B4633">
                <a:alpha val="2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502920" y="502920"/>
            <a:ext cx="173736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模型 ① · 算例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2377440" y="365760"/>
            <a:ext cx="914400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430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给一栋烤房“算一遍”</a:t>
            </a:r>
            <a:endParaRPr lang="en-US" sz="2900" dirty="0"/>
          </a:p>
        </p:txBody>
      </p:sp>
      <p:sp>
        <p:nvSpPr>
          <p:cNvPr id="6" name="Text 4"/>
          <p:cNvSpPr/>
          <p:nvPr/>
        </p:nvSpPr>
        <p:spPr>
          <a:xfrm>
            <a:off x="2395728" y="1115568"/>
            <a:ext cx="93268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C6B6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示例算法：单栋烤房 → 健康分 + 剩余寿命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02920" y="1737360"/>
            <a:ext cx="3657600" cy="429768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D6E3DA"/>
            </a:solidFill>
            <a:prstDash val="solid"/>
          </a:ln>
          <a:effectLst>
            <a:outerShdw blurRad="2147483647" dist="2147483647" dir="9" algn="bl" rotWithShape="0">
              <a:srgbClr val="1B4633">
                <a:alpha val="2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02920" y="1737360"/>
            <a:ext cx="3657600" cy="128016"/>
          </a:xfrm>
          <a:prstGeom prst="rect">
            <a:avLst/>
          </a:prstGeom>
          <a:solidFill>
            <a:srgbClr val="166534"/>
          </a:solidFill>
        </p:spPr>
      </p:sp>
      <p:sp>
        <p:nvSpPr>
          <p:cNvPr id="9" name="Shape 7"/>
          <p:cNvSpPr/>
          <p:nvPr/>
        </p:nvSpPr>
        <p:spPr>
          <a:xfrm>
            <a:off x="822960" y="1965960"/>
            <a:ext cx="960120" cy="384048"/>
          </a:xfrm>
          <a:prstGeom prst="roundRect">
            <a:avLst>
              <a:gd name="adj" fmla="val 50000"/>
            </a:avLst>
          </a:prstGeom>
          <a:solidFill>
            <a:srgbClr val="166534"/>
          </a:solidFill>
          <a:effectLst>
            <a:outerShdw blurRad="2147483647" dist="2147483647" dir="5" algn="bl" rotWithShape="0">
              <a:srgbClr val="1B4633">
                <a:alpha val="2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822960" y="1965960"/>
            <a:ext cx="96012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① 部件打分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868680" y="2514600"/>
            <a:ext cx="3017520" cy="14630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ts val="2600"/>
              </a:lnSpc>
              <a:buNone/>
            </a:pPr>
            <a:r>
              <a:rPr lang="en-US" sz="1500" dirty="0">
                <a:solidFill>
                  <a:srgbClr val="1430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4部位12项状态采集</a:t>
            </a:r>
            <a:endParaRPr lang="en-US" sz="1500" dirty="0"/>
          </a:p>
          <a:p>
            <a:pPr marL="0" indent="0">
              <a:lnSpc>
                <a:spcPts val="2600"/>
              </a:lnSpc>
              <a:buNone/>
            </a:pPr>
            <a:r>
              <a:rPr lang="en-US" sz="1500" dirty="0">
                <a:solidFill>
                  <a:srgbClr val="1430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结合维修记录与CDCI退化</a:t>
            </a:r>
            <a:endParaRPr lang="en-US" sz="1500" dirty="0"/>
          </a:p>
          <a:p>
            <a:pPr marL="0" indent="0">
              <a:lnSpc>
                <a:spcPts val="2600"/>
              </a:lnSpc>
              <a:buNone/>
            </a:pPr>
            <a:r>
              <a:rPr lang="en-US" sz="1500" dirty="0">
                <a:solidFill>
                  <a:srgbClr val="1430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单栋部件分 P = 82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868680" y="4937760"/>
            <a:ext cx="2926080" cy="685800"/>
          </a:xfrm>
          <a:prstGeom prst="roundRect">
            <a:avLst>
              <a:gd name="adj" fmla="val 13333"/>
            </a:avLst>
          </a:prstGeom>
          <a:solidFill>
            <a:srgbClr val="E7F2EA"/>
          </a:solidFill>
          <a:ln w="12700">
            <a:solidFill>
              <a:srgbClr val="16653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68680" y="4937760"/>
            <a:ext cx="292608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5C6B6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部件分：</a:t>
            </a:r>
            <a:r>
              <a:rPr lang="en-US" sz="1600" b="1" dirty="0">
                <a:solidFill>
                  <a:srgbClr val="16653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P=82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297680" y="1737360"/>
            <a:ext cx="3657600" cy="429768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D6E3DA"/>
            </a:solidFill>
            <a:prstDash val="solid"/>
          </a:ln>
          <a:effectLst>
            <a:outerShdw blurRad="2147483647" dist="2147483647" dir="3" algn="bl" rotWithShape="0">
              <a:srgbClr val="1B4633">
                <a:alpha val="2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297680" y="1737360"/>
            <a:ext cx="3657600" cy="128016"/>
          </a:xfrm>
          <a:prstGeom prst="rect">
            <a:avLst/>
          </a:prstGeom>
          <a:solidFill>
            <a:srgbClr val="2E8B6A"/>
          </a:solidFill>
        </p:spPr>
      </p:sp>
      <p:sp>
        <p:nvSpPr>
          <p:cNvPr id="16" name="Shape 14"/>
          <p:cNvSpPr/>
          <p:nvPr/>
        </p:nvSpPr>
        <p:spPr>
          <a:xfrm>
            <a:off x="4617720" y="1965960"/>
            <a:ext cx="960120" cy="384048"/>
          </a:xfrm>
          <a:prstGeom prst="roundRect">
            <a:avLst>
              <a:gd name="adj" fmla="val 50000"/>
            </a:avLst>
          </a:prstGeom>
          <a:solidFill>
            <a:srgbClr val="2E8B6A"/>
          </a:solidFill>
          <a:effectLst>
            <a:outerShdw blurRad="2147483647" dist="2147483647" dir="2" algn="bl" rotWithShape="0">
              <a:srgbClr val="1B4633">
                <a:alpha val="2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617720" y="1965960"/>
            <a:ext cx="96012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② 融合健康分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4663440" y="2514600"/>
            <a:ext cx="3017520" cy="14630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ts val="2600"/>
              </a:lnSpc>
              <a:buNone/>
            </a:pPr>
            <a:r>
              <a:rPr lang="en-US" sz="1500" dirty="0">
                <a:solidFill>
                  <a:srgbClr val="1430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H = 82×0.80+90×0.10+75×0.10</a:t>
            </a:r>
            <a:endParaRPr lang="en-US" sz="1500" dirty="0"/>
          </a:p>
          <a:p>
            <a:pPr marL="0" indent="0">
              <a:lnSpc>
                <a:spcPts val="2600"/>
              </a:lnSpc>
              <a:buNone/>
            </a:pPr>
            <a:r>
              <a:rPr lang="en-US" sz="1500" dirty="0">
                <a:solidFill>
                  <a:srgbClr val="1430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= 65.6 + 9 + 7.5</a:t>
            </a:r>
            <a:endParaRPr lang="en-US" sz="1500" dirty="0"/>
          </a:p>
          <a:p>
            <a:pPr marL="0" indent="0">
              <a:lnSpc>
                <a:spcPts val="2600"/>
              </a:lnSpc>
              <a:buNone/>
            </a:pPr>
            <a:r>
              <a:rPr lang="en-US" sz="1500" dirty="0">
                <a:solidFill>
                  <a:srgbClr val="1430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= 82.1 分 → 【良好】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4663440" y="4937760"/>
            <a:ext cx="2926080" cy="685800"/>
          </a:xfrm>
          <a:prstGeom prst="roundRect">
            <a:avLst>
              <a:gd name="adj" fmla="val 13333"/>
            </a:avLst>
          </a:prstGeom>
          <a:solidFill>
            <a:srgbClr val="E7F2EA"/>
          </a:solidFill>
          <a:ln w="12700">
            <a:solidFill>
              <a:srgbClr val="2E8B6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663440" y="4937760"/>
            <a:ext cx="292608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5C6B6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结果：</a:t>
            </a:r>
            <a:r>
              <a:rPr lang="en-US" sz="1600" b="1" dirty="0">
                <a:solidFill>
                  <a:srgbClr val="2E8B6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82.1 · 良好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8092440" y="1737360"/>
            <a:ext cx="3657600" cy="429768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D6E3DA"/>
            </a:solidFill>
            <a:prstDash val="solid"/>
          </a:ln>
          <a:effectLst>
            <a:outerShdw blurRad="2147483647" dist="2147483647" dir="1" algn="bl" rotWithShape="0">
              <a:srgbClr val="1B4633">
                <a:alpha val="2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8092440" y="1737360"/>
            <a:ext cx="3657600" cy="128016"/>
          </a:xfrm>
          <a:prstGeom prst="rect">
            <a:avLst/>
          </a:prstGeom>
          <a:solidFill>
            <a:srgbClr val="C77E1B"/>
          </a:solidFill>
        </p:spPr>
      </p:sp>
      <p:sp>
        <p:nvSpPr>
          <p:cNvPr id="23" name="Shape 21"/>
          <p:cNvSpPr/>
          <p:nvPr/>
        </p:nvSpPr>
        <p:spPr>
          <a:xfrm>
            <a:off x="8412480" y="1965960"/>
            <a:ext cx="960120" cy="384048"/>
          </a:xfrm>
          <a:prstGeom prst="roundRect">
            <a:avLst>
              <a:gd name="adj" fmla="val 50000"/>
            </a:avLst>
          </a:prstGeom>
          <a:solidFill>
            <a:srgbClr val="C77E1B"/>
          </a:solidFill>
          <a:effectLst>
            <a:outerShdw blurRad="2147483647" dist="2147483647" dir="7" algn="bl" rotWithShape="0">
              <a:srgbClr val="1B4633">
                <a:alpha val="2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8412480" y="1965960"/>
            <a:ext cx="96012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③ 推寿命预警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8458200" y="2514600"/>
            <a:ext cx="3017520" cy="14630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ts val="2600"/>
              </a:lnSpc>
              <a:buNone/>
            </a:pPr>
            <a:r>
              <a:rPr lang="en-US" sz="1500" dirty="0">
                <a:solidFill>
                  <a:srgbClr val="1430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寿命 =(0.60×2.6+0.40×4.9)×0.85</a:t>
            </a:r>
            <a:endParaRPr lang="en-US" sz="1500" dirty="0"/>
          </a:p>
          <a:p>
            <a:pPr marL="0" indent="0">
              <a:lnSpc>
                <a:spcPts val="2600"/>
              </a:lnSpc>
              <a:buNone/>
            </a:pPr>
            <a:r>
              <a:rPr lang="en-US" sz="1500" dirty="0">
                <a:solidFill>
                  <a:srgbClr val="1430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=3.0 年 → 【建议维修】</a:t>
            </a:r>
            <a:endParaRPr lang="en-US" sz="1500" dirty="0"/>
          </a:p>
          <a:p>
            <a:pPr marL="0" indent="0">
              <a:lnSpc>
                <a:spcPts val="2600"/>
              </a:lnSpc>
              <a:buNone/>
            </a:pPr>
            <a:r>
              <a:rPr lang="en-US" sz="1500" dirty="0">
                <a:solidFill>
                  <a:srgbClr val="1430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(修复重点：散热换热器)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8458200" y="4937760"/>
            <a:ext cx="2926080" cy="685800"/>
          </a:xfrm>
          <a:prstGeom prst="roundRect">
            <a:avLst>
              <a:gd name="adj" fmla="val 13333"/>
            </a:avLst>
          </a:prstGeom>
          <a:solidFill>
            <a:srgbClr val="E7F2EA"/>
          </a:solidFill>
          <a:ln w="12700">
            <a:solidFill>
              <a:srgbClr val="C77E1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458200" y="4937760"/>
            <a:ext cx="292608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5C6B6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建议：</a:t>
            </a:r>
            <a:r>
              <a:rPr lang="en-US" sz="1600" b="1" dirty="0">
                <a:solidFill>
                  <a:srgbClr val="C77E1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散热检查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502920" y="6172200"/>
            <a:ext cx="11228832" cy="548640"/>
          </a:xfrm>
          <a:prstGeom prst="roundRect">
            <a:avLst>
              <a:gd name="adj" fmla="val 16667"/>
            </a:avLst>
          </a:prstGeom>
          <a:solidFill>
            <a:srgbClr val="14532D"/>
          </a:solidFill>
          <a:effectLst>
            <a:outerShdw blurRad="2147483647" dist="2147483647" dir="4" algn="bl" rotWithShape="0">
              <a:srgbClr val="1B4633">
                <a:alpha val="2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502920" y="6172200"/>
            <a:ext cx="11228832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结论：一栋烤房 → 一份评分 → 一条预警 → 一项修复，全程有据可依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502920" y="576072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77E1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* 本页数字为算法示例，供演示</a:t>
            </a:r>
            <a:endParaRPr lang="en-US" sz="1000" dirty="0"/>
          </a:p>
        </p:txBody>
      </p:sp>
      <p:sp>
        <p:nvSpPr>
          <p:cNvPr id="31" name="Watermark"/>
          <p:cNvSpPr txBox="1"/>
          <p:nvPr/>
        </p:nvSpPr>
        <p:spPr>
          <a:xfrm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90204"/>
                <a:ea typeface="宋体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90204"/>
              <a:ea typeface="宋体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502920" y="502920"/>
            <a:ext cx="1737360" cy="475488"/>
          </a:xfrm>
          <a:prstGeom prst="roundRect">
            <a:avLst>
              <a:gd name="adj" fmla="val 50000"/>
            </a:avLst>
          </a:prstGeom>
          <a:solidFill>
            <a:srgbClr val="14532D"/>
          </a:solidFill>
          <a:effectLst>
            <a:outerShdw blurRad="2147483647" dist="2147483647" dir="2" algn="bl" rotWithShape="0">
              <a:srgbClr val="1B4633">
                <a:alpha val="2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502920" y="502920"/>
            <a:ext cx="173736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模型 ②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2377440" y="365760"/>
            <a:ext cx="914400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430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千亩村发展指数 —— 量化“该在哪新建 · 建多少”</a:t>
            </a:r>
            <a:endParaRPr lang="en-US" sz="2900" dirty="0"/>
          </a:p>
        </p:txBody>
      </p:sp>
      <p:sp>
        <p:nvSpPr>
          <p:cNvPr id="6" name="Text 4"/>
          <p:cNvSpPr/>
          <p:nvPr/>
        </p:nvSpPr>
        <p:spPr>
          <a:xfrm>
            <a:off x="2395728" y="1115568"/>
            <a:ext cx="93268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C6B6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核心解“智投·新建决策”依赖经验之痛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02920" y="1691640"/>
            <a:ext cx="5623560" cy="416052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D6E3DA"/>
            </a:solidFill>
            <a:prstDash val="solid"/>
          </a:ln>
          <a:effectLst>
            <a:outerShdw blurRad="2147483647" dist="2147483647" dir="1" algn="bl" rotWithShape="0">
              <a:srgbClr val="1B4633">
                <a:alpha val="2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31520" y="1847088"/>
            <a:ext cx="1554480" cy="402336"/>
          </a:xfrm>
          <a:prstGeom prst="roundRect">
            <a:avLst>
              <a:gd name="adj" fmla="val 50000"/>
            </a:avLst>
          </a:prstGeom>
          <a:solidFill>
            <a:srgbClr val="166534"/>
          </a:solidFill>
          <a:effectLst>
            <a:outerShdw blurRad="2147483647" dist="2147483647" dir="9" algn="bl" rotWithShape="0">
              <a:srgbClr val="1B4633">
                <a:alpha val="2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731520" y="1847088"/>
            <a:ext cx="1554480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发展指数 V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77240" y="2395728"/>
            <a:ext cx="521208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430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V = 0.50×Hc + 0.30×Lc + 0.20×Dc</a:t>
            </a:r>
            <a:r>
              <a:rPr lang="en-US" sz="1500" dirty="0">
                <a:solidFill>
                  <a:srgbClr val="5C6B6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    新建需求分 N = 100 − V</a:t>
            </a:r>
            <a:endParaRPr lang="en-US" sz="2100" dirty="0"/>
          </a:p>
        </p:txBody>
      </p:sp>
      <p:sp>
        <p:nvSpPr>
          <p:cNvPr id="11" name="Shape 9"/>
          <p:cNvSpPr/>
          <p:nvPr/>
        </p:nvSpPr>
        <p:spPr>
          <a:xfrm>
            <a:off x="777240" y="3310128"/>
            <a:ext cx="5029200" cy="658368"/>
          </a:xfrm>
          <a:prstGeom prst="roundRect">
            <a:avLst>
              <a:gd name="adj" fmla="val 13889"/>
            </a:avLst>
          </a:prstGeom>
          <a:solidFill>
            <a:srgbClr val="E7F2EA"/>
          </a:solidFill>
          <a:ln w="12700">
            <a:solidFill>
              <a:srgbClr val="D6E3D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60120" y="3310128"/>
            <a:ext cx="310896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653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Hc 有效烤能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572000" y="3310128"/>
            <a:ext cx="109728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700" b="1" dirty="0">
                <a:solidFill>
                  <a:srgbClr val="C77E1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50%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777240" y="4096512"/>
            <a:ext cx="5029200" cy="658368"/>
          </a:xfrm>
          <a:prstGeom prst="roundRect">
            <a:avLst>
              <a:gd name="adj" fmla="val 13889"/>
            </a:avLst>
          </a:prstGeom>
          <a:solidFill>
            <a:srgbClr val="E7F2EA"/>
          </a:solidFill>
          <a:ln w="12700">
            <a:solidFill>
              <a:srgbClr val="D6E3D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60120" y="4096512"/>
            <a:ext cx="310896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653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Lc 承载匹配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572000" y="4096512"/>
            <a:ext cx="109728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700" b="1" dirty="0">
                <a:solidFill>
                  <a:srgbClr val="C77E1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30%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777240" y="4882896"/>
            <a:ext cx="5029200" cy="658368"/>
          </a:xfrm>
          <a:prstGeom prst="roundRect">
            <a:avLst>
              <a:gd name="adj" fmla="val 13889"/>
            </a:avLst>
          </a:prstGeom>
          <a:solidFill>
            <a:srgbClr val="E7F2EA"/>
          </a:solidFill>
          <a:ln w="12700">
            <a:solidFill>
              <a:srgbClr val="D6E3D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60120" y="4882896"/>
            <a:ext cx="310896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653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Dc 发展因子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4572000" y="4882896"/>
            <a:ext cx="109728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700" b="1" dirty="0">
                <a:solidFill>
                  <a:srgbClr val="C77E1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20%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777240" y="5138928"/>
            <a:ext cx="512064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150" dirty="0">
                <a:solidFill>
                  <a:srgbClr val="5C6B6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单栋 : Eᵢ = 健康分/100 × 容量 × 状态折算(在用1.0/闲置0.4/待修0.1)</a:t>
            </a:r>
            <a:endParaRPr lang="en-US" sz="115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150" dirty="0">
                <a:solidFill>
                  <a:srgbClr val="5C6B6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村级 : Q = 0.70×在用A + 0.20×闲置B + 0.10×待修C　； Hc = min(100, Q/D×100)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309360" y="1691640"/>
            <a:ext cx="5394960" cy="416052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D6E3DA"/>
            </a:solidFill>
            <a:prstDash val="solid"/>
          </a:ln>
          <a:effectLst>
            <a:outerShdw blurRad="2147483647" dist="2147483647" dir="5" algn="bl" rotWithShape="0">
              <a:srgbClr val="1B4633">
                <a:alpha val="2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537960" y="1847088"/>
            <a:ext cx="1554480" cy="402336"/>
          </a:xfrm>
          <a:prstGeom prst="roundRect">
            <a:avLst>
              <a:gd name="adj" fmla="val 50000"/>
            </a:avLst>
          </a:prstGeom>
          <a:solidFill>
            <a:srgbClr val="2E8B6A"/>
          </a:solidFill>
          <a:effectLst>
            <a:outerShdw blurRad="2147483647" dist="2147483647" dir="3" algn="bl" rotWithShape="0">
              <a:srgbClr val="1B4633">
                <a:alpha val="2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37960" y="1847088"/>
            <a:ext cx="1554480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承载匹配 Lc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6720840" y="2395728"/>
            <a:ext cx="17373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77E1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P=≤0.85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8686800" y="2395728"/>
            <a:ext cx="2743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430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100分 · 富余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720840" y="2852928"/>
            <a:ext cx="17373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77E1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P=0.85-1.0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8686800" y="2852928"/>
            <a:ext cx="2743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430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85分 · 匹配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6720840" y="3310128"/>
            <a:ext cx="17373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77E1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P=1.0-1.2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8686800" y="3310128"/>
            <a:ext cx="2743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430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70分 · 略紧张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720840" y="3767328"/>
            <a:ext cx="17373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77E1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P=1.2-1.5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8686800" y="3767328"/>
            <a:ext cx="2743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430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50分 · 明显紧张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6720840" y="4224528"/>
            <a:ext cx="17373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77E1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P=&gt;1.5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8686800" y="4224528"/>
            <a:ext cx="2743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430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30分 · 严重不足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6537960" y="4754880"/>
            <a:ext cx="4937760" cy="18288"/>
          </a:xfrm>
          <a:prstGeom prst="rect">
            <a:avLst/>
          </a:prstGeom>
          <a:solidFill>
            <a:srgbClr val="D6E3DA"/>
          </a:solidFill>
        </p:spPr>
      </p:sp>
      <p:sp>
        <p:nvSpPr>
          <p:cNvPr id="35" name="Text 33"/>
          <p:cNvSpPr/>
          <p:nvPr/>
        </p:nvSpPr>
        <p:spPr>
          <a:xfrm>
            <a:off x="6537960" y="4846320"/>
            <a:ext cx="54864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8B6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7726680" y="4846320"/>
            <a:ext cx="73152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77E1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50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8869680" y="4846320"/>
            <a:ext cx="256032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653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100（发展越好）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6537960" y="5486400"/>
            <a:ext cx="49377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C6B6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V 越低 → 越需要新建补建；N 越高 → 新建优先级越高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502920" y="5989320"/>
            <a:ext cx="11201400" cy="749808"/>
          </a:xfrm>
          <a:prstGeom prst="roundRect">
            <a:avLst>
              <a:gd name="adj" fmla="val 12195"/>
            </a:avLst>
          </a:prstGeom>
          <a:solidFill>
            <a:srgbClr val="14532D"/>
          </a:solidFill>
          <a:effectLst>
            <a:outerShdw blurRad="2147483647" dist="2147483647" dir="2" algn="bl" rotWithShape="0">
              <a:srgbClr val="1B4633">
                <a:alpha val="2"/>
              </a:srgbClr>
            </a:outerShdw>
          </a:effectLst>
        </p:spPr>
      </p:sp>
      <p:sp>
        <p:nvSpPr>
          <p:cNvPr id="40" name="Text 38"/>
          <p:cNvSpPr/>
          <p:nvPr/>
        </p:nvSpPr>
        <p:spPr>
          <a:xfrm>
            <a:off x="502920" y="5989320"/>
            <a:ext cx="11201400" cy="7498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B8922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公共方法：</a:t>
            </a:r>
            <a:r>
              <a:rPr lang="en-US" sz="145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熵权法定权 + AHP层次分析 + TOPSIS 候选点位排序　|　发展因子五维（规模/管护缴费/政策/服务/扩张韧性）</a:t>
            </a:r>
            <a:endParaRPr lang="en-US" sz="1450" dirty="0"/>
          </a:p>
        </p:txBody>
      </p:sp>
      <p:sp>
        <p:nvSpPr>
          <p:cNvPr id="41" name="Text 39"/>
          <p:cNvSpPr/>
          <p:nvPr/>
        </p:nvSpPr>
        <p:spPr>
          <a:xfrm>
            <a:off x="502920" y="6446520"/>
            <a:ext cx="82296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C6B6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以千亩村为单位推荐新建意见，解决“质与量、长远与眼前、发展与投入”的平衡</a:t>
            </a:r>
            <a:endParaRPr lang="en-US" sz="1150" dirty="0"/>
          </a:p>
        </p:txBody>
      </p:sp>
      <p:sp>
        <p:nvSpPr>
          <p:cNvPr id="42" name="Text 40"/>
          <p:cNvSpPr/>
          <p:nvPr/>
        </p:nvSpPr>
        <p:spPr>
          <a:xfrm>
            <a:off x="8412480" y="6446520"/>
            <a:ext cx="329184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50" dirty="0">
                <a:solidFill>
                  <a:srgbClr val="5C6B6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宜昌市烟草专卖局（公司）</a:t>
            </a:r>
            <a:endParaRPr lang="en-US" sz="1150" dirty="0"/>
          </a:p>
        </p:txBody>
      </p:sp>
      <p:sp>
        <p:nvSpPr>
          <p:cNvPr id="43" name="Watermark"/>
          <p:cNvSpPr txBox="1"/>
          <p:nvPr/>
        </p:nvSpPr>
        <p:spPr>
          <a:xfrm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90204"/>
                <a:ea typeface="宋体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90204"/>
              <a:ea typeface="宋体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502920" y="502920"/>
            <a:ext cx="1737360" cy="475488"/>
          </a:xfrm>
          <a:prstGeom prst="roundRect">
            <a:avLst>
              <a:gd name="adj" fmla="val 50000"/>
            </a:avLst>
          </a:prstGeom>
          <a:solidFill>
            <a:srgbClr val="14532D"/>
          </a:solidFill>
          <a:effectLst>
            <a:outerShdw blurRad="2147483647" dist="2147483647" dir="1" algn="bl" rotWithShape="0">
              <a:srgbClr val="1B4633">
                <a:alpha val="2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502920" y="502920"/>
            <a:ext cx="173736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模型 ② · 算例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2377440" y="365760"/>
            <a:ext cx="914400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430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给一个千亩村“算一遍”</a:t>
            </a:r>
            <a:endParaRPr lang="en-US" sz="2900" dirty="0"/>
          </a:p>
        </p:txBody>
      </p:sp>
      <p:sp>
        <p:nvSpPr>
          <p:cNvPr id="6" name="Text 4"/>
          <p:cNvSpPr/>
          <p:nvPr/>
        </p:nvSpPr>
        <p:spPr>
          <a:xfrm>
            <a:off x="2395728" y="1115568"/>
            <a:ext cx="93268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C6B6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示例算法：10座烤房 → 发展指数 V → 新建需求分 N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02920" y="1691640"/>
            <a:ext cx="5486400" cy="4434840"/>
          </a:xfrm>
          <a:prstGeom prst="roundRect">
            <a:avLst>
              <a:gd name="adj" fmla="val 2887"/>
            </a:avLst>
          </a:prstGeom>
          <a:solidFill>
            <a:srgbClr val="FFFFFF"/>
          </a:solidFill>
          <a:ln w="12700">
            <a:solidFill>
              <a:srgbClr val="D6E3DA"/>
            </a:solidFill>
            <a:prstDash val="solid"/>
          </a:ln>
          <a:effectLst>
            <a:outerShdw blurRad="2147483647" dist="2147483647" dir="7" algn="bl" rotWithShape="0">
              <a:srgbClr val="1B4633">
                <a:alpha val="2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31520" y="1828800"/>
            <a:ext cx="1371600" cy="384048"/>
          </a:xfrm>
          <a:prstGeom prst="roundRect">
            <a:avLst>
              <a:gd name="adj" fmla="val 50000"/>
            </a:avLst>
          </a:prstGeom>
          <a:solidFill>
            <a:srgbClr val="2E8B6A"/>
          </a:solidFill>
          <a:effectLst>
            <a:outerShdw blurRad="2147483647" dist="2147483647" dir="4" algn="bl" rotWithShape="0">
              <a:srgbClr val="1B4633">
                <a:alpha val="2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731520" y="1828800"/>
            <a:ext cx="137160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要素汇总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68680" y="2331720"/>
            <a:ext cx="27432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6653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在用 7座</a:t>
            </a:r>
            <a:r>
              <a:rPr lang="en-US" sz="1300" dirty="0">
                <a:solidFill>
                  <a:srgbClr val="5C6B6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　平均80分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3108960" y="2331720"/>
            <a:ext cx="27432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1430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 = 7×80%×50 = 280担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68680" y="2898648"/>
            <a:ext cx="27432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6653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闲置 2座</a:t>
            </a:r>
            <a:r>
              <a:rPr lang="en-US" sz="1300" dirty="0">
                <a:solidFill>
                  <a:srgbClr val="5C6B6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　平均65分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3108960" y="2898648"/>
            <a:ext cx="27432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1430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B = 2×65%×50×0.4 = 26担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68680" y="3465576"/>
            <a:ext cx="27432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6653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待修 1座</a:t>
            </a:r>
            <a:r>
              <a:rPr lang="en-US" sz="1300" dirty="0">
                <a:solidFill>
                  <a:srgbClr val="5C6B6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　平均45分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3108960" y="3465576"/>
            <a:ext cx="27432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1430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C = 1×45%×50×0.1 = 2.25担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77240" y="4114800"/>
            <a:ext cx="4937760" cy="18288"/>
          </a:xfrm>
          <a:prstGeom prst="rect">
            <a:avLst/>
          </a:prstGeom>
          <a:solidFill>
            <a:srgbClr val="D6E3DA"/>
          </a:solidFill>
        </p:spPr>
      </p:sp>
      <p:sp>
        <p:nvSpPr>
          <p:cNvPr id="17" name="Text 15"/>
          <p:cNvSpPr/>
          <p:nvPr/>
        </p:nvSpPr>
        <p:spPr>
          <a:xfrm>
            <a:off x="868680" y="4224528"/>
            <a:ext cx="5029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430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村级有效烤能 Q = 0.70×280 + 0.20×26 + 0.10×2.25 = 201.43 担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868680" y="4709160"/>
            <a:ext cx="50292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C6B6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理论需求烤能 D = 450 担　→　Hc = min(100, 201.43/450×100) = 44.8分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68680" y="5047488"/>
            <a:ext cx="50292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C6B6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承载压力 P = 450/201.43 = 2.23（&gt;1.5）→ Lc = 30分 · 严重不足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68680" y="5385816"/>
            <a:ext cx="50292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C6B6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发展因子 Dc = 0.2×85+0.2×80+0.2×70+0.2×75+0.2×40 = 70分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263640" y="1691640"/>
            <a:ext cx="5074920" cy="4434840"/>
          </a:xfrm>
          <a:prstGeom prst="roundRect">
            <a:avLst>
              <a:gd name="adj" fmla="val 2887"/>
            </a:avLst>
          </a:prstGeom>
          <a:solidFill>
            <a:srgbClr val="14532D"/>
          </a:solidFill>
          <a:ln w="12700">
            <a:solidFill>
              <a:srgbClr val="14532D"/>
            </a:solidFill>
            <a:prstDash val="solid"/>
          </a:ln>
          <a:effectLst>
            <a:outerShdw blurRad="2147483647" dist="2147483647" dir="2" algn="bl" rotWithShape="0">
              <a:srgbClr val="1B4633">
                <a:alpha val="2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492240" y="1828800"/>
            <a:ext cx="1828800" cy="384048"/>
          </a:xfrm>
          <a:prstGeom prst="roundRect">
            <a:avLst>
              <a:gd name="adj" fmla="val 50000"/>
            </a:avLst>
          </a:prstGeom>
          <a:solidFill>
            <a:srgbClr val="B8922A"/>
          </a:solidFill>
          <a:effectLst>
            <a:outerShdw blurRad="2147483647" dist="2147483647" dir="1" algn="bl" rotWithShape="0">
              <a:srgbClr val="1B4633">
                <a:alpha val="2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492240" y="1828800"/>
            <a:ext cx="182880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发展指数 V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6492240" y="2377440"/>
            <a:ext cx="4572000" cy="1737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DCEBE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V = 0.50×44.8 + 0.30×30 + 0.20×70</a:t>
            </a:r>
            <a:endParaRPr lang="en-US" sz="1700" dirty="0"/>
          </a:p>
          <a:p>
            <a:pPr marL="0" indent="0">
              <a:buNone/>
            </a:pPr>
            <a:r>
              <a:rPr lang="en-US" sz="1500" dirty="0">
                <a:solidFill>
                  <a:srgbClr val="DCEBE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= 22.4 + 9 + 14</a:t>
            </a:r>
            <a:endParaRPr lang="en-US" sz="1700" dirty="0"/>
          </a:p>
          <a:p>
            <a:pPr marL="0" indent="0">
              <a:buNone/>
            </a:pPr>
            <a:endParaRPr lang="en-US" sz="1700" dirty="0"/>
          </a:p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= 45.4 分</a:t>
            </a:r>
            <a:endParaRPr lang="en-US" sz="1700" dirty="0"/>
          </a:p>
        </p:txBody>
      </p:sp>
      <p:sp>
        <p:nvSpPr>
          <p:cNvPr id="25" name="Shape 23"/>
          <p:cNvSpPr/>
          <p:nvPr/>
        </p:nvSpPr>
        <p:spPr>
          <a:xfrm>
            <a:off x="6492240" y="4206240"/>
            <a:ext cx="4617720" cy="18288"/>
          </a:xfrm>
          <a:prstGeom prst="rect">
            <a:avLst/>
          </a:prstGeom>
          <a:solidFill>
            <a:srgbClr val="3D7A59"/>
          </a:solidFill>
        </p:spPr>
      </p:sp>
      <p:sp>
        <p:nvSpPr>
          <p:cNvPr id="26" name="Text 24"/>
          <p:cNvSpPr/>
          <p:nvPr/>
        </p:nvSpPr>
        <p:spPr>
          <a:xfrm>
            <a:off x="6492240" y="4315968"/>
            <a:ext cx="4617720" cy="1554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B8922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新建需求分 N = 100 − 45.4 = 54.6</a:t>
            </a:r>
            <a:endParaRPr lang="en-US" sz="2200" dirty="0"/>
          </a:p>
          <a:p>
            <a:pPr marL="0" indent="0">
              <a:buNone/>
            </a:pPr>
            <a:r>
              <a:rPr lang="en-US" sz="1500" dirty="0">
                <a:solidFill>
                  <a:srgbClr val="DCEBE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烤能缺口 ≈ 450 − 201 = 249 担</a:t>
            </a:r>
            <a:endParaRPr lang="en-US" sz="2200" dirty="0"/>
          </a:p>
          <a:p>
            <a:pPr marL="0" indent="0">
              <a:buNone/>
            </a:pPr>
            <a:r>
              <a:rPr lang="en-US" sz="1250" dirty="0">
                <a:solidFill>
                  <a:srgbClr val="9CC6B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（约 50担/座 → 建议配建 5 座）</a:t>
            </a:r>
            <a:endParaRPr lang="en-US" sz="2200" dirty="0"/>
          </a:p>
        </p:txBody>
      </p:sp>
      <p:sp>
        <p:nvSpPr>
          <p:cNvPr id="27" name="Shape 25"/>
          <p:cNvSpPr/>
          <p:nvPr/>
        </p:nvSpPr>
        <p:spPr>
          <a:xfrm>
            <a:off x="502920" y="6263640"/>
            <a:ext cx="11228832" cy="548640"/>
          </a:xfrm>
          <a:prstGeom prst="roundRect">
            <a:avLst>
              <a:gd name="adj" fmla="val 16667"/>
            </a:avLst>
          </a:prstGeom>
          <a:solidFill>
            <a:srgbClr val="C77E1B"/>
          </a:solidFill>
          <a:effectLst>
            <a:outerShdw blurRad="2147483647" dist="2147483647" dir="1" algn="bl" rotWithShape="0">
              <a:srgbClr val="1B4633">
                <a:alpha val="2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502920" y="6263640"/>
            <a:ext cx="11228832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结论：该村“有效健康烤能”明显低于烟叶需求 → 新建需求分高、优先级高，智能给出配建建议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502920" y="5852160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77E1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* 本页数字取自已发布计算方案示例</a:t>
            </a:r>
            <a:endParaRPr lang="en-US" sz="1000" dirty="0"/>
          </a:p>
        </p:txBody>
      </p:sp>
      <p:sp>
        <p:nvSpPr>
          <p:cNvPr id="30" name="Watermark"/>
          <p:cNvSpPr txBox="1"/>
          <p:nvPr/>
        </p:nvSpPr>
        <p:spPr>
          <a:xfrm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90204"/>
                <a:ea typeface="宋体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90204"/>
              <a:ea typeface="宋体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502920" y="548640"/>
            <a:ext cx="1554480" cy="457200"/>
          </a:xfrm>
          <a:prstGeom prst="roundRect">
            <a:avLst>
              <a:gd name="adj" fmla="val 16000"/>
            </a:avLst>
          </a:prstGeom>
          <a:solidFill>
            <a:srgbClr val="14532D"/>
          </a:solidFill>
          <a:ln w="12700">
            <a:solidFill>
              <a:srgbClr val="14532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548640"/>
            <a:ext cx="15544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深层剖析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2194560" y="420624"/>
            <a:ext cx="8229600" cy="7498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631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忧愁之下，是三大管理之“痛”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2212848" y="1078992"/>
            <a:ext cx="86868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烟农诉求直指管理短板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94360" y="1828800"/>
            <a:ext cx="3566160" cy="356616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DE0D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94360" y="1828800"/>
            <a:ext cx="128016" cy="1737360"/>
          </a:xfrm>
          <a:prstGeom prst="roundRect">
            <a:avLst>
              <a:gd name="adj" fmla="val 50000"/>
            </a:avLst>
          </a:prstGeom>
          <a:solidFill>
            <a:srgbClr val="166534"/>
          </a:solidFill>
        </p:spPr>
      </p:sp>
      <p:sp>
        <p:nvSpPr>
          <p:cNvPr id="9" name="Text 7"/>
          <p:cNvSpPr/>
          <p:nvPr/>
        </p:nvSpPr>
        <p:spPr>
          <a:xfrm>
            <a:off x="923544" y="2057400"/>
            <a:ext cx="3108960" cy="8686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631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智用 · 资源调度缺数字支撑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923544" y="3017520"/>
            <a:ext cx="306324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· 资产动态台账缺失 · 家底不清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923544" y="3675888"/>
            <a:ext cx="306324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· 调剂、故障处置缺系统手段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923544" y="4334256"/>
            <a:ext cx="306324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· 闲置资源难以服务生产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4325112" y="1828800"/>
            <a:ext cx="3566160" cy="356616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DE0D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325112" y="1828800"/>
            <a:ext cx="128016" cy="1737360"/>
          </a:xfrm>
          <a:prstGeom prst="roundRect">
            <a:avLst>
              <a:gd name="adj" fmla="val 50000"/>
            </a:avLst>
          </a:prstGeom>
          <a:solidFill>
            <a:srgbClr val="2E8B6A"/>
          </a:solidFill>
        </p:spPr>
      </p:sp>
      <p:sp>
        <p:nvSpPr>
          <p:cNvPr id="15" name="Text 13"/>
          <p:cNvSpPr/>
          <p:nvPr/>
        </p:nvSpPr>
        <p:spPr>
          <a:xfrm>
            <a:off x="4654296" y="2057400"/>
            <a:ext cx="3108960" cy="8686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631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智投 · 基建投入缺量化依据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4654296" y="3017520"/>
            <a:ext cx="306324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· 无统一健康量化评价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4654296" y="3675888"/>
            <a:ext cx="306324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· 修复 / 新建决策依赖经验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4654296" y="4334256"/>
            <a:ext cx="306324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· 资金易浪费与错配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8055864" y="1828800"/>
            <a:ext cx="3566160" cy="356616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DE0D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055864" y="1828800"/>
            <a:ext cx="128016" cy="1737360"/>
          </a:xfrm>
          <a:prstGeom prst="roundRect">
            <a:avLst>
              <a:gd name="adj" fmla="val 50000"/>
            </a:avLst>
          </a:prstGeom>
          <a:solidFill>
            <a:srgbClr val="C77E1B"/>
          </a:solidFill>
        </p:spPr>
      </p:sp>
      <p:sp>
        <p:nvSpPr>
          <p:cNvPr id="21" name="Text 19"/>
          <p:cNvSpPr/>
          <p:nvPr/>
        </p:nvSpPr>
        <p:spPr>
          <a:xfrm>
            <a:off x="8385048" y="2057400"/>
            <a:ext cx="3108960" cy="8686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631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智管 · 管护运行缺闭环约束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8385048" y="3017520"/>
            <a:ext cx="306324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· “责任明 · 队伍不全 · 工作不力”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8385048" y="3675888"/>
            <a:ext cx="306324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· 队伍 / 资金 / 作业无线上监管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8385048" y="4334256"/>
            <a:ext cx="306324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· “不想管 · 不愿管 · 不服管”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594360" y="5623560"/>
            <a:ext cx="11018520" cy="713232"/>
          </a:xfrm>
          <a:prstGeom prst="roundRect">
            <a:avLst>
              <a:gd name="adj" fmla="val 12821"/>
            </a:avLst>
          </a:prstGeom>
          <a:solidFill>
            <a:srgbClr val="14532D"/>
          </a:solidFill>
        </p:spPr>
      </p:sp>
      <p:sp>
        <p:nvSpPr>
          <p:cNvPr id="26" name="Text 24"/>
          <p:cNvSpPr/>
          <p:nvPr/>
        </p:nvSpPr>
        <p:spPr>
          <a:xfrm>
            <a:off x="594360" y="5623560"/>
            <a:ext cx="11018520" cy="713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B8922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衍生：</a:t>
            </a:r>
            <a:r>
              <a:rPr lang="en-US" sz="15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调剂无门 · 修复盲目 · 投入不公　　⇒　烟农整体满意度偏低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三大痛点，正是本项目要攻坚的靶心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7863840" y="6473952"/>
            <a:ext cx="38404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宜昌市烟草专卖局（公司）</a:t>
            </a:r>
            <a:endParaRPr lang="en-US" sz="10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502920" y="548640"/>
            <a:ext cx="1554480" cy="457200"/>
          </a:xfrm>
          <a:prstGeom prst="roundRect">
            <a:avLst>
              <a:gd name="adj" fmla="val 16000"/>
            </a:avLst>
          </a:prstGeom>
          <a:solidFill>
            <a:srgbClr val="14532D"/>
          </a:solidFill>
          <a:ln w="12700">
            <a:solidFill>
              <a:srgbClr val="14532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548640"/>
            <a:ext cx="15544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破题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2194560" y="420624"/>
            <a:ext cx="8229600" cy="7498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631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一个数据库 · 两个模型 · 一个协同平台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2212848" y="1078992"/>
            <a:ext cx="86868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总览解决方案架构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1005840" y="1828800"/>
            <a:ext cx="10149840" cy="960120"/>
          </a:xfrm>
          <a:prstGeom prst="roundRect">
            <a:avLst>
              <a:gd name="adj" fmla="val 11429"/>
            </a:avLst>
          </a:prstGeom>
          <a:solidFill>
            <a:srgbClr val="14532D"/>
          </a:solidFill>
        </p:spPr>
      </p:sp>
      <p:sp>
        <p:nvSpPr>
          <p:cNvPr id="8" name="Text 6"/>
          <p:cNvSpPr/>
          <p:nvPr/>
        </p:nvSpPr>
        <p:spPr>
          <a:xfrm>
            <a:off x="1280160" y="1828800"/>
            <a:ext cx="9601200" cy="9601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数据库 · 全域数据底座　</a:t>
            </a:r>
            <a:r>
              <a:rPr lang="en-US" sz="1250" dirty="0">
                <a:solidFill>
                  <a:srgbClr val="E6F2E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2442栋烤房档案 · 4大部位18类部件 · 维修全链路 · 物联网自控数据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1005840" y="2926080"/>
            <a:ext cx="10149840" cy="960120"/>
          </a:xfrm>
          <a:prstGeom prst="roundRect">
            <a:avLst>
              <a:gd name="adj" fmla="val 11429"/>
            </a:avLst>
          </a:prstGeom>
          <a:solidFill>
            <a:srgbClr val="166534"/>
          </a:solidFill>
        </p:spPr>
      </p:sp>
      <p:sp>
        <p:nvSpPr>
          <p:cNvPr id="10" name="Text 8"/>
          <p:cNvSpPr/>
          <p:nvPr/>
        </p:nvSpPr>
        <p:spPr>
          <a:xfrm>
            <a:off x="1280160" y="2926080"/>
            <a:ext cx="9601200" cy="9601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两个模型 · 慧算中枢　</a:t>
            </a:r>
            <a:r>
              <a:rPr lang="en-US" sz="1250" dirty="0">
                <a:solidFill>
                  <a:srgbClr val="E6F2E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烤房健康评估模型 / 新建选址模型（AHP+熵权+TOPSIS）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1005840" y="4023360"/>
            <a:ext cx="10149840" cy="960120"/>
          </a:xfrm>
          <a:prstGeom prst="roundRect">
            <a:avLst>
              <a:gd name="adj" fmla="val 11429"/>
            </a:avLst>
          </a:prstGeom>
          <a:solidFill>
            <a:srgbClr val="2E8B6A"/>
          </a:solidFill>
        </p:spPr>
      </p:sp>
      <p:sp>
        <p:nvSpPr>
          <p:cNvPr id="12" name="Text 10"/>
          <p:cNvSpPr/>
          <p:nvPr/>
        </p:nvSpPr>
        <p:spPr>
          <a:xfrm>
            <a:off x="1280160" y="4023360"/>
            <a:ext cx="9601200" cy="9601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协同平台 · 三智融合　</a:t>
            </a:r>
            <a:r>
              <a:rPr lang="en-US" sz="1250" dirty="0">
                <a:solidFill>
                  <a:srgbClr val="E6F2E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智用 / 智投 / 智管　三大数智业务场景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1005840" y="5120640"/>
            <a:ext cx="10149840" cy="960120"/>
          </a:xfrm>
          <a:prstGeom prst="roundRect">
            <a:avLst>
              <a:gd name="adj" fmla="val 11429"/>
            </a:avLst>
          </a:prstGeom>
          <a:solidFill>
            <a:srgbClr val="4FA884"/>
          </a:solidFill>
        </p:spPr>
      </p:sp>
      <p:sp>
        <p:nvSpPr>
          <p:cNvPr id="14" name="Text 12"/>
          <p:cNvSpPr/>
          <p:nvPr/>
        </p:nvSpPr>
        <p:spPr>
          <a:xfrm>
            <a:off x="1280160" y="5120640"/>
            <a:ext cx="9601200" cy="9601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服务对象　</a:t>
            </a:r>
            <a:r>
              <a:rPr lang="en-US" sz="1250" dirty="0">
                <a:solidFill>
                  <a:srgbClr val="E6F2E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烟农 · 合作社技术员 · 管理者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822960" y="6144768"/>
            <a:ext cx="54864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数据 → 算力 → 场景 → 服务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一脉致远，“三智”融合，让传统烤房管理模式实现数智化升级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7863840" y="6473952"/>
            <a:ext cx="38404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宜昌市烟草专卖局（公司）</a:t>
            </a:r>
            <a:endParaRPr lang="en-US" sz="10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502920" y="548640"/>
            <a:ext cx="1554480" cy="457200"/>
          </a:xfrm>
          <a:prstGeom prst="roundRect">
            <a:avLst>
              <a:gd name="adj" fmla="val 16000"/>
            </a:avLst>
          </a:prstGeom>
          <a:solidFill>
            <a:srgbClr val="14532D"/>
          </a:solidFill>
          <a:ln w="12700">
            <a:solidFill>
              <a:srgbClr val="14532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548640"/>
            <a:ext cx="15544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① 数据库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2194560" y="420624"/>
            <a:ext cx="8229600" cy="7498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631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全域数据底座 · 一栋一档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2212848" y="1078992"/>
            <a:ext cx="86868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从“纸质台账”到“一栋一档电子化”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548640" y="1645920"/>
            <a:ext cx="4206240" cy="1371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600" b="1" dirty="0">
                <a:solidFill>
                  <a:srgbClr val="16653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2442</a:t>
            </a:r>
            <a:r>
              <a:rPr lang="en-US" sz="2200" b="1" dirty="0">
                <a:solidFill>
                  <a:srgbClr val="16653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栋</a:t>
            </a:r>
            <a:endParaRPr lang="en-US" sz="7600" dirty="0"/>
          </a:p>
        </p:txBody>
      </p:sp>
      <p:sp>
        <p:nvSpPr>
          <p:cNvPr id="8" name="Text 6"/>
          <p:cNvSpPr/>
          <p:nvPr/>
        </p:nvSpPr>
        <p:spPr>
          <a:xfrm>
            <a:off x="548640" y="2880360"/>
            <a:ext cx="42062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秭归烤房全覆盖核验建档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66928" y="3200400"/>
            <a:ext cx="1325880" cy="713232"/>
          </a:xfrm>
          <a:prstGeom prst="roundRect">
            <a:avLst>
              <a:gd name="adj" fmla="val 12821"/>
            </a:avLst>
          </a:prstGeom>
          <a:solidFill>
            <a:srgbClr val="DCEBE2"/>
          </a:solidFill>
          <a:ln w="12700">
            <a:solidFill>
              <a:srgbClr val="CDE0D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66928" y="3200400"/>
            <a:ext cx="1325880" cy="713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E8B6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在用 1,690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2048256" y="3200400"/>
            <a:ext cx="1325880" cy="713232"/>
          </a:xfrm>
          <a:prstGeom prst="roundRect">
            <a:avLst>
              <a:gd name="adj" fmla="val 12821"/>
            </a:avLst>
          </a:prstGeom>
          <a:solidFill>
            <a:srgbClr val="DCEBE2"/>
          </a:solidFill>
          <a:ln w="12700">
            <a:solidFill>
              <a:srgbClr val="CDE0D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048256" y="3200400"/>
            <a:ext cx="1325880" cy="713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4FA88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闲置 409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3529584" y="3200400"/>
            <a:ext cx="1325880" cy="713232"/>
          </a:xfrm>
          <a:prstGeom prst="roundRect">
            <a:avLst>
              <a:gd name="adj" fmla="val 12821"/>
            </a:avLst>
          </a:prstGeom>
          <a:solidFill>
            <a:srgbClr val="DCEBE2"/>
          </a:solidFill>
          <a:ln w="12700">
            <a:solidFill>
              <a:srgbClr val="CDE0D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529584" y="3200400"/>
            <a:ext cx="1325880" cy="713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77E1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待修 369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029200" y="1737360"/>
            <a:ext cx="6675120" cy="420624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CDE0D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349240" y="1965960"/>
            <a:ext cx="60350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631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4 大部位 × 18 类部件　逐项核验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5349240" y="2606040"/>
            <a:ext cx="1828800" cy="786384"/>
          </a:xfrm>
          <a:prstGeom prst="roundRect">
            <a:avLst>
              <a:gd name="adj" fmla="val 11628"/>
            </a:avLst>
          </a:prstGeom>
          <a:solidFill>
            <a:srgbClr val="EDF5F0"/>
          </a:solidFill>
          <a:ln w="12700">
            <a:solidFill>
              <a:srgbClr val="CDE0D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349240" y="2606040"/>
            <a:ext cx="1828800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6653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加热系统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349240" y="2990088"/>
            <a:ext cx="18288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燃烧机 / 炉膛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360920" y="2606040"/>
            <a:ext cx="4114800" cy="7863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加热系统　燃烧机 / 炉膛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349240" y="3520440"/>
            <a:ext cx="1828800" cy="786384"/>
          </a:xfrm>
          <a:prstGeom prst="roundRect">
            <a:avLst>
              <a:gd name="adj" fmla="val 11628"/>
            </a:avLst>
          </a:prstGeom>
          <a:solidFill>
            <a:srgbClr val="EDF5F0"/>
          </a:solidFill>
          <a:ln w="12700">
            <a:solidFill>
              <a:srgbClr val="CDE0D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349240" y="3520440"/>
            <a:ext cx="1828800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6653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散热系统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349240" y="3904488"/>
            <a:ext cx="18288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换热器 / 风道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7360920" y="3520440"/>
            <a:ext cx="4114800" cy="7863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散热系统　换热器 / 风道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5349240" y="4434840"/>
            <a:ext cx="1828800" cy="786384"/>
          </a:xfrm>
          <a:prstGeom prst="roundRect">
            <a:avLst>
              <a:gd name="adj" fmla="val 11628"/>
            </a:avLst>
          </a:prstGeom>
          <a:solidFill>
            <a:srgbClr val="EDF5F0"/>
          </a:solidFill>
          <a:ln w="12700">
            <a:solidFill>
              <a:srgbClr val="CDE0D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349240" y="4434840"/>
            <a:ext cx="1828800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6653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自控系统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5349240" y="4818888"/>
            <a:ext cx="18288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自控仪 / 传感器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7360920" y="4434840"/>
            <a:ext cx="4114800" cy="7863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自控系统　自控仪 / 传感器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5349240" y="5349240"/>
            <a:ext cx="1828800" cy="786384"/>
          </a:xfrm>
          <a:prstGeom prst="roundRect">
            <a:avLst>
              <a:gd name="adj" fmla="val 11628"/>
            </a:avLst>
          </a:prstGeom>
          <a:solidFill>
            <a:srgbClr val="EDF5F0"/>
          </a:solidFill>
          <a:ln w="12700">
            <a:solidFill>
              <a:srgbClr val="CDE0D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349240" y="5349240"/>
            <a:ext cx="1828800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6653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附属设施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5349240" y="5733288"/>
            <a:ext cx="18288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装烟室 / 外墙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7360920" y="5349240"/>
            <a:ext cx="4114800" cy="7863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附属设施　装烟室 / 外墙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548640" y="6069330"/>
            <a:ext cx="11109960" cy="640080"/>
          </a:xfrm>
          <a:prstGeom prst="roundRect">
            <a:avLst>
              <a:gd name="adj" fmla="val 14286"/>
            </a:avLst>
          </a:prstGeom>
          <a:solidFill>
            <a:srgbClr val="EDF5F0"/>
          </a:solidFill>
          <a:ln w="12700">
            <a:solidFill>
              <a:srgbClr val="CDE0D5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48640" y="5955030"/>
            <a:ext cx="1110996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631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数据源：实体档案 + 维修记录 + 低代码录入 + 烤房自控仪物联网数据（温度 / 时间）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底数清、状态明，数字底座支撑后续“慧算”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7863840" y="6473952"/>
            <a:ext cx="38404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宜昌市烟草专卖局（公司）</a:t>
            </a:r>
            <a:endParaRPr lang="en-US" sz="10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502920" y="548640"/>
            <a:ext cx="1554480" cy="457200"/>
          </a:xfrm>
          <a:prstGeom prst="roundRect">
            <a:avLst>
              <a:gd name="adj" fmla="val 16000"/>
            </a:avLst>
          </a:prstGeom>
          <a:solidFill>
            <a:srgbClr val="14532D"/>
          </a:solidFill>
          <a:ln w="12700">
            <a:solidFill>
              <a:srgbClr val="14532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548640"/>
            <a:ext cx="15544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② 模型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2194560" y="420624"/>
            <a:ext cx="8229600" cy="7498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631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烤房健康评估 · 一房一健康分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2212848" y="1078992"/>
            <a:ext cx="86868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评估“该不该修·修哪里·什么时候修”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48640" y="1783080"/>
            <a:ext cx="5577840" cy="420624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CDE0D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2011680"/>
            <a:ext cx="36576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31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健康分（0—100）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22960" y="2514600"/>
            <a:ext cx="5029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6653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H</a:t>
            </a:r>
            <a:r>
              <a:rPr lang="en-US" sz="1500" dirty="0">
                <a:solidFill>
                  <a:srgbClr val="1631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 = 部件分×0.80 + 管护分×0.10 + 人工分×0.10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822960" y="3017520"/>
            <a:ext cx="50292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部件分：加热/散热/自控/主体 12项 · 增强BMHI + CDCI双段退化函数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822960" y="3611880"/>
            <a:ext cx="36576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31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剩余寿命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22960" y="4069080"/>
            <a:ext cx="50292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631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(0.60×短板寿命 + 0.40×部位均值寿命) × 健康校准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822960" y="4480560"/>
            <a:ext cx="50292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按当前状态还能正常服役的年数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355080" y="1783080"/>
            <a:ext cx="5349240" cy="420624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CDE0D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0" y="1965960"/>
            <a:ext cx="36576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31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健康分五级分布 · 实测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9692640" y="1938528"/>
            <a:ext cx="18288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2E8B6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均值 72.6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583680" y="2487168"/>
            <a:ext cx="91440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6653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优良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7589520" y="2542032"/>
            <a:ext cx="1042416" cy="274320"/>
          </a:xfrm>
          <a:prstGeom prst="rect">
            <a:avLst/>
          </a:prstGeom>
          <a:solidFill>
            <a:srgbClr val="166534"/>
          </a:solidFill>
        </p:spPr>
      </p:sp>
      <p:sp>
        <p:nvSpPr>
          <p:cNvPr id="19" name="Text 17"/>
          <p:cNvSpPr/>
          <p:nvPr/>
        </p:nvSpPr>
        <p:spPr>
          <a:xfrm>
            <a:off x="10424160" y="2487168"/>
            <a:ext cx="100584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631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342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6583680" y="3200400"/>
            <a:ext cx="91440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E8B6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良好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7589520" y="3255264"/>
            <a:ext cx="2624328" cy="274320"/>
          </a:xfrm>
          <a:prstGeom prst="rect">
            <a:avLst/>
          </a:prstGeom>
          <a:solidFill>
            <a:srgbClr val="2E8B6A"/>
          </a:solidFill>
        </p:spPr>
      </p:sp>
      <p:sp>
        <p:nvSpPr>
          <p:cNvPr id="22" name="Text 20"/>
          <p:cNvSpPr/>
          <p:nvPr/>
        </p:nvSpPr>
        <p:spPr>
          <a:xfrm>
            <a:off x="10424160" y="3200400"/>
            <a:ext cx="100584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631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861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6583680" y="3913632"/>
            <a:ext cx="91440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4FA88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一般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7589520" y="3968496"/>
            <a:ext cx="2328672" cy="274320"/>
          </a:xfrm>
          <a:prstGeom prst="rect">
            <a:avLst/>
          </a:prstGeom>
          <a:solidFill>
            <a:srgbClr val="4FA884"/>
          </a:solidFill>
        </p:spPr>
      </p:sp>
      <p:sp>
        <p:nvSpPr>
          <p:cNvPr id="25" name="Text 23"/>
          <p:cNvSpPr/>
          <p:nvPr/>
        </p:nvSpPr>
        <p:spPr>
          <a:xfrm>
            <a:off x="10424160" y="3913632"/>
            <a:ext cx="100584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631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764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6583680" y="4626864"/>
            <a:ext cx="91440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C77E1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预警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7589520" y="4681728"/>
            <a:ext cx="1261872" cy="274320"/>
          </a:xfrm>
          <a:prstGeom prst="rect">
            <a:avLst/>
          </a:prstGeom>
          <a:solidFill>
            <a:srgbClr val="C77E1B"/>
          </a:solidFill>
        </p:spPr>
      </p:sp>
      <p:sp>
        <p:nvSpPr>
          <p:cNvPr id="28" name="Text 26"/>
          <p:cNvSpPr/>
          <p:nvPr/>
        </p:nvSpPr>
        <p:spPr>
          <a:xfrm>
            <a:off x="10424160" y="4626864"/>
            <a:ext cx="100584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631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414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6583680" y="5340096"/>
            <a:ext cx="91440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B23A2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危险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7589520" y="5394960"/>
            <a:ext cx="185928" cy="274320"/>
          </a:xfrm>
          <a:prstGeom prst="rect">
            <a:avLst/>
          </a:prstGeom>
          <a:solidFill>
            <a:srgbClr val="B23A24"/>
          </a:solidFill>
        </p:spPr>
      </p:sp>
      <p:sp>
        <p:nvSpPr>
          <p:cNvPr id="31" name="Text 29"/>
          <p:cNvSpPr/>
          <p:nvPr/>
        </p:nvSpPr>
        <p:spPr>
          <a:xfrm>
            <a:off x="10424160" y="5340096"/>
            <a:ext cx="100584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631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61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6583680" y="5532120"/>
            <a:ext cx="49377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寿命四级预警：紧急维修≤0年 · 建议维修≤4年 · 需关注≤7年 · 正常&gt;7年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健康评分 + 寿命预测，成为“智投”修复决策的量化依据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7863840" y="6473952"/>
            <a:ext cx="38404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宜昌市烟草专卖局（公司）</a:t>
            </a:r>
            <a:endParaRPr lang="en-US" sz="10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502920" y="548640"/>
            <a:ext cx="1554480" cy="457200"/>
          </a:xfrm>
          <a:prstGeom prst="roundRect">
            <a:avLst>
              <a:gd name="adj" fmla="val 16000"/>
            </a:avLst>
          </a:prstGeom>
          <a:solidFill>
            <a:srgbClr val="14532D"/>
          </a:solidFill>
          <a:ln w="12700">
            <a:solidFill>
              <a:srgbClr val="14532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548640"/>
            <a:ext cx="15544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② 模型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2194560" y="420624"/>
            <a:ext cx="8229600" cy="7498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631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新建选址 · 千亩村发展指数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2212848" y="1078992"/>
            <a:ext cx="86868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建哪里、建多少，用数据说话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48640" y="1783080"/>
            <a:ext cx="5577840" cy="420624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CDE0D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2011680"/>
            <a:ext cx="41148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31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千亩村发展指数 V（0—100）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22960" y="2487168"/>
            <a:ext cx="502920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6653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V</a:t>
            </a:r>
            <a:r>
              <a:rPr lang="en-US" sz="1500" dirty="0">
                <a:solidFill>
                  <a:srgbClr val="1631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 = Hc×0.50 + Lc×0.30 + Dc×0.20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822960" y="3017520"/>
            <a:ext cx="50292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6653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Hc 有效烤能 　Lc 承载压力 　Dc 发展因子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22960" y="3456432"/>
            <a:ext cx="50292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指数越低 → 现有资源越紧张 → 新建需求越大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822960" y="3931920"/>
            <a:ext cx="5029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31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算  法：AHP层次 + 熵权定权 + TOPSIS 候选排序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22960" y="4434840"/>
            <a:ext cx="5029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31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应  用：全县 29 个烟叶种植村 · 15 个千亩村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22960" y="4983480"/>
            <a:ext cx="50292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解决“质与量、长远与眼前、发展与投入”之平衡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355080" y="1783080"/>
            <a:ext cx="5349240" cy="4206240"/>
          </a:xfrm>
          <a:prstGeom prst="roundRect">
            <a:avLst>
              <a:gd name="adj" fmla="val 3478"/>
            </a:avLst>
          </a:prstGeom>
          <a:solidFill>
            <a:srgbClr val="DCEBE2"/>
          </a:solidFill>
          <a:ln w="12700">
            <a:solidFill>
              <a:srgbClr val="CDE0D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83680" y="1965960"/>
            <a:ext cx="36576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31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模型推荐 · 新建点位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6583680" y="2606040"/>
            <a:ext cx="4800600" cy="105156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 w="12700">
            <a:solidFill>
              <a:srgbClr val="CDE0D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858000" y="2606040"/>
            <a:ext cx="2194560" cy="10515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631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荒口坪村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9052560" y="2606040"/>
            <a:ext cx="1371600" cy="10515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200" b="1" dirty="0">
                <a:solidFill>
                  <a:srgbClr val="16653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+10 栋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9052560" y="3154680"/>
            <a:ext cx="13716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2026—2028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583680" y="3794760"/>
            <a:ext cx="4800600" cy="105156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 w="12700">
            <a:solidFill>
              <a:srgbClr val="CDE0D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58000" y="3794760"/>
            <a:ext cx="2194560" cy="10515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631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三台寺村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9052560" y="3794760"/>
            <a:ext cx="1371600" cy="10515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200" b="1" dirty="0">
                <a:solidFill>
                  <a:srgbClr val="16653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+12 栋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9052560" y="4343400"/>
            <a:ext cx="13716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2026—2028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6583680" y="5029200"/>
            <a:ext cx="4800600" cy="713232"/>
          </a:xfrm>
          <a:prstGeom prst="roundRect">
            <a:avLst>
              <a:gd name="adj" fmla="val 12821"/>
            </a:avLst>
          </a:prstGeom>
          <a:solidFill>
            <a:srgbClr val="14532D"/>
          </a:solidFill>
        </p:spPr>
      </p:sp>
      <p:sp>
        <p:nvSpPr>
          <p:cNvPr id="26" name="Text 24"/>
          <p:cNvSpPr/>
          <p:nvPr/>
        </p:nvSpPr>
        <p:spPr>
          <a:xfrm>
            <a:off x="6583680" y="5029200"/>
            <a:ext cx="4800600" cy="713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2026 年全县落地新建  29 栋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让新建“该建才建”，避免资金错配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7863840" y="6473952"/>
            <a:ext cx="38404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宜昌市烟草专卖局（公司）</a:t>
            </a:r>
            <a:endParaRPr lang="en-US" sz="10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502920" y="548640"/>
            <a:ext cx="1554480" cy="457200"/>
          </a:xfrm>
          <a:prstGeom prst="roundRect">
            <a:avLst>
              <a:gd name="adj" fmla="val 16000"/>
            </a:avLst>
          </a:prstGeom>
          <a:solidFill>
            <a:srgbClr val="14532D"/>
          </a:solidFill>
          <a:ln w="12700">
            <a:solidFill>
              <a:srgbClr val="14532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548640"/>
            <a:ext cx="15544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③ 协同平台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2194560" y="420624"/>
            <a:ext cx="8229600" cy="7498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631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三智融合 · 全链条数智化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2212848" y="1078992"/>
            <a:ext cx="86868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一端数据，三路业务，服务三类对象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48640" y="1828800"/>
            <a:ext cx="3611880" cy="3977640"/>
          </a:xfrm>
          <a:prstGeom prst="roundRect">
            <a:avLst>
              <a:gd name="adj" fmla="val 4051"/>
            </a:avLst>
          </a:prstGeom>
          <a:solidFill>
            <a:srgbClr val="FFFFFF"/>
          </a:solidFill>
          <a:ln w="12700">
            <a:solidFill>
              <a:srgbClr val="CDE0D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1828800"/>
            <a:ext cx="3611880" cy="1143000"/>
          </a:xfrm>
          <a:prstGeom prst="roundRect">
            <a:avLst>
              <a:gd name="adj" fmla="val 12800"/>
            </a:avLst>
          </a:prstGeom>
          <a:solidFill>
            <a:srgbClr val="166534"/>
          </a:solidFill>
        </p:spPr>
      </p:sp>
      <p:sp>
        <p:nvSpPr>
          <p:cNvPr id="9" name="Shape 7"/>
          <p:cNvSpPr/>
          <p:nvPr/>
        </p:nvSpPr>
        <p:spPr>
          <a:xfrm>
            <a:off x="548640" y="2404872"/>
            <a:ext cx="3611880" cy="566928"/>
          </a:xfrm>
          <a:prstGeom prst="rect">
            <a:avLst/>
          </a:prstGeom>
          <a:solidFill>
            <a:srgbClr val="166534"/>
          </a:solidFill>
        </p:spPr>
      </p:sp>
      <p:sp>
        <p:nvSpPr>
          <p:cNvPr id="10" name="Text 8"/>
          <p:cNvSpPr/>
          <p:nvPr/>
        </p:nvSpPr>
        <p:spPr>
          <a:xfrm>
            <a:off x="548640" y="1828800"/>
            <a:ext cx="361188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智用 </a:t>
            </a:r>
            <a:r>
              <a:rPr lang="en-US" sz="120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Schedule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548640" y="2450592"/>
            <a:ext cx="36118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把资源“用好”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68680" y="3200400"/>
            <a:ext cx="29260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6653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服务烟农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896112" y="3703320"/>
            <a:ext cx="118872" cy="118872"/>
          </a:xfrm>
          <a:prstGeom prst="ellipse">
            <a:avLst/>
          </a:prstGeom>
          <a:solidFill>
            <a:srgbClr val="166534"/>
          </a:solidFill>
        </p:spPr>
      </p:sp>
      <p:sp>
        <p:nvSpPr>
          <p:cNvPr id="14" name="Text 12"/>
          <p:cNvSpPr/>
          <p:nvPr/>
        </p:nvSpPr>
        <p:spPr>
          <a:xfrm>
            <a:off x="1097280" y="3593592"/>
            <a:ext cx="28346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631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烤房调剂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896112" y="4270248"/>
            <a:ext cx="118872" cy="118872"/>
          </a:xfrm>
          <a:prstGeom prst="ellipse">
            <a:avLst/>
          </a:prstGeom>
          <a:solidFill>
            <a:srgbClr val="166534"/>
          </a:solidFill>
        </p:spPr>
      </p:sp>
      <p:sp>
        <p:nvSpPr>
          <p:cNvPr id="16" name="Text 14"/>
          <p:cNvSpPr/>
          <p:nvPr/>
        </p:nvSpPr>
        <p:spPr>
          <a:xfrm>
            <a:off x="1097280" y="4160520"/>
            <a:ext cx="28346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631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一键报修 · 极速抢修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4325112" y="1828800"/>
            <a:ext cx="3611880" cy="3977640"/>
          </a:xfrm>
          <a:prstGeom prst="roundRect">
            <a:avLst>
              <a:gd name="adj" fmla="val 4051"/>
            </a:avLst>
          </a:prstGeom>
          <a:solidFill>
            <a:srgbClr val="FFFFFF"/>
          </a:solidFill>
          <a:ln w="12700">
            <a:solidFill>
              <a:srgbClr val="CDE0D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325112" y="1828800"/>
            <a:ext cx="3611880" cy="1143000"/>
          </a:xfrm>
          <a:prstGeom prst="roundRect">
            <a:avLst>
              <a:gd name="adj" fmla="val 12800"/>
            </a:avLst>
          </a:prstGeom>
          <a:solidFill>
            <a:srgbClr val="2E8B6A"/>
          </a:solidFill>
        </p:spPr>
      </p:sp>
      <p:sp>
        <p:nvSpPr>
          <p:cNvPr id="19" name="Shape 17"/>
          <p:cNvSpPr/>
          <p:nvPr/>
        </p:nvSpPr>
        <p:spPr>
          <a:xfrm>
            <a:off x="4325112" y="2404872"/>
            <a:ext cx="3611880" cy="566928"/>
          </a:xfrm>
          <a:prstGeom prst="rect">
            <a:avLst/>
          </a:prstGeom>
          <a:solidFill>
            <a:srgbClr val="2E8B6A"/>
          </a:solidFill>
        </p:spPr>
      </p:sp>
      <p:sp>
        <p:nvSpPr>
          <p:cNvPr id="20" name="Text 18"/>
          <p:cNvSpPr/>
          <p:nvPr/>
        </p:nvSpPr>
        <p:spPr>
          <a:xfrm>
            <a:off x="4325112" y="1828800"/>
            <a:ext cx="361188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智投 </a:t>
            </a:r>
            <a:r>
              <a:rPr lang="en-US" sz="120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Selection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4325112" y="2450592"/>
            <a:ext cx="36118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把投入“投准”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4645152" y="3200400"/>
            <a:ext cx="29260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E8B6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赋能决策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4672584" y="3703320"/>
            <a:ext cx="118872" cy="118872"/>
          </a:xfrm>
          <a:prstGeom prst="ellipse">
            <a:avLst/>
          </a:prstGeom>
          <a:solidFill>
            <a:srgbClr val="2E8B6A"/>
          </a:solidFill>
        </p:spPr>
      </p:sp>
      <p:sp>
        <p:nvSpPr>
          <p:cNvPr id="24" name="Text 22"/>
          <p:cNvSpPr/>
          <p:nvPr/>
        </p:nvSpPr>
        <p:spPr>
          <a:xfrm>
            <a:off x="4873752" y="3593592"/>
            <a:ext cx="28346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631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新建决策辅助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4672584" y="4270248"/>
            <a:ext cx="118872" cy="118872"/>
          </a:xfrm>
          <a:prstGeom prst="ellipse">
            <a:avLst/>
          </a:prstGeom>
          <a:solidFill>
            <a:srgbClr val="2E8B6A"/>
          </a:solidFill>
        </p:spPr>
      </p:sp>
      <p:sp>
        <p:nvSpPr>
          <p:cNvPr id="26" name="Text 24"/>
          <p:cNvSpPr/>
          <p:nvPr/>
        </p:nvSpPr>
        <p:spPr>
          <a:xfrm>
            <a:off x="4873752" y="4160520"/>
            <a:ext cx="28346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631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修复决策辅助</a:t>
            </a:r>
            <a:endParaRPr lang="en-US" sz="1350" dirty="0"/>
          </a:p>
        </p:txBody>
      </p:sp>
      <p:sp>
        <p:nvSpPr>
          <p:cNvPr id="27" name="Shape 25"/>
          <p:cNvSpPr/>
          <p:nvPr/>
        </p:nvSpPr>
        <p:spPr>
          <a:xfrm>
            <a:off x="8101584" y="1828800"/>
            <a:ext cx="3611880" cy="3977640"/>
          </a:xfrm>
          <a:prstGeom prst="roundRect">
            <a:avLst>
              <a:gd name="adj" fmla="val 4051"/>
            </a:avLst>
          </a:prstGeom>
          <a:solidFill>
            <a:srgbClr val="FFFFFF"/>
          </a:solidFill>
          <a:ln w="12700">
            <a:solidFill>
              <a:srgbClr val="CDE0D5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01584" y="1828800"/>
            <a:ext cx="3611880" cy="1143000"/>
          </a:xfrm>
          <a:prstGeom prst="roundRect">
            <a:avLst>
              <a:gd name="adj" fmla="val 12800"/>
            </a:avLst>
          </a:prstGeom>
          <a:solidFill>
            <a:srgbClr val="C77E1B"/>
          </a:solidFill>
        </p:spPr>
      </p:sp>
      <p:sp>
        <p:nvSpPr>
          <p:cNvPr id="29" name="Shape 27"/>
          <p:cNvSpPr/>
          <p:nvPr/>
        </p:nvSpPr>
        <p:spPr>
          <a:xfrm>
            <a:off x="8101584" y="2404872"/>
            <a:ext cx="3611880" cy="566928"/>
          </a:xfrm>
          <a:prstGeom prst="rect">
            <a:avLst/>
          </a:prstGeom>
          <a:solidFill>
            <a:srgbClr val="C77E1B"/>
          </a:solidFill>
        </p:spPr>
      </p:sp>
      <p:sp>
        <p:nvSpPr>
          <p:cNvPr id="30" name="Text 28"/>
          <p:cNvSpPr/>
          <p:nvPr/>
        </p:nvSpPr>
        <p:spPr>
          <a:xfrm>
            <a:off x="8101584" y="1828800"/>
            <a:ext cx="361188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智管 </a:t>
            </a:r>
            <a:r>
              <a:rPr lang="en-US" sz="120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Sustain</a:t>
            </a:r>
            <a:endParaRPr lang="en-US" sz="2600" dirty="0"/>
          </a:p>
        </p:txBody>
      </p:sp>
      <p:sp>
        <p:nvSpPr>
          <p:cNvPr id="31" name="Text 29"/>
          <p:cNvSpPr/>
          <p:nvPr/>
        </p:nvSpPr>
        <p:spPr>
          <a:xfrm>
            <a:off x="8101584" y="2450592"/>
            <a:ext cx="36118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把过程“管住”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8421624" y="3200400"/>
            <a:ext cx="29260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C77E1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协同合作社</a:t>
            </a:r>
            <a:endParaRPr lang="en-US" sz="1250" dirty="0"/>
          </a:p>
        </p:txBody>
      </p:sp>
      <p:sp>
        <p:nvSpPr>
          <p:cNvPr id="33" name="Shape 31"/>
          <p:cNvSpPr/>
          <p:nvPr/>
        </p:nvSpPr>
        <p:spPr>
          <a:xfrm>
            <a:off x="8449056" y="3703320"/>
            <a:ext cx="118872" cy="118872"/>
          </a:xfrm>
          <a:prstGeom prst="ellipse">
            <a:avLst/>
          </a:prstGeom>
          <a:solidFill>
            <a:srgbClr val="C77E1B"/>
          </a:solidFill>
        </p:spPr>
      </p:sp>
      <p:sp>
        <p:nvSpPr>
          <p:cNvPr id="34" name="Text 32"/>
          <p:cNvSpPr/>
          <p:nvPr/>
        </p:nvSpPr>
        <p:spPr>
          <a:xfrm>
            <a:off x="8650224" y="3593592"/>
            <a:ext cx="28346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631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用管协同</a:t>
            </a:r>
            <a:endParaRPr lang="en-US" sz="1350" dirty="0"/>
          </a:p>
        </p:txBody>
      </p:sp>
      <p:sp>
        <p:nvSpPr>
          <p:cNvPr id="35" name="Shape 33"/>
          <p:cNvSpPr/>
          <p:nvPr/>
        </p:nvSpPr>
        <p:spPr>
          <a:xfrm>
            <a:off x="8449056" y="4270248"/>
            <a:ext cx="118872" cy="118872"/>
          </a:xfrm>
          <a:prstGeom prst="ellipse">
            <a:avLst/>
          </a:prstGeom>
          <a:solidFill>
            <a:srgbClr val="C77E1B"/>
          </a:solidFill>
        </p:spPr>
      </p:sp>
      <p:sp>
        <p:nvSpPr>
          <p:cNvPr id="36" name="Text 34"/>
          <p:cNvSpPr/>
          <p:nvPr/>
        </p:nvSpPr>
        <p:spPr>
          <a:xfrm>
            <a:off x="8650224" y="4160520"/>
            <a:ext cx="28346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631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统筹集中养护</a:t>
            </a:r>
            <a:endParaRPr lang="en-US" sz="1350" dirty="0"/>
          </a:p>
        </p:txBody>
      </p:sp>
      <p:sp>
        <p:nvSpPr>
          <p:cNvPr id="37" name="Shape 35"/>
          <p:cNvSpPr/>
          <p:nvPr/>
        </p:nvSpPr>
        <p:spPr>
          <a:xfrm>
            <a:off x="548640" y="5989320"/>
            <a:ext cx="11109960" cy="640080"/>
          </a:xfrm>
          <a:prstGeom prst="roundRect">
            <a:avLst>
              <a:gd name="adj" fmla="val 14286"/>
            </a:avLst>
          </a:prstGeom>
          <a:solidFill>
            <a:srgbClr val="14532D"/>
          </a:solidFill>
        </p:spPr>
      </p:sp>
      <p:sp>
        <p:nvSpPr>
          <p:cNvPr id="38" name="Text 36"/>
          <p:cNvSpPr/>
          <p:nvPr/>
        </p:nvSpPr>
        <p:spPr>
          <a:xfrm>
            <a:off x="548640" y="5989320"/>
            <a:ext cx="1110996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用好数据库 → 投准每一分钱 → 管住全过程，构建全链条数字化解决方案</a:t>
            </a:r>
            <a:endParaRPr lang="en-US" sz="1500" dirty="0"/>
          </a:p>
        </p:txBody>
      </p:sp>
      <p:sp>
        <p:nvSpPr>
          <p:cNvPr id="39" name="Text 37"/>
          <p:cNvSpPr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7863840" y="6473952"/>
            <a:ext cx="38404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宜昌市烟草专卖局（公司）</a:t>
            </a:r>
            <a:endParaRPr lang="en-US" sz="10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502920" y="548640"/>
            <a:ext cx="1554480" cy="457200"/>
          </a:xfrm>
          <a:prstGeom prst="roundRect">
            <a:avLst>
              <a:gd name="adj" fmla="val 16000"/>
            </a:avLst>
          </a:prstGeom>
          <a:solidFill>
            <a:srgbClr val="14532D"/>
          </a:solidFill>
          <a:ln w="12700">
            <a:solidFill>
              <a:srgbClr val="14532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548640"/>
            <a:ext cx="15544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智用 ①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2194560" y="420624"/>
            <a:ext cx="8229600" cy="7498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631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烤房调剂 · 把闲置资源盘活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2212848" y="1078992"/>
            <a:ext cx="86868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在线申请 → 智能预测匹配 → 监督实施 → 在线归还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85800" y="1828800"/>
            <a:ext cx="2468880" cy="822960"/>
          </a:xfrm>
          <a:prstGeom prst="roundRect">
            <a:avLst>
              <a:gd name="adj" fmla="val 13333"/>
            </a:avLst>
          </a:prstGeom>
          <a:solidFill>
            <a:srgbClr val="EDF5F0"/>
          </a:solidFill>
          <a:ln w="12700">
            <a:solidFill>
              <a:srgbClr val="CDE0D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1828800"/>
            <a:ext cx="246888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dirty="0">
                <a:solidFill>
                  <a:srgbClr val="1631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在线申请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1600200" y="2633472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2E8B6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↓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85800" y="3035808"/>
            <a:ext cx="2468880" cy="822960"/>
          </a:xfrm>
          <a:prstGeom prst="roundRect">
            <a:avLst>
              <a:gd name="adj" fmla="val 13333"/>
            </a:avLst>
          </a:prstGeom>
          <a:solidFill>
            <a:srgbClr val="DCEBE2"/>
          </a:solidFill>
          <a:ln w="12700">
            <a:solidFill>
              <a:srgbClr val="CDE0D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" y="3035808"/>
            <a:ext cx="246888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16653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智能预测匹配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1600200" y="3840480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2E8B6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↓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85800" y="4242816"/>
            <a:ext cx="2468880" cy="822960"/>
          </a:xfrm>
          <a:prstGeom prst="roundRect">
            <a:avLst>
              <a:gd name="adj" fmla="val 13333"/>
            </a:avLst>
          </a:prstGeom>
          <a:solidFill>
            <a:srgbClr val="EDF5F0"/>
          </a:solidFill>
          <a:ln w="12700">
            <a:solidFill>
              <a:srgbClr val="CDE0D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5800" y="4242816"/>
            <a:ext cx="246888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dirty="0">
                <a:solidFill>
                  <a:srgbClr val="1631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监督实施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1600200" y="5047488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2E8B6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↓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85800" y="5449824"/>
            <a:ext cx="2468880" cy="822960"/>
          </a:xfrm>
          <a:prstGeom prst="roundRect">
            <a:avLst>
              <a:gd name="adj" fmla="val 13333"/>
            </a:avLst>
          </a:prstGeom>
          <a:solidFill>
            <a:srgbClr val="EDF5F0"/>
          </a:solidFill>
          <a:ln w="12700">
            <a:solidFill>
              <a:srgbClr val="CDE0D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5800" y="5449824"/>
            <a:ext cx="246888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dirty="0">
                <a:solidFill>
                  <a:srgbClr val="1631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在线归还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685800" y="5532120"/>
            <a:ext cx="25603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自控仪在线数据 → 预测完成时间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520440" y="1828800"/>
            <a:ext cx="8183880" cy="4343400"/>
          </a:xfrm>
          <a:prstGeom prst="roundRect">
            <a:avLst>
              <a:gd name="adj" fmla="val 3368"/>
            </a:avLst>
          </a:prstGeom>
          <a:solidFill>
            <a:srgbClr val="FFFFFF"/>
          </a:solidFill>
          <a:ln w="12700">
            <a:solidFill>
              <a:srgbClr val="CDE0D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977640" y="2286000"/>
            <a:ext cx="3291840" cy="1371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600" b="1" dirty="0">
                <a:solidFill>
                  <a:srgbClr val="16653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240</a:t>
            </a:r>
            <a:endParaRPr lang="en-US" sz="9600" dirty="0"/>
          </a:p>
          <a:p>
            <a:pPr marL="0" indent="0" algn="l">
              <a:buNone/>
            </a:pPr>
            <a:r>
              <a:rPr lang="en-US" sz="2200" b="1" dirty="0">
                <a:solidFill>
                  <a:srgbClr val="16653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担</a:t>
            </a:r>
            <a:endParaRPr lang="en-US" sz="9600" dirty="0"/>
          </a:p>
        </p:txBody>
      </p:sp>
      <p:sp>
        <p:nvSpPr>
          <p:cNvPr id="21" name="Text 19"/>
          <p:cNvSpPr/>
          <p:nvPr/>
        </p:nvSpPr>
        <p:spPr>
          <a:xfrm>
            <a:off x="3977640" y="3520440"/>
            <a:ext cx="32918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磨坪站烤房群（50栋）烤能提升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7406640" y="2377440"/>
            <a:ext cx="40233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631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供需智能撮合 → 缩短单炕周期 · 加快烘烤周转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7406640" y="2834640"/>
            <a:ext cx="40233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631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烤季空置周期缩短 · 集群周转烤次提升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7406640" y="3291840"/>
            <a:ext cx="40233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让“抢不到·借不到”成为过去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3977640" y="5394960"/>
            <a:ext cx="7452360" cy="640080"/>
          </a:xfrm>
          <a:prstGeom prst="roundRect">
            <a:avLst>
              <a:gd name="adj" fmla="val 14286"/>
            </a:avLst>
          </a:prstGeom>
          <a:solidFill>
            <a:srgbClr val="DCEBE2"/>
          </a:solidFill>
          <a:ln w="12700">
            <a:solidFill>
              <a:srgbClr val="CDE0D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977640" y="5394960"/>
            <a:ext cx="745236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6653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大大缓解“无房用、无人管”之忧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短暂调剂，让每一座烤房都“转”起来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7863840" y="6473952"/>
            <a:ext cx="38404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宜昌市烟草专卖局（公司）</a:t>
            </a:r>
            <a:endParaRPr lang="en-US" sz="10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502920" y="548640"/>
            <a:ext cx="1554480" cy="457200"/>
          </a:xfrm>
          <a:prstGeom prst="roundRect">
            <a:avLst>
              <a:gd name="adj" fmla="val 16000"/>
            </a:avLst>
          </a:prstGeom>
          <a:solidFill>
            <a:srgbClr val="14532D"/>
          </a:solidFill>
          <a:ln w="12700">
            <a:solidFill>
              <a:srgbClr val="14532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548640"/>
            <a:ext cx="15544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智用 ②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2194560" y="420624"/>
            <a:ext cx="8229600" cy="7498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631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极速抢修 · 3小时化解雷击故障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2212848" y="1078992"/>
            <a:ext cx="86868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2026-08-16 磨坪三墩岩 烟农曾平 · 雷击报修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48640" y="1920240"/>
            <a:ext cx="2011680" cy="914400"/>
          </a:xfrm>
          <a:prstGeom prst="roundRect">
            <a:avLst>
              <a:gd name="adj" fmla="val 12000"/>
            </a:avLst>
          </a:prstGeom>
          <a:solidFill>
            <a:srgbClr val="EDF5F0"/>
          </a:solidFill>
          <a:ln w="12700">
            <a:solidFill>
              <a:srgbClr val="CDE0D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956816"/>
            <a:ext cx="20116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6653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一键报修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640080" y="2377440"/>
            <a:ext cx="18288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手机发起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542032" y="2148840"/>
            <a:ext cx="2743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E8B6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→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2779776" y="1920240"/>
            <a:ext cx="2011680" cy="914400"/>
          </a:xfrm>
          <a:prstGeom prst="roundRect">
            <a:avLst>
              <a:gd name="adj" fmla="val 12000"/>
            </a:avLst>
          </a:prstGeom>
          <a:solidFill>
            <a:srgbClr val="EDF5F0"/>
          </a:solidFill>
          <a:ln w="12700">
            <a:solidFill>
              <a:srgbClr val="CDE0D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79776" y="1956816"/>
            <a:ext cx="20116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6653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智慧健康排查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2871216" y="2377440"/>
            <a:ext cx="18288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对照健康风险排序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773168" y="2148840"/>
            <a:ext cx="2743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E8B6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→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010912" y="1920240"/>
            <a:ext cx="2011680" cy="914400"/>
          </a:xfrm>
          <a:prstGeom prst="roundRect">
            <a:avLst>
              <a:gd name="adj" fmla="val 12000"/>
            </a:avLst>
          </a:prstGeom>
          <a:solidFill>
            <a:srgbClr val="EDF5F0"/>
          </a:solidFill>
          <a:ln w="12700">
            <a:solidFill>
              <a:srgbClr val="CDE0D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10912" y="1956816"/>
            <a:ext cx="20116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6653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在线诊断排除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5102352" y="2377440"/>
            <a:ext cx="18288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自控仪主板/送料电机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7004304" y="2148840"/>
            <a:ext cx="2743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E8B6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→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7242048" y="1920240"/>
            <a:ext cx="2011680" cy="914400"/>
          </a:xfrm>
          <a:prstGeom prst="roundRect">
            <a:avLst>
              <a:gd name="adj" fmla="val 12000"/>
            </a:avLst>
          </a:prstGeom>
          <a:solidFill>
            <a:srgbClr val="EDF5F0"/>
          </a:solidFill>
          <a:ln w="12700">
            <a:solidFill>
              <a:srgbClr val="CDE0D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242048" y="1956816"/>
            <a:ext cx="20116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6653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配件匹配配送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7333488" y="2377440"/>
            <a:ext cx="18288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红岩6km·15min / 磨坪1km·2min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9235440" y="2148840"/>
            <a:ext cx="2743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E8B6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→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9473184" y="1920240"/>
            <a:ext cx="2011680" cy="914400"/>
          </a:xfrm>
          <a:prstGeom prst="roundRect">
            <a:avLst>
              <a:gd name="adj" fmla="val 12000"/>
            </a:avLst>
          </a:prstGeom>
          <a:solidFill>
            <a:srgbClr val="DCEBE2"/>
          </a:solidFill>
          <a:ln w="12700">
            <a:solidFill>
              <a:srgbClr val="CDE0D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473184" y="1956816"/>
            <a:ext cx="20116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6653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就近取货集中抢修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9564624" y="2377440"/>
            <a:ext cx="18288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技术员+抢修人分工配送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548640" y="3108960"/>
            <a:ext cx="5577840" cy="301752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CDE0D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14400" y="3429000"/>
            <a:ext cx="2743200" cy="1371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0" b="1" dirty="0">
                <a:solidFill>
                  <a:srgbClr val="16653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</a:t>
            </a:r>
            <a:endParaRPr lang="en-US" sz="11000" dirty="0"/>
          </a:p>
          <a:p>
            <a:pPr marL="0" indent="0" algn="l">
              <a:buNone/>
            </a:pPr>
            <a:r>
              <a:rPr lang="en-US" sz="2200" b="1" dirty="0">
                <a:solidFill>
                  <a:srgbClr val="16653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小时</a:t>
            </a:r>
            <a:endParaRPr lang="en-US" sz="11000" dirty="0"/>
          </a:p>
        </p:txBody>
      </p:sp>
      <p:sp>
        <p:nvSpPr>
          <p:cNvPr id="28" name="Text 26"/>
          <p:cNvSpPr/>
          <p:nvPr/>
        </p:nvSpPr>
        <p:spPr>
          <a:xfrm>
            <a:off x="914400" y="4663440"/>
            <a:ext cx="2743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抢修对传统缩短近 2 小时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6400800" y="3108960"/>
            <a:ext cx="5303520" cy="3017520"/>
          </a:xfrm>
          <a:prstGeom prst="roundRect">
            <a:avLst>
              <a:gd name="adj" fmla="val 4848"/>
            </a:avLst>
          </a:prstGeom>
          <a:solidFill>
            <a:srgbClr val="DCEBE2"/>
          </a:solidFill>
          <a:ln w="12700">
            <a:solidFill>
              <a:srgbClr val="CDE0D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675120" y="3291840"/>
            <a:ext cx="36576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31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处理对比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6675120" y="3794760"/>
            <a:ext cx="27432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631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在线闭环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9509760" y="3794760"/>
            <a:ext cx="201168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16653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 小时</a:t>
            </a:r>
            <a:endParaRPr lang="en-US" sz="2000" dirty="0"/>
          </a:p>
        </p:txBody>
      </p:sp>
      <p:sp>
        <p:nvSpPr>
          <p:cNvPr id="33" name="Text 31"/>
          <p:cNvSpPr/>
          <p:nvPr/>
        </p:nvSpPr>
        <p:spPr>
          <a:xfrm>
            <a:off x="6675120" y="4526280"/>
            <a:ext cx="27432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631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传统现场+二次上门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9509760" y="4526280"/>
            <a:ext cx="201168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C77E1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≈5 小时</a:t>
            </a:r>
            <a:endParaRPr lang="en-US" sz="2000" dirty="0"/>
          </a:p>
        </p:txBody>
      </p:sp>
      <p:sp>
        <p:nvSpPr>
          <p:cNvPr id="35" name="Text 33"/>
          <p:cNvSpPr/>
          <p:nvPr/>
        </p:nvSpPr>
        <p:spPr>
          <a:xfrm>
            <a:off x="6675120" y="5349240"/>
            <a:ext cx="475488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农户距烟草路程 1小时15分，全程仍控制在 3 小时内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智慧排查+就近配货+分工配送，把烘烤风险降到最低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7863840" y="6473952"/>
            <a:ext cx="38404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宜昌市烟草专卖局（公司）</a:t>
            </a:r>
            <a:endParaRPr lang="en-US" sz="10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502920" y="548640"/>
            <a:ext cx="1554480" cy="457200"/>
          </a:xfrm>
          <a:prstGeom prst="roundRect">
            <a:avLst>
              <a:gd name="adj" fmla="val 16000"/>
            </a:avLst>
          </a:prstGeom>
          <a:solidFill>
            <a:srgbClr val="14532D"/>
          </a:solidFill>
          <a:ln w="12700">
            <a:solidFill>
              <a:srgbClr val="14532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548640"/>
            <a:ext cx="15544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智投 · 让投入聚能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2194560" y="420624"/>
            <a:ext cx="8229600" cy="7498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631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新建有数 · 修复有据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2212848" y="1078992"/>
            <a:ext cx="86868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为烟草公司投入决策提供量化支撑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48640" y="1828800"/>
            <a:ext cx="5440680" cy="3977640"/>
          </a:xfrm>
          <a:prstGeom prst="roundRect">
            <a:avLst>
              <a:gd name="adj" fmla="val 3678"/>
            </a:avLst>
          </a:prstGeom>
          <a:solidFill>
            <a:srgbClr val="FFFFFF"/>
          </a:solidFill>
          <a:ln w="12700">
            <a:solidFill>
              <a:srgbClr val="CDE0D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2057400"/>
            <a:ext cx="36576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31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修复决策辅助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22960" y="2743200"/>
            <a:ext cx="4206240" cy="1371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600" b="1" dirty="0">
                <a:solidFill>
                  <a:srgbClr val="16653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150</a:t>
            </a:r>
            <a:endParaRPr lang="en-US" sz="7600" dirty="0"/>
          </a:p>
          <a:p>
            <a:pPr marL="0" indent="0" algn="l">
              <a:buNone/>
            </a:pPr>
            <a:r>
              <a:rPr lang="en-US" sz="2200" b="1" dirty="0">
                <a:solidFill>
                  <a:srgbClr val="16653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栋</a:t>
            </a:r>
            <a:endParaRPr lang="en-US" sz="7600" dirty="0"/>
          </a:p>
        </p:txBody>
      </p:sp>
      <p:sp>
        <p:nvSpPr>
          <p:cNvPr id="10" name="Text 8"/>
          <p:cNvSpPr/>
          <p:nvPr/>
        </p:nvSpPr>
        <p:spPr>
          <a:xfrm>
            <a:off x="822960" y="3977640"/>
            <a:ext cx="42062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2026 年靶向修复（预警设备 210 栋）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22960" y="4434840"/>
            <a:ext cx="10972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77E1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问题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554480" y="4434840"/>
            <a:ext cx="420624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631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修复靠关系 · 盲目修复 · 过程无监督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22960" y="4937760"/>
            <a:ext cx="10972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653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对策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554480" y="4937760"/>
            <a:ext cx="420624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631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按健康分定位“该修的烤房与部位”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217920" y="1828800"/>
            <a:ext cx="5440680" cy="3977640"/>
          </a:xfrm>
          <a:prstGeom prst="roundRect">
            <a:avLst>
              <a:gd name="adj" fmla="val 3678"/>
            </a:avLst>
          </a:prstGeom>
          <a:solidFill>
            <a:srgbClr val="DCEBE2"/>
          </a:solidFill>
          <a:ln w="12700">
            <a:solidFill>
              <a:srgbClr val="CDE0D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92240" y="2057400"/>
            <a:ext cx="36576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31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新建决策辅助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492240" y="2743200"/>
            <a:ext cx="4206240" cy="1371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600" b="1" dirty="0">
                <a:solidFill>
                  <a:srgbClr val="16653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29</a:t>
            </a:r>
            <a:endParaRPr lang="en-US" sz="7600" dirty="0"/>
          </a:p>
          <a:p>
            <a:pPr marL="0" indent="0" algn="l">
              <a:buNone/>
            </a:pPr>
            <a:r>
              <a:rPr lang="en-US" sz="2200" b="1" dirty="0">
                <a:solidFill>
                  <a:srgbClr val="16653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栋</a:t>
            </a:r>
            <a:endParaRPr lang="en-US" sz="7600" dirty="0"/>
          </a:p>
        </p:txBody>
      </p:sp>
      <p:sp>
        <p:nvSpPr>
          <p:cNvPr id="18" name="Text 16"/>
          <p:cNvSpPr/>
          <p:nvPr/>
        </p:nvSpPr>
        <p:spPr>
          <a:xfrm>
            <a:off x="6492240" y="3977640"/>
            <a:ext cx="42062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2026 年全县落地新建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492240" y="4434840"/>
            <a:ext cx="484632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631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点位：荒口坪 +10　·　三台寺 +12（2026—2028）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492240" y="4937760"/>
            <a:ext cx="484632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631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以千亩村发展指数为依据，“该建才建”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修复精准、新建科学，杜绝资金错配与投入不公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7863840" y="6473952"/>
            <a:ext cx="38404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宜昌市烟草专卖局（公司）</a:t>
            </a:r>
            <a:endParaRPr lang="en-US" sz="10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502920" y="548640"/>
            <a:ext cx="1554480" cy="457200"/>
          </a:xfrm>
          <a:prstGeom prst="roundRect">
            <a:avLst>
              <a:gd name="adj" fmla="val 16000"/>
            </a:avLst>
          </a:prstGeom>
          <a:solidFill>
            <a:srgbClr val="14532D"/>
          </a:solidFill>
          <a:ln w="12700">
            <a:solidFill>
              <a:srgbClr val="14532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548640"/>
            <a:ext cx="15544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智管 · 协同合作社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2194560" y="420624"/>
            <a:ext cx="8229600" cy="7498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631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专业管家队伍 + 集中养护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2212848" y="1078992"/>
            <a:ext cx="86868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把管护责任、资金、作业“管到位”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48640" y="1828800"/>
            <a:ext cx="2697480" cy="1554480"/>
          </a:xfrm>
          <a:prstGeom prst="roundRect">
            <a:avLst>
              <a:gd name="adj" fmla="val 8235"/>
            </a:avLst>
          </a:prstGeom>
          <a:solidFill>
            <a:srgbClr val="FFFFFF"/>
          </a:solidFill>
          <a:ln w="12700">
            <a:solidFill>
              <a:srgbClr val="CDE0D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1828800"/>
            <a:ext cx="118872" cy="1554480"/>
          </a:xfrm>
          <a:prstGeom prst="roundRect">
            <a:avLst>
              <a:gd name="adj" fmla="val 53846"/>
            </a:avLst>
          </a:prstGeom>
          <a:solidFill>
            <a:srgbClr val="166534"/>
          </a:solidFill>
        </p:spPr>
      </p:sp>
      <p:sp>
        <p:nvSpPr>
          <p:cNvPr id="9" name="Text 7"/>
          <p:cNvSpPr/>
          <p:nvPr/>
        </p:nvSpPr>
        <p:spPr>
          <a:xfrm>
            <a:off x="841248" y="1938528"/>
            <a:ext cx="22860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631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调制技术队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841248" y="2304288"/>
            <a:ext cx="22860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6653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39人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841248" y="2834640"/>
            <a:ext cx="22860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统一技术服务 · 烤得好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401568" y="1828800"/>
            <a:ext cx="2697480" cy="1554480"/>
          </a:xfrm>
          <a:prstGeom prst="roundRect">
            <a:avLst>
              <a:gd name="adj" fmla="val 8235"/>
            </a:avLst>
          </a:prstGeom>
          <a:solidFill>
            <a:srgbClr val="FFFFFF"/>
          </a:solidFill>
          <a:ln w="12700">
            <a:solidFill>
              <a:srgbClr val="CDE0D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401568" y="1828800"/>
            <a:ext cx="118872" cy="1554480"/>
          </a:xfrm>
          <a:prstGeom prst="roundRect">
            <a:avLst>
              <a:gd name="adj" fmla="val 53846"/>
            </a:avLst>
          </a:prstGeom>
          <a:solidFill>
            <a:srgbClr val="166534"/>
          </a:solidFill>
        </p:spPr>
      </p:sp>
      <p:sp>
        <p:nvSpPr>
          <p:cNvPr id="14" name="Text 12"/>
          <p:cNvSpPr/>
          <p:nvPr/>
        </p:nvSpPr>
        <p:spPr>
          <a:xfrm>
            <a:off x="3694176" y="1938528"/>
            <a:ext cx="22860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631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紧急抢修队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3694176" y="2304288"/>
            <a:ext cx="22860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6653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8人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3694176" y="2834640"/>
            <a:ext cx="22860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应急抢修调剂 · 无风险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254496" y="1828800"/>
            <a:ext cx="2697480" cy="1554480"/>
          </a:xfrm>
          <a:prstGeom prst="roundRect">
            <a:avLst>
              <a:gd name="adj" fmla="val 8235"/>
            </a:avLst>
          </a:prstGeom>
          <a:solidFill>
            <a:srgbClr val="FFFFFF"/>
          </a:solidFill>
          <a:ln w="12700">
            <a:solidFill>
              <a:srgbClr val="CDE0D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254496" y="1828800"/>
            <a:ext cx="118872" cy="1554480"/>
          </a:xfrm>
          <a:prstGeom prst="roundRect">
            <a:avLst>
              <a:gd name="adj" fmla="val 53846"/>
            </a:avLst>
          </a:prstGeom>
          <a:solidFill>
            <a:srgbClr val="166534"/>
          </a:solidFill>
        </p:spPr>
      </p:sp>
      <p:sp>
        <p:nvSpPr>
          <p:cNvPr id="19" name="Text 17"/>
          <p:cNvSpPr/>
          <p:nvPr/>
        </p:nvSpPr>
        <p:spPr>
          <a:xfrm>
            <a:off x="6547104" y="1938528"/>
            <a:ext cx="22860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631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综合管理队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6547104" y="2304288"/>
            <a:ext cx="22860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6653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4人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6547104" y="2834640"/>
            <a:ext cx="22860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统一规划养护 · 款专用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9107424" y="1828800"/>
            <a:ext cx="2697480" cy="1554480"/>
          </a:xfrm>
          <a:prstGeom prst="roundRect">
            <a:avLst>
              <a:gd name="adj" fmla="val 8235"/>
            </a:avLst>
          </a:prstGeom>
          <a:solidFill>
            <a:srgbClr val="FFFFFF"/>
          </a:solidFill>
          <a:ln w="12700">
            <a:solidFill>
              <a:srgbClr val="CDE0D5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107424" y="1828800"/>
            <a:ext cx="118872" cy="1554480"/>
          </a:xfrm>
          <a:prstGeom prst="roundRect">
            <a:avLst>
              <a:gd name="adj" fmla="val 53846"/>
            </a:avLst>
          </a:prstGeom>
          <a:solidFill>
            <a:srgbClr val="166534"/>
          </a:solidFill>
        </p:spPr>
      </p:sp>
      <p:sp>
        <p:nvSpPr>
          <p:cNvPr id="24" name="Text 22"/>
          <p:cNvSpPr/>
          <p:nvPr/>
        </p:nvSpPr>
        <p:spPr>
          <a:xfrm>
            <a:off x="9400032" y="1938528"/>
            <a:ext cx="22860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631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日常管护队</a:t>
            </a:r>
            <a:endParaRPr lang="en-US" sz="1450" dirty="0"/>
          </a:p>
        </p:txBody>
      </p:sp>
      <p:sp>
        <p:nvSpPr>
          <p:cNvPr id="25" name="Text 23"/>
          <p:cNvSpPr/>
          <p:nvPr/>
        </p:nvSpPr>
        <p:spPr>
          <a:xfrm>
            <a:off x="9400032" y="2304288"/>
            <a:ext cx="22860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6653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轮值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9400032" y="2834640"/>
            <a:ext cx="22860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标准化养护作业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548640" y="3611880"/>
            <a:ext cx="11109960" cy="265176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CDE0D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22960" y="3794760"/>
            <a:ext cx="7315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31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集中养护 · 收支两条线 · 柔性用工 · 打卡验收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822960" y="4343400"/>
            <a:ext cx="228600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6653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97</a:t>
            </a:r>
            <a:r>
              <a:rPr lang="en-US" sz="1600" b="1" dirty="0">
                <a:solidFill>
                  <a:srgbClr val="16653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万</a:t>
            </a:r>
            <a:endParaRPr lang="en-US" sz="4000" dirty="0"/>
          </a:p>
        </p:txBody>
      </p:sp>
      <p:sp>
        <p:nvSpPr>
          <p:cNvPr id="30" name="Text 28"/>
          <p:cNvSpPr/>
          <p:nvPr/>
        </p:nvSpPr>
        <p:spPr>
          <a:xfrm>
            <a:off x="822960" y="5074920"/>
            <a:ext cx="22860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2026收取养护费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3474720" y="4343400"/>
            <a:ext cx="228600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6653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182</a:t>
            </a:r>
            <a:r>
              <a:rPr lang="en-US" sz="1600" b="1" dirty="0">
                <a:solidFill>
                  <a:srgbClr val="16653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万</a:t>
            </a:r>
            <a:endParaRPr lang="en-US" sz="4000" dirty="0"/>
          </a:p>
        </p:txBody>
      </p:sp>
      <p:sp>
        <p:nvSpPr>
          <p:cNvPr id="32" name="Text 30"/>
          <p:cNvSpPr/>
          <p:nvPr/>
        </p:nvSpPr>
        <p:spPr>
          <a:xfrm>
            <a:off x="3474720" y="5074920"/>
            <a:ext cx="22860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2026账面结余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6126480" y="4343400"/>
            <a:ext cx="228600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6653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296</a:t>
            </a:r>
            <a:r>
              <a:rPr lang="en-US" sz="1600" b="1" dirty="0">
                <a:solidFill>
                  <a:srgbClr val="16653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万</a:t>
            </a:r>
            <a:endParaRPr lang="en-US" sz="4000" dirty="0"/>
          </a:p>
        </p:txBody>
      </p:sp>
      <p:sp>
        <p:nvSpPr>
          <p:cNvPr id="34" name="Text 32"/>
          <p:cNvSpPr/>
          <p:nvPr/>
        </p:nvSpPr>
        <p:spPr>
          <a:xfrm>
            <a:off x="6126480" y="5074920"/>
            <a:ext cx="22860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历年累计管护基金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8778240" y="4343400"/>
            <a:ext cx="228600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6653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20%</a:t>
            </a:r>
            <a:r>
              <a:rPr lang="en-US" sz="1600" b="1" dirty="0">
                <a:solidFill>
                  <a:srgbClr val="16653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↓</a:t>
            </a:r>
            <a:endParaRPr lang="en-US" sz="4000" dirty="0"/>
          </a:p>
        </p:txBody>
      </p:sp>
      <p:sp>
        <p:nvSpPr>
          <p:cNvPr id="36" name="Text 34"/>
          <p:cNvSpPr/>
          <p:nvPr/>
        </p:nvSpPr>
        <p:spPr>
          <a:xfrm>
            <a:off x="8778240" y="5074920"/>
            <a:ext cx="22860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单栋养护 50→40元</a:t>
            </a:r>
            <a:endParaRPr lang="en-US" sz="1150" dirty="0"/>
          </a:p>
        </p:txBody>
      </p:sp>
      <p:sp>
        <p:nvSpPr>
          <p:cNvPr id="37" name="Text 35"/>
          <p:cNvSpPr/>
          <p:nvPr/>
        </p:nvSpPr>
        <p:spPr>
          <a:xfrm>
            <a:off x="822960" y="5532120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柔性用工：养护支出 6—10 元/栋 · 预计全年省 6,000 元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管护从“概念责任”走向“数字闭环”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7863840" y="6473952"/>
            <a:ext cx="38404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宜昌市烟草专卖局（公司）</a:t>
            </a:r>
            <a:endParaRPr lang="en-US" sz="10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53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B8922A"/>
          </a:solidFill>
        </p:spPr>
      </p:sp>
      <p:sp>
        <p:nvSpPr>
          <p:cNvPr id="3" name="Text 1"/>
          <p:cNvSpPr/>
          <p:nvPr/>
        </p:nvSpPr>
        <p:spPr>
          <a:xfrm>
            <a:off x="502920" y="457200"/>
            <a:ext cx="82296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全维度成效 · 数据看板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1143000"/>
            <a:ext cx="82296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B9D8C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验证“1库2模型1平台”落地成果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02920" y="1691640"/>
            <a:ext cx="2743200" cy="2103120"/>
          </a:xfrm>
          <a:prstGeom prst="roundRect">
            <a:avLst>
              <a:gd name="adj" fmla="val 6957"/>
            </a:avLst>
          </a:prstGeom>
          <a:solidFill>
            <a:srgbClr val="1C5E3A"/>
          </a:solidFill>
          <a:ln w="12700">
            <a:solidFill>
              <a:srgbClr val="2E8B6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984248"/>
            <a:ext cx="274320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2E8B6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700+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640080" y="2834640"/>
            <a:ext cx="246888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DCEBE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份问卷·覆盖宜昌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02920" y="3447288"/>
            <a:ext cx="274320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B8922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底数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456432" y="1691640"/>
            <a:ext cx="2743200" cy="2103120"/>
          </a:xfrm>
          <a:prstGeom prst="roundRect">
            <a:avLst>
              <a:gd name="adj" fmla="val 6957"/>
            </a:avLst>
          </a:prstGeom>
          <a:solidFill>
            <a:srgbClr val="1C5E3A"/>
          </a:solidFill>
          <a:ln w="12700">
            <a:solidFill>
              <a:srgbClr val="2E8B6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56432" y="1984248"/>
            <a:ext cx="274320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2E8B6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2442</a:t>
            </a:r>
            <a:endParaRPr lang="en-US" sz="4400" dirty="0"/>
          </a:p>
        </p:txBody>
      </p:sp>
      <p:sp>
        <p:nvSpPr>
          <p:cNvPr id="11" name="Text 9"/>
          <p:cNvSpPr/>
          <p:nvPr/>
        </p:nvSpPr>
        <p:spPr>
          <a:xfrm>
            <a:off x="3593592" y="2834640"/>
            <a:ext cx="246888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DCEBE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栋烤房·一栋一档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456432" y="3447288"/>
            <a:ext cx="274320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B8922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建档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409944" y="1691640"/>
            <a:ext cx="2743200" cy="2103120"/>
          </a:xfrm>
          <a:prstGeom prst="roundRect">
            <a:avLst>
              <a:gd name="adj" fmla="val 6957"/>
            </a:avLst>
          </a:prstGeom>
          <a:solidFill>
            <a:srgbClr val="1C5E3A"/>
          </a:solidFill>
          <a:ln w="12700">
            <a:solidFill>
              <a:srgbClr val="2E8B6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9944" y="1984248"/>
            <a:ext cx="274320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4FA88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240</a:t>
            </a:r>
            <a:endParaRPr lang="en-US" sz="4400" dirty="0"/>
          </a:p>
        </p:txBody>
      </p:sp>
      <p:sp>
        <p:nvSpPr>
          <p:cNvPr id="15" name="Text 13"/>
          <p:cNvSpPr/>
          <p:nvPr/>
        </p:nvSpPr>
        <p:spPr>
          <a:xfrm>
            <a:off x="6547104" y="2834640"/>
            <a:ext cx="246888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DCEBE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担·50栋烤能提升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409944" y="3447288"/>
            <a:ext cx="274320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B8922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调剂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9363456" y="1691640"/>
            <a:ext cx="2743200" cy="2103120"/>
          </a:xfrm>
          <a:prstGeom prst="roundRect">
            <a:avLst>
              <a:gd name="adj" fmla="val 6957"/>
            </a:avLst>
          </a:prstGeom>
          <a:solidFill>
            <a:srgbClr val="1C5E3A"/>
          </a:solidFill>
          <a:ln w="12700">
            <a:solidFill>
              <a:srgbClr val="2E8B6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363456" y="1984248"/>
            <a:ext cx="274320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5AA38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3h</a:t>
            </a:r>
            <a:endParaRPr lang="en-US" sz="4400" dirty="0"/>
          </a:p>
        </p:txBody>
      </p:sp>
      <p:sp>
        <p:nvSpPr>
          <p:cNvPr id="19" name="Text 17"/>
          <p:cNvSpPr/>
          <p:nvPr/>
        </p:nvSpPr>
        <p:spPr>
          <a:xfrm>
            <a:off x="9500616" y="2834640"/>
            <a:ext cx="246888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DCEBE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雷击极速抢修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9363456" y="3447288"/>
            <a:ext cx="274320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B8922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抢修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502920" y="4069080"/>
            <a:ext cx="2743200" cy="2103120"/>
          </a:xfrm>
          <a:prstGeom prst="roundRect">
            <a:avLst>
              <a:gd name="adj" fmla="val 6957"/>
            </a:avLst>
          </a:prstGeom>
          <a:solidFill>
            <a:srgbClr val="1C5E3A"/>
          </a:solidFill>
          <a:ln w="12700">
            <a:solidFill>
              <a:srgbClr val="2E8B6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2920" y="4361688"/>
            <a:ext cx="274320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59897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29</a:t>
            </a:r>
            <a:endParaRPr lang="en-US" sz="4400" dirty="0"/>
          </a:p>
        </p:txBody>
      </p:sp>
      <p:sp>
        <p:nvSpPr>
          <p:cNvPr id="23" name="Text 21"/>
          <p:cNvSpPr/>
          <p:nvPr/>
        </p:nvSpPr>
        <p:spPr>
          <a:xfrm>
            <a:off x="640080" y="5212080"/>
            <a:ext cx="246888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DCEBE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栋·2026科学新建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02920" y="5824728"/>
            <a:ext cx="274320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B8922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新建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3456432" y="4069080"/>
            <a:ext cx="2743200" cy="2103120"/>
          </a:xfrm>
          <a:prstGeom prst="roundRect">
            <a:avLst>
              <a:gd name="adj" fmla="val 6957"/>
            </a:avLst>
          </a:prstGeom>
          <a:solidFill>
            <a:srgbClr val="1C5E3A"/>
          </a:solidFill>
          <a:ln w="12700">
            <a:solidFill>
              <a:srgbClr val="2E8B6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456432" y="4361688"/>
            <a:ext cx="274320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2E8B6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150</a:t>
            </a:r>
            <a:endParaRPr lang="en-US" sz="4400" dirty="0"/>
          </a:p>
        </p:txBody>
      </p:sp>
      <p:sp>
        <p:nvSpPr>
          <p:cNvPr id="27" name="Text 25"/>
          <p:cNvSpPr/>
          <p:nvPr/>
        </p:nvSpPr>
        <p:spPr>
          <a:xfrm>
            <a:off x="3593592" y="5212080"/>
            <a:ext cx="246888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DCEBE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栋·靶向修复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3456432" y="5824728"/>
            <a:ext cx="274320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B8922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修复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6409944" y="4069080"/>
            <a:ext cx="2743200" cy="2103120"/>
          </a:xfrm>
          <a:prstGeom prst="roundRect">
            <a:avLst>
              <a:gd name="adj" fmla="val 6957"/>
            </a:avLst>
          </a:prstGeom>
          <a:solidFill>
            <a:srgbClr val="1C5E3A"/>
          </a:solidFill>
          <a:ln w="12700">
            <a:solidFill>
              <a:srgbClr val="2E8B6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409944" y="4361688"/>
            <a:ext cx="274320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4FA88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182</a:t>
            </a:r>
            <a:endParaRPr lang="en-US" sz="4400" dirty="0"/>
          </a:p>
        </p:txBody>
      </p:sp>
      <p:sp>
        <p:nvSpPr>
          <p:cNvPr id="31" name="Text 29"/>
          <p:cNvSpPr/>
          <p:nvPr/>
        </p:nvSpPr>
        <p:spPr>
          <a:xfrm>
            <a:off x="6547104" y="5212080"/>
            <a:ext cx="246888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DCEBE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万·账面结余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409944" y="5824728"/>
            <a:ext cx="274320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B8922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资金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9363456" y="4069080"/>
            <a:ext cx="2743200" cy="2103120"/>
          </a:xfrm>
          <a:prstGeom prst="roundRect">
            <a:avLst>
              <a:gd name="adj" fmla="val 6957"/>
            </a:avLst>
          </a:prstGeom>
          <a:solidFill>
            <a:srgbClr val="1C5E3A"/>
          </a:solidFill>
          <a:ln w="12700">
            <a:solidFill>
              <a:srgbClr val="2E8B6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363456" y="4361688"/>
            <a:ext cx="274320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2E8B6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20%</a:t>
            </a:r>
            <a:endParaRPr lang="en-US" sz="4400" dirty="0"/>
          </a:p>
        </p:txBody>
      </p:sp>
      <p:sp>
        <p:nvSpPr>
          <p:cNvPr id="35" name="Text 33"/>
          <p:cNvSpPr/>
          <p:nvPr/>
        </p:nvSpPr>
        <p:spPr>
          <a:xfrm>
            <a:off x="9500616" y="5212080"/>
            <a:ext cx="246888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DCEBE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↓ 单栋养护成本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9363456" y="5824728"/>
            <a:ext cx="274320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B8922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降本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2926080" y="6355080"/>
            <a:ext cx="54864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烟农省心 · 企业增效 · 行业提质</a:t>
            </a:r>
            <a:endParaRPr lang="en-US" sz="15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502920" y="502920"/>
            <a:ext cx="1737360" cy="475488"/>
          </a:xfrm>
          <a:prstGeom prst="roundRect">
            <a:avLst>
              <a:gd name="adj" fmla="val 50000"/>
            </a:avLst>
          </a:prstGeom>
          <a:solidFill>
            <a:srgbClr val="14532D"/>
          </a:solidFill>
          <a:effectLst>
            <a:outerShdw blurRad="2147483647" dist="2147483647" dir="-1" algn="bl" rotWithShape="0">
              <a:srgbClr val="1B4633">
                <a:alpha val="2147483647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502920" y="502920"/>
            <a:ext cx="173736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altLang="en-US" sz="15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深层</a:t>
            </a:r>
            <a:r>
              <a:rPr lang="zh-CN" altLang="en-US" sz="15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问题</a:t>
            </a:r>
            <a:endParaRPr lang="zh-CN" altLang="en-US" sz="1500" b="1" dirty="0">
              <a:solidFill>
                <a:srgbClr val="FFFFFF"/>
              </a:solidFill>
              <a:latin typeface="微软雅黑" pitchFamily="34" charset="0"/>
              <a:ea typeface="微软雅黑" pitchFamily="34" charset="-122"/>
              <a:cs typeface="微软雅黑" pitchFamily="34" charset="-120"/>
            </a:endParaRPr>
          </a:p>
        </p:txBody>
      </p:sp>
      <p:sp>
        <p:nvSpPr>
          <p:cNvPr id="5" name="Text 3"/>
          <p:cNvSpPr/>
          <p:nvPr/>
        </p:nvSpPr>
        <p:spPr>
          <a:xfrm>
            <a:off x="2487168" y="365760"/>
            <a:ext cx="905256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430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烟农三愁 -&gt; 行业三痛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502920" y="1554480"/>
            <a:ext cx="5486400" cy="4389120"/>
          </a:xfrm>
          <a:prstGeom prst="roundRect">
            <a:avLst>
              <a:gd name="adj" fmla="val 2917"/>
            </a:avLst>
          </a:prstGeom>
          <a:solidFill>
            <a:srgbClr val="FFFFFF"/>
          </a:solidFill>
          <a:ln w="12700">
            <a:solidFill>
              <a:srgbClr val="D6E3DA"/>
            </a:solidFill>
            <a:prstDash val="solid"/>
          </a:ln>
          <a:effectLst>
            <a:outerShdw blurRad="2147483647" dist="2147483647" dir="3" algn="bl" rotWithShape="0">
              <a:srgbClr val="1B4633">
                <a:alpha val="2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31520" y="1737360"/>
            <a:ext cx="50292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6653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烟农三愁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731520" y="2103120"/>
            <a:ext cx="5029200" cy="1005840"/>
          </a:xfrm>
          <a:prstGeom prst="roundRect">
            <a:avLst>
              <a:gd name="adj" fmla="val 9091"/>
            </a:avLst>
          </a:prstGeom>
          <a:solidFill>
            <a:srgbClr val="E7F2EA"/>
          </a:solidFill>
          <a:ln w="12700">
            <a:solidFill>
              <a:srgbClr val="D6E3DA"/>
            </a:solidFill>
            <a:prstDash val="solid"/>
          </a:ln>
          <a:effectLst>
            <a:outerShdw blurRad="2147483647" dist="2147483647" dir="2" algn="bl" rotWithShape="0">
              <a:srgbClr val="1B4633">
                <a:alpha val="2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868680" y="2212848"/>
            <a:ext cx="475488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🏠 </a:t>
            </a:r>
            <a:r>
              <a:rPr lang="en-US" sz="1600" b="1" dirty="0">
                <a:solidFill>
                  <a:srgbClr val="16653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用房愁：</a:t>
            </a:r>
            <a:r>
              <a:rPr lang="en-US" sz="1200" dirty="0">
                <a:solidFill>
                  <a:srgbClr val="1430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 资源分布不均，旺季调剂无门，烘烤易造成损失</a:t>
            </a:r>
            <a:endParaRPr lang="en-US" sz="2400" dirty="0"/>
          </a:p>
        </p:txBody>
      </p:sp>
      <p:sp>
        <p:nvSpPr>
          <p:cNvPr id="11" name="Shape 9"/>
          <p:cNvSpPr/>
          <p:nvPr/>
        </p:nvSpPr>
        <p:spPr>
          <a:xfrm>
            <a:off x="731520" y="3291840"/>
            <a:ext cx="5029200" cy="1005840"/>
          </a:xfrm>
          <a:prstGeom prst="roundRect">
            <a:avLst>
              <a:gd name="adj" fmla="val 9091"/>
            </a:avLst>
          </a:prstGeom>
          <a:solidFill>
            <a:srgbClr val="E7F2EA"/>
          </a:solidFill>
          <a:ln w="12700">
            <a:solidFill>
              <a:srgbClr val="D6E3DA"/>
            </a:solidFill>
            <a:prstDash val="solid"/>
          </a:ln>
          <a:effectLst>
            <a:outerShdw blurRad="2147483647" dist="2147483647" dir="1" algn="bl" rotWithShape="0">
              <a:srgbClr val="1B4633">
                <a:alpha val="2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868680" y="3401568"/>
            <a:ext cx="475488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🔧 </a:t>
            </a:r>
            <a:r>
              <a:rPr lang="en-US" sz="1600" b="1" dirty="0">
                <a:solidFill>
                  <a:srgbClr val="16653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报修愁：</a:t>
            </a:r>
            <a:r>
              <a:rPr lang="en-US" sz="1200" dirty="0">
                <a:solidFill>
                  <a:srgbClr val="1430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 设备故障找人难、抢修周期长，烘烤风险高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731520" y="4480560"/>
            <a:ext cx="5029200" cy="1005840"/>
          </a:xfrm>
          <a:prstGeom prst="roundRect">
            <a:avLst>
              <a:gd name="adj" fmla="val 9091"/>
            </a:avLst>
          </a:prstGeom>
          <a:solidFill>
            <a:srgbClr val="E7F2EA"/>
          </a:solidFill>
          <a:ln w="12700">
            <a:solidFill>
              <a:srgbClr val="D6E3DA"/>
            </a:solidFill>
            <a:prstDash val="solid"/>
          </a:ln>
          <a:effectLst>
            <a:outerShdw blurRad="2147483647" dist="2147483647" dir="7" algn="bl" rotWithShape="0">
              <a:srgbClr val="1B4633">
                <a:alpha val="2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68680" y="4590288"/>
            <a:ext cx="475488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💰 </a:t>
            </a:r>
            <a:r>
              <a:rPr lang="en-US" sz="1600" b="1" dirty="0">
                <a:solidFill>
                  <a:srgbClr val="16653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管护愁：</a:t>
            </a:r>
            <a:r>
              <a:rPr lang="en-US" sz="1200" dirty="0">
                <a:solidFill>
                  <a:srgbClr val="1430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 养护标准不一，资金透明度不足，烟农满意度低</a:t>
            </a:r>
            <a:endParaRPr lang="en-US" sz="2400" dirty="0"/>
          </a:p>
        </p:txBody>
      </p:sp>
      <p:sp>
        <p:nvSpPr>
          <p:cNvPr id="15" name="Shape 13"/>
          <p:cNvSpPr/>
          <p:nvPr/>
        </p:nvSpPr>
        <p:spPr>
          <a:xfrm>
            <a:off x="6199632" y="1554480"/>
            <a:ext cx="5486400" cy="4389120"/>
          </a:xfrm>
          <a:prstGeom prst="roundRect">
            <a:avLst>
              <a:gd name="adj" fmla="val 2917"/>
            </a:avLst>
          </a:prstGeom>
          <a:solidFill>
            <a:srgbClr val="FFFFFF"/>
          </a:solidFill>
          <a:ln w="12700">
            <a:solidFill>
              <a:srgbClr val="D6E3DA"/>
            </a:solidFill>
            <a:prstDash val="solid"/>
          </a:ln>
          <a:effectLst>
            <a:outerShdw blurRad="2147483647" dist="2147483647" dir="4" algn="bl" rotWithShape="0">
              <a:srgbClr val="1B4633">
                <a:alpha val="2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446520" y="1737360"/>
            <a:ext cx="50292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6653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行业深层痛点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6446520" y="2103120"/>
            <a:ext cx="4101465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D6E3DA"/>
            </a:solidFill>
            <a:prstDash val="solid"/>
          </a:ln>
          <a:effectLst>
            <a:outerShdw blurRad="2147483647" dist="2147483647" dir="2" algn="bl" rotWithShape="0">
              <a:srgbClr val="1B4633">
                <a:alpha val="2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537960" y="2267585"/>
            <a:ext cx="320040" cy="475615"/>
          </a:xfrm>
          <a:prstGeom prst="roundRect">
            <a:avLst>
              <a:gd name="adj" fmla="val 50000"/>
            </a:avLst>
          </a:prstGeom>
          <a:solidFill>
            <a:srgbClr val="2E8B6A"/>
          </a:solidFill>
        </p:spPr>
      </p:sp>
      <p:sp>
        <p:nvSpPr>
          <p:cNvPr id="19" name="Text 17"/>
          <p:cNvSpPr/>
          <p:nvPr/>
        </p:nvSpPr>
        <p:spPr>
          <a:xfrm>
            <a:off x="6537960" y="2267712"/>
            <a:ext cx="32004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949440" y="2267712"/>
            <a:ext cx="438912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30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 资源调度缺少数字支撑</a:t>
            </a:r>
            <a:r>
              <a:rPr lang="en-US" sz="1200" dirty="0">
                <a:solidFill>
                  <a:srgbClr val="5C6B6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：烟农想用，调不动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6446520" y="3291840"/>
            <a:ext cx="4101465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D6E3DA"/>
            </a:solidFill>
            <a:prstDash val="solid"/>
          </a:ln>
          <a:effectLst>
            <a:outerShdw blurRad="2147483647" dist="2147483647" dir="1" algn="bl" rotWithShape="0">
              <a:srgbClr val="1B4633">
                <a:alpha val="2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537960" y="3456305"/>
            <a:ext cx="320040" cy="535305"/>
          </a:xfrm>
          <a:prstGeom prst="roundRect">
            <a:avLst>
              <a:gd name="adj" fmla="val 50000"/>
            </a:avLst>
          </a:prstGeom>
          <a:solidFill>
            <a:srgbClr val="2E8B6A"/>
          </a:solidFill>
        </p:spPr>
      </p:sp>
      <p:sp>
        <p:nvSpPr>
          <p:cNvPr id="23" name="Text 21"/>
          <p:cNvSpPr/>
          <p:nvPr/>
        </p:nvSpPr>
        <p:spPr>
          <a:xfrm>
            <a:off x="6537960" y="3456432"/>
            <a:ext cx="32004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949440" y="3456432"/>
            <a:ext cx="438912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30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 基建投入缺少量化依据</a:t>
            </a:r>
            <a:r>
              <a:rPr lang="en-US" sz="1200" dirty="0">
                <a:solidFill>
                  <a:srgbClr val="5C6B6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：政府要投，凭经验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6446520" y="4480560"/>
            <a:ext cx="502920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D6E3DA"/>
            </a:solidFill>
            <a:prstDash val="solid"/>
          </a:ln>
          <a:effectLst>
            <a:outerShdw blurRad="2147483647" dist="2147483647" dir="9" algn="bl" rotWithShape="0">
              <a:srgbClr val="1B4633">
                <a:alpha val="2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537960" y="4645025"/>
            <a:ext cx="320040" cy="535305"/>
          </a:xfrm>
          <a:prstGeom prst="roundRect">
            <a:avLst>
              <a:gd name="adj" fmla="val 50000"/>
            </a:avLst>
          </a:prstGeom>
          <a:solidFill>
            <a:srgbClr val="2E8B6A"/>
          </a:solidFill>
        </p:spPr>
      </p:sp>
      <p:sp>
        <p:nvSpPr>
          <p:cNvPr id="27" name="Text 25"/>
          <p:cNvSpPr/>
          <p:nvPr/>
        </p:nvSpPr>
        <p:spPr>
          <a:xfrm>
            <a:off x="6537960" y="4645025"/>
            <a:ext cx="320040" cy="5353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6949440" y="4645152"/>
            <a:ext cx="438912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30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 管护运行缺少闭环约束</a:t>
            </a:r>
            <a:r>
              <a:rPr lang="en-US" sz="1200" dirty="0">
                <a:solidFill>
                  <a:srgbClr val="5C6B6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：合作社要管，不想管、不愿管、不服管</a:t>
            </a:r>
            <a:endParaRPr lang="en-US" sz="15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66534"/>
          </a:solidFill>
        </p:spPr>
      </p:sp>
      <p:sp>
        <p:nvSpPr>
          <p:cNvPr id="3" name="Shape 1"/>
          <p:cNvSpPr/>
          <p:nvPr/>
        </p:nvSpPr>
        <p:spPr>
          <a:xfrm>
            <a:off x="502920" y="548640"/>
            <a:ext cx="1554480" cy="457200"/>
          </a:xfrm>
          <a:prstGeom prst="roundRect">
            <a:avLst>
              <a:gd name="adj" fmla="val 16000"/>
            </a:avLst>
          </a:prstGeom>
          <a:solidFill>
            <a:srgbClr val="14532D"/>
          </a:solidFill>
          <a:ln w="12700">
            <a:solidFill>
              <a:srgbClr val="14532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548640"/>
            <a:ext cx="15544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展望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2194560" y="420624"/>
            <a:ext cx="8229600" cy="7498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631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多投共建 · 管家自理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2212848" y="1078992"/>
            <a:ext cx="86868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从“行业主导”走向“产区自治”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48640" y="1828800"/>
            <a:ext cx="5440680" cy="32004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CDE0D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1828800"/>
            <a:ext cx="5440680" cy="731520"/>
          </a:xfrm>
          <a:prstGeom prst="roundRect">
            <a:avLst>
              <a:gd name="adj" fmla="val 20000"/>
            </a:avLst>
          </a:prstGeom>
          <a:solidFill>
            <a:srgbClr val="166534"/>
          </a:solidFill>
        </p:spPr>
      </p:sp>
      <p:sp>
        <p:nvSpPr>
          <p:cNvPr id="9" name="Shape 7"/>
          <p:cNvSpPr/>
          <p:nvPr/>
        </p:nvSpPr>
        <p:spPr>
          <a:xfrm>
            <a:off x="548640" y="2194560"/>
            <a:ext cx="5440680" cy="365760"/>
          </a:xfrm>
          <a:prstGeom prst="rect">
            <a:avLst/>
          </a:prstGeom>
          <a:solidFill>
            <a:srgbClr val="166534"/>
          </a:solidFill>
        </p:spPr>
      </p:sp>
      <p:sp>
        <p:nvSpPr>
          <p:cNvPr id="10" name="Text 8"/>
          <p:cNvSpPr/>
          <p:nvPr/>
        </p:nvSpPr>
        <p:spPr>
          <a:xfrm>
            <a:off x="548640" y="1828800"/>
            <a:ext cx="544068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多投共建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1005840" y="2834640"/>
            <a:ext cx="118872" cy="118872"/>
          </a:xfrm>
          <a:prstGeom prst="ellipse">
            <a:avLst/>
          </a:prstGeom>
          <a:solidFill>
            <a:srgbClr val="166534"/>
          </a:solidFill>
        </p:spPr>
      </p:sp>
      <p:sp>
        <p:nvSpPr>
          <p:cNvPr id="12" name="Text 10"/>
          <p:cNvSpPr/>
          <p:nvPr/>
        </p:nvSpPr>
        <p:spPr>
          <a:xfrm>
            <a:off x="1234440" y="2724912"/>
            <a:ext cx="438912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631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行业投设备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1005840" y="3346704"/>
            <a:ext cx="118872" cy="118872"/>
          </a:xfrm>
          <a:prstGeom prst="ellipse">
            <a:avLst/>
          </a:prstGeom>
          <a:solidFill>
            <a:srgbClr val="166534"/>
          </a:solidFill>
        </p:spPr>
      </p:sp>
      <p:sp>
        <p:nvSpPr>
          <p:cNvPr id="14" name="Text 12"/>
          <p:cNvSpPr/>
          <p:nvPr/>
        </p:nvSpPr>
        <p:spPr>
          <a:xfrm>
            <a:off x="1234440" y="3236976"/>
            <a:ext cx="438912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631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政府投土建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1005840" y="3858768"/>
            <a:ext cx="118872" cy="118872"/>
          </a:xfrm>
          <a:prstGeom prst="ellipse">
            <a:avLst/>
          </a:prstGeom>
          <a:solidFill>
            <a:srgbClr val="166534"/>
          </a:solidFill>
        </p:spPr>
      </p:sp>
      <p:sp>
        <p:nvSpPr>
          <p:cNvPr id="16" name="Text 14"/>
          <p:cNvSpPr/>
          <p:nvPr/>
        </p:nvSpPr>
        <p:spPr>
          <a:xfrm>
            <a:off x="1234440" y="3749040"/>
            <a:ext cx="438912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631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合作社管维护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1005840" y="4370832"/>
            <a:ext cx="118872" cy="118872"/>
          </a:xfrm>
          <a:prstGeom prst="ellipse">
            <a:avLst/>
          </a:prstGeom>
          <a:solidFill>
            <a:srgbClr val="166534"/>
          </a:solidFill>
        </p:spPr>
      </p:sp>
      <p:sp>
        <p:nvSpPr>
          <p:cNvPr id="18" name="Text 16"/>
          <p:cNvSpPr/>
          <p:nvPr/>
        </p:nvSpPr>
        <p:spPr>
          <a:xfrm>
            <a:off x="1234440" y="4261104"/>
            <a:ext cx="438912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631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烟农缴租费 · 村级获收益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172200" y="1828800"/>
            <a:ext cx="5440680" cy="32004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CDE0D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172200" y="1828800"/>
            <a:ext cx="5440680" cy="731520"/>
          </a:xfrm>
          <a:prstGeom prst="roundRect">
            <a:avLst>
              <a:gd name="adj" fmla="val 20000"/>
            </a:avLst>
          </a:prstGeom>
          <a:solidFill>
            <a:srgbClr val="2E8B6A"/>
          </a:solidFill>
        </p:spPr>
      </p:sp>
      <p:sp>
        <p:nvSpPr>
          <p:cNvPr id="21" name="Shape 19"/>
          <p:cNvSpPr/>
          <p:nvPr/>
        </p:nvSpPr>
        <p:spPr>
          <a:xfrm>
            <a:off x="6172200" y="2194560"/>
            <a:ext cx="5440680" cy="365760"/>
          </a:xfrm>
          <a:prstGeom prst="rect">
            <a:avLst/>
          </a:prstGeom>
          <a:solidFill>
            <a:srgbClr val="2E8B6A"/>
          </a:solidFill>
        </p:spPr>
      </p:sp>
      <p:sp>
        <p:nvSpPr>
          <p:cNvPr id="22" name="Text 20"/>
          <p:cNvSpPr/>
          <p:nvPr/>
        </p:nvSpPr>
        <p:spPr>
          <a:xfrm>
            <a:off x="6172200" y="1828800"/>
            <a:ext cx="544068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管家自理</a:t>
            </a:r>
            <a:endParaRPr lang="en-US" sz="2000" dirty="0"/>
          </a:p>
        </p:txBody>
      </p:sp>
      <p:sp>
        <p:nvSpPr>
          <p:cNvPr id="23" name="Shape 21"/>
          <p:cNvSpPr/>
          <p:nvPr/>
        </p:nvSpPr>
        <p:spPr>
          <a:xfrm>
            <a:off x="6629400" y="2834640"/>
            <a:ext cx="118872" cy="118872"/>
          </a:xfrm>
          <a:prstGeom prst="ellipse">
            <a:avLst/>
          </a:prstGeom>
          <a:solidFill>
            <a:srgbClr val="2E8B6A"/>
          </a:solidFill>
        </p:spPr>
      </p:sp>
      <p:sp>
        <p:nvSpPr>
          <p:cNvPr id="24" name="Text 22"/>
          <p:cNvSpPr/>
          <p:nvPr/>
        </p:nvSpPr>
        <p:spPr>
          <a:xfrm>
            <a:off x="6858000" y="2724912"/>
            <a:ext cx="438912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631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滚动积累管护基金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6629400" y="3346704"/>
            <a:ext cx="118872" cy="118872"/>
          </a:xfrm>
          <a:prstGeom prst="ellipse">
            <a:avLst/>
          </a:prstGeom>
          <a:solidFill>
            <a:srgbClr val="2E8B6A"/>
          </a:solidFill>
        </p:spPr>
      </p:sp>
      <p:sp>
        <p:nvSpPr>
          <p:cNvPr id="26" name="Text 24"/>
          <p:cNvSpPr/>
          <p:nvPr/>
        </p:nvSpPr>
        <p:spPr>
          <a:xfrm>
            <a:off x="6858000" y="3236976"/>
            <a:ext cx="438912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631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自主补齐设施短板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6629400" y="3858768"/>
            <a:ext cx="118872" cy="118872"/>
          </a:xfrm>
          <a:prstGeom prst="ellipse">
            <a:avLst/>
          </a:prstGeom>
          <a:solidFill>
            <a:srgbClr val="2E8B6A"/>
          </a:solidFill>
        </p:spPr>
      </p:sp>
      <p:sp>
        <p:nvSpPr>
          <p:cNvPr id="28" name="Text 26"/>
          <p:cNvSpPr/>
          <p:nvPr/>
        </p:nvSpPr>
        <p:spPr>
          <a:xfrm>
            <a:off x="6858000" y="3749040"/>
            <a:ext cx="438912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631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迭代优化智能算法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548640" y="5257800"/>
            <a:ext cx="11109960" cy="1051560"/>
          </a:xfrm>
          <a:prstGeom prst="roundRect">
            <a:avLst>
              <a:gd name="adj" fmla="val 12174"/>
            </a:avLst>
          </a:prstGeom>
          <a:solidFill>
            <a:srgbClr val="14532D"/>
          </a:solidFill>
        </p:spPr>
      </p:sp>
      <p:sp>
        <p:nvSpPr>
          <p:cNvPr id="30" name="Text 28"/>
          <p:cNvSpPr/>
          <p:nvPr/>
        </p:nvSpPr>
        <p:spPr>
          <a:xfrm>
            <a:off x="548640" y="5413248"/>
            <a:ext cx="111099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数字赋能烤房管护 · 智创烟叶长效未来</a:t>
            </a:r>
            <a:endParaRPr lang="en-US" sz="2000" dirty="0"/>
          </a:p>
        </p:txBody>
      </p:sp>
      <p:sp>
        <p:nvSpPr>
          <p:cNvPr id="31" name="Text 29"/>
          <p:cNvSpPr/>
          <p:nvPr/>
        </p:nvSpPr>
        <p:spPr>
          <a:xfrm>
            <a:off x="548640" y="5870448"/>
            <a:ext cx="111099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B9D8C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—— 让每一座烤房都在线 ——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一脉致远，“三智”融合的烤房专业管家 · 汇报人 余文杰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7863840" y="6473952"/>
            <a:ext cx="38404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宜昌市烟草专卖局（公司）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11204</Words>
  <Application>WPS 文字</Application>
  <PresentationFormat>On-screen Show (16:9)</PresentationFormat>
  <Paragraphs>1524</Paragraphs>
  <Slides>28</Slides>
  <Notes>14</Notes>
  <HiddenSlides>0</HiddenSlides>
  <MMClips>0</MMClips>
  <ScaleCrop>false</ScaleCrop>
  <HeadingPairs>
    <vt:vector size="6" baseType="variant">
      <vt:variant>
        <vt:lpstr>已用的字体</vt:lpstr>
      </vt:variant>
      <vt:variant>
        <vt:i4>21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28</vt:i4>
      </vt:variant>
    </vt:vector>
  </HeadingPairs>
  <TitlesOfParts>
    <vt:vector size="50" baseType="lpstr">
      <vt:lpstr>Arial</vt:lpstr>
      <vt:lpstr>宋体</vt:lpstr>
      <vt:lpstr>Wingdings</vt:lpstr>
      <vt:lpstr>微软雅黑</vt:lpstr>
      <vt:lpstr>汉仪旗黑</vt:lpstr>
      <vt:lpstr>微软雅黑</vt:lpstr>
      <vt:lpstr>微软雅黑</vt:lpstr>
      <vt:lpstr>微软雅黑</vt:lpstr>
      <vt:lpstr>Arial</vt:lpstr>
      <vt:lpstr>宋体</vt:lpstr>
      <vt:lpstr>Calibri</vt:lpstr>
      <vt:lpstr>Helvetica Neue</vt:lpstr>
      <vt:lpstr>等线</vt:lpstr>
      <vt:lpstr>汉仪中等线KW</vt:lpstr>
      <vt:lpstr>宋体</vt:lpstr>
      <vt:lpstr>Arial Unicode MS</vt:lpstr>
      <vt:lpstr>汉仪书宋二KW</vt:lpstr>
      <vt:lpstr>Apple Color Emoji</vt:lpstr>
      <vt:lpstr>MS PGothic</vt:lpstr>
      <vt:lpstr>苹方-简</vt:lpstr>
      <vt:lpstr>宋体-简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创客大赛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creator>宜昌市烟草专卖局（公司）</dc:creator>
  <dc:subject>PptxGenJS Presentation</dc:subject>
  <cp:lastModifiedBy>上善若水</cp:lastModifiedBy>
  <cp:revision>105</cp:revision>
  <dcterms:created xsi:type="dcterms:W3CDTF">2026-09-09T07:20:35Z</dcterms:created>
  <dcterms:modified xsi:type="dcterms:W3CDTF">2026-09-09T07:20:35Z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12CBE54809C748B18422A06A43DF78C6_42</vt:lpwstr>
  </property>
  <property fmtid="{D5CDD505-2E9C-101B-9397-08002B2CF9AE}" pid="3" name="KSOProductBuildVer">
    <vt:lpwstr>2052-12.1.25869.25869</vt:lpwstr>
  </property>
</Properties>
</file>