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大家好，今天我为大家带来的项目是——“一脉致远，‘三智’融合的烤房专业管家”。这是一个基于数字孪生技术，旨在实现烤房全生命周期智慧管理的解决方案。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烤房，作为连接烟叶田间生产与收购加工的关键枢纽，其重要性不言而喻。它直接决定着烟叶的最终品质和烟农的切身收益。然而，在传统的管理模式下，我们面临着资源调度难、投入决策难、管护闭环难的多重挑战。我们的愿景，就是运用数字技术，为每一栋烤房配备一位“专业管家”，实现从“经验管理”到“数字智治”的跨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那么，我们具体面临哪些问题呢？通过深入烟区走访，我们发现烟农普遍面临“三愁”：一是“用房愁”，烘烤旺季一“房”难求，跨区协调困难，且烘烤操作专业性强，一旦失误就会造成烟叶损失；二是“报修愁”，设备坏了求助渠道少、响应慢，诊断维修和配件筹措衔接不畅，抢修周期难以预判，直接影响烘烤进度；三是“管护愁”，烟农对管护资金的使用和去向心存疑虑，且养护标准不统一，合作社管护职责落实不到位，烟农缺乏对资金使用和养护成效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这些问题的背后，反映出我们管理上的“三痛”：资源调度缺少数字支撑，家底不清；基础设施投入缺少量化依据，决策靠拍脑袋；管护运行缺少闭环约束，过程不透明。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针对烤房管理中的资源闲置、管护粗放、决策盲目等痛点，我们提出了“一脉致远，‘三智’融合的烤房专业管家”解决方案。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首先是1S智用（Schedule），通过数字化手段盘活存量资源，提供烤房查询、在线申请、智能调剂等功能，解决烟农“用房愁”和资源不互通的问题。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其次是2S智管（Sustain），强化过程管控，涵盖队伍管理、工单跟踪、费用核算与服务评价，解决管护不精准、运维难的问题。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最后是3S智投（Selection），通过需求测算、点位评估与效益分析，优化增量投入，解决决策不科学、投建盲目浪费的问题。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这一方案实现了烤房从资源调度、运维管控到规划决策的全链路数智化升级。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的项目蓝图。底层是数据层，汇聚了烤房档案、维修记录、传感器数据等多源信息；中间是业务层，封装了烤房调剂、健康评估、投入决策等核心模型；上层是应用层，通过小程序、PC端、大屏等多种形式，服务于烟农、合作社和管理人员三类用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智用”模块的核心功能——烤房调剂。我们融合了烤房基础信息、实时状态、维修记录等多源数据，通过多目标约束优化算法，为烟农智能推荐最合适的烤房。这彻底改变了过去“抢不到、问不到”的局面，实现了存量资源的高效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“智用”模块的成效非常显著。过去需要花费数小时逐户询问，现在通过小程序一键预约，实现了秒级匹配。烤房匹配成功率达到95%以上，闲置率降低了近40个百分点，有效盘活了存量资源。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接下来是“智管”模块。我们通过健康评估模型，像给烤房做“CT扫描”一样，综合分析烤房各部件状态、使用年限等数据，计算出健康分和剩余寿命，并预测维修优先级。这让我们实现了从“被动抢修”到“主动预防”的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在“智管”模块中，我们还提供了一键报修功能。烟农通过小程序即可提交故障信息，系统会基于KNN算法自动匹配最近的维修人员，实现迅速响应。维修进度实时可见，服务完成后还能进行评价，形成服务闭环。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“智管”模块的应用，让我们的维修响应时间缩短至2小时以内，最快仅需20分钟。通过主动预警，我们成功提前预警了326座烤房的潜在故障，巡检效率提升了5倍以上，健康分预警准确率高达95%。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最后是“智投”模块，它科学地回答了“哪里建、建几栋、建在哪”的问题。我们综合考虑烤房负载度、烟农需求等因素，通过沙盘推演算法，输出精准的新建数量建议和点位排名，确保每一分钱都花在刀刃上。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所有这些数据和模型结果，都汇聚到我们的数据驾驶舱中。管理人员可以通过大屏实时监控烤房资产全貌、业务运行状态和应用成效，为科学决策提供直观、可视化的支持。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总结而言，我们的项目实现了业务和技术上的双重创新。业务上，我们构建了“评估-决策-执行-反馈”的数字化闭环管理模式，通过智享、智管、智投和反馈机制，实现烤房资源的高效利用；技术上，融合了AHP健康评分、LSTM时序寿命预测、多目标约束分配、随机森林分类预警以及沙盘推演等先进算法模型，为烤房管理提供了坚实的技术支撑。这套框架不仅适用于烤房管理，还可以推广到育苗大棚、农机设备等其他农业基础设施领域，具备极高的应用价值和推广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我的汇报到此结束，感谢各位的聆听！期待与您携手，共创烟草农业的美好未来！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gif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gif" Type="http://schemas.openxmlformats.org/officeDocument/2006/relationships/image"/><Relationship Id="rId5" Target="../media/image10.pn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gif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notesSlides/notesSlide6.xml" Type="http://schemas.openxmlformats.org/officeDocument/2006/relationships/notesSlid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27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31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9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15.xml" Type="http://schemas.openxmlformats.org/officeDocument/2006/relationships/notesSlide"/><Relationship Id="rId5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9144000" cy="514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0" y="0"/>
            <a:ext cx="9144000" cy="514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-1270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81717">
              <a:alpha val="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90800" y="3670300"/>
            <a:ext cx="3962400" cy="419100"/>
          </a:xfrm>
          <a:prstGeom prst="roundRect">
            <a:avLst>
              <a:gd name="adj" fmla="val 18181"/>
            </a:avLst>
          </a:prstGeom>
          <a:solidFill>
            <a:srgbClr val="5B9BD5">
              <a:alpha val="16000"/>
            </a:srgbClr>
          </a:solidFill>
          <a:ln w="12700" cmpd="sng" cap="flat">
            <a:gradFill rotWithShape="true">
              <a:gsLst>
                <a:gs pos="0">
                  <a:srgbClr val="F7FAFD">
                    <a:alpha val="100000"/>
                  </a:srgbClr>
                </a:gs>
                <a:gs pos="74000">
                  <a:srgbClr val="B5D2EC">
                    <a:alpha val="100000"/>
                  </a:srgbClr>
                </a:gs>
                <a:gs pos="83000">
                  <a:srgbClr val="B5D2EC">
                    <a:alpha val="100000"/>
                  </a:srgbClr>
                </a:gs>
                <a:gs pos="100000">
                  <a:srgbClr val="CEE1F2">
                    <a:alpha val="10000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19400" y="3695700"/>
            <a:ext cx="3517900" cy="355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 spc="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基于数字孪生的烤房全生命周期管理解决方案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267200"/>
            <a:ext cx="71120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汇报单位：宜昌市烟草专卖局（公司）　汇报人：[您的姓名]　日期：2026.09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11007" r="10772" t="31661" b="40752"/>
          <a:stretch>
            <a:fillRect/>
          </a:stretch>
        </p:blipFill>
        <p:spPr>
          <a:xfrm rot="0" flipH="false" flipV="false">
            <a:off x="2451100" y="2082800"/>
            <a:ext cx="42418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25634" r="23096" t="17966" b="33220"/>
          <a:stretch>
            <a:fillRect/>
          </a:stretch>
        </p:blipFill>
        <p:spPr>
          <a:xfrm rot="0" flipH="false" flipV="false">
            <a:off x="3289300" y="393700"/>
            <a:ext cx="2565400" cy="1828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251200"/>
            <a:ext cx="6604000" cy="355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一脉致远，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700">
                <a:solidFill>
                  <a:srgbClr val="ED7D31"/>
                </a:solidFill>
                <a:latin typeface="微软雅黑"/>
                <a:ea typeface="微软雅黑"/>
                <a:cs typeface="微软雅黑"/>
                <a:sym typeface="微软雅黑"/>
              </a:rPr>
              <a:t>“三智”融合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的烤房专业管家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0" y="0"/>
            <a:ext cx="9144000" cy="514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022C5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955800" y="-825500"/>
            <a:ext cx="5245100" cy="294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381000" y="889000"/>
            <a:ext cx="838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项目背景：烤房——烟叶生产的“心脏”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2413000"/>
            <a:ext cx="2476500" cy="1714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01 资源调度难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烤房资源分布零散，缺乏统筹调度手段，供需匹配效率低，易造成烘烤窗口期浪费，直接影响烟叶采收与品质。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27400" y="2286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54400" y="2413000"/>
            <a:ext cx="2476500" cy="1714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02 投入决策难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缺乏数据支撑的成本收益测算模型，新建或改造烤房的投资回报难以量化，决策主观性强，易造成资源浪费。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2286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2413000"/>
            <a:ext cx="2476500" cy="1714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03 管护闭环难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FFFFFF">
                    <a:alpha val="85098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依赖人工巡检与经验管控，设备故障响应滞后，烘烤工艺标准化程度低，导致烟叶品质稳定性难以保障。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4381500"/>
            <a:ext cx="8382000" cy="889000"/>
          </a:xfrm>
          <a:prstGeom prst="roundRect">
            <a:avLst>
              <a:gd name="adj" fmla="val 0"/>
            </a:avLst>
          </a:prstGeom>
          <a:solidFill>
            <a:srgbClr val="FFD700">
              <a:alpha val="12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" y="4508500"/>
            <a:ext cx="8128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愿景目标：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500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运用数字技术为每栋烤房配备“专业管家”，打通数据链路，实现从“经验管理”到“数字智治”的跨越，最大化烟叶价值与烟农收益。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32500" y="1803400"/>
            <a:ext cx="2654300" cy="2857500"/>
          </a:xfrm>
          <a:prstGeom prst="roundRect">
            <a:avLst>
              <a:gd name="adj" fmla="val 3827"/>
            </a:avLst>
          </a:prstGeom>
          <a:gradFill rotWithShape="true">
            <a:gsLst>
              <a:gs pos="0">
                <a:srgbClr val="16B8F2">
                  <a:alpha val="70000"/>
                </a:srgbClr>
              </a:gs>
              <a:gs pos="61000">
                <a:srgbClr val="000000">
                  <a:alpha val="0"/>
                </a:srgbClr>
              </a:gs>
              <a:gs pos="100000">
                <a:srgbClr val="E6F7FE">
                  <a:alpha val="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15000">
                  <a:srgbClr val="16B8F2">
                    <a:alpha val="100000"/>
                  </a:srgbClr>
                </a:gs>
                <a:gs pos="100000">
                  <a:srgbClr val="E6F7FE">
                    <a:alpha val="0"/>
                  </a:srgbClr>
                </a:gs>
              </a:gsLst>
              <a:lin ang="5400000"/>
            </a:gradFill>
            <a:prstDash val="solid"/>
            <a:miter lim="800000"/>
          </a:ln>
          <a:effectLst>
            <a:outerShdw dir="16200000" dist="38100" blurRad="381000" algn="tl">
              <a:srgbClr val="A6B3C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289300" y="1854200"/>
            <a:ext cx="2654300" cy="2819400"/>
          </a:xfrm>
          <a:prstGeom prst="roundRect">
            <a:avLst>
              <a:gd name="adj" fmla="val 3827"/>
            </a:avLst>
          </a:prstGeom>
          <a:gradFill rotWithShape="true">
            <a:gsLst>
              <a:gs pos="0">
                <a:srgbClr val="16B8F2">
                  <a:alpha val="0"/>
                </a:srgbClr>
              </a:gs>
              <a:gs pos="61000">
                <a:srgbClr val="000000">
                  <a:alpha val="0"/>
                </a:srgbClr>
              </a:gs>
              <a:gs pos="100000">
                <a:srgbClr val="E6F7FE">
                  <a:alpha val="7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15000">
                  <a:srgbClr val="16B8F2">
                    <a:alpha val="0"/>
                  </a:srgbClr>
                </a:gs>
                <a:gs pos="100000">
                  <a:srgbClr val="E6F7FE">
                    <a:alpha val="100000"/>
                  </a:srgbClr>
                </a:gs>
              </a:gsLst>
              <a:lin ang="5400000"/>
            </a:gradFill>
            <a:prstDash val="solid"/>
            <a:miter lim="800000"/>
          </a:ln>
          <a:effectLst>
            <a:outerShdw dir="16200000" dist="38100" blurRad="381000" algn="tl">
              <a:srgbClr val="A6B3C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" y="1803400"/>
            <a:ext cx="2654300" cy="2857500"/>
          </a:xfrm>
          <a:prstGeom prst="roundRect">
            <a:avLst>
              <a:gd name="adj" fmla="val 3827"/>
            </a:avLst>
          </a:prstGeom>
          <a:gradFill rotWithShape="true">
            <a:gsLst>
              <a:gs pos="0">
                <a:srgbClr val="16B8F2">
                  <a:alpha val="70000"/>
                </a:srgbClr>
              </a:gs>
              <a:gs pos="61000">
                <a:srgbClr val="000000">
                  <a:alpha val="0"/>
                </a:srgbClr>
              </a:gs>
              <a:gs pos="100000">
                <a:srgbClr val="E6F7FE">
                  <a:alpha val="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15000">
                  <a:srgbClr val="16B8F2">
                    <a:alpha val="100000"/>
                  </a:srgbClr>
                </a:gs>
                <a:gs pos="100000">
                  <a:srgbClr val="E6F7FE">
                    <a:alpha val="0"/>
                  </a:srgbClr>
                </a:gs>
              </a:gsLst>
              <a:lin ang="5400000"/>
            </a:gradFill>
            <a:prstDash val="solid"/>
            <a:miter lim="800000"/>
          </a:ln>
          <a:effectLst>
            <a:outerShdw dir="16200000" dist="38100" blurRad="381000" algn="tl">
              <a:srgbClr val="A6B3C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27300" y="76200"/>
            <a:ext cx="4330700" cy="609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50800" rIns="50800" tIns="25400" bIns="254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effectLst>
                  <a:outerShdw dir="5400000" dist="76200" blurRad="50800" algn="t">
                    <a:srgbClr val="000000">
                      <a:alpha val="40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烟农对烤房的</a:t>
            </a:r>
            <a:r>
              <a:rPr lang="en-US" b="true" i="false" strike="noStrike" u="none" sz="1600">
                <a:solidFill>
                  <a:srgbClr val="1F2329"/>
                </a:solidFill>
                <a:effectLst>
                  <a:outerShdw dir="5400000" dist="76200" blurRad="50800" algn="t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3600">
                <a:solidFill>
                  <a:srgbClr val="F1A63A"/>
                </a:solidFill>
                <a:effectLst>
                  <a:outerShdw dir="5400000" dist="76200" blurRad="50800" algn="t">
                    <a:srgbClr val="000000">
                      <a:alpha val="40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effectLst>
                  <a:outerShdw dir="5400000" dist="76200" blurRad="50800" algn="t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effectLst>
                  <a:outerShdw dir="5400000" dist="76200" blurRad="50800" algn="t">
                    <a:srgbClr val="000000">
                      <a:alpha val="40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大“忧”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true">
            <a:off x="24638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true">
            <a:off x="23368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true">
            <a:off x="22225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true">
            <a:off x="20955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-10799998" flipH="false" flipV="false">
            <a:off x="596845" y="3683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10800000" flipH="false" flipV="false">
            <a:off x="65532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10800000" flipH="false" flipV="false">
            <a:off x="66802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10800000" flipH="false" flipV="false">
            <a:off x="68072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10800000" flipH="false" flipV="false">
            <a:off x="6921500" y="3810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5" id="15"/>
          <p:cNvCxnSpPr/>
          <p:nvPr/>
        </p:nvCxnSpPr>
        <p:spPr>
          <a:xfrm rot="-59268" flipH="false" flipV="false">
            <a:off x="7073900" y="3683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7608926" flipH="false" flipV="false">
            <a:off x="2590210" y="5838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-22918" flipH="false" flipV="false">
            <a:off x="2667000" y="6223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4039540" flipH="false" flipV="false">
            <a:off x="6451399" y="5838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1981200"/>
            <a:ext cx="1612900" cy="393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C000"/>
                </a:solidFill>
                <a:latin typeface="SimHei"/>
                <a:ea typeface="SimHei"/>
                <a:cs typeface="SimHei"/>
                <a:sym typeface="SimHei"/>
              </a:rPr>
              <a:t>第一“忧”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87400" y="2641600"/>
            <a:ext cx="2120900" cy="406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latin typeface="微软雅黑"/>
                <a:ea typeface="微软雅黑"/>
                <a:cs typeface="微软雅黑"/>
                <a:sym typeface="微软雅黑"/>
              </a:rPr>
              <a:t>用房愁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" y="3530600"/>
            <a:ext cx="24765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资源分布不均，旺季一房难求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跨区调剂困难，协调渠道不畅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烘烤操作专业，不当易损烟叶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54400" y="1943100"/>
            <a:ext cx="1612900" cy="393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C000"/>
                </a:solidFill>
                <a:latin typeface="SimHei"/>
                <a:ea typeface="SimHei"/>
                <a:cs typeface="SimHei"/>
                <a:sym typeface="SimHei"/>
              </a:rPr>
              <a:t>第二“忧”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530600" y="2641600"/>
            <a:ext cx="2120900" cy="406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latin typeface="微软雅黑"/>
                <a:ea typeface="微软雅黑"/>
                <a:cs typeface="微软雅黑"/>
                <a:sym typeface="微软雅黑"/>
              </a:rPr>
              <a:t>报修愁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619500" y="3530600"/>
            <a:ext cx="23241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设备突发故障，响应渠道较少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诊断维修脱节，配件筹措缓慢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抢修周期不定，耽误烟叶烘烤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08700" y="1955800"/>
            <a:ext cx="1612900" cy="393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C000"/>
                </a:solidFill>
                <a:latin typeface="SimHei"/>
                <a:ea typeface="SimHei"/>
                <a:cs typeface="SimHei"/>
                <a:sym typeface="SimHei"/>
              </a:rPr>
              <a:t>第三“忧”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2641600"/>
            <a:ext cx="2336800" cy="406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700">
                <a:latin typeface="微软雅黑"/>
                <a:ea typeface="微软雅黑"/>
                <a:cs typeface="微软雅黑"/>
                <a:sym typeface="微软雅黑"/>
              </a:rPr>
              <a:t>管护愁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61100" y="3530600"/>
            <a:ext cx="2654300" cy="165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管护资金不明，烟农心存疑虑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养护标准不一，职责落实缺位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资金去向成谜，成效缺乏监督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0" y="876300"/>
            <a:ext cx="9144000" cy="5207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FFFF">
                  <a:alpha val="25000"/>
                </a:srgbClr>
              </a:gs>
              <a:gs pos="50000">
                <a:srgbClr val="03A2FF">
                  <a:alpha val="0"/>
                </a:srgbClr>
              </a:gs>
              <a:gs pos="100000">
                <a:srgbClr val="016DFF">
                  <a:alpha val="25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0900" y="927100"/>
            <a:ext cx="68834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烤房是烟叶烘烤的核心设施，却常让烟农犯愁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"/>
            <a:ext cx="9144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烤房管理的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28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大痛点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23000" y="1371600"/>
            <a:ext cx="2413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20503" r="0" t="0" b="0"/>
          <a:stretch>
            <a:fillRect/>
          </a:stretch>
        </p:blipFill>
        <p:spPr>
          <a:xfrm rot="0" flipH="false" flipV="false">
            <a:off x="6210300" y="1193800"/>
            <a:ext cx="2806700" cy="2743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10800000" flipH="false" flipV="false">
            <a:off x="508000" y="2133600"/>
            <a:ext cx="1473200" cy="1143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2DBEFF">
                  <a:alpha val="34000"/>
                </a:srgbClr>
              </a:gs>
              <a:gs pos="18000">
                <a:srgbClr val="0F9ED5">
                  <a:alpha val="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10800000" flipH="false" flipV="false">
            <a:off x="4356100" y="2133600"/>
            <a:ext cx="1473200" cy="1143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2DBEFF">
                  <a:alpha val="34000"/>
                </a:srgbClr>
              </a:gs>
              <a:gs pos="18000">
                <a:srgbClr val="0F9ED5">
                  <a:alpha val="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438400" y="1600200"/>
            <a:ext cx="1473200" cy="1143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2DBEFF">
                  <a:alpha val="34000"/>
                </a:srgbClr>
              </a:gs>
              <a:gs pos="18000">
                <a:srgbClr val="0F9ED5">
                  <a:alpha val="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2120900"/>
            <a:ext cx="508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21000" y="2120900"/>
            <a:ext cx="508000" cy="50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38700" y="2133600"/>
            <a:ext cx="508000" cy="457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3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" y="17145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资源不互通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" y="3378200"/>
            <a:ext cx="1917700" cy="13081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家底不清供需难配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供需信息彼此不通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闲置资源利用低效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438400" y="28956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管护缺闭环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298700" y="609600"/>
            <a:ext cx="1917700" cy="13081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管护过程不透明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维修投入无衡量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报修无反馈闭环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56100" y="17399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决策无依据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3378200"/>
            <a:ext cx="2108200" cy="1143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>
            <a:lvl1pPr marL="355600" indent="-177800"/>
            <a:lvl2pPr marL="812800" indent="-177800"/>
            <a:lvl3pPr marL="1270000" indent="-177800"/>
            <a:lvl4pPr marL="1727200" indent="-177800"/>
            <a:lvl5pPr marL="2184400" indent="-177800"/>
            <a:lvl6pPr marL="2641600" indent="-177800"/>
            <a:lvl7pPr marL="3098800" indent="-177800"/>
            <a:lvl8pPr marL="3556000" indent="-177800"/>
            <a:lvl9pPr marL="4013200" indent="-177800"/>
          </a:lstStyle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项目决策依赖经验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资金投入缺乏数据</a:t>
            </a: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indent="-165100" marL="177800">
              <a:lnSpc>
                <a:spcPct val="150000"/>
              </a:lnSpc>
              <a:buClr>
                <a:srgbClr val="FFFFFF"/>
              </a:buClr>
              <a:buChar char=""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建修决策无反馈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-2641600" y="1638300"/>
            <a:ext cx="2641600" cy="2641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2" id="22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7" id="27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28" id="28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29" id="29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0" id="30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508000" y="825500"/>
            <a:ext cx="14732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latin typeface="微软雅黑"/>
                <a:ea typeface="微软雅黑"/>
                <a:cs typeface="微软雅黑"/>
                <a:sym typeface="微软雅黑"/>
              </a:rPr>
              <a:t>调度缺支撑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438400" y="3606800"/>
            <a:ext cx="14732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latin typeface="微软雅黑"/>
                <a:ea typeface="微软雅黑"/>
                <a:cs typeface="微软雅黑"/>
                <a:sym typeface="微软雅黑"/>
              </a:rPr>
              <a:t>运维缺闭环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356100" y="965200"/>
            <a:ext cx="14732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latin typeface="微软雅黑"/>
                <a:ea typeface="微软雅黑"/>
                <a:cs typeface="微软雅黑"/>
                <a:sym typeface="微软雅黑"/>
              </a:rPr>
              <a:t>投入缺依据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10800000" flipH="false" flipV="false">
            <a:off x="952500" y="13081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946400" y="32004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10800000" flipH="false" flipV="false">
            <a:off x="4838700" y="14351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045200" y="4851400"/>
            <a:ext cx="2413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045200" y="-1422400"/>
            <a:ext cx="2413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38100" y="114300"/>
            <a:ext cx="9144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一脉致远，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28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“三智”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融合解决方案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74700" y="2032000"/>
            <a:ext cx="1993900" cy="1790700"/>
          </a:xfrm>
          <a:prstGeom prst="roundRect">
            <a:avLst>
              <a:gd name="adj" fmla="val 8510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8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6547" r="0" t="49700" b="17964"/>
          <a:stretch>
            <a:fillRect/>
          </a:stretch>
        </p:blipFill>
        <p:spPr>
          <a:xfrm rot="10800000" flipH="false" flipV="false">
            <a:off x="774700" y="1600200"/>
            <a:ext cx="19939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498600" y="1612900"/>
            <a:ext cx="5461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ED7D31"/>
                </a:solidFill>
                <a:latin typeface="微软雅黑"/>
                <a:ea typeface="微软雅黑"/>
                <a:cs typeface="微软雅黑"/>
                <a:sym typeface="微软雅黑"/>
              </a:rPr>
              <a:t>1S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74700" y="2197100"/>
            <a:ext cx="19939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74700" y="2540000"/>
            <a:ext cx="1993900" cy="304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C9962E"/>
                </a:solidFill>
                <a:latin typeface="微软雅黑"/>
                <a:ea typeface="微软雅黑"/>
                <a:cs typeface="微软雅黑"/>
                <a:sym typeface="微软雅黑"/>
              </a:rPr>
              <a:t>Schedule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74700" y="2844800"/>
            <a:ext cx="19939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烤房查询 · 在线申请 · 智能调剂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4700" y="3175000"/>
            <a:ext cx="1993900" cy="584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盘活存量资源</a:t>
            </a:r>
            <a:r>
              <a:rPr lang="en-US" b="true" i="false" strike="noStrike" u="none" sz="160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高效匹配供需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2032000"/>
            <a:ext cx="1993900" cy="1790700"/>
          </a:xfrm>
          <a:prstGeom prst="roundRect">
            <a:avLst>
              <a:gd name="adj" fmla="val 8510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8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6547" r="0" t="49700" b="17964"/>
          <a:stretch>
            <a:fillRect/>
          </a:stretch>
        </p:blipFill>
        <p:spPr>
          <a:xfrm rot="10800000" flipH="false" flipV="false">
            <a:off x="3619500" y="1600200"/>
            <a:ext cx="19939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4343400" y="1612900"/>
            <a:ext cx="5461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ED7D31"/>
                </a:solidFill>
                <a:latin typeface="微软雅黑"/>
                <a:ea typeface="微软雅黑"/>
                <a:cs typeface="微软雅黑"/>
                <a:sym typeface="微软雅黑"/>
              </a:rPr>
              <a:t>2S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19500" y="2197100"/>
            <a:ext cx="19939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19500" y="2540000"/>
            <a:ext cx="1993900" cy="304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C9962E"/>
                </a:solidFill>
                <a:latin typeface="微软雅黑"/>
                <a:ea typeface="微软雅黑"/>
                <a:cs typeface="微软雅黑"/>
                <a:sym typeface="微软雅黑"/>
              </a:rPr>
              <a:t>Sustain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19500" y="2844800"/>
            <a:ext cx="19939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工单跟踪 · 费用核算 · 服务评价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19500" y="3175000"/>
            <a:ext cx="1993900" cy="584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强化过程管控</a:t>
            </a:r>
            <a:r>
              <a:rPr lang="en-US" b="true" i="false" strike="noStrike" u="none" sz="160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保障运维质量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64300" y="2044700"/>
            <a:ext cx="1993900" cy="1790700"/>
          </a:xfrm>
          <a:prstGeom prst="roundRect">
            <a:avLst>
              <a:gd name="adj" fmla="val 8510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8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rcRect l="6547" r="0" t="49700" b="17964"/>
          <a:stretch>
            <a:fillRect/>
          </a:stretch>
        </p:blipFill>
        <p:spPr>
          <a:xfrm rot="10800000" flipH="false" flipV="false">
            <a:off x="6464300" y="1600200"/>
            <a:ext cx="19939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7188200" y="1612900"/>
            <a:ext cx="5461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ED7D31"/>
                </a:solidFill>
                <a:latin typeface="微软雅黑"/>
                <a:ea typeface="微软雅黑"/>
                <a:cs typeface="微软雅黑"/>
                <a:sym typeface="微软雅黑"/>
              </a:rPr>
              <a:t>3S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64300" y="2197100"/>
            <a:ext cx="1993900" cy="431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64300" y="2540000"/>
            <a:ext cx="1993900" cy="304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C9962E"/>
                </a:solidFill>
                <a:latin typeface="微软雅黑"/>
                <a:ea typeface="微软雅黑"/>
                <a:cs typeface="微软雅黑"/>
                <a:sym typeface="微软雅黑"/>
              </a:rPr>
              <a:t>Selection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64300" y="2844800"/>
            <a:ext cx="19939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需求测算 · 点位评估 · 效益分析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64300" y="3175000"/>
            <a:ext cx="1993900" cy="584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优化增量投入</a:t>
            </a:r>
            <a:r>
              <a:rPr lang="en-US" b="true" i="false" strike="noStrike" u="none" sz="160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科学规划布局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true">
            <a:off x="17653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true">
            <a:off x="16002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true">
            <a:off x="14351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true">
            <a:off x="12700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0" id="30"/>
          <p:cNvCxnSpPr/>
          <p:nvPr/>
        </p:nvCxnSpPr>
        <p:spPr>
          <a:xfrm rot="-10799999" flipH="false" flipV="false">
            <a:off x="-736641" y="431800"/>
            <a:ext cx="19685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10800000" flipH="false" flipV="false">
            <a:off x="72390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10800000" flipH="false" flipV="false">
            <a:off x="74041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10800000" flipH="false" flipV="false">
            <a:off x="75692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10800000" flipH="false" flipV="false">
            <a:off x="7734300" y="444500"/>
            <a:ext cx="1651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5" id="35"/>
          <p:cNvCxnSpPr/>
          <p:nvPr/>
        </p:nvCxnSpPr>
        <p:spPr>
          <a:xfrm rot="-44356" flipH="false" flipV="false">
            <a:off x="7924800" y="431800"/>
            <a:ext cx="19685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6" id="36"/>
          <p:cNvCxnSpPr/>
          <p:nvPr/>
        </p:nvCxnSpPr>
        <p:spPr>
          <a:xfrm rot="-8446090" flipH="false" flipV="false">
            <a:off x="1937162" y="647474"/>
            <a:ext cx="12572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7" id="37"/>
          <p:cNvCxnSpPr/>
          <p:nvPr/>
        </p:nvCxnSpPr>
        <p:spPr>
          <a:xfrm rot="-17145" flipH="false" flipV="false">
            <a:off x="2032000" y="685800"/>
            <a:ext cx="50927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8" id="38"/>
          <p:cNvCxnSpPr/>
          <p:nvPr/>
        </p:nvCxnSpPr>
        <p:spPr>
          <a:xfrm rot="-3335346" flipH="false" flipV="false">
            <a:off x="7104479" y="647439"/>
            <a:ext cx="1170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571500" y="800100"/>
            <a:ext cx="7874000" cy="76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C1E5F5">
                  <a:alpha val="23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三智融合方案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以数字化手段整合烤房资源，通过智用、智管、智投三大核心模块，实现从资源调度、运维管控到规划决策的全流程数智化升级，破解传统管理痛点。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52500" y="45847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资源不互通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10800000" flipH="false" flipV="false">
            <a:off x="1231900" y="4051300"/>
            <a:ext cx="787400" cy="508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10800000" flipH="false" flipV="false">
            <a:off x="1358900" y="3975100"/>
            <a:ext cx="558800" cy="3556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041400" y="3975100"/>
            <a:ext cx="12827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解决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3886200" y="45847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管护不精准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10800000" flipH="false" flipV="false">
            <a:off x="4127500" y="4127500"/>
            <a:ext cx="787400" cy="508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10800000" flipH="false" flipV="false">
            <a:off x="4254500" y="4051300"/>
            <a:ext cx="558800" cy="3556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3937000" y="4051300"/>
            <a:ext cx="12827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解决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731000" y="4584700"/>
            <a:ext cx="14605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1A63A"/>
                </a:solidFill>
                <a:latin typeface="SimHei"/>
                <a:ea typeface="SimHei"/>
                <a:cs typeface="SimHei"/>
                <a:sym typeface="SimHei"/>
              </a:rPr>
              <a:t>决策不科学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10800000" flipH="false" flipV="false">
            <a:off x="7112000" y="4127500"/>
            <a:ext cx="787400" cy="5080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10800000" flipH="false" flipV="false">
            <a:off x="7226300" y="4051300"/>
            <a:ext cx="558800" cy="355600"/>
          </a:xfrm>
          <a:prstGeom prst="triangle">
            <a:avLst>
              <a:gd name="adj" fmla="val 50000"/>
            </a:avLst>
          </a:prstGeom>
          <a:gradFill rotWithShape="true">
            <a:gsLst>
              <a:gs pos="0">
                <a:srgbClr val="37FFFF">
                  <a:alpha val="0"/>
                </a:srgbClr>
              </a:gs>
              <a:gs pos="100000">
                <a:srgbClr val="37FFFF">
                  <a:alpha val="39000"/>
                </a:srgbClr>
              </a:gs>
            </a:gsLst>
            <a:lin ang="16200000"/>
          </a:gradFill>
          <a:ln w="12700" cmpd="sng" cap="flat">
            <a:gradFill rotWithShape="true">
              <a:gsLst>
                <a:gs pos="0">
                  <a:srgbClr val="84E291">
                    <a:alpha val="100000"/>
                  </a:srgbClr>
                </a:gs>
                <a:gs pos="100000">
                  <a:srgbClr val="37FFFF">
                    <a:alpha val="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6908800" y="4051300"/>
            <a:ext cx="12827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解决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-1270000"/>
            <a:ext cx="3810000" cy="3810000"/>
          </a:xfrm>
          <a:prstGeom prst="ellipse">
            <a:avLst/>
          </a:prstGeom>
          <a:solidFill>
            <a:srgbClr val="38BDF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762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项目蓝图：“1+2+1”数字赋能体系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270000"/>
            <a:ext cx="114300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20000"/>
            </a:srgbClr>
          </a:solidFill>
          <a:ln w="12700" cmpd="sng" cap="flat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270000"/>
            <a:ext cx="11430000" cy="50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核心宗旨：一切以服务烟农为目标，构建全链路数字化烤烟服务体系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" y="20320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mpd="sng" cap="flat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23114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06500" y="2095500"/>
            <a:ext cx="6350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数据层 · 全域感知底座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覆盖7个乡镇全域数据，整合烤房基础档案、242项监测指标、历史维修记录及物联网传感器实时数据；依托低代码平台实现表单快速导入与多源数据清洗，筑牢数字化坚实根基。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" y="31750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mpd="sng" cap="flat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1500" y="34544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06500" y="3238500"/>
            <a:ext cx="6350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02 业务层 · 智能决策中枢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构建烤房智能调剂与供需匹配模型，实现维修工单自动派单；基于设备健康评分预测寿命，智能评估维修优先级；提供投入产出分析与新建烤房数量建议，辅助资金精准投放决策。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43180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mpd="sng" cap="flat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1500" y="45974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06500" y="4381500"/>
            <a:ext cx="6350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03 应用层 · 多端协同触达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打造全场景终端矩阵：烟农端微信小程序便捷报修预约，合作社PC端高效运维管理，管理层大屏驾驶舱实时监控；集成AI助手提供智能咨询，实现监管、服务与生产的无缝衔接。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81000" y="54610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mpd="sng" cap="flat">
            <a:solidFill>
              <a:srgbClr val="60A5F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1500" y="57404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206500" y="5524500"/>
            <a:ext cx="6350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04 用户层 · 精准服务对象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服务烟农群体，提升烘烤效率与收益；赋能合作社技术员，实现精细化田间管理；助力管理人员掌握全域态势，实现从“被动响应”到“主动服务”的数字化转型。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2032000"/>
            <a:ext cx="3683000" cy="45085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2159000"/>
            <a:ext cx="3429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· 持续进化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2732" flipH="false" flipV="false">
            <a:off x="8128012" y="25971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9731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28000" y="2857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509000" y="2819400"/>
            <a:ext cx="31115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数字孪生建模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构建烤房全生命周期数字孪生模型，实时模拟设备状态，实现故障提前预警与远程调试。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128000" y="4000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509000" y="3962400"/>
            <a:ext cx="31115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AI深度赋能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深化机器学习算法，优化智能调度效率，提升烟叶产量与质量预测精度，辅助科学种植决策。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28000" y="5143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509000" y="5105400"/>
            <a:ext cx="31115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GIS空间化管理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融合地理信息系统，实现烤房资源空间化可视化，优化区域布局，提升资源利用效率。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" y="927100"/>
            <a:ext cx="4356100" cy="3759200"/>
          </a:xfrm>
          <a:prstGeom prst="roundRect">
            <a:avLst>
              <a:gd name="adj" fmla="val 11486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4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25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5600" y="4318000"/>
            <a:ext cx="37973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盘活存量 按需共享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10160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多源数据融合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2352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算法方法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35560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输出结果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1352" r="1352" t="0" b="0"/>
          <a:stretch>
            <a:fillRect/>
          </a:stretch>
        </p:blipFill>
        <p:spPr>
          <a:xfrm rot="0" flipH="false" flipV="false">
            <a:off x="5778500" y="1206500"/>
            <a:ext cx="2794000" cy="165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5740400" y="2921000"/>
            <a:ext cx="1651000" cy="647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2" id="12"/>
          <p:cNvCxnSpPr/>
          <p:nvPr/>
        </p:nvCxnSpPr>
        <p:spPr>
          <a:xfrm rot="-94174" flipH="false" flipV="false">
            <a:off x="7378700" y="3213099"/>
            <a:ext cx="92718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3CBEB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280400" y="3175000"/>
            <a:ext cx="88900" cy="88900"/>
          </a:xfrm>
          <a:prstGeom prst="ellipse">
            <a:avLst/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43900" y="3098800"/>
            <a:ext cx="698500" cy="2413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预约时段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65800" y="3810000"/>
            <a:ext cx="495300" cy="1270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6" id="16"/>
          <p:cNvCxnSpPr/>
          <p:nvPr/>
        </p:nvCxnSpPr>
        <p:spPr>
          <a:xfrm rot="-95468" flipH="false" flipV="false">
            <a:off x="5334088" y="38798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3CBEB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232400" y="3848100"/>
            <a:ext cx="88900" cy="88900"/>
          </a:xfrm>
          <a:prstGeom prst="ellipse">
            <a:avLst/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3771900"/>
            <a:ext cx="571500" cy="2413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适配度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397000" y="2590800"/>
            <a:ext cx="9398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曼哈顿距离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501900" y="2590800"/>
            <a:ext cx="17018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防重机制 · 自动释放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397000" y="2984500"/>
            <a:ext cx="13589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多目标约束优化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009900" y="2984500"/>
            <a:ext cx="12065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ts val="12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逻辑回归确认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397000" y="3911600"/>
            <a:ext cx="1778000" cy="2667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智能推荐烤房列表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397000" y="13208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烤房基础信息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78100" y="1320800"/>
            <a:ext cx="7493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部件状态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397000" y="16891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维修历史记录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454400" y="1333500"/>
            <a:ext cx="7493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评价反馈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565400" y="1689100"/>
            <a:ext cx="16510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传感器实时数据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65100" y="1333500"/>
            <a:ext cx="533400" cy="215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eaVert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烤房调剂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0900" y="3479800"/>
            <a:ext cx="381000" cy="381000"/>
          </a:xfrm>
          <a:prstGeom prst="ellipse">
            <a:avLst/>
          </a:prstGeom>
          <a:solidFill>
            <a:srgbClr val="499B6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50900" y="34798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50900" y="990600"/>
            <a:ext cx="381000" cy="381000"/>
          </a:xfrm>
          <a:prstGeom prst="ellipse">
            <a:avLst/>
          </a:prstGeom>
          <a:solidFill>
            <a:srgbClr val="173F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50900" y="9906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50900" y="2273300"/>
            <a:ext cx="381000" cy="381000"/>
          </a:xfrm>
          <a:prstGeom prst="ellipse">
            <a:avLst/>
          </a:prstGeom>
          <a:solidFill>
            <a:srgbClr val="2F7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50900" y="22733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10800000" flipH="false" flipV="false">
            <a:off x="2298700" y="20193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10800000" flipH="false" flipV="false">
            <a:off x="2336800" y="33274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0" y="139700"/>
            <a:ext cx="9144000" cy="647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1S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 spc="2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智享 (Schedule) - 烤房调剂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3" id="43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44" id="44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8" id="48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49" id="49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50" id="50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51" id="51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52" id="52"/>
          <p:cNvSpPr/>
          <p:nvPr/>
        </p:nvSpPr>
        <p:spPr>
          <a:xfrm rot="0" flipH="false" flipV="false">
            <a:off x="774700" y="4762500"/>
            <a:ext cx="30607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把烤房资源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“共享起来”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495800" y="1155700"/>
            <a:ext cx="1968500" cy="927100"/>
          </a:xfrm>
          <a:prstGeom prst="roundRect">
            <a:avLst>
              <a:gd name="adj" fmla="val 6849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648200" y="1727200"/>
            <a:ext cx="1739900" cy="330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烤房匹配成功率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648200" y="11938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 spc="5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≥95 %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565900" y="1866900"/>
            <a:ext cx="2387600" cy="914400"/>
          </a:xfrm>
          <a:prstGeom prst="roundRect">
            <a:avLst>
              <a:gd name="adj" fmla="val 6944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80200" y="2425700"/>
            <a:ext cx="2044700" cy="254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烤房闲置率约↓40个百分点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65900" y="1905000"/>
            <a:ext cx="24765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 spc="5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80%→40%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139700"/>
            <a:ext cx="9144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应用成效：智用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6" id="16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1" id="21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22" id="22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23" id="23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24" id="24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152400" y="2209800"/>
            <a:ext cx="1397000" cy="711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逐户询问</a:t>
            </a: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一次6-8H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346200" y="2336800"/>
            <a:ext cx="1587500" cy="469900"/>
          </a:xfrm>
          <a:prstGeom prst="notchedRightArrow">
            <a:avLst>
              <a:gd name="adj1" fmla="val 41780"/>
              <a:gd name="adj2" fmla="val 59589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2000">
                <a:srgbClr val="0F9ED5">
                  <a:alpha val="100000"/>
                </a:srgbClr>
              </a:gs>
              <a:gs pos="91000">
                <a:srgbClr val="2DBEFF">
                  <a:alpha val="20000"/>
                </a:srgbClr>
              </a:gs>
            </a:gsLst>
            <a:path path="shap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667000" y="2222500"/>
            <a:ext cx="1739900" cy="711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一键预约</a:t>
            </a: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秒级匹配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866900" y="2209800"/>
            <a:ext cx="355600" cy="711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转</a:t>
            </a: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变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83100" y="2908300"/>
            <a:ext cx="1968500" cy="825500"/>
          </a:xfrm>
          <a:prstGeom prst="roundRect">
            <a:avLst>
              <a:gd name="adj" fmla="val 615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635500" y="3403600"/>
            <a:ext cx="1739900" cy="279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预约响应速度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35500" y="29464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FFC000"/>
                </a:solidFill>
                <a:latin typeface="等线"/>
                <a:ea typeface="等线"/>
                <a:cs typeface="等线"/>
                <a:sym typeface="等线"/>
              </a:rPr>
              <a:t>秒级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80200" y="3403600"/>
            <a:ext cx="1968500" cy="825500"/>
          </a:xfrm>
          <a:prstGeom prst="roundRect">
            <a:avLst>
              <a:gd name="adj" fmla="val 615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832600" y="3898900"/>
            <a:ext cx="1739900" cy="279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成功调剂次数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832600" y="34544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 spc="5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48次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" y="927100"/>
            <a:ext cx="4241800" cy="3848100"/>
          </a:xfrm>
          <a:prstGeom prst="roundRect">
            <a:avLst>
              <a:gd name="adj" fmla="val 11551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4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25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04800" y="1206500"/>
            <a:ext cx="533400" cy="215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eaVert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5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健康评估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473200" y="9779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 常规寿命预测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73200" y="21082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 智能算法模型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73200" y="36957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核心评估输出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73200" y="2489200"/>
            <a:ext cx="12446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健康分评估模型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73200" y="2882900"/>
            <a:ext cx="12065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寿命预测模型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81200" y="3302000"/>
            <a:ext cx="12065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ts val="12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随机森林预警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08300" y="2489200"/>
            <a:ext cx="1244600" cy="266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AHP层次分析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08300" y="2882900"/>
            <a:ext cx="1206500" cy="266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LSTM时序预测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73200" y="4102100"/>
            <a:ext cx="1117600" cy="2667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烤房健康分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857500" y="4102100"/>
            <a:ext cx="1104900" cy="2413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剩余寿命预测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473200" y="4445000"/>
            <a:ext cx="1104900" cy="2413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智能健康预警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908300" y="4432300"/>
            <a:ext cx="1041400" cy="2794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维修优先级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473200" y="12954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四大核心部位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54300" y="12954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十八大关键部件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473200" y="16637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主观权重系数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641600" y="1663700"/>
            <a:ext cx="13208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传感器实时数据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245100" y="4381500"/>
            <a:ext cx="3797300" cy="406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主动预防 · 科学评估 · 闭环管理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139700"/>
            <a:ext cx="9144000" cy="647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2S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智管 Sustain - 日常巡检与健康评估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9" id="29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4" id="34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5" id="35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6" id="36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7" id="37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901700" y="3721100"/>
            <a:ext cx="381000" cy="381000"/>
          </a:xfrm>
          <a:prstGeom prst="ellipse">
            <a:avLst/>
          </a:prstGeom>
          <a:solidFill>
            <a:srgbClr val="499B6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1700" y="37211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4400" y="1003300"/>
            <a:ext cx="381000" cy="381000"/>
          </a:xfrm>
          <a:prstGeom prst="ellipse">
            <a:avLst/>
          </a:prstGeom>
          <a:solidFill>
            <a:srgbClr val="173F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14400" y="10033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14400" y="2108200"/>
            <a:ext cx="381000" cy="381000"/>
          </a:xfrm>
          <a:prstGeom prst="ellipse">
            <a:avLst/>
          </a:prstGeom>
          <a:solidFill>
            <a:srgbClr val="2F7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14400" y="21082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10800000" flipH="false" flipV="false">
            <a:off x="2489200" y="20193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10800000" flipH="false" flipV="false">
            <a:off x="2489200" y="36449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800600" y="889000"/>
            <a:ext cx="1955800" cy="133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rcRect l="0" r="1369" t="0" b="3539"/>
          <a:stretch>
            <a:fillRect/>
          </a:stretch>
        </p:blipFill>
        <p:spPr>
          <a:xfrm rot="0" flipH="false" flipV="false">
            <a:off x="7213600" y="863600"/>
            <a:ext cx="1828800" cy="13843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"/>
          <a:srcRect l="0" r="6145" t="402" b="8660"/>
          <a:stretch>
            <a:fillRect/>
          </a:stretch>
        </p:blipFill>
        <p:spPr>
          <a:xfrm rot="0" flipH="false" flipV="false">
            <a:off x="4762500" y="2349500"/>
            <a:ext cx="4267200" cy="1866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9" id="49"/>
          <p:cNvSpPr/>
          <p:nvPr/>
        </p:nvSpPr>
        <p:spPr>
          <a:xfrm rot="0" flipH="false" flipV="false">
            <a:off x="1016000" y="4775200"/>
            <a:ext cx="27813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让烤房运维实现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“主动预防”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" y="927100"/>
            <a:ext cx="3987800" cy="3670300"/>
          </a:xfrm>
          <a:prstGeom prst="roundRect">
            <a:avLst>
              <a:gd name="adj" fmla="val 11418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4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25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76300" y="1270000"/>
            <a:ext cx="381000" cy="381000"/>
          </a:xfrm>
          <a:prstGeom prst="ellipse">
            <a:avLst/>
          </a:prstGeom>
          <a:solidFill>
            <a:srgbClr val="173F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76300" y="12700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12573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主动报修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584700" y="1016000"/>
            <a:ext cx="1752600" cy="342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84700" y="1549400"/>
            <a:ext cx="1739900" cy="3429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84700" y="2298700"/>
            <a:ext cx="1739900" cy="5842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33655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维修进度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45300" y="2781300"/>
            <a:ext cx="1600200" cy="10922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45300" y="3949700"/>
            <a:ext cx="1600200" cy="1905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dash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4800" y="4178300"/>
            <a:ext cx="37973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提报维修 评价反馈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460500" y="15748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烤房基础信息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41600" y="1574800"/>
            <a:ext cx="7493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故障类型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1955800"/>
            <a:ext cx="7493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故障描述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336800" y="1955800"/>
            <a:ext cx="7493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预约上门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460500" y="3695700"/>
            <a:ext cx="749300" cy="2667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迅速响应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336800" y="3695700"/>
            <a:ext cx="749300" cy="2667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进度可见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139700"/>
            <a:ext cx="9144000" cy="647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2S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智管 (Sustain) - 一键报修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7" id="27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2" id="32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3" id="33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4" id="34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5" id="35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10800000" flipH="false" flipV="false">
            <a:off x="2146300" y="23114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16000" y="4775200"/>
            <a:ext cx="27813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把共享的烤房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“维护好”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473200" y="24384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算法方法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663700" y="2908300"/>
            <a:ext cx="13970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最近邻近KNN算法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4400" y="2438400"/>
            <a:ext cx="381000" cy="381000"/>
          </a:xfrm>
          <a:prstGeom prst="ellipse">
            <a:avLst/>
          </a:prstGeom>
          <a:solidFill>
            <a:srgbClr val="2F7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14400" y="24638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01700" y="3416300"/>
            <a:ext cx="381000" cy="381000"/>
          </a:xfrm>
          <a:prstGeom prst="ellipse">
            <a:avLst/>
          </a:prstGeom>
          <a:solidFill>
            <a:srgbClr val="499B6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01700" y="34163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10800000" flipH="false" flipV="false">
            <a:off x="2146300" y="33655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39700"/>
            <a:ext cx="9144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800" spc="3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应用成效：智管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5" id="15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0" y="2336800"/>
            <a:ext cx="1587500" cy="457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事后抢修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346200" y="2336800"/>
            <a:ext cx="1587500" cy="469900"/>
          </a:xfrm>
          <a:prstGeom prst="notchedRightArrow">
            <a:avLst>
              <a:gd name="adj1" fmla="val 41780"/>
              <a:gd name="adj2" fmla="val 59589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2000">
                <a:srgbClr val="0F9ED5">
                  <a:alpha val="100000"/>
                </a:srgbClr>
              </a:gs>
              <a:gs pos="91000">
                <a:srgbClr val="2DBEFF">
                  <a:alpha val="20000"/>
                </a:srgbClr>
              </a:gs>
            </a:gsLst>
            <a:path path="shap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866900" y="2209800"/>
            <a:ext cx="355600" cy="711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转</a:t>
            </a: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变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603500" y="2184400"/>
            <a:ext cx="1714500" cy="1079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主动预警</a:t>
            </a: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智能派单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95800" y="1155700"/>
            <a:ext cx="1968500" cy="825500"/>
          </a:xfrm>
          <a:prstGeom prst="roundRect">
            <a:avLst>
              <a:gd name="adj" fmla="val 615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48200" y="11938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≤2小时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46600" y="1651000"/>
            <a:ext cx="1816100" cy="279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维修响应 最快20min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010400" y="1676400"/>
            <a:ext cx="1968500" cy="825500"/>
          </a:xfrm>
          <a:prstGeom prst="roundRect">
            <a:avLst>
              <a:gd name="adj" fmla="val 615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26300" y="16510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95%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62800" y="2171700"/>
            <a:ext cx="1739900" cy="279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健康分预警准确率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95800" y="2438400"/>
            <a:ext cx="2298700" cy="1168400"/>
          </a:xfrm>
          <a:prstGeom prst="roundRect">
            <a:avLst>
              <a:gd name="adj" fmla="val 6521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457700" y="2476500"/>
            <a:ext cx="23495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50+座/人·天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737100" y="3022600"/>
            <a:ext cx="1739900" cy="4572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巡检效率 提升5倍+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921500" y="3644900"/>
            <a:ext cx="1968500" cy="825500"/>
          </a:xfrm>
          <a:prstGeom prst="roundRect">
            <a:avLst>
              <a:gd name="adj" fmla="val 615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073900" y="3695700"/>
            <a:ext cx="1739900" cy="5588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326座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073900" y="4140200"/>
            <a:ext cx="1739900" cy="279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提前预警故障烤房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832600" y="4686300"/>
            <a:ext cx="2197100" cy="3556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b" rtlCol="false" anchorCtr="false" vert="horz" wrap="square" lIns="0" rIns="88900" tIns="0" bIns="5080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808080">
                    <a:alpha val="2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808080">
                    <a:alpha val="20000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生成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" y="927100"/>
            <a:ext cx="3733800" cy="3581400"/>
          </a:xfrm>
          <a:prstGeom prst="roundRect">
            <a:avLst>
              <a:gd name="adj" fmla="val 11347"/>
            </a:avLst>
          </a:prstGeom>
          <a:gradFill rotWithShape="true">
            <a:gsLst>
              <a:gs pos="1000">
                <a:srgbClr val="2DBEFF">
                  <a:alpha val="53000"/>
                </a:srgbClr>
              </a:gs>
              <a:gs pos="14000">
                <a:srgbClr val="0F9ED5">
                  <a:alpha val="0"/>
                </a:srgbClr>
              </a:gs>
              <a:gs pos="91000">
                <a:srgbClr val="2DBEFF">
                  <a:alpha val="20000"/>
                </a:srgbClr>
              </a:gs>
            </a:gsLst>
            <a:lin ang="13500000"/>
          </a:gradFill>
          <a:ln w="12700" cmpd="sng" cap="flat">
            <a:solidFill>
              <a:srgbClr val="2DBEFF">
                <a:alpha val="25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373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264400" y="114300"/>
            <a:ext cx="762000" cy="241300"/>
          </a:xfrm>
          <a:prstGeom prst="roundRect">
            <a:avLst>
              <a:gd name="adj" fmla="val 52631"/>
            </a:avLst>
          </a:prstGeom>
          <a:noFill/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747474"/>
                </a:solidFill>
                <a:latin typeface="微软雅黑"/>
                <a:ea typeface="微软雅黑"/>
                <a:cs typeface="微软雅黑"/>
                <a:sym typeface="微软雅黑"/>
              </a:rPr>
              <a:t>智管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91500" y="114300"/>
            <a:ext cx="762000" cy="241300"/>
          </a:xfrm>
          <a:prstGeom prst="roundRect">
            <a:avLst>
              <a:gd name="adj" fmla="val 52631"/>
            </a:avLst>
          </a:prstGeom>
          <a:solidFill>
            <a:srgbClr val="156082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智投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14400" y="1003300"/>
            <a:ext cx="381000" cy="381000"/>
          </a:xfrm>
          <a:prstGeom prst="ellipse">
            <a:avLst/>
          </a:prstGeom>
          <a:solidFill>
            <a:srgbClr val="173F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14400" y="10033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73200" y="10160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指标体系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47800" y="13208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烤房基础数据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16200" y="13208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烟农评价反馈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095500" y="1752600"/>
            <a:ext cx="1041400" cy="266700"/>
          </a:xfrm>
          <a:prstGeom prst="roundRect">
            <a:avLst>
              <a:gd name="adj" fmla="val 0"/>
            </a:avLst>
          </a:prstGeom>
          <a:solidFill>
            <a:srgbClr val="D7EED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F7A4F"/>
                </a:solidFill>
                <a:latin typeface="微软雅黑"/>
                <a:ea typeface="微软雅黑"/>
                <a:cs typeface="微软雅黑"/>
                <a:sym typeface="微软雅黑"/>
              </a:rPr>
              <a:t>烤房产能指标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2108200"/>
            <a:ext cx="381000" cy="381000"/>
          </a:xfrm>
          <a:prstGeom prst="ellipse">
            <a:avLst/>
          </a:prstGeom>
          <a:solidFill>
            <a:srgbClr val="2F7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2108200"/>
            <a:ext cx="3683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73200" y="22098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算法方法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70100" y="2603500"/>
            <a:ext cx="12446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烤房负载度算法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108200" y="3073400"/>
            <a:ext cx="1206500" cy="266700"/>
          </a:xfrm>
          <a:prstGeom prst="roundRect">
            <a:avLst>
              <a:gd name="adj" fmla="val 0"/>
            </a:avLst>
          </a:prstGeom>
          <a:solidFill>
            <a:srgbClr val="B4E5A2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ts val="1200"/>
              </a:lnSpc>
              <a:defRPr/>
            </a:pPr>
            <a:r>
              <a:rPr lang="en-US" b="true" i="false" strike="noStrike" u="none" sz="1000">
                <a:solidFill>
                  <a:srgbClr val="33423A"/>
                </a:solidFill>
                <a:latin typeface="微软雅黑"/>
                <a:ea typeface="微软雅黑"/>
                <a:cs typeface="微软雅黑"/>
                <a:sym typeface="微软雅黑"/>
              </a:rPr>
              <a:t>沙盘推演预测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" y="3606800"/>
            <a:ext cx="381000" cy="381000"/>
          </a:xfrm>
          <a:prstGeom prst="ellipse">
            <a:avLst/>
          </a:prstGeom>
          <a:solidFill>
            <a:srgbClr val="499B6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" y="3606800"/>
            <a:ext cx="38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473200" y="3721100"/>
            <a:ext cx="20066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输出结果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222500" y="4064000"/>
            <a:ext cx="965200" cy="266700"/>
          </a:xfrm>
          <a:prstGeom prst="roundRect">
            <a:avLst>
              <a:gd name="adj" fmla="val 0"/>
            </a:avLst>
          </a:prstGeom>
          <a:solidFill>
            <a:srgbClr val="3B7D23">
              <a:alpha val="100000"/>
            </a:srgbClr>
          </a:solidFill>
          <a:ln w="12700" cmpd="sng" cap="flat">
            <a:solidFill>
              <a:srgbClr val="F28C28">
                <a:alpha val="15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新建数量建议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156200" y="4216400"/>
            <a:ext cx="3797300" cy="4064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助力决策 合理配置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139700"/>
            <a:ext cx="9144000" cy="647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F1A63A"/>
                </a:solidFill>
                <a:latin typeface="微软雅黑"/>
                <a:ea typeface="微软雅黑"/>
                <a:cs typeface="微软雅黑"/>
                <a:sym typeface="微软雅黑"/>
              </a:rPr>
              <a:t>3S</a:t>
            </a:r>
            <a:r>
              <a:rPr lang="en-US" b="false" i="false" strike="noStrike" u="none" sz="1600">
                <a:ln w="12700">
                  <a:solidFill>
                    <a:srgbClr val="FFFFFF">
                      <a:alpha val="27000"/>
                    </a:srgbClr>
                  </a:solidFill>
                </a:ln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2800">
                <a:ln w="12700">
                  <a:solidFill>
                    <a:srgbClr val="FFFFFF">
                      <a:alpha val="27000"/>
                    </a:srgbClr>
                  </a:solidFill>
                </a:ln>
                <a:latin typeface="微软雅黑"/>
                <a:ea typeface="微软雅黑"/>
                <a:cs typeface="微软雅黑"/>
                <a:sym typeface="微软雅黑"/>
              </a:rPr>
              <a:t>智投 (Selection) - 烤房新建决策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7" id="27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2" id="32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3" id="33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4" id="34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35" id="35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304800" y="1206500"/>
            <a:ext cx="596900" cy="215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eaVert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5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烤房新建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10800000" flipH="false" flipV="false">
            <a:off x="2527300" y="35433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10800000" flipH="false" flipV="false">
            <a:off x="2463800" y="2247900"/>
            <a:ext cx="355600" cy="203200"/>
          </a:xfrm>
          <a:prstGeom prst="triangle">
            <a:avLst>
              <a:gd name="adj" fmla="val 50000"/>
            </a:avLst>
          </a:prstGeom>
          <a:solidFill>
            <a:srgbClr val="83CBEB">
              <a:alpha val="100000"/>
            </a:srgbClr>
          </a:solidFill>
          <a:ln w="12700" cmpd="sng" cap="flat">
            <a:solidFill>
              <a:srgbClr val="042433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23900" y="4610100"/>
            <a:ext cx="2667000" cy="3429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把共享烤房的池子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8ED973"/>
                </a:solidFill>
                <a:latin typeface="SimHei"/>
                <a:ea typeface="SimHei"/>
                <a:cs typeface="SimHei"/>
                <a:sym typeface="SimHei"/>
              </a:rPr>
              <a:t>“建扎实”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54000" y="254000"/>
            <a:ext cx="8636000" cy="635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数据驾驶舱：全景监控与决策支持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516" b="516"/>
          <a:stretch>
            <a:fillRect/>
          </a:stretch>
        </p:blipFill>
        <p:spPr>
          <a:xfrm rot="0" flipH="false" flipV="false">
            <a:off x="254000" y="1143000"/>
            <a:ext cx="3937000" cy="238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254000" y="3683000"/>
            <a:ext cx="3937000" cy="1270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驾驶舱集成了物联网数据采集与大数据分析能力，将分散的烤房数据汇聚成直观的可视化图表，让管理者能够一眼掌握全局，实现从“经验管理”向“数据驱动”的转变。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143000"/>
            <a:ext cx="4445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35500" y="1333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5143500" y="1270000"/>
            <a:ext cx="36830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全域资产实时监控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实时追踪烤房设备状态、温湿度环境及运行参数，通过可视化大屏实现资产全景呈现，异常情况即时预警。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413000"/>
            <a:ext cx="4445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cmpd="sng" cap="flat">
            <a:solidFill>
              <a:srgbClr val="BDE4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603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2540000"/>
            <a:ext cx="36830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多维度业务效能分析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深度解析烘烤产量、能耗成本与质量指标，生成多维度趋势报表，精准识别产能瓶颈与运营优化空间。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3683000"/>
            <a:ext cx="44450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cmpd="sng" cap="flat">
            <a:solidFill>
              <a:srgbClr val="E6DDB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35500" y="387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43500" y="3810000"/>
            <a:ext cx="3683000" cy="889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智能决策辅助支撑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基于数据模型输出科学的调度建议与资源配置方案，将数据转化为可落地的管理决策，提升运营效率与收益。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4889500"/>
            <a:ext cx="9144000" cy="254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" y="4889500"/>
            <a:ext cx="8890000" cy="254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微软雅黑"/>
                <a:ea typeface="微软雅黑"/>
                <a:cs typeface="微软雅黑"/>
                <a:sym typeface="微软雅黑"/>
              </a:rPr>
              <a:t>打造“看得见、管得住、算得清”的数字化烤房运营体系，赋能精细化管理升级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"/>
            <a:ext cx="9144000" cy="5207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54F8FF"/>
                </a:solidFill>
                <a:latin typeface="等线"/>
                <a:ea typeface="等线"/>
                <a:cs typeface="等线"/>
                <a:sym typeface="等线"/>
              </a:rPr>
              <a:t>创新·推广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true">
            <a:off x="2463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true">
            <a:off x="23368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true">
            <a:off x="2222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true">
            <a:off x="2095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7" id="7"/>
          <p:cNvCxnSpPr/>
          <p:nvPr/>
        </p:nvCxnSpPr>
        <p:spPr>
          <a:xfrm rot="-10799998" flipH="false" flipV="false">
            <a:off x="596845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10800000" flipH="false" flipV="false">
            <a:off x="6553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10800000" flipH="false" flipV="false">
            <a:off x="6680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10800000" flipH="false" flipV="false">
            <a:off x="68072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10800000" flipH="false" flipV="false">
            <a:off x="6921500" y="444500"/>
            <a:ext cx="127000" cy="101600"/>
          </a:xfrm>
          <a:prstGeom prst="parallelogram">
            <a:avLst>
              <a:gd name="adj" fmla="val 64387"/>
            </a:avLst>
          </a:prstGeom>
          <a:solidFill>
            <a:srgbClr val="02F3F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2" id="12"/>
          <p:cNvCxnSpPr/>
          <p:nvPr/>
        </p:nvCxnSpPr>
        <p:spPr>
          <a:xfrm rot="-59268" flipH="false" flipV="false">
            <a:off x="7073900" y="431800"/>
            <a:ext cx="147325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gradFill rotWithShape="true">
              <a:gsLst>
                <a:gs pos="0">
                  <a:srgbClr val="02F3FE">
                    <a:alpha val="0"/>
                  </a:srgbClr>
                </a:gs>
                <a:gs pos="100000">
                  <a:srgbClr val="02F3FE">
                    <a:alpha val="40000"/>
                  </a:srgbClr>
                </a:gs>
              </a:gsLst>
              <a:lin ang="1080000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-7608926" flipH="false" flipV="false">
            <a:off x="2590210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-22918" flipH="false" flipV="false">
            <a:off x="2667000" y="685800"/>
            <a:ext cx="38100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-4039540" flipH="false" flipV="false">
            <a:off x="6451399" y="647359"/>
            <a:ext cx="1023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2F3FE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" y="863600"/>
            <a:ext cx="3048000" cy="1701800"/>
          </a:xfrm>
          <a:prstGeom prst="roundRect">
            <a:avLst>
              <a:gd name="adj" fmla="val 5223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spcAft>
                <a:spcPts val="60"/>
              </a:spcAft>
              <a:defRPr/>
            </a:pPr>
            <a:r>
              <a:rPr lang="en-US" b="false" i="false" strike="noStrike" u="none" sz="16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创新1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ts val="60"/>
              </a:spcBef>
              <a:spcAft>
                <a:spcPts val="130"/>
              </a:spcAft>
            </a:pPr>
            <a:r>
              <a:rPr lang="en-US" b="true" i="false" strike="noStrike" u="none" sz="2000">
                <a:solidFill>
                  <a:srgbClr val="2DBEFF"/>
                </a:solidFill>
                <a:latin typeface="微软雅黑"/>
                <a:ea typeface="微软雅黑"/>
                <a:cs typeface="微软雅黑"/>
                <a:sym typeface="微软雅黑"/>
              </a:rPr>
              <a:t>业务创新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5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• 智享共享，高效盘活存量烤房资源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5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• 智能运维，保障烤房稳定高效运行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5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• 科学智投，按需适度增量新建烤房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5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• 闭环反馈，完善烟农评价与服务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75200" y="787400"/>
            <a:ext cx="3035300" cy="2311400"/>
          </a:xfrm>
          <a:prstGeom prst="roundRect">
            <a:avLst>
              <a:gd name="adj" fmla="val 5494"/>
            </a:avLst>
          </a:prstGeom>
          <a:gradFill rotWithShape="true">
            <a:gsLst>
              <a:gs pos="0">
                <a:srgbClr val="00FFFF">
                  <a:alpha val="20000"/>
                </a:srgbClr>
              </a:gs>
              <a:gs pos="50000">
                <a:srgbClr val="02C9FF">
                  <a:alpha val="0"/>
                </a:srgbClr>
              </a:gs>
              <a:gs pos="100000">
                <a:srgbClr val="03A2FF">
                  <a:alpha val="20000"/>
                </a:srgbClr>
              </a:gs>
            </a:gsLst>
            <a:lin ang="2700000"/>
          </a:gradFill>
          <a:ln w="12700" cmpd="sng" cap="flat">
            <a:gradFill rotWithShape="true">
              <a:gsLst>
                <a:gs pos="0">
                  <a:srgbClr val="00FFFF">
                    <a:alpha val="100000"/>
                  </a:srgbClr>
                </a:gs>
                <a:gs pos="45000">
                  <a:srgbClr val="00FFFF">
                    <a:alpha val="0"/>
                  </a:srgbClr>
                </a:gs>
                <a:gs pos="100000">
                  <a:srgbClr val="03A2FF">
                    <a:alpha val="100000"/>
                  </a:srgbClr>
                </a:gs>
              </a:gsLst>
              <a:lin ang="2700000"/>
            </a:gradFill>
            <a:prstDash val="solid"/>
            <a:miter lim="8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spcAft>
                <a:spcPts val="60"/>
              </a:spcAft>
              <a:defRPr/>
            </a:pPr>
            <a:r>
              <a:rPr lang="en-US" b="false" i="false" strike="noStrike" u="none" sz="16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创新2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  <a:spcBef>
                <a:spcPts val="60"/>
              </a:spcBef>
              <a:spcAft>
                <a:spcPts val="130"/>
              </a:spcAft>
            </a:pPr>
            <a:r>
              <a:rPr lang="en-US" b="true" i="false" strike="noStrike" u="none" sz="2000">
                <a:solidFill>
                  <a:srgbClr val="2DBE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技术创新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4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✔ AHP层次分析法实现健康精准评分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4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✔ LSTM模型完成设备时序寿命预测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4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✔ 多目标约束算法优化资源分配方案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4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✔ 随机森林模型实现故障智能预警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  <a:spcBef>
                <a:spcPts val="40"/>
              </a:spcBef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✔ 数字化沙盘推演辅助科学决策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49712" t="-2604" b="0"/>
          <a:stretch>
            <a:fillRect/>
          </a:stretch>
        </p:blipFill>
        <p:spPr>
          <a:xfrm rot="0" flipH="false" flipV="false">
            <a:off x="1168400" y="2565400"/>
            <a:ext cx="2222500" cy="2501900"/>
          </a:xfrm>
          <a:prstGeom prst="rect">
            <a:avLst/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4775200" y="3238500"/>
            <a:ext cx="3556000" cy="381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核心推广价值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75200" y="3746500"/>
            <a:ext cx="3556000" cy="698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跨区域复制：成熟的管理框架可快速推广至全国其他烟区，实现规模化效益。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775200" y="4445000"/>
            <a:ext cx="3556000" cy="825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多场景适配：不仅适用于烤房，还可拓展至育苗大棚、农机设备等农业基础设施的智能化管理。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11007" r="10772" t="31661" b="40752"/>
          <a:stretch>
            <a:fillRect/>
          </a:stretch>
        </p:blipFill>
        <p:spPr>
          <a:xfrm rot="0" flipH="false" flipV="false">
            <a:off x="2349500" y="1231900"/>
            <a:ext cx="4241800" cy="111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36600" y="2654300"/>
            <a:ext cx="76835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 spc="300">
                <a:solidFill>
                  <a:srgbClr val="D9B64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感谢聆听！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36600" y="3683000"/>
            <a:ext cx="76835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让每一座烤房都在线！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6600" y="4381500"/>
            <a:ext cx="76835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 spc="200">
                <a:solidFill>
                  <a:srgbClr val="D7EEDF"/>
                </a:solidFill>
                <a:latin typeface="微软雅黑"/>
                <a:ea typeface="微软雅黑"/>
                <a:cs typeface="微软雅黑"/>
                <a:sym typeface="微软雅黑"/>
              </a:rPr>
              <a:t>盘活烤房资源 · 数智共享烘烤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6425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{"Label":"1","ContentProducer":"001191110102MACQD9K64010000","ProduceID":"7683065826928593850","ReservedCode1":"","ContentPropagator":"","PropagateID":"","ReservedCode2":""}</vt:lpwstr>
  </property>
</Properties>
</file>