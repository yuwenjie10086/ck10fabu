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分享的项目，始于一个真实的烤房故事。在秭归县磨坪乡，烟农老张正为烤房不够用而焦虑，去年一批烟叶因为等待烤房而受损。而烟技员小李，面对全县几百座烤房，只能依靠纸质台账和电话来协调，效率低下。烤房，这个烟叶烘烤季最关键的设施，却成了烟农最大的烦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到底是谁在喊“烤房不够用”呢？我们收集了烟农和管理者的心声。烟农最关心的是紧急采烤、新建选址和故障报修。而管理者则更关注维修资金的高效分配、设备更换提醒和全县烤房状态的宏观掌控。这些诉求背后，反映出我们对烤房的管理还存在着“底数不清、状态不明、过程管控滞后”的三大核心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这些问题，我们提出的解决方案是——共享烤房。它不是简单的资源共用，而是一个依托物联网和AI技术，对传统烤房模式进行全面数智化升级的共享网络。其核心理念是通过“盘活存量、常态运维、科学选址”三者的联动，实现烤房资源的最优配置。我们的目标是：让每一座烤房都物尽其用，让每一位烟农都不再等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更直观地展示共享烤房的优势，我们从九个维度进行了对比。从选址决策到制度支撑，共享烤房模式在每一个环节都实现了对传统模式的数智化变革。这带来的效果是显著的：烟农等待烤房的时间从几天缩短到半小时以内，烤坏烟叶的损失率也将大幅降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第一步是盘活存量。核心问题是烤房资源分配不均。我们的技术路线是通过物联网采集数据，利用四重条件综合判定烤房是否空闲，最后通过算法进行智能匹配。相比传统的人工调剂，智能调度的响应时间从数小时缩短到30分钟以内，并且实现了实时可视和精准匹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步是实现常态运维。核心问题是烤房“带病运行”。我们通过增强型BMHI健康分算法，对烤房的四大部件进行三维度量化评估，得出0-100分的综合健康分。结合BDRL寿命预测模型，我们可以精确预测烤房的剩余寿命，并提前发出维修预警。这就将传统的“坏了才修”模式，升级为“预测性维护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步是科学选址。核心问题是选址缺乏科学依据。我们建立了包含8大一级指标、48项细分指标的评价体系，并采用AHP、熵权法和TOPSIS相结合的算法模型，对候选点进行综合评价和排序。这使得选址决策从过去的“拍脑袋”，变成了有数据支撑的科学决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项目的整体技术全景。它分为三层：底层是“采数”，通过物联网、手机采集等方式获取多源数据；中层是“析数”，运用一系列AI算法模型进行深度分析；顶层是“用数”，通过各类应用系统和AI助手服务于用户。目前，我们在秭归县已采集了超过2400座烤房的详细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让用户更便捷地使用我们的系统，我们开发了统一的AI助手。它一个入口，就能服务烟农、技术员和管理者三个不同的场景。无论是烟农想找空闲烤房，技术员想提交维修工单，还是管理者想查看全县烤房的健康分布，都可以通过简单的对话来完成。真正实现了“一部手机搞定烤房所有事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我们的项目通过数智化手段，实现了提质、增效、降本、减负和定章五大成效。未来，我们计划将此模式横向推广至更多产区，纵向扩展至其他农业基础设施，并持续深化技术，提升预测精度。我们坚信，通过数智赋能烤房，科技将成就金叶产业的美好未来。让数据多跑路，让烟农少操心！我的汇报到此结束，感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notesSlides/notesSlide1.xml" Type="http://schemas.openxmlformats.org/officeDocument/2006/relationships/notesSlid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notesSlides/notesSlide2.xml" Type="http://schemas.openxmlformats.org/officeDocument/2006/relationships/notesSlid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14" Target="../media/image71.png" Type="http://schemas.openxmlformats.org/officeDocument/2006/relationships/image"/><Relationship Id="rId15" Target="../media/image72.svg" Type="http://schemas.openxmlformats.org/officeDocument/2006/relationships/image"/><Relationship Id="rId16" Target="../notesSlides/notesSlide9.xml" Type="http://schemas.openxmlformats.org/officeDocument/2006/relationships/notesSlide"/><Relationship Id="rId2" Target="../media/image63.png" Type="http://schemas.openxmlformats.org/officeDocument/2006/relationships/image"/><Relationship Id="rId3" Target="../media/image6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media/image67.png" Type="http://schemas.openxmlformats.org/officeDocument/2006/relationships/image"/><Relationship Id="rId9" Target="../media/image6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svg" Type="http://schemas.openxmlformats.org/officeDocument/2006/relationships/image"/><Relationship Id="rId12" Target="../media/image79.png" Type="http://schemas.openxmlformats.org/officeDocument/2006/relationships/image"/><Relationship Id="rId13" Target="../media/image80.svg" Type="http://schemas.openxmlformats.org/officeDocument/2006/relationships/image"/><Relationship Id="rId14" Target="../media/image81.png" Type="http://schemas.openxmlformats.org/officeDocument/2006/relationships/image"/><Relationship Id="rId15" Target="../media/image82.svg" Type="http://schemas.openxmlformats.org/officeDocument/2006/relationships/image"/><Relationship Id="rId16" Target="../media/image83.png" Type="http://schemas.openxmlformats.org/officeDocument/2006/relationships/image"/><Relationship Id="rId17" Target="../media/image84.svg" Type="http://schemas.openxmlformats.org/officeDocument/2006/relationships/image"/><Relationship Id="rId18" Target="../media/image85.png" Type="http://schemas.openxmlformats.org/officeDocument/2006/relationships/image"/><Relationship Id="rId19" Target="../media/image86.svg" Type="http://schemas.openxmlformats.org/officeDocument/2006/relationships/image"/><Relationship Id="rId2" Target="../media/image39.png" Type="http://schemas.openxmlformats.org/officeDocument/2006/relationships/image"/><Relationship Id="rId20" Target="../media/image87.png" Type="http://schemas.openxmlformats.org/officeDocument/2006/relationships/image"/><Relationship Id="rId21" Target="../media/image88.svg" Type="http://schemas.openxmlformats.org/officeDocument/2006/relationships/image"/><Relationship Id="rId22" Target="../notesSlides/notesSlide10.xml" Type="http://schemas.openxmlformats.org/officeDocument/2006/relationships/notesSlide"/><Relationship Id="rId23" Target="../media/image89.png" Type="http://schemas.openxmlformats.org/officeDocument/2006/relationships/image"/><Relationship Id="rId3" Target="../media/image40.svg" Type="http://schemas.openxmlformats.org/officeDocument/2006/relationships/image"/><Relationship Id="rId4" Target="../media/image73.png" Type="http://schemas.openxmlformats.org/officeDocument/2006/relationships/image"/><Relationship Id="rId5" Target="../media/image74.svg" Type="http://schemas.openxmlformats.org/officeDocument/2006/relationships/image"/><Relationship Id="rId6" Target="../media/image75.png" Type="http://schemas.openxmlformats.org/officeDocument/2006/relationships/image"/><Relationship Id="rId7" Target="../media/image76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3D2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5080000" cy="5080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3810000" cy="3810000"/>
          </a:xfrm>
          <a:prstGeom prst="ellipse">
            <a:avLst/>
          </a:prstGeom>
          <a:solidFill>
            <a:srgbClr val="F5F0E8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762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烟农的烦恼——一个真实的烤房故事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540000" y="1968500"/>
            <a:ext cx="7112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F5F0E8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715000" y="2476500"/>
            <a:ext cx="762000" cy="762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921000" y="3746500"/>
            <a:ext cx="6350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21000" y="3746500"/>
            <a:ext cx="1778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635500" y="3708400"/>
            <a:ext cx="127000" cy="127000"/>
          </a:xfrm>
          <a:prstGeom prst="ellipse">
            <a:avLst/>
          </a:prstGeom>
          <a:solidFill>
            <a:srgbClr val="F5F0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921000" y="4000500"/>
            <a:ext cx="203200" cy="203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731000" y="39751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5F0E8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00:00 / 05:18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540000" y="4572000"/>
            <a:ext cx="711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5F0E8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点击播放，聆听秭归县磨坪乡烟农的真实困境与心声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98500" y="5397500"/>
            <a:ext cx="34925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"/>
            </a:srgbClr>
          </a:solidFill>
          <a:ln w="12700" cmpd="sng" cap="flat">
            <a:solidFill>
              <a:srgbClr val="F5F0E8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89000" y="56896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295400" y="5499100"/>
            <a:ext cx="2857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数量缺口：采收期一“房”难求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F5F0E8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高峰期烤房存量不足，烟叶排队烘烤导致品质受损，烟农损失惨重。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343400" y="5397500"/>
            <a:ext cx="34925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"/>
            </a:srgbClr>
          </a:solidFill>
          <a:ln w="12700" cmpd="sng" cap="flat">
            <a:solidFill>
              <a:srgbClr val="F5F0E8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533900" y="56896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4940300" y="5499100"/>
            <a:ext cx="2857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设备老化：温控不准品质难控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F5F0E8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老旧烤房故障率高，温湿度控制精度低，极易造成烤坏、烤青等问题。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001000" y="5397500"/>
            <a:ext cx="34925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"/>
            </a:srgbClr>
          </a:solidFill>
          <a:ln w="12700" cmpd="sng" cap="flat">
            <a:solidFill>
              <a:srgbClr val="F5F0E8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191500" y="56896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597900" y="5499100"/>
            <a:ext cx="2857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调度盲区：信息孤岛协调低效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F5F0E8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缺乏数字化台账，烤房位置与状态不透明，跨村跨镇协调全靠人工电话。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D4A843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4826000"/>
            <a:ext cx="3175000" cy="3175000"/>
          </a:xfrm>
          <a:prstGeom prst="ellipse">
            <a:avLst/>
          </a:prstGeom>
          <a:solidFill>
            <a:srgbClr val="0A3D2E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谁在喊“烤房不够用”？——烟农与管理者的心声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5494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143000" y="1524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👨‍🌾 烟农：一线烘烤的急切心声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159000"/>
            <a:ext cx="5207000" cy="9652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w="12700" cmpd="sng" cap="flat">
            <a:solidFill>
              <a:srgbClr val="0A3D2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2349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2260600"/>
            <a:ext cx="450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“烤房满了，烟叶要烂在地里了！”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烟叶成熟需紧急采烤，但现有烤房全被占用，无空余设备可用，眼睁睁看着烟叶错过最佳烘烤期，品质受损。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276600"/>
            <a:ext cx="5207000" cy="9652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w="12700" cmpd="sng" cap="flat">
            <a:solidFill>
              <a:srgbClr val="0A3D2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34671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378200"/>
            <a:ext cx="450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“想新建烤房，却不知建在哪？”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缺乏科学的选址规划与资源评估，不清楚新建烤房的最佳位置，担心投入后利用率低，造成资源浪费。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394200"/>
            <a:ext cx="5207000" cy="9652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w="12700" cmpd="sng" cap="flat">
            <a:solidFill>
              <a:srgbClr val="0A3D2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52500" y="45847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97000" y="4495800"/>
            <a:ext cx="450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“设备坏了，找谁修？急！”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烤房关键部件突发故障，缺乏快速报修渠道和专业维修响应，烘烤中断导致整炉烟叶报废，损失惨重。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223000" y="15494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604000" y="1524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👔 管理者：统筹调度的核心痛点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2159000"/>
            <a:ext cx="5207000" cy="965200"/>
          </a:xfrm>
          <a:prstGeom prst="roundRect">
            <a:avLst>
              <a:gd name="adj" fmla="val 0"/>
            </a:avLst>
          </a:prstGeom>
          <a:solidFill>
            <a:srgbClr val="D4A843">
              <a:alpha val="6000"/>
            </a:srgbClr>
          </a:solidFill>
          <a:ln w="12700" cmpd="sng" cap="flat">
            <a:solidFill>
              <a:srgbClr val="D4A84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413500" y="2349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858000" y="2260600"/>
            <a:ext cx="450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A67C00"/>
                </a:solidFill>
                <a:latin typeface="Noto Sans SC"/>
                <a:ea typeface="Noto Sans SC"/>
                <a:cs typeface="Noto Sans SC"/>
                <a:sym typeface="Noto Sans SC"/>
              </a:rPr>
              <a:t>“维修资金怎么花才最有效？”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维修资金预算有限，缺乏各烤房的真实状态数据，难以精准判断资金投向，无法实现资源利用效率最大化。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3276600"/>
            <a:ext cx="5207000" cy="965200"/>
          </a:xfrm>
          <a:prstGeom prst="roundRect">
            <a:avLst>
              <a:gd name="adj" fmla="val 0"/>
            </a:avLst>
          </a:prstGeom>
          <a:solidFill>
            <a:srgbClr val="D4A843">
              <a:alpha val="6000"/>
            </a:srgbClr>
          </a:solidFill>
          <a:ln w="12700" cmpd="sng" cap="flat">
            <a:solidFill>
              <a:srgbClr val="D4A84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413500" y="34671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6858000" y="3378200"/>
            <a:ext cx="450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A67C00"/>
                </a:solidFill>
                <a:latin typeface="Noto Sans SC"/>
                <a:ea typeface="Noto Sans SC"/>
                <a:cs typeface="Noto Sans SC"/>
                <a:sym typeface="Noto Sans SC"/>
              </a:rPr>
              <a:t>“哪些设备该换了？没提醒！”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设备老化无预警机制，无法提前制定更新计划，只能被动应对突发故障，严重影响烟叶烘烤的连续性。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3000" y="4394200"/>
            <a:ext cx="5207000" cy="965200"/>
          </a:xfrm>
          <a:prstGeom prst="roundRect">
            <a:avLst>
              <a:gd name="adj" fmla="val 0"/>
            </a:avLst>
          </a:prstGeom>
          <a:solidFill>
            <a:srgbClr val="D4A843">
              <a:alpha val="6000"/>
            </a:srgbClr>
          </a:solidFill>
          <a:ln w="12700" cmpd="sng" cap="flat">
            <a:solidFill>
              <a:srgbClr val="D4A84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413500" y="45847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858000" y="4495800"/>
            <a:ext cx="450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A67C00"/>
                </a:solidFill>
                <a:latin typeface="Noto Sans SC"/>
                <a:ea typeface="Noto Sans SC"/>
                <a:cs typeface="Noto Sans SC"/>
                <a:sym typeface="Noto Sans SC"/>
              </a:rPr>
              <a:t>“全县烤房状态，一屏难看清！”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烤房分布散、数量多，缺乏数字化监控手段，运行状态、烘烤进度无法实时掌握，管理决策缺乏依据。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524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0A3D2E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524500"/>
            <a:ext cx="50800" cy="889000"/>
          </a:xfrm>
          <a:prstGeom prst="roundRect">
            <a:avLst>
              <a:gd name="adj" fmla="val 0"/>
            </a:avLst>
          </a:prstGeom>
          <a:solidFill>
            <a:srgbClr val="D4A84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16000" y="5613400"/>
            <a:ext cx="1028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现状数据：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秭归县已采集烤房2422座，关联部件信息5大类22项。但仍面临</a:t>
            </a:r>
            <a:r>
              <a:rPr lang="en-US" b="true" i="false" strike="noStrike" u="none" sz="14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“底数不清、状态不明、过程管控滞后”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三大问题，传统管理模式已难以适配现代化烟叶生产需求，数字化升级势在必行。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0A3D2E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0A3D2E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解决方案：“共享烤房”——让每一座烤房都不再闲置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875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共享烤房</a:t>
            </a:r>
            <a:r>
              <a:rPr lang="en-US" b="false" i="false" strike="noStrike" u="none" sz="1800">
                <a:solidFill>
                  <a:srgbClr val="7A9A8E"/>
                </a:solidFill>
                <a:latin typeface="Noto Sans SC"/>
                <a:ea typeface="Noto Sans SC"/>
                <a:cs typeface="Noto Sans SC"/>
                <a:sym typeface="Noto Sans SC"/>
              </a:rPr>
              <a:t>｜ Shared Curing Barn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86000"/>
            <a:ext cx="1066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依托物联网与AI技术整合分散的烘烤资源，构建从</a:t>
            </a:r>
            <a:r>
              <a:rPr lang="en-US" b="true" i="false" strike="noStrike" u="none" sz="14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选址布局、智能管护到动态调度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的一体化网络，对传统烤房模式进行</a:t>
            </a:r>
            <a:r>
              <a:rPr lang="en-US" b="true" i="false" strike="noStrike" u="none" sz="14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全链路数智化升级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，打破信息不对称与资源闲置壁垒，实现烘烤产能的高效匹配与集约化利用。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556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w="12700" cmpd="sng" cap="flat">
            <a:solidFill>
              <a:srgbClr val="0A3D2E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3746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3708400"/>
            <a:ext cx="273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01 盘活存量资源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4191000"/>
            <a:ext cx="2997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建立烤房数字化台账，精准摸清区域闲置设备底数。通过共享机制整合碎片化资源，释放存量资产价值，避免重复建设浪费，最大化利用现有烘烤产能。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06900" y="3556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w="12700" cmpd="sng" cap="flat">
            <a:solidFill>
              <a:srgbClr val="0A3D2E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97400" y="3746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978400" y="3708400"/>
            <a:ext cx="273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02 智能常态运维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97400" y="4191000"/>
            <a:ext cx="2997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搭建IoT智能监控系统，实时监测温湿度与设备状态。建立标准化管护流程与故障预警机制，实现定期巡检与快速维保，确保烤房始终处于最佳可运行状态。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51800" y="3556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w="12700" cmpd="sng" cap="flat">
            <a:solidFill>
              <a:srgbClr val="0A3D2E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42300" y="3746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623300" y="3708400"/>
            <a:ext cx="273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03 科学规划选址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42300" y="4191000"/>
            <a:ext cx="2997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基于GIS地理信息与种植大数据规划布局，结合交通、电力条件优化点位。让烤房布局与烟田高度匹配，缩短鲜烟运输距离，降低烘烤损耗与物流成本。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588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0A3D2E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" y="5715000"/>
            <a:ext cx="1028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“让每一座烤房都物尽其用，让每一位烟农都不再等待，以共享模式重构烘烤生态，赋能烟叶产业降本增效。”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传统烤房 vs 共享烤房：一场数智化变革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397000"/>
          <a:ext cx="10922000" cy="3200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413000"/>
                <a:gridCol w="4254500"/>
                <a:gridCol w="4254500"/>
              </a:tblGrid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核心对比维度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❌ 传统烤房模式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共享烤房模式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01 选址决策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2525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凭经验“拍脑袋”，缺乏科学依据支撑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AHP+熵权法+TOPSIS多模型综合评价体系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8000"/>
                      </a:srgbClr>
                    </a:solidFill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02 状态感知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2525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纸质台账记录，依赖人工电话询问状态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物联网IoT实时采集，温湿度实现秒级感知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03 烤房分配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2525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“一季一固定”分配，无紧急调剂机制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智能算法动态调度，支持紧急需求自动调剂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8000"/>
                      </a:srgbClr>
                    </a:solidFill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04 健康管理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2525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“坏了再修”被动维修，无预防性维护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设备健康分量化，AI算法预测剩余使用寿命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05 维修流程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2525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纸质工单流转效率低，进度无法实时追踪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线上闭环报修体系，维修进度实时可查可控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8000"/>
                      </a:srgbClr>
                    </a:solidFill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06 资金分配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2525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凭主观感觉分配资金，缺乏客观数据依据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基于设备损坏程度、使用年限的科学测算模型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07 数据记录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2525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数据分散在纸质台账，易丢失难追溯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建立唯一数字档案，实现全生命周期数据可溯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8000"/>
                      </a:srgbClr>
                    </a:solidFill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08 管理效率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2525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人工管理效率低，一人仅能管几十座烤房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“一部手机管全县”，可视化大屏一屏统揽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09 制度支撑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52525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缺乏规范管理制度，更无数据决策模型支撑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数据驱动制度标准化落地，辅助科学决策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8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4826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▍</a:t>
            </a:r>
            <a:r>
              <a:rPr lang="en-US" b="true" i="false" strike="noStrike" u="none" sz="18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变革实效：从“被动等待”到“主动降损”的跨越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5334000"/>
            <a:ext cx="2540000" cy="12065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w="12700" cmpd="sng" cap="flat">
            <a:solidFill>
              <a:srgbClr val="0A3D2E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5461000"/>
            <a:ext cx="254000" cy="254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06500" y="5461000"/>
            <a:ext cx="1968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 · 等待耗时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57785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3-5 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烟农排队流转慢，效率低下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67100" y="5334000"/>
            <a:ext cx="2540000" cy="1206500"/>
          </a:xfrm>
          <a:prstGeom prst="roundRect">
            <a:avLst>
              <a:gd name="adj" fmla="val 0"/>
            </a:avLst>
          </a:prstGeom>
          <a:solidFill>
            <a:srgbClr val="D4A843">
              <a:alpha val="12000"/>
            </a:srgbClr>
          </a:solidFill>
          <a:ln w="12700" cmpd="sng" cap="flat">
            <a:solidFill>
              <a:srgbClr val="D4A84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594100" y="54610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911600" y="5461000"/>
            <a:ext cx="1968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共享模式 · 智能响应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94100" y="57785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≤30 分钟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智能调度秒级匹配，烟叶即刻入炉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172200" y="5334000"/>
            <a:ext cx="2540000" cy="12065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w="12700" cmpd="sng" cap="flat">
            <a:solidFill>
              <a:srgbClr val="0A3D2E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299200" y="54610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616700" y="5461000"/>
            <a:ext cx="1968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 · 烟叶损耗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99200" y="57785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5-8 %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经验烘烤不稳定，损失难以控制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77300" y="5334000"/>
            <a:ext cx="2540000" cy="1206500"/>
          </a:xfrm>
          <a:prstGeom prst="roundRect">
            <a:avLst>
              <a:gd name="adj" fmla="val 0"/>
            </a:avLst>
          </a:prstGeom>
          <a:solidFill>
            <a:srgbClr val="D4A843">
              <a:alpha val="12000"/>
            </a:srgbClr>
          </a:solidFill>
          <a:ln w="12700" cmpd="sng" cap="flat">
            <a:solidFill>
              <a:srgbClr val="D4A84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004300" y="5461000"/>
            <a:ext cx="254000" cy="254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321800" y="5461000"/>
            <a:ext cx="1968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共享模式 · 降损目标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004300" y="57785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≤2 %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精准控温+AI预判，烘烤品质更稳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4445000"/>
            <a:ext cx="3810000" cy="3810000"/>
          </a:xfrm>
          <a:prstGeom prst="ellipse">
            <a:avLst/>
          </a:prstGeom>
          <a:solidFill>
            <a:srgbClr val="0A3D2E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1905000" cy="1905000"/>
          </a:xfrm>
          <a:prstGeom prst="ellipse">
            <a:avLst/>
          </a:prstGeom>
          <a:solidFill>
            <a:srgbClr val="0A3D2E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三步走之一：盘活存量——烤房智能调度与调剂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0A3D2E">
              <a:alpha val="8000"/>
            </a:srgbClr>
          </a:solidFill>
          <a:ln w="12700" cmpd="sng" cap="flat">
            <a:solidFill>
              <a:srgbClr val="0A3D2E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6891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15494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</a:t>
            </a:r>
            <a:r>
              <a:rPr lang="en-US" b="false" i="false" strike="noStrike" u="none" sz="1400">
                <a:solidFill>
                  <a:srgbClr val="3C464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传统模式下烤房资源存在“一边闲置、一边排队”的分配失衡难题，人工调剂响应滞后、信息不对称，不仅降低烘烤效率，更增加了烟农的时间与经济成本。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540000"/>
            <a:ext cx="33782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A3D2E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26924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27178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01 全域数据采集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3111500"/>
            <a:ext cx="29972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55A58"/>
                </a:solidFill>
                <a:latin typeface="Noto Sans SC"/>
                <a:ea typeface="Noto Sans SC"/>
                <a:cs typeface="Noto Sans SC"/>
                <a:sym typeface="Noto Sans SC"/>
              </a:rPr>
              <a:t>部署物联网传感器，实时采集烤房功率、温湿度、门磁状态及烘烤阶段数据，实现全量数据云端汇聚。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06900" y="2540000"/>
            <a:ext cx="33782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A3D2E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597400" y="26924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041900" y="27178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02 智能状态识别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97400" y="3111500"/>
            <a:ext cx="29972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55A58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基于预设的四重判定逻辑算法，对采集数据进行交叉验证，精准识别烤房“空闲/占用”状态，排除干扰。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51800" y="2540000"/>
            <a:ext cx="33782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A3D2E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242300" y="26924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686800" y="27178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03 供需智能匹配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42300" y="3111500"/>
            <a:ext cx="29972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55A58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结合待烘烤烟叶量与空闲烤房容量，通过算法生成最优调度方案，自动推送至烟农与管理员终端。</a:t>
            </a:r>
            <a:endParaRPr lang="en-US" sz="1100"/>
          </a:p>
        </p:txBody>
      </p: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762000" y="3937000"/>
          <a:ext cx="10668000" cy="1041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94000"/>
                <a:gridCol w="4826000"/>
                <a:gridCol w="30480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判定维度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关键阈值条件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权重优先级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加热设备功率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功率 ＜ 50W，且持续时间 ≥ 30分钟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D930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高（核心指标）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5000"/>
                      </a:srgbClr>
                    </a:solidFill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烤房环境温差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内部与环境温差 ≤ 3℃，且持续 ≥ 1小时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D930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高（关键佐证）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21" id="21"/>
          <p:cNvSpPr/>
          <p:nvPr/>
        </p:nvSpPr>
        <p:spPr>
          <a:xfrm rot="0" flipH="false" flipV="false">
            <a:off x="762000" y="5397500"/>
            <a:ext cx="3378200" cy="10795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cmpd="sng" cap="flat">
            <a:solidFill>
              <a:srgbClr val="02241A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397500"/>
            <a:ext cx="3378200" cy="38100"/>
          </a:xfrm>
          <a:prstGeom prst="roundRect">
            <a:avLst>
              <a:gd name="adj" fmla="val 0"/>
            </a:avLst>
          </a:prstGeom>
          <a:solidFill>
            <a:srgbClr val="0A3D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89000" y="5524500"/>
            <a:ext cx="31242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🚀 响应效率跃升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传统人工需数小时至数天，智能调度实现≤30分钟极速响应，大幅减少等待时间。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406900" y="5397500"/>
            <a:ext cx="3378200" cy="10795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cmpd="sng" cap="flat">
            <a:solidFill>
              <a:srgbClr val="02241A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406900" y="5397500"/>
            <a:ext cx="3378200" cy="38100"/>
          </a:xfrm>
          <a:prstGeom prst="roundRect">
            <a:avLst>
              <a:gd name="adj" fmla="val 0"/>
            </a:avLst>
          </a:prstGeom>
          <a:solidFill>
            <a:srgbClr val="0A3D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533900" y="5524500"/>
            <a:ext cx="31242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🗺️ 资源全域可视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告别电话逐个询问的低效模式，通过地图实时呈现所有烤房状态，空闲资源一目了然。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051800" y="5397500"/>
            <a:ext cx="3378200" cy="10795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cmpd="sng" cap="flat">
            <a:solidFill>
              <a:srgbClr val="02241A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051800" y="5397500"/>
            <a:ext cx="3378200" cy="38100"/>
          </a:xfrm>
          <a:prstGeom prst="roundRect">
            <a:avLst>
              <a:gd name="adj" fmla="val 0"/>
            </a:avLst>
          </a:prstGeom>
          <a:solidFill>
            <a:srgbClr val="0A3D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178800" y="5524500"/>
            <a:ext cx="31242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🎯 分配精准无差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从“凭经验分配”转向“数据算法驱动”，实现资源最优匹配，提升烤房利用率与烘烤质量。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D4A843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0A3D2E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三步走之二：常态运维——烤房健康分与寿命预测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10668000" cy="711200"/>
          </a:xfrm>
          <a:prstGeom prst="roundRect">
            <a:avLst>
              <a:gd name="adj" fmla="val 0"/>
            </a:avLst>
          </a:prstGeom>
          <a:solidFill>
            <a:srgbClr val="D4A843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15367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1460500"/>
            <a:ext cx="977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核心痛点：烤房长期处于“带病运行”状态却无数据感知，传统维修完全依赖经验判断，设备突发故障将直接导致烘烤中断，造成烟叶品质降级与经济损失。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286000"/>
            <a:ext cx="527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01 增强型 BMHI 健康分量化模型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794000"/>
            <a:ext cx="5270500" cy="533400"/>
          </a:xfrm>
          <a:prstGeom prst="roundRect">
            <a:avLst>
              <a:gd name="adj" fmla="val 0"/>
            </a:avLst>
          </a:prstGeom>
          <a:solidFill>
            <a:srgbClr val="0A3D2E">
              <a:alpha val="5000"/>
            </a:srgbClr>
          </a:solidFill>
          <a:ln w="12700" cmpd="sng" cap="flat">
            <a:solidFill>
              <a:srgbClr val="D4A84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25500" y="2882900"/>
            <a:ext cx="5143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部件得分 Cᵢ = α·状态分 + β·退化分 + γ·用户评价分</a:t>
            </a:r>
            <a:endParaRPr lang="en-US" sz="1100"/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762000" y="3492500"/>
          <a:ext cx="5270500" cy="1600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06500"/>
                <a:gridCol w="825500"/>
                <a:gridCol w="2032000"/>
                <a:gridCol w="12065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核心部件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权重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关键子部件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设计寿命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JR加热系统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63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燃烧机、引风机、电机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8-10年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1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SR散热系统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0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26%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0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63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散热管、炉体、烟囱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0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10-12年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0E8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ZK自控系统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26%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63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温湿度探针、控制器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5-10年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12" id="12"/>
          <p:cNvSpPr/>
          <p:nvPr/>
        </p:nvSpPr>
        <p:spPr>
          <a:xfrm rot="0" flipH="false" flipV="false">
            <a:off x="6286500" y="2286000"/>
            <a:ext cx="527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02 BDRL 双段退化模型与分级预警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86500" y="2794000"/>
            <a:ext cx="2565400" cy="1041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2857500"/>
            <a:ext cx="24384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🟢 健康级 (90-100分)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12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核心部件无损耗，运行参数稳定。建议保持日常巡检频次，无需额外干预。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991600" y="2794000"/>
            <a:ext cx="2565400" cy="1041400"/>
          </a:xfrm>
          <a:prstGeom prst="roundRect">
            <a:avLst>
              <a:gd name="adj" fmla="val 0"/>
            </a:avLst>
          </a:prstGeom>
          <a:solidFill>
            <a:srgbClr val="EAB308">
              <a:alpha val="8000"/>
            </a:srgbClr>
          </a:solidFill>
          <a:ln w="12700" cmpd="sng" cap="flat">
            <a:solidFill>
              <a:srgbClr val="EAB308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055100" y="2857500"/>
            <a:ext cx="24384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A16207"/>
                </a:solidFill>
                <a:latin typeface="Noto Sans SC"/>
                <a:ea typeface="Noto Sans SC"/>
                <a:cs typeface="Noto Sans SC"/>
                <a:sym typeface="Noto Sans SC"/>
              </a:rPr>
              <a:t>🟡 预警级 (70-89分)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12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部件出现轻微损耗，性能微降。建议提前储备易损备件，增加监测频率。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86500" y="4000500"/>
            <a:ext cx="2565400" cy="10414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12700" cmpd="sng" cap="flat">
            <a:solidFill>
              <a:srgbClr val="F9731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4064000"/>
            <a:ext cx="24384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🟠 高危级 (50-69分)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12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部件老化明显，故障风险剧增。建议立即停机全面检修，强制更换核心部件。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991600" y="4000500"/>
            <a:ext cx="2565400" cy="10414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12700" cmpd="sng" cap="flat">
            <a:solidFill>
              <a:srgbClr val="EF444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055100" y="4064000"/>
            <a:ext cx="24384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4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🔴 报废级 (&lt;50分)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12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严重老化且存在安全隐患，维修成本过高。建议启动烤房整体改造或重建计划。</a:t>
            </a:r>
          </a:p>
        </p:txBody>
      </p:sp>
      <p:cxnSp>
        <p:nvCxnSpPr>
          <p:cNvPr name="Connector 21" id="21"/>
          <p:cNvCxnSpPr/>
          <p:nvPr/>
        </p:nvCxnSpPr>
        <p:spPr>
          <a:xfrm rot="-4092" flipH="false" flipV="false">
            <a:off x="762004" y="520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A3D2E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762000" y="5397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D4A843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5500" y="5461000"/>
            <a:ext cx="3302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📊 状态判断方式升级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传统：“看着还行”，仅凭肉眼与经验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智能：</a:t>
            </a:r>
            <a:r>
              <a:rPr lang="en-US" b="true" i="false" strike="noStrike" u="none" sz="13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健康分0-100量化，多维度数据支撑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381500" y="5397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D4A843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445000" y="5461000"/>
            <a:ext cx="3302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设备维修策略变革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传统：坏了才修，被动抢修影响生产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智能：</a:t>
            </a:r>
            <a:r>
              <a:rPr lang="en-US" b="true" i="false" strike="noStrike" u="none" sz="13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预测性维护，主动计划，避免停机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001000" y="5397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D4A843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064500" y="5461000"/>
            <a:ext cx="3302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📅 全生命周期管理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传统：无依据，模糊猜测剩余寿命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智能：</a:t>
            </a:r>
            <a:r>
              <a:rPr lang="en-US" b="true" i="false" strike="noStrike" u="none" sz="13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算法建模，精准预测，科学规划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4445000"/>
            <a:ext cx="3810000" cy="3810000"/>
          </a:xfrm>
          <a:prstGeom prst="ellipse">
            <a:avLst/>
          </a:prstGeom>
          <a:solidFill>
            <a:srgbClr val="0A3D2E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-635000"/>
            <a:ext cx="2540000" cy="2540000"/>
          </a:xfrm>
          <a:prstGeom prst="ellipse">
            <a:avLst/>
          </a:prstGeom>
          <a:solidFill>
            <a:srgbClr val="0A3D2E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三步走之三：科学选址——烤房新建智能决策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0A3D2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422400"/>
            <a:ext cx="1041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核心痛点：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传统选址依赖经验“拍脑袋”，缺乏量化标准，易造成资源浪费、选址不合理，无法适配规模化、现代化烤烟生产需求。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0320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01 构建8大维度评价指标体系，实现选址要素全量化</a:t>
            </a:r>
            <a:endParaRPr lang="en-US" sz="1100"/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762000" y="2413000"/>
          <a:ext cx="10668000" cy="1574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1270000"/>
                <a:gridCol w="7366000"/>
              </a:tblGrid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一级指标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权重占比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核心细分指标（共48项）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烟田匹配性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52525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服务覆盖烟田面积、距服务烟田平均距离、烟田集中度、种植户分布密度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5000"/>
                      </a:srgbClr>
                    </a:solidFill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基础设施保障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52525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电力供应（变压器容量/距离）、交通通达度（主干道距离/路面）、水源稳定性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2000"/>
                      </a:srgbClr>
                    </a:solidFill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自然地理条件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27%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52525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海拔高度(800-1400m)、地形坡度(≤15°)、地质稳定性、排水防涝能力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5000"/>
                      </a:srgbClr>
                    </a:solidFill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社会经济与安全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23%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52525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与居民区安全距离、风向环境影响、土地获取成本、集群建设可行性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9" id="9"/>
          <p:cNvSpPr/>
          <p:nvPr/>
        </p:nvSpPr>
        <p:spPr>
          <a:xfrm rot="0" flipH="false" flipV="false">
            <a:off x="762000" y="41910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02 智能算法模型：多方法融合的科学决策引擎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635500"/>
            <a:ext cx="2540000" cy="762000"/>
          </a:xfrm>
          <a:prstGeom prst="roundRect">
            <a:avLst>
              <a:gd name="adj" fmla="val 0"/>
            </a:avLst>
          </a:prstGeom>
          <a:solidFill>
            <a:srgbClr val="0A3D2E">
              <a:alpha val="8000"/>
            </a:srgbClr>
          </a:solidFill>
          <a:ln w="12700" cmpd="sng" cap="flat">
            <a:solidFill>
              <a:srgbClr val="0A3D2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48641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270000" y="47244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指标标准化处理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消除量纲差异，统一评价尺度，确保数据可比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67100" y="4635500"/>
            <a:ext cx="2540000" cy="762000"/>
          </a:xfrm>
          <a:prstGeom prst="roundRect">
            <a:avLst>
              <a:gd name="adj" fmla="val 0"/>
            </a:avLst>
          </a:prstGeom>
          <a:solidFill>
            <a:srgbClr val="0A3D2E">
              <a:alpha val="8000"/>
            </a:srgbClr>
          </a:solidFill>
          <a:ln w="12700" cmpd="sng" cap="flat">
            <a:solidFill>
              <a:srgbClr val="0A3D2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594100" y="48641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3975100" y="47244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组合权重计算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AHP主观经验 + 熵权法客观数据，科学赋权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172200" y="4635500"/>
            <a:ext cx="2540000" cy="762000"/>
          </a:xfrm>
          <a:prstGeom prst="roundRect">
            <a:avLst>
              <a:gd name="adj" fmla="val 0"/>
            </a:avLst>
          </a:prstGeom>
          <a:solidFill>
            <a:srgbClr val="0A3D2E">
              <a:alpha val="8000"/>
            </a:srgbClr>
          </a:solidFill>
          <a:ln w="12700" cmpd="sng" cap="flat">
            <a:solidFill>
              <a:srgbClr val="0A3D2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299200" y="48641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680200" y="47244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TOPSIS综合评价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逼近理想解排序法，量化方案优劣程度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77300" y="4635500"/>
            <a:ext cx="2540000" cy="762000"/>
          </a:xfrm>
          <a:prstGeom prst="roundRect">
            <a:avLst>
              <a:gd name="adj" fmla="val 0"/>
            </a:avLst>
          </a:prstGeom>
          <a:solidFill>
            <a:srgbClr val="0A3D2E">
              <a:alpha val="8000"/>
            </a:srgbClr>
          </a:solidFill>
          <a:ln w="12700" cmpd="sng" cap="flat">
            <a:solidFill>
              <a:srgbClr val="0A3D2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004300" y="48641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385300" y="47244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选址方案优选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输出综合评分、等级与排名，辅助决策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588000"/>
            <a:ext cx="3429000" cy="825500"/>
          </a:xfrm>
          <a:prstGeom prst="roundRect">
            <a:avLst>
              <a:gd name="adj" fmla="val 0"/>
            </a:avLst>
          </a:prstGeom>
          <a:solidFill>
            <a:srgbClr val="0A3D2E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5500" y="56515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决策逻辑：从“拍脑袋”到“数据算”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摒弃单纯的经验直觉，基于48项指标量化分析，让选址有理有据。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381500" y="5588000"/>
            <a:ext cx="3429000" cy="825500"/>
          </a:xfrm>
          <a:prstGeom prst="roundRect">
            <a:avLst>
              <a:gd name="adj" fmla="val 0"/>
            </a:avLst>
          </a:prstGeom>
          <a:solidFill>
            <a:srgbClr val="0A3D2E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445000" y="56515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评价维度：从“单一”到“全维”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不仅看距离，更涵盖自然、经济、安全等8大维度，全面评估可行性。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001000" y="5588000"/>
            <a:ext cx="3429000" cy="825500"/>
          </a:xfrm>
          <a:prstGeom prst="roundRect">
            <a:avLst>
              <a:gd name="adj" fmla="val 0"/>
            </a:avLst>
          </a:prstGeom>
          <a:solidFill>
            <a:srgbClr val="0A3D2E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064500" y="56515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结果呈现：从“模糊”到“精准”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以具体的综合评分和排名呈现，实现选址方案的可视化与可比较。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D4A843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0A3D2E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技术全景：采数·析数·用数 全链路技术栈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3378200" cy="13970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w="12700" cmpd="sng" cap="flat">
            <a:solidFill>
              <a:srgbClr val="D4A84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524000"/>
            <a:ext cx="31242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01 用数 · 应用层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集成智能决策系统、AI农务助手与可视化监控大屏，打通数据到价值的最后一公里，为烟农和管理者提供实时、智能的决策支持。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06900" y="1397000"/>
            <a:ext cx="3378200" cy="13970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w="12700" cmpd="sng" cap="flat">
            <a:solidFill>
              <a:srgbClr val="D4A84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33900" y="1524000"/>
            <a:ext cx="31242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02 析数 · 算法层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基于机器学习与大数据建模，构建选址评估、健康评分、寿命预测等核心模型，实现从数据到知识的智能转化与深度洞察。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051800" y="1397000"/>
            <a:ext cx="3378200" cy="13970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w="12700" cmpd="sng" cap="flat">
            <a:solidFill>
              <a:srgbClr val="D4A84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78800" y="1524000"/>
            <a:ext cx="31242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03 采数 · 数据层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融合IoT传感器、GIS地理信息、人工巡检等多源采集手段，建立标准化、高时效的基础数据库，夯实数字化转型的数据底座。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762000" y="3048000"/>
          <a:ext cx="10668000" cy="190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2667000"/>
                <a:gridCol w="2032000"/>
                <a:gridCol w="2159000"/>
                <a:gridCol w="2159000"/>
              </a:tblGrid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核心模型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关键输入维度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数据来源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采集方式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核心输出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3D2E">
                        <a:alpha val="100000"/>
                      </a:srgbClr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选址模型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91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海拔/坡度/交通/水源/土壤/烟田规模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GIS地图+现场勘测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移动端APP采集+系统对接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适宜性等级+综合排名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健康分模型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91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四大部件状态/修复记录/历史评分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人工巡检+设备台账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拍照上传+评分录入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0-100分+5级健康评级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0A3D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寿命预测模型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843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91666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房龄/健康分/维修频次/环境损耗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基础档案+健康数据库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系统自动计算+算法迭代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剩余寿命值+维修预警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12" id="12"/>
          <p:cNvSpPr/>
          <p:nvPr/>
        </p:nvSpPr>
        <p:spPr>
          <a:xfrm rot="0" flipH="false" flipV="false">
            <a:off x="762000" y="5397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D4A843">
              <a:alpha val="12000"/>
            </a:srgbClr>
          </a:solidFill>
          <a:ln w="12700" cmpd="sng" cap="flat">
            <a:solidFill>
              <a:srgbClr val="D4A84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5651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60500" y="5524500"/>
            <a:ext cx="4445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2422</a:t>
            </a:r>
            <a:r>
              <a:rPr lang="en-US" b="false" i="false" strike="noStrike" u="none" sz="14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�归县已完成标准化采集的烤房，覆盖全县核心烟叶种植区，数据实时同步更新。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86500" y="5397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D4A843">
              <a:alpha val="12000"/>
            </a:srgbClr>
          </a:solidFill>
          <a:ln w="12700" cmpd="sng" cap="flat">
            <a:solidFill>
              <a:srgbClr val="D4A84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5651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985000" y="5524500"/>
            <a:ext cx="4445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5大类22项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涵盖烤房核心部件、环境监测、运维记录等全维度指标，构建完整的数字化资产图谱。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0A3D2E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0A3D2E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AI助手赋能：一部手机搞定烤房所有事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A6960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一个智能入口，精准匹配烟农、技术员、管理者的差异化需求，打破信息壁垒，让烤烟生产管理从“人找信息”变为“信息找人”，实现全场景、高效率的数字化服务。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86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A3D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5654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22400" y="2540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烟农 · 生产无忧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5211" flipH="false" flipV="false">
            <a:off x="1016014" y="30670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A3D2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016000" y="3200400"/>
            <a:ext cx="2870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“附近有空闲烤房吗？”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“申请紧急排期” / “报修温控故障”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962400"/>
            <a:ext cx="28702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7A8980"/>
                </a:solidFill>
                <a:latin typeface="Noto Sans SC"/>
                <a:ea typeface="Noto Sans SC"/>
                <a:cs typeface="Noto Sans SC"/>
                <a:sym typeface="Noto Sans SC"/>
              </a:rPr>
              <a:t>7×24小时智能响应，无需复杂操作，一部手机即可快速解决烤房预约、故障报修等生产应急问题。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06900" y="2286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069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A3D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60900" y="25654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067300" y="2540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技术员 · 智能运维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211" flipH="false" flipV="false">
            <a:off x="4660914" y="30670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A3D2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660900" y="3200400"/>
            <a:ext cx="2870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“提交维修工单”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“上传巡检记录” / “AI诊断设备”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60900" y="3962400"/>
            <a:ext cx="28702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7A8980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数字化工具辅助设备全周期维护，智能分析故障根因，大幅缩短检修响应时间，保障烤房稳定运行。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51800" y="2286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0A3D2E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0518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A3D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05800" y="25654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712200" y="2540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管理者 · 科学决策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5211" flipH="false" flipV="false">
            <a:off x="8305814" y="30670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A3D2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305800" y="3200400"/>
            <a:ext cx="2870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“全县烤房健康分布”</a:t>
            </a: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“资金分配方案” / “选址评估报告”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05800" y="3962400"/>
            <a:ext cx="28702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7A8980"/>
                </a:solidFill>
                <a:latin typeface="Noto Sans SC"/>
                <a:ea typeface="Noto Sans SC"/>
                <a:cs typeface="Noto Sans SC"/>
                <a:sym typeface="Noto Sans SC"/>
              </a:rPr>
              <a:t>汇聚全域数据生成可视化看板，智能推演资源分配与选址方案，为产业规划与宏观调度提供科学支撑。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4953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AI 核心技术引擎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4610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0A3D2E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14400" y="5613400"/>
            <a:ext cx="279400" cy="2794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1244600" y="5588000"/>
            <a:ext cx="2095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自然交互 NLP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14400" y="5943600"/>
            <a:ext cx="2349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精准理解口语化指令，实现像聊天一样操控系统，降低使用门槛。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492500" y="54610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0A3D2E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3644900" y="5613400"/>
            <a:ext cx="279400" cy="2794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3975100" y="5588000"/>
            <a:ext cx="2095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多源数据融合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3644900" y="5943600"/>
            <a:ext cx="2349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打通IoT设备、生产台账、气象数据，构建一体化农业大数据底座。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223000" y="54610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0A3D2E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375400" y="5613400"/>
            <a:ext cx="279400" cy="279400"/>
          </a:xfrm>
          <a:prstGeom prst="rect">
            <a:avLst/>
          </a:prstGeom>
        </p:spPr>
      </p:pic>
      <p:sp>
        <p:nvSpPr>
          <p:cNvPr name="AutoShape 38" id="38"/>
          <p:cNvSpPr/>
          <p:nvPr/>
        </p:nvSpPr>
        <p:spPr>
          <a:xfrm rot="0" flipH="false" flipV="false">
            <a:off x="6705600" y="5588000"/>
            <a:ext cx="2095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智能研判模型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375400" y="5943600"/>
            <a:ext cx="2349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基于机器学习算法，自动诊断设备隐患并生成最优处置建议。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953500" y="54610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0A3D2E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9105900" y="5613400"/>
            <a:ext cx="279400" cy="279400"/>
          </a:xfrm>
          <a:prstGeom prst="rect">
            <a:avLst/>
          </a:prstGeom>
        </p:spPr>
      </p:pic>
      <p:sp>
        <p:nvSpPr>
          <p:cNvPr name="AutoShape 42" id="42"/>
          <p:cNvSpPr/>
          <p:nvPr/>
        </p:nvSpPr>
        <p:spPr>
          <a:xfrm rot="0" flipH="false" flipV="false">
            <a:off x="9436100" y="5588000"/>
            <a:ext cx="2095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A3D2E"/>
                </a:solidFill>
                <a:latin typeface="Noto Sans SC"/>
                <a:ea typeface="Noto Sans SC"/>
                <a:cs typeface="Noto Sans SC"/>
                <a:sym typeface="Noto Sans SC"/>
              </a:rPr>
              <a:t>全域实时预警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9105900" y="5943600"/>
            <a:ext cx="2349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烤房温湿度、设备状态全天候监测，异常情况毫秒级多端告警。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3D2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5080000" cy="5080000"/>
          </a:xfrm>
          <a:prstGeom prst="ellipse">
            <a:avLst/>
          </a:prstGeom>
          <a:solidFill>
            <a:srgbClr val="D4A843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3810000" cy="3810000"/>
          </a:xfrm>
          <a:prstGeom prst="ellipse">
            <a:avLst/>
          </a:prstGeom>
          <a:solidFill>
            <a:srgbClr val="D4A843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76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让数据多跑路，让烟农少操心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项目成效 · 五大维度提质升级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2032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D4A84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06500" y="2603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87500" y="26035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品质跃升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06500" y="3048000"/>
            <a:ext cx="177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5F0E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精准温控保障烟叶色泽，上等烟比例提升5%以上，烘烤均匀度显著改善。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238500" y="2413000"/>
            <a:ext cx="2032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D4A84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429000" y="2603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810000" y="26035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效能倍增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29000" y="3048000"/>
            <a:ext cx="177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5F0E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优化烘烤工艺曲线，单炉周期缩短10小时，整体生产效率提升15%。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461000" y="2413000"/>
            <a:ext cx="2032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D4A84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651500" y="2603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032500" y="26035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成本降低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651500" y="3048000"/>
            <a:ext cx="177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5F0E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智能变频控能，综合能耗成本下降12%，大幅减轻烟农经济负担。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83500" y="2413000"/>
            <a:ext cx="2032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D4A84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874000" y="2603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255000" y="26035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烟农减负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874000" y="3048000"/>
            <a:ext cx="177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5F0E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全程自动化监测，无需人工值守，单人可轻松管理10座以上烤房。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906000" y="2413000"/>
            <a:ext cx="2032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D4A84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096500" y="26035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0477500" y="26035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标准规范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096500" y="3048000"/>
            <a:ext cx="177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5F0E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建立数字化烘烤标准体系，实现全过程数据可追溯、质量可控。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16000" y="4254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4A843"/>
                </a:solidFill>
                <a:latin typeface="Noto Sans SC"/>
                <a:ea typeface="Noto Sans SC"/>
                <a:cs typeface="Noto Sans SC"/>
                <a:sym typeface="Noto Sans SC"/>
              </a:rPr>
              <a:t>02 未来展望 · 全域数智化升级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" y="4826000"/>
            <a:ext cx="2032000" cy="1206500"/>
          </a:xfrm>
          <a:prstGeom prst="roundRect">
            <a:avLst>
              <a:gd name="adj" fmla="val 0"/>
            </a:avLst>
          </a:prstGeom>
          <a:solidFill>
            <a:srgbClr val="D4A843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1206500" y="4978400"/>
            <a:ext cx="254000" cy="2540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1524000" y="4978400"/>
            <a:ext cx="1587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全域推广覆盖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206500" y="5397500"/>
            <a:ext cx="177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5F0E8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向全国核心烟区复制模式，打造标准化示范样板，扩大惠民范围。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238500" y="4826000"/>
            <a:ext cx="2032000" cy="1206500"/>
          </a:xfrm>
          <a:prstGeom prst="roundRect">
            <a:avLst>
              <a:gd name="adj" fmla="val 0"/>
            </a:avLst>
          </a:prstGeom>
          <a:solidFill>
            <a:srgbClr val="D4A843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3429000" y="4978400"/>
            <a:ext cx="254000" cy="2540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3746500" y="4978400"/>
            <a:ext cx="1587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全产业链延伸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3429000" y="5397500"/>
            <a:ext cx="177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5F0E8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从烘烤向种植、收购环节延伸，构建全流程智慧农业体系。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461000" y="4826000"/>
            <a:ext cx="2032000" cy="1206500"/>
          </a:xfrm>
          <a:prstGeom prst="roundRect">
            <a:avLst>
              <a:gd name="adj" fmla="val 0"/>
            </a:avLst>
          </a:prstGeom>
          <a:solidFill>
            <a:srgbClr val="D4A843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5651500" y="4978400"/>
            <a:ext cx="254000" cy="254000"/>
          </a:xfrm>
          <a:prstGeom prst="rect">
            <a:avLst/>
          </a:prstGeom>
        </p:spPr>
      </p:pic>
      <p:sp>
        <p:nvSpPr>
          <p:cNvPr name="AutoShape 37" id="37"/>
          <p:cNvSpPr/>
          <p:nvPr/>
        </p:nvSpPr>
        <p:spPr>
          <a:xfrm rot="0" flipH="false" flipV="false">
            <a:off x="5969000" y="4978400"/>
            <a:ext cx="1587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AI决策深化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5651500" y="5397500"/>
            <a:ext cx="177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5F0E8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引入农业大模型，实现基于多源数据的智能烘烤策略自主生成。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683500" y="4826000"/>
            <a:ext cx="2032000" cy="1206500"/>
          </a:xfrm>
          <a:prstGeom prst="roundRect">
            <a:avLst>
              <a:gd name="adj" fmla="val 0"/>
            </a:avLst>
          </a:prstGeom>
          <a:solidFill>
            <a:srgbClr val="D4A843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7874000" y="4978400"/>
            <a:ext cx="254000" cy="254000"/>
          </a:xfrm>
          <a:prstGeom prst="rect">
            <a:avLst/>
          </a:prstGeom>
        </p:spPr>
      </p:pic>
      <p:sp>
        <p:nvSpPr>
          <p:cNvPr name="AutoShape 41" id="41"/>
          <p:cNvSpPr/>
          <p:nvPr/>
        </p:nvSpPr>
        <p:spPr>
          <a:xfrm rot="0" flipH="false" flipV="false">
            <a:off x="8191500" y="4978400"/>
            <a:ext cx="1587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气象精准联动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7874000" y="5397500"/>
            <a:ext cx="177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5F0E8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结合气象大数据，提前预判温湿度变化，动态优化烘烤方案。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9906000" y="4826000"/>
            <a:ext cx="2032000" cy="1206500"/>
          </a:xfrm>
          <a:prstGeom prst="roundRect">
            <a:avLst>
              <a:gd name="adj" fmla="val 0"/>
            </a:avLst>
          </a:prstGeom>
          <a:solidFill>
            <a:srgbClr val="D4A843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10096500" y="4978400"/>
            <a:ext cx="254000" cy="254000"/>
          </a:xfrm>
          <a:prstGeom prst="rect">
            <a:avLst/>
          </a:prstGeom>
        </p:spPr>
      </p:pic>
      <p:sp>
        <p:nvSpPr>
          <p:cNvPr name="AutoShape 45" id="45"/>
          <p:cNvSpPr/>
          <p:nvPr/>
        </p:nvSpPr>
        <p:spPr>
          <a:xfrm rot="0" flipH="false" flipV="false">
            <a:off x="10414000" y="4978400"/>
            <a:ext cx="1587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物联实时互通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10096500" y="5397500"/>
            <a:ext cx="177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5F0E8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实现烤房设备、管理平台、移动端实时互通，数据毫秒级同步。</a:t>
            </a:r>
            <a:endParaRPr lang="en-US" sz="1100"/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{"Label":"1","ContentProducer":"001191110102MACQD9K64010000","ProduceID":"7675356385584794842","ReservedCode1":"","ContentPropagator":"","PropagateID":"","ReservedCode2":""}</vt:lpwstr>
  </property>
</Properties>
</file>