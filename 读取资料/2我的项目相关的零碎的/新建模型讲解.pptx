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333" r:id="rId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第二个模型</a:t>
            </a:r>
            <a:r>
              <a:rPr lang="en-US" altLang="zh-CN" dirty="0"/>
              <a:t>，</a:t>
            </a:r>
            <a:r>
              <a:rPr lang="zh-CN" altLang="en-US" dirty="0"/>
              <a:t>村级发展指数，回答哪里建、建几栋</a:t>
            </a:r>
            <a:r>
              <a:rPr lang="en-US" altLang="zh-CN" dirty="0"/>
              <a:t>等辅助新建烤房决策</a:t>
            </a:r>
            <a:endParaRPr lang="zh-CN" altLang="en-US" dirty="0"/>
          </a:p>
          <a:p>
            <a:r>
              <a:rPr lang="zh-CN" altLang="en-US" dirty="0"/>
              <a:t>公式</a:t>
            </a:r>
            <a:r>
              <a:rPr lang="en-US" altLang="zh-CN" dirty="0"/>
              <a:t>V = 50%×</a:t>
            </a:r>
            <a:r>
              <a:rPr lang="zh-CN" altLang="en-US" dirty="0"/>
              <a:t>有效烤能指数 + 30%×承载匹配指数 + 20%×发展因子指数。</a:t>
            </a:r>
            <a:endParaRPr lang="zh-CN" altLang="en-US" dirty="0"/>
          </a:p>
          <a:p>
            <a:r>
              <a:rPr lang="zh-CN" altLang="en-US" dirty="0"/>
              <a:t>有效烤能指数</a:t>
            </a:r>
            <a:r>
              <a:rPr lang="en-US" altLang="zh-CN" dirty="0"/>
              <a:t>Hc——</a:t>
            </a:r>
            <a:r>
              <a:rPr lang="zh-CN" altLang="en-US" dirty="0"/>
              <a:t>每栋烤房的有效烤能=健康分/100×容量×状态系数（在用1.0、闲置0.4、待修0.1）。</a:t>
            </a:r>
            <a:endParaRPr lang="zh-CN" altLang="en-US" dirty="0"/>
          </a:p>
          <a:p>
            <a:r>
              <a:rPr lang="zh-CN" altLang="en-US" dirty="0"/>
              <a:t>村的总有效烤能</a:t>
            </a:r>
            <a:r>
              <a:rPr lang="en-US" altLang="zh-CN" dirty="0"/>
              <a:t>Q=0.7×</a:t>
            </a:r>
            <a:r>
              <a:rPr lang="zh-CN" altLang="en-US" dirty="0"/>
              <a:t>在用</a:t>
            </a:r>
            <a:r>
              <a:rPr lang="en-US" altLang="zh-CN" dirty="0"/>
              <a:t>ΣE + 0.2×</a:t>
            </a:r>
            <a:r>
              <a:rPr lang="zh-CN" altLang="en-US" dirty="0"/>
              <a:t>闲置</a:t>
            </a:r>
            <a:r>
              <a:rPr lang="en-US" altLang="zh-CN" dirty="0"/>
              <a:t>ΣE + 0.3×</a:t>
            </a:r>
            <a:r>
              <a:rPr lang="zh-CN" altLang="en-US" dirty="0"/>
              <a:t>待修</a:t>
            </a:r>
            <a:r>
              <a:rPr lang="en-US" altLang="zh-CN" dirty="0"/>
              <a:t>ΣE，</a:t>
            </a:r>
            <a:r>
              <a:rPr lang="zh-CN" altLang="en-US" dirty="0"/>
              <a:t>除以理论需求</a:t>
            </a:r>
            <a:r>
              <a:rPr lang="en-US" altLang="zh-CN" dirty="0"/>
              <a:t>D</a:t>
            </a:r>
            <a:r>
              <a:rPr lang="zh-CN" altLang="en-US" dirty="0"/>
              <a:t>再乘以100，就是这个村的有效烤能指数。值越低，供给越不足。</a:t>
            </a:r>
            <a:endParaRPr lang="en-US" altLang="zh-CN" dirty="0"/>
          </a:p>
          <a:p>
            <a:r>
              <a:rPr lang="zh-CN" altLang="en-US" dirty="0"/>
              <a:t>承载匹配指数</a:t>
            </a:r>
            <a:r>
              <a:rPr lang="en-US" altLang="zh-CN" dirty="0"/>
              <a:t>Lc——</a:t>
            </a:r>
            <a:r>
              <a:rPr lang="zh-CN" altLang="en-US" dirty="0"/>
              <a:t>压力</a:t>
            </a:r>
            <a:r>
              <a:rPr lang="en-US" altLang="zh-CN" dirty="0"/>
              <a:t>P=</a:t>
            </a:r>
            <a:r>
              <a:rPr lang="zh-CN" altLang="en-US" dirty="0"/>
              <a:t>理论需求</a:t>
            </a:r>
            <a:r>
              <a:rPr lang="en-US" altLang="zh-CN" dirty="0"/>
              <a:t>D÷</a:t>
            </a:r>
            <a:r>
              <a:rPr lang="zh-CN" altLang="en-US" dirty="0"/>
              <a:t>有效烤能</a:t>
            </a:r>
            <a:r>
              <a:rPr lang="en-US" altLang="zh-CN" dirty="0"/>
              <a:t>Q。P≤0.85</a:t>
            </a:r>
            <a:r>
              <a:rPr lang="zh-CN" altLang="en-US" dirty="0"/>
              <a:t>得100分、≤1得85、≤1.2得70、≤1.5得50、&gt;1.5得30。压力越大，分越低，缺口越大。</a:t>
            </a:r>
            <a:endParaRPr lang="en-US" altLang="zh-CN" dirty="0"/>
          </a:p>
          <a:p>
            <a:r>
              <a:rPr lang="zh-CN" altLang="en-US" dirty="0"/>
              <a:t>发展因子指数</a:t>
            </a:r>
            <a:r>
              <a:rPr lang="en-US" altLang="zh-CN" dirty="0"/>
              <a:t>Dc——</a:t>
            </a:r>
            <a:r>
              <a:rPr lang="zh-CN" altLang="en-US" dirty="0"/>
              <a:t>规模增长、管护缴费、政策争取、服务能力、扩张韧性五维均值。</a:t>
            </a:r>
            <a:endParaRPr lang="en-US" altLang="zh-CN" dirty="0"/>
          </a:p>
          <a:p>
            <a:r>
              <a:rPr lang="zh-CN" altLang="en-US" dirty="0"/>
              <a:t>核心就是：三维度量化出一个村的烤房缺口，</a:t>
            </a:r>
            <a:r>
              <a:rPr lang="en-US" altLang="zh-CN" dirty="0"/>
              <a:t>N</a:t>
            </a:r>
            <a:r>
              <a:rPr lang="zh-CN" altLang="en-US" dirty="0"/>
              <a:t>越高越优先建，选点再用</a:t>
            </a:r>
            <a:r>
              <a:rPr lang="en-US" altLang="zh-CN" dirty="0"/>
              <a:t>TOPSIS</a:t>
            </a:r>
            <a:r>
              <a:rPr lang="zh-CN" altLang="en-US" dirty="0"/>
              <a:t>排序。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50292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effectLst>
            <a:outerShdw blurRad="2147483647" dist="2147483647" dir="1" algn="bl" rotWithShape="0">
              <a:srgbClr val="1B4633">
                <a:alpha val="2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502920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 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87168" y="36576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村级发展指数 —</a:t>
            </a:r>
            <a:r>
              <a:rPr lang="en-US" sz="27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科学回答：哪里建、建几栋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572895"/>
            <a:ext cx="6858000" cy="4500245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9" algn="bl" rotWithShape="0">
              <a:srgbClr val="1B4633">
                <a:alpha val="2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1627632"/>
            <a:ext cx="6400800" cy="640080"/>
          </a:xfrm>
          <a:prstGeom prst="roundRect">
            <a:avLst>
              <a:gd name="adj" fmla="val 8571"/>
            </a:avLst>
          </a:prstGeom>
          <a:solidFill>
            <a:srgbClr val="14532D"/>
          </a:solidFill>
          <a:effectLst>
            <a:outerShdw blurRad="2147483647" dist="2147483647" dir="5" algn="bl" rotWithShape="0">
              <a:srgbClr val="1B4633">
                <a:alpha val="2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627632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0.50·Hc + 0.30·Lc + 0.20·Dc　</a:t>
            </a:r>
            <a:r>
              <a:rPr lang="en-US" sz="1250" b="1" dirty="0">
                <a:solidFill>
                  <a:srgbClr val="B892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新建需求分 N = 100 − V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0" y="2286000"/>
            <a:ext cx="10973" cy="109728"/>
          </a:xfrm>
          <a:prstGeom prst="line">
            <a:avLst/>
          </a:prstGeom>
          <a:noFill/>
          <a:ln w="17780">
            <a:solidFill>
              <a:srgbClr val="6B8F7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487168"/>
            <a:ext cx="64008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2542032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 有效烤能指数 ×0.50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2871216"/>
            <a:ext cx="617220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单栋 E=健康分/100×容量×状态(在用1.0·闲置0.4·待修0.1)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A=在用ΣE ， B=闲置ΣE×0.4 ， C=待修ΣE×0.1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Q=0.7A+0.2B+0.1C ， Hc=min(100, Q/D×100)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6400800" cy="9334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3895344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 承载匹配指数 ×0.30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4224655"/>
            <a:ext cx="6172200" cy="549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压力 P = D ÷ Q · 分档：≤0.85→100 · ≤1→85 · ≤1.2→70 · ≤1.5→50 · &gt;1.5→30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010785"/>
            <a:ext cx="6400800" cy="78613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5248656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发展因子指数 ×0.20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120" y="5412105"/>
            <a:ext cx="6172200" cy="549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五维各0.2：规模增长 · 管护缴费 · 政策争取 · 服务能力 · 扩张韧性 → Dc=五维均值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6108192"/>
            <a:ext cx="6400800" cy="493776"/>
          </a:xfrm>
          <a:prstGeom prst="roundRect">
            <a:avLst>
              <a:gd name="adj" fmla="val 11111"/>
            </a:avLst>
          </a:prstGeom>
          <a:solidFill>
            <a:srgbClr val="C77E1B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" y="6181217"/>
            <a:ext cx="64008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决策：V越低→烤能缺口越大→新建越迫切　N越高→优先级越高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772400" y="6181344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建议优先配建约5座 · 新增后再算 ΔV 检验是否值得建</a:t>
            </a:r>
            <a:endParaRPr lang="en-US" sz="1000" dirty="0"/>
          </a:p>
        </p:txBody>
      </p:sp>
      <p:sp>
        <p:nvSpPr>
          <p:cNvPr id="67" name="Shape 23"/>
          <p:cNvSpPr/>
          <p:nvPr/>
        </p:nvSpPr>
        <p:spPr>
          <a:xfrm>
            <a:off x="7543800" y="1572768"/>
            <a:ext cx="4142232" cy="475488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6E3DA"/>
            </a:solidFill>
            <a:prstDash val="solid"/>
          </a:ln>
          <a:effectLst>
            <a:outerShdw blurRad="2147483647" dist="2147483647" dir="3" algn="bl" rotWithShape="0">
              <a:srgbClr val="1B4633">
                <a:alpha val="2"/>
              </a:srgbClr>
            </a:outerShdw>
          </a:effectLst>
        </p:spPr>
        <p:txBody>
          <a:bodyPr/>
          <a:p/>
        </p:txBody>
      </p:sp>
      <p:sp>
        <p:nvSpPr>
          <p:cNvPr id="68" name="Text 24"/>
          <p:cNvSpPr/>
          <p:nvPr/>
        </p:nvSpPr>
        <p:spPr>
          <a:xfrm>
            <a:off x="7772400" y="1627632"/>
            <a:ext cx="3794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真实算例 · 郭家坝·文家岩</a:t>
            </a:r>
            <a:endParaRPr lang="en-US" sz="1300" b="1" dirty="0">
              <a:solidFill>
                <a:srgbClr val="16653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（69栋 在用36/闲置11/待修22 · 2026）</a:t>
            </a:r>
            <a:endParaRPr lang="en-US" sz="1300" dirty="0"/>
          </a:p>
        </p:txBody>
      </p:sp>
      <p:sp>
        <p:nvSpPr>
          <p:cNvPr id="69" name="Text 25"/>
          <p:cNvSpPr/>
          <p:nvPr/>
        </p:nvSpPr>
        <p:spPr>
          <a:xfrm>
            <a:off x="7772400" y="1956816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基础数据（取自决策统计表）：</a:t>
            </a:r>
            <a:endParaRPr lang="en-US" sz="950" dirty="0"/>
          </a:p>
        </p:txBody>
      </p:sp>
      <p:sp>
        <p:nvSpPr>
          <p:cNvPr id="70" name="Text 26"/>
          <p:cNvSpPr/>
          <p:nvPr/>
        </p:nvSpPr>
        <p:spPr>
          <a:xfrm>
            <a:off x="7772400" y="21945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在用/闲置/待修</a:t>
            </a:r>
            <a:endParaRPr lang="en-US" sz="1000" dirty="0"/>
          </a:p>
        </p:txBody>
      </p:sp>
      <p:sp>
        <p:nvSpPr>
          <p:cNvPr id="71" name="Text 27"/>
          <p:cNvSpPr/>
          <p:nvPr/>
        </p:nvSpPr>
        <p:spPr>
          <a:xfrm>
            <a:off x="9601200" y="219456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 / 11 / 22 座</a:t>
            </a:r>
            <a:endParaRPr lang="en-US" sz="950" dirty="0"/>
          </a:p>
        </p:txBody>
      </p:sp>
      <p:sp>
        <p:nvSpPr>
          <p:cNvPr id="72" name="Text 28"/>
          <p:cNvSpPr/>
          <p:nvPr/>
        </p:nvSpPr>
        <p:spPr>
          <a:xfrm>
            <a:off x="7772400" y="2596896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加权烤能 Q</a:t>
            </a:r>
            <a:endParaRPr lang="en-US" sz="1000" dirty="0"/>
          </a:p>
        </p:txBody>
      </p:sp>
      <p:sp>
        <p:nvSpPr>
          <p:cNvPr id="73" name="Text 29"/>
          <p:cNvSpPr/>
          <p:nvPr/>
        </p:nvSpPr>
        <p:spPr>
          <a:xfrm>
            <a:off x="9601200" y="259689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20302 kg · 有效烤能 32010 kg</a:t>
            </a:r>
            <a:endParaRPr lang="en-US" sz="950" dirty="0"/>
          </a:p>
        </p:txBody>
      </p:sp>
      <p:sp>
        <p:nvSpPr>
          <p:cNvPr id="74" name="Text 30"/>
          <p:cNvSpPr/>
          <p:nvPr/>
        </p:nvSpPr>
        <p:spPr>
          <a:xfrm>
            <a:off x="7772400" y="299923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收购需求 D</a:t>
            </a:r>
            <a:endParaRPr lang="en-US" sz="1000" dirty="0"/>
          </a:p>
        </p:txBody>
      </p:sp>
      <p:sp>
        <p:nvSpPr>
          <p:cNvPr id="75" name="Text 31"/>
          <p:cNvSpPr/>
          <p:nvPr/>
        </p:nvSpPr>
        <p:spPr>
          <a:xfrm>
            <a:off x="9601200" y="299923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129600 kg（D=收购量）</a:t>
            </a:r>
            <a:endParaRPr lang="en-US" sz="950" dirty="0"/>
          </a:p>
        </p:txBody>
      </p:sp>
      <p:sp>
        <p:nvSpPr>
          <p:cNvPr id="76" name="Shape 32"/>
          <p:cNvSpPr/>
          <p:nvPr/>
        </p:nvSpPr>
        <p:spPr>
          <a:xfrm>
            <a:off x="7772400" y="3374136"/>
            <a:ext cx="3749040" cy="18288"/>
          </a:xfrm>
          <a:prstGeom prst="rect">
            <a:avLst/>
          </a:prstGeom>
          <a:solidFill>
            <a:srgbClr val="D6E3DA"/>
          </a:solidFill>
        </p:spPr>
        <p:txBody>
          <a:bodyPr/>
          <a:p/>
        </p:txBody>
      </p:sp>
      <p:sp>
        <p:nvSpPr>
          <p:cNvPr id="77" name="Shape 33"/>
          <p:cNvSpPr/>
          <p:nvPr/>
        </p:nvSpPr>
        <p:spPr>
          <a:xfrm>
            <a:off x="7772400" y="3456432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  <p:txBody>
          <a:bodyPr/>
          <a:p/>
        </p:txBody>
      </p:sp>
      <p:sp>
        <p:nvSpPr>
          <p:cNvPr id="78" name="Text 34"/>
          <p:cNvSpPr/>
          <p:nvPr/>
        </p:nvSpPr>
        <p:spPr>
          <a:xfrm>
            <a:off x="7882128" y="3456432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Hc</a:t>
            </a:r>
            <a:endParaRPr lang="en-US" sz="1100" dirty="0"/>
          </a:p>
        </p:txBody>
      </p:sp>
      <p:sp>
        <p:nvSpPr>
          <p:cNvPr id="79" name="Text 35"/>
          <p:cNvSpPr/>
          <p:nvPr/>
        </p:nvSpPr>
        <p:spPr>
          <a:xfrm>
            <a:off x="8549640" y="3456432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Q÷D×100 = 20302 ÷129600×100 = 15.7</a:t>
            </a:r>
            <a:r>
              <a:rPr lang="en-US" sz="850" b="1" dirty="0">
                <a:solidFill>
                  <a:srgbClr val="2E8B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/>
            </a: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850" dirty="0"/>
          </a:p>
        </p:txBody>
      </p:sp>
      <p:sp>
        <p:nvSpPr>
          <p:cNvPr id="80" name="Shape 36"/>
          <p:cNvSpPr/>
          <p:nvPr/>
        </p:nvSpPr>
        <p:spPr>
          <a:xfrm>
            <a:off x="7772400" y="3968496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  <p:txBody>
          <a:bodyPr/>
          <a:p/>
        </p:txBody>
      </p:sp>
      <p:sp>
        <p:nvSpPr>
          <p:cNvPr id="81" name="Text 37"/>
          <p:cNvSpPr/>
          <p:nvPr/>
        </p:nvSpPr>
        <p:spPr>
          <a:xfrm>
            <a:off x="7882128" y="3968496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</a:t>
            </a:r>
            <a:endParaRPr lang="en-US" sz="1100" dirty="0"/>
          </a:p>
        </p:txBody>
      </p:sp>
      <p:sp>
        <p:nvSpPr>
          <p:cNvPr id="82" name="Text 38"/>
          <p:cNvSpPr/>
          <p:nvPr/>
        </p:nvSpPr>
        <p:spPr>
          <a:xfrm>
            <a:off x="8549640" y="3968496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D÷Q = 129600÷20302 = 6.38 → Lc=30</a:t>
            </a:r>
            <a:endParaRPr lang="en-US" sz="850" dirty="0"/>
          </a:p>
        </p:txBody>
      </p:sp>
      <p:sp>
        <p:nvSpPr>
          <p:cNvPr id="83" name="Shape 39"/>
          <p:cNvSpPr/>
          <p:nvPr/>
        </p:nvSpPr>
        <p:spPr>
          <a:xfrm>
            <a:off x="7772400" y="4480560"/>
            <a:ext cx="3749040" cy="438912"/>
          </a:xfrm>
          <a:prstGeom prst="roundRect">
            <a:avLst>
              <a:gd name="adj" fmla="val 8333"/>
            </a:avLst>
          </a:prstGeom>
          <a:solidFill>
            <a:srgbClr val="E7F2EA"/>
          </a:solidFill>
          <a:ln w="12700">
            <a:solidFill>
              <a:srgbClr val="D6E3DA"/>
            </a:solidFill>
            <a:prstDash val="solid"/>
          </a:ln>
        </p:spPr>
        <p:txBody>
          <a:bodyPr/>
          <a:p/>
        </p:txBody>
      </p:sp>
      <p:sp>
        <p:nvSpPr>
          <p:cNvPr id="84" name="Text 40"/>
          <p:cNvSpPr/>
          <p:nvPr/>
        </p:nvSpPr>
        <p:spPr>
          <a:xfrm>
            <a:off x="7882128" y="4480560"/>
            <a:ext cx="640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</a:t>
            </a:r>
            <a:endParaRPr lang="en-US" sz="1100" dirty="0"/>
          </a:p>
        </p:txBody>
      </p:sp>
      <p:sp>
        <p:nvSpPr>
          <p:cNvPr id="85" name="Text 41"/>
          <p:cNvSpPr/>
          <p:nvPr/>
        </p:nvSpPr>
        <p:spPr>
          <a:xfrm>
            <a:off x="8549640" y="4480560"/>
            <a:ext cx="2880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301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五维均值 = 64.4</a:t>
            </a:r>
            <a:endParaRPr lang="en-US" sz="850" dirty="0"/>
          </a:p>
        </p:txBody>
      </p:sp>
      <p:sp>
        <p:nvSpPr>
          <p:cNvPr id="86" name="Shape 42"/>
          <p:cNvSpPr/>
          <p:nvPr/>
        </p:nvSpPr>
        <p:spPr>
          <a:xfrm>
            <a:off x="7772400" y="5029200"/>
            <a:ext cx="3749040" cy="749808"/>
          </a:xfrm>
          <a:prstGeom prst="roundRect">
            <a:avLst>
              <a:gd name="adj" fmla="val 7317"/>
            </a:avLst>
          </a:prstGeom>
          <a:solidFill>
            <a:srgbClr val="14532D"/>
          </a:solidFill>
          <a:effectLst>
            <a:outerShdw blurRad="2147483647" dist="2147483647" dir="2" algn="bl" rotWithShape="0">
              <a:srgbClr val="1B4633">
                <a:alpha val="2"/>
              </a:srgbClr>
            </a:outerShdw>
          </a:effectLst>
        </p:spPr>
        <p:txBody>
          <a:bodyPr/>
          <a:p/>
        </p:txBody>
      </p:sp>
      <p:sp>
        <p:nvSpPr>
          <p:cNvPr id="87" name="Text 43"/>
          <p:cNvSpPr/>
          <p:nvPr/>
        </p:nvSpPr>
        <p:spPr>
          <a:xfrm>
            <a:off x="7772400" y="5029200"/>
            <a:ext cx="37490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B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 = 0.5×15.7 + 0.3×30 + 0.2×64.4 = 29.7
</a:t>
            </a: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N = 70.3 </a:t>
            </a:r>
            <a:endParaRPr lang="en-US" sz="1050" dirty="0"/>
          </a:p>
        </p:txBody>
      </p:sp>
      <p:sp>
        <p:nvSpPr>
          <p:cNvPr id="88" name="Text 44"/>
          <p:cNvSpPr/>
          <p:nvPr/>
        </p:nvSpPr>
        <p:spPr>
          <a:xfrm>
            <a:off x="7772400" y="5815584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决策库同值：开发指数 29.7 / 需求分 70.3 → 优先新建</a:t>
            </a:r>
            <a:endParaRPr lang="en-US" sz="850" dirty="0"/>
          </a:p>
        </p:txBody>
      </p:sp>
      <p:sp>
        <p:nvSpPr>
          <p:cNvPr id="17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3" grpId="0"/>
      <p:bldP spid="14" grpId="0"/>
      <p:bldP spid="17" grpId="0"/>
      <p:bldP spid="18" grpId="0"/>
      <p:bldP spid="21" grpId="0"/>
      <p:bldP spid="22" grpId="0"/>
      <p:bldP spid="24" grpId="0"/>
      <p:bldP spid="48" grpId="0"/>
      <p:bldP spid="48" grpId="1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8" grpId="0"/>
      <p:bldP spid="79" grpId="0"/>
      <p:bldP spid="81" grpId="0"/>
      <p:bldP spid="82" grpId="0"/>
      <p:bldP spid="84" grpId="0"/>
      <p:bldP spid="85" grpId="0"/>
      <p:bldP spid="87" grpId="0"/>
      <p:bldP spid="8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</Words>
  <Application>WPS 演示</Application>
  <PresentationFormat>On-screen Show (16:9)</PresentationFormat>
  <Paragraphs>57</Paragraphs>
  <Slides>1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宋体</vt:lpstr>
      <vt:lpstr>汉仪书宋二KW</vt:lpstr>
      <vt:lpstr>微软雅黑</vt:lpstr>
      <vt:lpstr>宋体</vt:lpstr>
      <vt:lpstr>Calibri</vt:lpstr>
      <vt:lpstr>Helvetica Neue</vt:lpstr>
      <vt:lpstr>等线</vt:lpstr>
      <vt:lpstr>汉仪中等线KW</vt:lpstr>
      <vt:lpstr>Arial Unicode MS</vt:lpstr>
      <vt:lpstr>MS PGothic</vt:lpstr>
      <vt:lpstr>苹方-简</vt:lpstr>
      <vt:lpstr>Office Theme</vt:lpstr>
      <vt:lpstr>PowerPoint 演示文稿</vt:lpstr>
    </vt:vector>
  </TitlesOfParts>
  <Company>创客大赛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宜昌市烟草专卖局（公司）</dc:creator>
  <dc:subject>PptxGenJS Presentation</dc:subject>
  <cp:lastModifiedBy>上善若水</cp:lastModifiedBy>
  <cp:revision>352</cp:revision>
  <dcterms:created xsi:type="dcterms:W3CDTF">2026-09-10T01:09:39Z</dcterms:created>
  <dcterms:modified xsi:type="dcterms:W3CDTF">2026-09-10T01:09:39Z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12CBE54809C748B18422A06A43DF78C6_42</vt:lpwstr>
  </property>
  <property fmtid="{D5CDD505-2E9C-101B-9397-08002B2CF9AE}" pid="3" name="KSOProductBuildVer">
    <vt:lpwstr>2052-12.1.25869.25869</vt:lpwstr>
  </property>
</Properties>
</file>