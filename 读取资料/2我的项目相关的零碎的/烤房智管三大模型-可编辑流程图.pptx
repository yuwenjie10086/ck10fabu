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92608"/>
            <a:ext cx="1051560" cy="105156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794760"/>
            <a:ext cx="777240" cy="777240"/>
          </a:xfrm>
          <a:prstGeom prst="ellipse">
            <a:avLst/>
          </a:prstGeom>
          <a:solidFill>
            <a:srgbClr val="3E9A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spc="200" kern="0" dirty="0">
                <a:solidFill>
                  <a:srgbClr val="C9E9D2"/>
                </a:solidFill>
              </a:rPr>
              <a:t>烤房智管 · 三大算法模型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150" kern="0" dirty="0">
                <a:solidFill>
                  <a:srgbClr val="FFFFFF"/>
                </a:solidFill>
              </a:rPr>
              <a:t>健康分 · 剩余寿命 · 新建选址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C9E9D2"/>
                </a:solidFill>
              </a:rPr>
              <a:t>可编辑流程图（原生形状 · 绿色系统一风格）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C4AC"/>
                </a:solidFill>
              </a:rPr>
              <a:t>对应《数创成果报告》图1—图4 · 各节点均可在 PowerPoint 内直接编辑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234440" cy="329184"/>
          </a:xfrm>
          <a:prstGeom prst="roundRect">
            <a:avLst>
              <a:gd name="adj" fmla="val 55556"/>
            </a:avLst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图1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83080" y="23774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22A"/>
                </a:solidFill>
              </a:rPr>
              <a:t>烤房智管三大算法 · 总体技术框架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914400" cy="237744"/>
          </a:xfrm>
          <a:prstGeom prst="roundRect">
            <a:avLst>
              <a:gd name="adj" fmla="val 57692"/>
            </a:avLst>
          </a:prstGeom>
          <a:solidFill>
            <a:srgbClr val="C9E3D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132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934"/>
                </a:solidFill>
              </a:rPr>
              <a:t>数据输入层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987552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基础台账数据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kf_basedata · 加热/散热/自控/主体部件表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repair_records维修记录 · 烟叶事实表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60520" y="987552"/>
            <a:ext cx="822960" cy="914400"/>
          </a:xfrm>
          <a:prstGeom prst="roundRect">
            <a:avLst>
              <a:gd name="adj" fmla="val 11111"/>
            </a:avLst>
          </a:prstGeom>
          <a:solidFill>
            <a:srgbClr val="C9E3D0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33672" y="987552"/>
            <a:ext cx="67665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934"/>
                </a:solidFill>
              </a:rPr>
              <a:t>⇄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5934"/>
                </a:solidFill>
              </a:rPr>
              <a:t>互用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20640" y="987552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93792" y="987552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统一口径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部件状态 · 修复年份 · 在用状态(use_status)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收购量(担×50) · 种植面积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914400" cy="237744"/>
          </a:xfrm>
          <a:prstGeom prst="roundRect">
            <a:avLst>
              <a:gd name="adj" fmla="val 57692"/>
            </a:avLst>
          </a:prstGeom>
          <a:solidFill>
            <a:srgbClr val="C9E3D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29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934"/>
                </a:solidFill>
              </a:rPr>
              <a:t>模型计算层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2267712"/>
            <a:ext cx="2542032" cy="969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934"/>
                </a:solidFill>
              </a:rPr>
              <a:t>模型一 · 健康分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2322A"/>
                </a:solidFill>
              </a:rPr>
              <a:t>H=部件80%·管护10%·人工10%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4F"/>
                </a:solidFill>
              </a:rPr>
              <a:t>12部位→归一→5级健康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212848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00984" y="2267712"/>
            <a:ext cx="2542032" cy="969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934"/>
                </a:solidFill>
              </a:rPr>
              <a:t>模型二 · 剩余寿命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2322A"/>
                </a:solidFill>
              </a:rPr>
              <a:t>life=(0.6短板+0.4均值)×F_h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4F"/>
                </a:solidFill>
              </a:rPr>
              <a:t>输出四级预警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212848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9904" y="2267712"/>
            <a:ext cx="2542032" cy="969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934"/>
                </a:solidFill>
              </a:rPr>
              <a:t>模型三 · 新建选址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2322A"/>
                </a:solidFill>
              </a:rPr>
              <a:t>V=50%Hc+30%Lc+20%Dc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7D4F"/>
                </a:solidFill>
              </a:rPr>
              <a:t>AHP+熵权+TOPSIS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83080" y="1901952"/>
            <a:ext cx="0" cy="310896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1901952"/>
            <a:ext cx="0" cy="310896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914400" cy="237744"/>
          </a:xfrm>
          <a:prstGeom prst="roundRect">
            <a:avLst>
              <a:gd name="adj" fmla="val 57692"/>
            </a:avLst>
          </a:prstGeom>
          <a:solidFill>
            <a:srgbClr val="C9E3D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19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934"/>
                </a:solidFill>
              </a:rPr>
              <a:t>应用输出层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83080" y="3291840"/>
            <a:ext cx="0" cy="51206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0" y="3291840"/>
            <a:ext cx="0" cy="51206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3291840"/>
            <a:ext cx="0" cy="51206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803904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" y="3803904"/>
            <a:ext cx="80832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烤房健康分面板/健康等级 · 剩余寿命预警列表 · 千亩村新建优先级与推荐栋数 · 点位选址排序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—— 服务烟叶基础设施精细化管理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3383280"/>
            <a:ext cx="7955280" cy="0"/>
          </a:xfrm>
          <a:prstGeom prst="line">
            <a:avLst/>
          </a:prstGeom>
          <a:noFill/>
          <a:ln w="12700">
            <a:solidFill>
              <a:srgbClr val="3E9A5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34198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9A5B"/>
                </a:solidFill>
              </a:rPr>
              <a:t>三模型数据互见 · 口径统一 · 结果可回写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234440" cy="329184"/>
          </a:xfrm>
          <a:prstGeom prst="roundRect">
            <a:avLst>
              <a:gd name="adj" fmla="val 55556"/>
            </a:avLst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图2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83080" y="23774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22A"/>
                </a:solidFill>
              </a:rPr>
              <a:t>烤房健康分算法流程（代码口径 0906）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914400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① 数据读取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读取烤房台账与12部位状态 / 修复年 / 评价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1316736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1563624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563624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② 逐部位打分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score = 100×(0.5·S状态 + 0.35·R剩余 + 0.15·C评价)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212848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212848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③ 加权归一化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P_norm = Σ(Wi·scorei) / ΣWi × 100（12部位加权）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2615184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2862072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A98137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2862072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④ 三要素融合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 = P_norm×0.8 + 管护×0.1 + 人工×0.1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3264408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3511296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3511296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⑤ 维修联动反馈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新采购/更换 → 加分、延寿 → 回写数据库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0" y="3913632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4160520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160520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⑥ 输出与分级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health_score → 优良/良好/一般/预警/危险 ＋ 风险TOP3</a:t>
            </a:r>
            <a:endParaRPr lang="en-US" sz="13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234440" cy="329184"/>
          </a:xfrm>
          <a:prstGeom prst="roundRect">
            <a:avLst>
              <a:gd name="adj" fmla="val 55556"/>
            </a:avLst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图3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83080" y="23774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22A"/>
                </a:solidFill>
              </a:rPr>
              <a:t>剩余寿命预测算法流程（代码口径 0906）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914400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① 逐部件剩余年限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remaining = max(0, (指导寿命 − 已用年限) × 状态系数)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1316736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1563624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563624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② 维修重置处理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修复年 → 已用归零回春；缺数据 → 5年保守兜底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212848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212848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③ 短板约束合成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life = 0.60×短板寿命 + 0.40×部位均值寿命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2615184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2862072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A98137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2862072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④ 健康分校准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F_h = clamp(0.75 + H/400, 0.6, 1.1) → 截断到 [0,15] 年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3264408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3511296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3511296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⑤ 预计退役年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退役年 = 当前年 + 向上取整(life)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0" y="3913632"/>
            <a:ext cx="0" cy="246888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4160520"/>
            <a:ext cx="7498080" cy="402336"/>
          </a:xfrm>
          <a:prstGeom prst="roundRect">
            <a:avLst>
              <a:gd name="adj" fmla="val 22727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160520"/>
            <a:ext cx="73517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⑥ 输出与分级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predicted_life_years → 紧急/建议/关注/正常 ＋ 急需部件TOP3</a:t>
            </a:r>
            <a:endParaRPr lang="en-US" sz="13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234440" cy="329184"/>
          </a:xfrm>
          <a:prstGeom prst="roundRect">
            <a:avLst>
              <a:gd name="adj" fmla="val 55556"/>
            </a:avLst>
          </a:prstGeom>
          <a:solidFill>
            <a:srgbClr val="2E7D4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图4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83080" y="23774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322A"/>
                </a:solidFill>
              </a:rPr>
              <a:t>新建选址决策流程（操作图）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1E5934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25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① 村级烤房折算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 = 健康分×容量×状态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在用1.0 · 闲置0.4 · 损毁0.1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325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② 村级有效烤能 Q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 = 0.7·在用 + 0.2·闲置 + 0.1·待修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16752" y="1325880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9904" y="1325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③ 理论需求 D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 = 收购量kg（担×50）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或 面积×容量÷20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2734056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A98137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734056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④ 发展指数 V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 = 50%·Hc + 30%·Lc + 20%·Dc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37560" y="2734056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2734056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⑤ 需求分与栋数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 = 100 − V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needBarns = ceil(负载 − 1)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16752" y="2734056"/>
            <a:ext cx="2505456" cy="1097280"/>
          </a:xfrm>
          <a:prstGeom prst="roundRect">
            <a:avLst>
              <a:gd name="adj" fmla="val 8333"/>
            </a:avLst>
          </a:prstGeom>
          <a:solidFill>
            <a:srgbClr val="3E9A5B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9904" y="2734056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⑥ 点位选址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AHP主观 + 熵权客观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组合赋权 → TOPSIS排序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163824" y="1874520"/>
            <a:ext cx="173736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43016" y="1874520"/>
            <a:ext cx="173736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63824" y="3282696"/>
            <a:ext cx="173736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43016" y="3282696"/>
            <a:ext cx="173736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2423160"/>
            <a:ext cx="0" cy="310896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" y="3968496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C9E3D0"/>
          </a:solidFill>
          <a:ln/>
          <a:effectLst>
            <a:outerShdw sx="100000" sy="100000" kx="0" ky="0" algn="bl" rotWithShape="0" blurRad="114300" dist="38100" dir="2700000">
              <a:srgbClr val="6E8B7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968496"/>
            <a:ext cx="771753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934"/>
                </a:solidFill>
              </a:rPr>
              <a:t>⑦ 新增推演 · 评估建得值不值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5934"/>
                </a:solidFill>
              </a:rPr>
              <a:t>Q′ = Q + 新增×容量 · ΔV = V′ − V → 判断哪栋新建最划算（对候选村循环推演）</a:t>
            </a:r>
            <a:endParaRPr lang="en-US" sz="13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烤房智管三大模型 - 可编辑流程图</dc:title>
  <dc:subject>PptxGenJS Presentation</dc:subject>
  <dc:creator>烤房智管平台</dc:creator>
  <cp:lastModifiedBy>烤房智管平台</cp:lastModifiedBy>
  <cp:revision>1</cp:revision>
  <dcterms:created xsi:type="dcterms:W3CDTF">2026-09-06T15:19:55Z</dcterms:created>
  <dcterms:modified xsi:type="dcterms:W3CDTF">2026-09-06T15:19:55Z</dcterms:modified>
</cp:coreProperties>
</file>