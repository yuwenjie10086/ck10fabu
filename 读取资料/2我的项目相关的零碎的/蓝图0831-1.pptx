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408" r:id="rId5"/>
  </p:sldIdLst>
  <p:sldSz cx="9144000" cy="5143500" type="screen16x9"/>
  <p:notesSz cx="6858000" cy="9144000"/>
  <p:custDataLst>
    <p:tags r:id="rId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8" userDrawn="1">
          <p15:clr>
            <a:srgbClr val="A4A3A4"/>
          </p15:clr>
        </p15:guide>
        <p15:guide id="2" pos="3921" userDrawn="1">
          <p15:clr>
            <a:srgbClr val="A4A3A4"/>
          </p15:clr>
        </p15:guide>
        <p15:guide id="3" orient="horz" pos="1653" userDrawn="1">
          <p15:clr>
            <a:srgbClr val="A4A3A4"/>
          </p15:clr>
        </p15:guide>
        <p15:guide id="4" pos="2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CB52"/>
    <a:srgbClr val="ED7D31"/>
    <a:srgbClr val="1160A6"/>
    <a:srgbClr val="173F2A"/>
    <a:srgbClr val="2F7A4F"/>
    <a:srgbClr val="F1A63A"/>
    <a:srgbClr val="0D366B"/>
    <a:srgbClr val="21598E"/>
    <a:srgbClr val="21AB82"/>
    <a:srgbClr val="0051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2" autoAdjust="0"/>
    <p:restoredTop sz="89414" autoAdjust="0"/>
  </p:normalViewPr>
  <p:slideViewPr>
    <p:cSldViewPr snapToGrid="0" showGuides="1">
      <p:cViewPr varScale="1">
        <p:scale>
          <a:sx n="187" d="100"/>
          <a:sy n="187" d="100"/>
        </p:scale>
        <p:origin x="696" y="156"/>
      </p:cViewPr>
      <p:guideLst>
        <p:guide orient="horz" pos="688"/>
        <p:guide pos="3921"/>
        <p:guide orient="horz" pos="1653"/>
        <p:guide pos="234"/>
      </p:guideLst>
    </p:cSldViewPr>
  </p:slideViewPr>
  <p:notesTextViewPr>
    <p:cViewPr>
      <p:scale>
        <a:sx n="66" d="100"/>
        <a:sy n="66" d="100"/>
      </p:scale>
      <p:origin x="0" y="0"/>
    </p:cViewPr>
  </p:notesTextViewPr>
  <p:sorterViewPr>
    <p:cViewPr>
      <p:scale>
        <a:sx n="75" d="100"/>
        <a:sy n="75" d="100"/>
      </p:scale>
      <p:origin x="0" y="0"/>
    </p:cViewPr>
  </p:sorterViewPr>
  <p:notesViewPr>
    <p:cSldViewPr snapToGrid="0">
      <p:cViewPr varScale="1">
        <p:scale>
          <a:sx n="86" d="100"/>
          <a:sy n="86" d="100"/>
        </p:scale>
        <p:origin x="384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itchFamily="34" charset="-122"/>
              </a:defRPr>
            </a:lvl1pPr>
          </a:lstStyle>
          <a:p>
            <a:fld id="{D8D3007C-0BBF-4CAD-B02F-7664B804665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itchFamily="34" charset="-122"/>
              </a:defRPr>
            </a:lvl1pPr>
          </a:lstStyle>
          <a:p>
            <a:fld id="{8927DC7C-EA85-41EA-BE8E-3BC04B9579C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微软雅黑" pitchFamily="34" charset="-122"/>
        <a:cs typeface="+mn-cs"/>
      </a:defRPr>
    </a:lvl1pPr>
    <a:lvl2pPr marL="342900" algn="l" defTabSz="685800" rtl="0" eaLnBrk="1" latinLnBrk="0" hangingPunct="1">
      <a:defRPr sz="900" kern="1200">
        <a:solidFill>
          <a:schemeClr val="tx1"/>
        </a:solidFill>
        <a:latin typeface="+mn-lt"/>
        <a:ea typeface="微软雅黑" pitchFamily="34" charset="-122"/>
        <a:cs typeface="+mn-cs"/>
      </a:defRPr>
    </a:lvl2pPr>
    <a:lvl3pPr marL="685800" algn="l" defTabSz="685800" rtl="0" eaLnBrk="1" latinLnBrk="0" hangingPunct="1">
      <a:defRPr sz="900" kern="1200">
        <a:solidFill>
          <a:schemeClr val="tx1"/>
        </a:solidFill>
        <a:latin typeface="+mn-lt"/>
        <a:ea typeface="微软雅黑" pitchFamily="34" charset="-122"/>
        <a:cs typeface="+mn-cs"/>
      </a:defRPr>
    </a:lvl3pPr>
    <a:lvl4pPr marL="1028700" algn="l" defTabSz="685800" rtl="0" eaLnBrk="1" latinLnBrk="0" hangingPunct="1">
      <a:defRPr sz="900" kern="1200">
        <a:solidFill>
          <a:schemeClr val="tx1"/>
        </a:solidFill>
        <a:latin typeface="+mn-lt"/>
        <a:ea typeface="微软雅黑" pitchFamily="34" charset="-122"/>
        <a:cs typeface="+mn-cs"/>
      </a:defRPr>
    </a:lvl4pPr>
    <a:lvl5pPr marL="1371600" algn="l" defTabSz="685800" rtl="0" eaLnBrk="1" latinLnBrk="0" hangingPunct="1">
      <a:defRPr sz="900" kern="1200">
        <a:solidFill>
          <a:schemeClr val="tx1"/>
        </a:solidFill>
        <a:latin typeface="+mn-lt"/>
        <a:ea typeface="微软雅黑" pitchFamily="34"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这张</a:t>
            </a:r>
            <a:r>
              <a:rPr lang="zh-CN" altLang="en-US" dirty="0">
                <a:sym typeface="+mn-ea"/>
              </a:rPr>
              <a:t>是我们共享烤房的</a:t>
            </a:r>
            <a:r>
              <a:rPr lang="en-US" dirty="0">
                <a:sym typeface="+mn-ea"/>
              </a:rPr>
              <a:t>蓝图，</a:t>
            </a:r>
            <a:r>
              <a:rPr lang="zh-CN" altLang="en-US" dirty="0">
                <a:sym typeface="+mn-ea"/>
              </a:rPr>
              <a:t>我们从下往上看</a:t>
            </a:r>
            <a:r>
              <a:rPr lang="en-US" altLang="zh-CN" dirty="0">
                <a:sym typeface="+mn-ea"/>
              </a:rPr>
              <a:t>，</a:t>
            </a:r>
            <a:r>
              <a:rPr lang="zh-CN" altLang="en-US" dirty="0">
                <a:sym typeface="+mn-ea"/>
              </a:rPr>
              <a:t>采集层</a:t>
            </a:r>
            <a:r>
              <a:rPr lang="zh-CN" altLang="en-US" dirty="0" smtClean="0">
                <a:sym typeface="+mn-ea"/>
              </a:rPr>
              <a:t>运用低代码平台构建</a:t>
            </a:r>
            <a:r>
              <a:rPr lang="en-US" altLang="zh-CN" dirty="0" smtClean="0">
                <a:sym typeface="+mn-ea"/>
              </a:rPr>
              <a:t>22</a:t>
            </a:r>
            <a:r>
              <a:rPr lang="zh-CN" altLang="en-US" dirty="0" smtClean="0">
                <a:sym typeface="+mn-ea"/>
              </a:rPr>
              <a:t>个应用，获取</a:t>
            </a:r>
            <a:r>
              <a:rPr lang="zh-CN" altLang="en-US" dirty="0" smtClean="0">
                <a:sym typeface="+mn-ea"/>
              </a:rPr>
              <a:t>物联网传感器数据、</a:t>
            </a:r>
            <a:r>
              <a:rPr lang="zh-CN" altLang="en-US" dirty="0" smtClean="0">
                <a:sym typeface="+mn-ea"/>
              </a:rPr>
              <a:t>采集秭归县 7 个乡镇、2442 座烤房档案、维修记录等。</a:t>
            </a:r>
            <a:r>
              <a:rPr lang="en-US" altLang="zh-CN" dirty="0" smtClean="0">
                <a:sym typeface="+mn-ea"/>
              </a:rPr>
              <a:t>   </a:t>
            </a:r>
            <a:r>
              <a:rPr lang="zh-CN" altLang="en-US" dirty="0" smtClean="0">
                <a:sym typeface="+mn-ea"/>
              </a:rPr>
              <a:t>中间是核心业务层，也是我们平台的大脑，沉淀三套自研模型：</a:t>
            </a:r>
            <a:endParaRPr lang="zh-CN" altLang="en-US" dirty="0" smtClean="0"/>
          </a:p>
          <a:p>
            <a:r>
              <a:rPr lang="zh-CN" altLang="en-US" dirty="0" smtClean="0">
                <a:sym typeface="+mn-ea"/>
              </a:rPr>
              <a:t>烤房调剂分配模型，解决烤房想借借不到的问题</a:t>
            </a:r>
            <a:r>
              <a:rPr lang="en-US" altLang="zh-CN" dirty="0" smtClean="0">
                <a:sym typeface="+mn-ea"/>
              </a:rPr>
              <a:t>，</a:t>
            </a:r>
            <a:r>
              <a:rPr lang="zh-CN" altLang="en-US" dirty="0" smtClean="0">
                <a:sym typeface="+mn-ea"/>
              </a:rPr>
              <a:t>可以常规分配</a:t>
            </a:r>
            <a:r>
              <a:rPr lang="en-US" altLang="zh-CN" dirty="0" smtClean="0">
                <a:sym typeface="+mn-ea"/>
              </a:rPr>
              <a:t>，</a:t>
            </a:r>
            <a:r>
              <a:rPr lang="zh-CN" altLang="en-US" dirty="0" smtClean="0">
                <a:sym typeface="+mn-ea"/>
              </a:rPr>
              <a:t>再加上紧急调剂</a:t>
            </a:r>
            <a:r>
              <a:rPr lang="en-US" altLang="zh-CN" dirty="0" smtClean="0">
                <a:sym typeface="+mn-ea"/>
              </a:rPr>
              <a:t>，</a:t>
            </a:r>
            <a:r>
              <a:rPr lang="zh-CN" altLang="en-US" dirty="0" smtClean="0">
                <a:sym typeface="+mn-ea"/>
              </a:rPr>
              <a:t>按照使用状态容量等在小程序向烟农展示推荐</a:t>
            </a:r>
            <a:r>
              <a:rPr lang="en-US" altLang="zh-CN" dirty="0" smtClean="0">
                <a:sym typeface="+mn-ea"/>
              </a:rPr>
              <a:t>，</a:t>
            </a:r>
            <a:r>
              <a:rPr lang="zh-CN" altLang="en-US" dirty="0" smtClean="0">
                <a:sym typeface="+mn-ea"/>
              </a:rPr>
              <a:t>秒级匹配</a:t>
            </a:r>
            <a:r>
              <a:rPr lang="en-US" altLang="zh-CN" dirty="0" smtClean="0">
                <a:sym typeface="+mn-ea"/>
              </a:rPr>
              <a:t>。    </a:t>
            </a:r>
            <a:r>
              <a:rPr lang="zh-CN" altLang="en-US" dirty="0" smtClean="0">
                <a:sym typeface="+mn-ea"/>
              </a:rPr>
              <a:t>烤房维护模型</a:t>
            </a:r>
            <a:r>
              <a:rPr lang="en-US" altLang="zh-CN" dirty="0" smtClean="0">
                <a:sym typeface="+mn-ea"/>
              </a:rPr>
              <a:t>，</a:t>
            </a:r>
            <a:r>
              <a:rPr lang="zh-CN" altLang="en-US" dirty="0" smtClean="0">
                <a:sym typeface="+mn-ea"/>
              </a:rPr>
              <a:t>支持烟农一键报修</a:t>
            </a:r>
            <a:r>
              <a:rPr lang="en-US" altLang="zh-CN" dirty="0" smtClean="0">
                <a:sym typeface="+mn-ea"/>
              </a:rPr>
              <a:t>，</a:t>
            </a:r>
            <a:r>
              <a:rPr lang="zh-CN" altLang="en-US" dirty="0" smtClean="0">
                <a:sym typeface="+mn-ea"/>
              </a:rPr>
              <a:t>迅速匹配维修人员和维修物资</a:t>
            </a:r>
            <a:r>
              <a:rPr lang="en-US" altLang="zh-CN" dirty="0" smtClean="0">
                <a:sym typeface="+mn-ea"/>
              </a:rPr>
              <a:t>，</a:t>
            </a:r>
            <a:r>
              <a:rPr lang="zh-CN" altLang="en-US" dirty="0" smtClean="0">
                <a:sym typeface="+mn-ea"/>
              </a:rPr>
              <a:t>实时查看维修进度</a:t>
            </a:r>
            <a:r>
              <a:rPr lang="en-US" altLang="zh-CN" dirty="0" smtClean="0">
                <a:sym typeface="+mn-ea"/>
              </a:rPr>
              <a:t>；</a:t>
            </a:r>
            <a:r>
              <a:rPr lang="zh-CN" altLang="en-US" dirty="0" smtClean="0">
                <a:sym typeface="+mn-ea"/>
              </a:rPr>
              <a:t>常规根据健康分和预测的剩余寿命推送维修优先级和维修方案</a:t>
            </a:r>
            <a:r>
              <a:rPr lang="en-US" altLang="zh-CN" dirty="0" smtClean="0">
                <a:sym typeface="+mn-ea"/>
              </a:rPr>
              <a:t>，</a:t>
            </a:r>
            <a:r>
              <a:rPr lang="zh-CN" altLang="en-US" dirty="0" smtClean="0">
                <a:sym typeface="+mn-ea"/>
              </a:rPr>
              <a:t>进行管护</a:t>
            </a:r>
            <a:r>
              <a:rPr lang="en-US" altLang="zh-CN" dirty="0" smtClean="0">
                <a:sym typeface="+mn-ea"/>
              </a:rPr>
              <a:t>；   </a:t>
            </a:r>
            <a:r>
              <a:rPr lang="zh-CN" altLang="en-US" dirty="0" smtClean="0">
                <a:sym typeface="+mn-ea"/>
              </a:rPr>
              <a:t>烤房投建模型，分析维修的资金投入</a:t>
            </a:r>
            <a:r>
              <a:rPr lang="en-US" altLang="zh-CN" dirty="0" smtClean="0">
                <a:sym typeface="+mn-ea"/>
              </a:rPr>
              <a:t>，</a:t>
            </a:r>
            <a:r>
              <a:rPr lang="zh-CN" altLang="en-US" dirty="0" smtClean="0">
                <a:sym typeface="+mn-ea"/>
              </a:rPr>
              <a:t>生成报告建议</a:t>
            </a:r>
            <a:r>
              <a:rPr lang="en-US" altLang="zh-CN" dirty="0" smtClean="0">
                <a:sym typeface="+mn-ea"/>
              </a:rPr>
              <a:t>，</a:t>
            </a:r>
            <a:r>
              <a:rPr lang="zh-CN" altLang="en-US" dirty="0" smtClean="0">
                <a:sym typeface="+mn-ea"/>
              </a:rPr>
              <a:t>以及使用烤房负载度进行沙盘推演确定新建烤房的数量位置生成方案</a:t>
            </a:r>
            <a:r>
              <a:rPr lang="en-US" altLang="zh-CN" dirty="0" smtClean="0">
                <a:sym typeface="+mn-ea"/>
              </a:rPr>
              <a:t>。</a:t>
            </a:r>
            <a:endParaRPr lang="zh-CN" altLang="en-US" dirty="0" smtClean="0"/>
          </a:p>
          <a:p>
            <a:r>
              <a:rPr lang="zh-CN" altLang="en-US" dirty="0" smtClean="0">
                <a:sym typeface="+mn-ea"/>
              </a:rPr>
              <a:t>面向烟农，做微信小程序；面向合作社技术员，提供 </a:t>
            </a:r>
            <a:r>
              <a:rPr lang="en-US" altLang="zh-CN" dirty="0" smtClean="0">
                <a:sym typeface="+mn-ea"/>
              </a:rPr>
              <a:t>Web </a:t>
            </a:r>
            <a:r>
              <a:rPr lang="zh-CN" altLang="en-US" dirty="0" smtClean="0">
                <a:sym typeface="+mn-ea"/>
              </a:rPr>
              <a:t>端工单、</a:t>
            </a:r>
            <a:r>
              <a:rPr lang="en-US" altLang="zh-CN" dirty="0" smtClean="0">
                <a:sym typeface="+mn-ea"/>
              </a:rPr>
              <a:t>AI </a:t>
            </a:r>
            <a:r>
              <a:rPr lang="zh-CN" altLang="en-US" dirty="0" smtClean="0">
                <a:sym typeface="+mn-ea"/>
              </a:rPr>
              <a:t>助手；面向管理者，配套 </a:t>
            </a:r>
            <a:r>
              <a:rPr lang="en-US" altLang="zh-CN" dirty="0" smtClean="0">
                <a:sym typeface="+mn-ea"/>
              </a:rPr>
              <a:t>BI </a:t>
            </a:r>
            <a:r>
              <a:rPr lang="zh-CN" altLang="en-US" dirty="0" smtClean="0">
                <a:sym typeface="+mn-ea"/>
              </a:rPr>
              <a:t>综合看板。未来我们还将持续迭代，实现跨域共享、数字孪生、</a:t>
            </a:r>
            <a:r>
              <a:rPr lang="en-US" altLang="zh-CN" dirty="0" smtClean="0">
                <a:sym typeface="+mn-ea"/>
              </a:rPr>
              <a:t>AI </a:t>
            </a:r>
            <a:r>
              <a:rPr lang="zh-CN" altLang="en-US" dirty="0" smtClean="0">
                <a:sym typeface="+mn-ea"/>
              </a:rPr>
              <a:t>能力升级</a:t>
            </a:r>
            <a:r>
              <a:rPr lang="en-US" altLang="zh-CN" dirty="0" smtClean="0">
                <a:sym typeface="+mn-ea"/>
              </a:rPr>
              <a:t>。</a:t>
            </a:r>
            <a:r>
              <a:rPr lang="zh-CN" altLang="en-US" dirty="0" smtClean="0">
                <a:sym typeface="+mn-ea"/>
              </a:rPr>
              <a:t>从底层数据，到算法大脑，再到前端用户，完整闭环就搭建完成。</a:t>
            </a:r>
            <a:endParaRPr lang="zh-CN" altLang="en-US" dirty="0" smtClean="0"/>
          </a:p>
          <a:p>
            <a:endParaRPr lang="en-US" altLang="zh-CN" dirty="0" smtClean="0"/>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这张</a:t>
            </a:r>
            <a:r>
              <a:rPr lang="zh-CN" altLang="en-US" dirty="0">
                <a:sym typeface="+mn-ea"/>
              </a:rPr>
              <a:t>是我们共享烤房的</a:t>
            </a:r>
            <a:r>
              <a:rPr lang="en-US" dirty="0">
                <a:sym typeface="+mn-ea"/>
              </a:rPr>
              <a:t>蓝图，</a:t>
            </a:r>
            <a:r>
              <a:rPr lang="zh-CN" altLang="en-US" dirty="0">
                <a:sym typeface="+mn-ea"/>
              </a:rPr>
              <a:t>我们从下往上看</a:t>
            </a:r>
            <a:r>
              <a:rPr lang="en-US" altLang="zh-CN" dirty="0">
                <a:sym typeface="+mn-ea"/>
              </a:rPr>
              <a:t>，</a:t>
            </a:r>
            <a:r>
              <a:rPr lang="zh-CN" altLang="en-US" dirty="0">
                <a:sym typeface="+mn-ea"/>
              </a:rPr>
              <a:t>采集层</a:t>
            </a:r>
            <a:r>
              <a:rPr lang="zh-CN" altLang="en-US" dirty="0" smtClean="0">
                <a:sym typeface="+mn-ea"/>
              </a:rPr>
              <a:t>运用低代码平台构建</a:t>
            </a:r>
            <a:r>
              <a:rPr lang="en-US" altLang="zh-CN" dirty="0" smtClean="0">
                <a:sym typeface="+mn-ea"/>
              </a:rPr>
              <a:t>22</a:t>
            </a:r>
            <a:r>
              <a:rPr lang="zh-CN" altLang="en-US" dirty="0" smtClean="0">
                <a:sym typeface="+mn-ea"/>
              </a:rPr>
              <a:t>个应用，获取</a:t>
            </a:r>
            <a:r>
              <a:rPr lang="zh-CN" altLang="en-US" dirty="0" smtClean="0">
                <a:sym typeface="+mn-ea"/>
              </a:rPr>
              <a:t>物联网传感器数据、</a:t>
            </a:r>
            <a:r>
              <a:rPr lang="zh-CN" altLang="en-US" dirty="0" smtClean="0">
                <a:sym typeface="+mn-ea"/>
              </a:rPr>
              <a:t>采集秭归县 7 个乡镇、2442 座烤房档案、维修记录等。</a:t>
            </a:r>
            <a:r>
              <a:rPr lang="en-US" altLang="zh-CN" dirty="0" smtClean="0">
                <a:sym typeface="+mn-ea"/>
              </a:rPr>
              <a:t>   </a:t>
            </a:r>
            <a:r>
              <a:rPr lang="zh-CN" altLang="en-US" dirty="0" smtClean="0">
                <a:sym typeface="+mn-ea"/>
              </a:rPr>
              <a:t>中间是核心业务层，也是我们平台的大脑，沉淀三套自研模型：</a:t>
            </a:r>
            <a:endParaRPr lang="zh-CN" altLang="en-US" dirty="0" smtClean="0"/>
          </a:p>
          <a:p>
            <a:r>
              <a:rPr lang="zh-CN" altLang="en-US" dirty="0" smtClean="0">
                <a:sym typeface="+mn-ea"/>
              </a:rPr>
              <a:t>烤房调剂分配模型，解决烤房想借借不到的问题</a:t>
            </a:r>
            <a:r>
              <a:rPr lang="en-US" altLang="zh-CN" dirty="0" smtClean="0">
                <a:sym typeface="+mn-ea"/>
              </a:rPr>
              <a:t>，</a:t>
            </a:r>
            <a:r>
              <a:rPr lang="zh-CN" altLang="en-US" dirty="0" smtClean="0">
                <a:sym typeface="+mn-ea"/>
              </a:rPr>
              <a:t>可以常规分配</a:t>
            </a:r>
            <a:r>
              <a:rPr lang="en-US" altLang="zh-CN" dirty="0" smtClean="0">
                <a:sym typeface="+mn-ea"/>
              </a:rPr>
              <a:t>，</a:t>
            </a:r>
            <a:r>
              <a:rPr lang="zh-CN" altLang="en-US" dirty="0" smtClean="0">
                <a:sym typeface="+mn-ea"/>
              </a:rPr>
              <a:t>再加上紧急调剂</a:t>
            </a:r>
            <a:r>
              <a:rPr lang="en-US" altLang="zh-CN" dirty="0" smtClean="0">
                <a:sym typeface="+mn-ea"/>
              </a:rPr>
              <a:t>，</a:t>
            </a:r>
            <a:r>
              <a:rPr lang="zh-CN" altLang="en-US" dirty="0" smtClean="0">
                <a:sym typeface="+mn-ea"/>
              </a:rPr>
              <a:t>按照使用状态容量等在小程序向烟农展示推荐</a:t>
            </a:r>
            <a:r>
              <a:rPr lang="en-US" altLang="zh-CN" dirty="0" smtClean="0">
                <a:sym typeface="+mn-ea"/>
              </a:rPr>
              <a:t>，</a:t>
            </a:r>
            <a:r>
              <a:rPr lang="zh-CN" altLang="en-US" dirty="0" smtClean="0">
                <a:sym typeface="+mn-ea"/>
              </a:rPr>
              <a:t>秒级匹配</a:t>
            </a:r>
            <a:r>
              <a:rPr lang="en-US" altLang="zh-CN" dirty="0" smtClean="0">
                <a:sym typeface="+mn-ea"/>
              </a:rPr>
              <a:t>。    </a:t>
            </a:r>
            <a:r>
              <a:rPr lang="zh-CN" altLang="en-US" dirty="0" smtClean="0">
                <a:sym typeface="+mn-ea"/>
              </a:rPr>
              <a:t>烤房维护模型</a:t>
            </a:r>
            <a:r>
              <a:rPr lang="en-US" altLang="zh-CN" dirty="0" smtClean="0">
                <a:sym typeface="+mn-ea"/>
              </a:rPr>
              <a:t>，</a:t>
            </a:r>
            <a:r>
              <a:rPr lang="zh-CN" altLang="en-US" dirty="0" smtClean="0">
                <a:sym typeface="+mn-ea"/>
              </a:rPr>
              <a:t>支持烟农一键报修</a:t>
            </a:r>
            <a:r>
              <a:rPr lang="en-US" altLang="zh-CN" dirty="0" smtClean="0">
                <a:sym typeface="+mn-ea"/>
              </a:rPr>
              <a:t>，</a:t>
            </a:r>
            <a:r>
              <a:rPr lang="zh-CN" altLang="en-US" dirty="0" smtClean="0">
                <a:sym typeface="+mn-ea"/>
              </a:rPr>
              <a:t>迅速匹配维修人员和维修物资</a:t>
            </a:r>
            <a:r>
              <a:rPr lang="en-US" altLang="zh-CN" dirty="0" smtClean="0">
                <a:sym typeface="+mn-ea"/>
              </a:rPr>
              <a:t>，</a:t>
            </a:r>
            <a:r>
              <a:rPr lang="zh-CN" altLang="en-US" dirty="0" smtClean="0">
                <a:sym typeface="+mn-ea"/>
              </a:rPr>
              <a:t>实时查看维修进度</a:t>
            </a:r>
            <a:r>
              <a:rPr lang="en-US" altLang="zh-CN" dirty="0" smtClean="0">
                <a:sym typeface="+mn-ea"/>
              </a:rPr>
              <a:t>；</a:t>
            </a:r>
            <a:r>
              <a:rPr lang="zh-CN" altLang="en-US" dirty="0" smtClean="0">
                <a:sym typeface="+mn-ea"/>
              </a:rPr>
              <a:t>常规根据健康分和预测的剩余寿命推送维修优先级和维修方案</a:t>
            </a:r>
            <a:r>
              <a:rPr lang="en-US" altLang="zh-CN" dirty="0" smtClean="0">
                <a:sym typeface="+mn-ea"/>
              </a:rPr>
              <a:t>，</a:t>
            </a:r>
            <a:r>
              <a:rPr lang="zh-CN" altLang="en-US" dirty="0" smtClean="0">
                <a:sym typeface="+mn-ea"/>
              </a:rPr>
              <a:t>进行管护</a:t>
            </a:r>
            <a:r>
              <a:rPr lang="en-US" altLang="zh-CN" dirty="0" smtClean="0">
                <a:sym typeface="+mn-ea"/>
              </a:rPr>
              <a:t>；   </a:t>
            </a:r>
            <a:r>
              <a:rPr lang="zh-CN" altLang="en-US" dirty="0" smtClean="0">
                <a:sym typeface="+mn-ea"/>
              </a:rPr>
              <a:t>烤房投建模型，分析维修的资金投入</a:t>
            </a:r>
            <a:r>
              <a:rPr lang="en-US" altLang="zh-CN" dirty="0" smtClean="0">
                <a:sym typeface="+mn-ea"/>
              </a:rPr>
              <a:t>，</a:t>
            </a:r>
            <a:r>
              <a:rPr lang="zh-CN" altLang="en-US" dirty="0" smtClean="0">
                <a:sym typeface="+mn-ea"/>
              </a:rPr>
              <a:t>生成报告建议</a:t>
            </a:r>
            <a:r>
              <a:rPr lang="en-US" altLang="zh-CN" dirty="0" smtClean="0">
                <a:sym typeface="+mn-ea"/>
              </a:rPr>
              <a:t>，</a:t>
            </a:r>
            <a:r>
              <a:rPr lang="zh-CN" altLang="en-US" dirty="0" smtClean="0">
                <a:sym typeface="+mn-ea"/>
              </a:rPr>
              <a:t>以及使用烤房负载度进行沙盘推演确定新建烤房的数量位置生成方案</a:t>
            </a:r>
            <a:r>
              <a:rPr lang="en-US" altLang="zh-CN" dirty="0" smtClean="0">
                <a:sym typeface="+mn-ea"/>
              </a:rPr>
              <a:t>。</a:t>
            </a:r>
            <a:endParaRPr lang="zh-CN" altLang="en-US" dirty="0" smtClean="0"/>
          </a:p>
          <a:p>
            <a:r>
              <a:rPr lang="zh-CN" altLang="en-US" dirty="0" smtClean="0">
                <a:sym typeface="+mn-ea"/>
              </a:rPr>
              <a:t>面向烟农，做微信小程序；面向合作社技术员，提供 </a:t>
            </a:r>
            <a:r>
              <a:rPr lang="en-US" altLang="zh-CN" dirty="0" smtClean="0">
                <a:sym typeface="+mn-ea"/>
              </a:rPr>
              <a:t>Web </a:t>
            </a:r>
            <a:r>
              <a:rPr lang="zh-CN" altLang="en-US" dirty="0" smtClean="0">
                <a:sym typeface="+mn-ea"/>
              </a:rPr>
              <a:t>端工单、</a:t>
            </a:r>
            <a:r>
              <a:rPr lang="en-US" altLang="zh-CN" dirty="0" smtClean="0">
                <a:sym typeface="+mn-ea"/>
              </a:rPr>
              <a:t>AI </a:t>
            </a:r>
            <a:r>
              <a:rPr lang="zh-CN" altLang="en-US" dirty="0" smtClean="0">
                <a:sym typeface="+mn-ea"/>
              </a:rPr>
              <a:t>助手；面向管理者，配套 </a:t>
            </a:r>
            <a:r>
              <a:rPr lang="en-US" altLang="zh-CN" dirty="0" smtClean="0">
                <a:sym typeface="+mn-ea"/>
              </a:rPr>
              <a:t>BI </a:t>
            </a:r>
            <a:r>
              <a:rPr lang="zh-CN" altLang="en-US" dirty="0" smtClean="0">
                <a:sym typeface="+mn-ea"/>
              </a:rPr>
              <a:t>综合看板。未来我们还将持续迭代，实现跨域共享、数字孪生、</a:t>
            </a:r>
            <a:r>
              <a:rPr lang="en-US" altLang="zh-CN" dirty="0" smtClean="0">
                <a:sym typeface="+mn-ea"/>
              </a:rPr>
              <a:t>AI </a:t>
            </a:r>
            <a:r>
              <a:rPr lang="zh-CN" altLang="en-US" dirty="0" smtClean="0">
                <a:sym typeface="+mn-ea"/>
              </a:rPr>
              <a:t>能力升级</a:t>
            </a:r>
            <a:r>
              <a:rPr lang="en-US" altLang="zh-CN" dirty="0" smtClean="0">
                <a:sym typeface="+mn-ea"/>
              </a:rPr>
              <a:t>。</a:t>
            </a:r>
            <a:r>
              <a:rPr lang="zh-CN" altLang="en-US" dirty="0" smtClean="0">
                <a:sym typeface="+mn-ea"/>
              </a:rPr>
              <a:t>从底层数据，到算法大脑，再到前端用户，完整闭环就搭建完成。</a:t>
            </a:r>
            <a:endParaRPr lang="zh-CN" altLang="en-US" dirty="0" smtClean="0"/>
          </a:p>
          <a:p>
            <a:endParaRPr lang="en-US" altLang="zh-CN" dirty="0" smtClean="0"/>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microsoft.com/office/2007/relationships/hdphoto" Target="../media/image9.wdp"/><Relationship Id="rId8" Type="http://schemas.openxmlformats.org/officeDocument/2006/relationships/image" Target="../media/image8.png"/><Relationship Id="rId7" Type="http://schemas.microsoft.com/office/2007/relationships/hdphoto" Target="../media/image7.wdp"/><Relationship Id="rId6" Type="http://schemas.openxmlformats.org/officeDocument/2006/relationships/image" Target="../media/image6.png"/><Relationship Id="rId5" Type="http://schemas.microsoft.com/office/2007/relationships/hdphoto" Target="../media/image5.wdp"/><Relationship Id="rId4" Type="http://schemas.openxmlformats.org/officeDocument/2006/relationships/image" Target="../media/image4.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2097"/>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1878806"/>
            <a:ext cx="3868340"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1878806"/>
            <a:ext cx="3887391"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srcRect/>
          <a:stretch>
            <a:fillRect/>
          </a:stretch>
        </p:blipFill>
        <p:spPr>
          <a:xfrm>
            <a:off x="0" y="0"/>
            <a:ext cx="9144000" cy="5143500"/>
          </a:xfrm>
          <a:custGeom>
            <a:avLst/>
            <a:gdLst>
              <a:gd name="connsiteX0" fmla="*/ 0 w 12191998"/>
              <a:gd name="connsiteY0" fmla="*/ 0 h 6858000"/>
              <a:gd name="connsiteX1" fmla="*/ 12191998 w 12191998"/>
              <a:gd name="connsiteY1" fmla="*/ 0 h 6858000"/>
              <a:gd name="connsiteX2" fmla="*/ 12191998 w 12191998"/>
              <a:gd name="connsiteY2" fmla="*/ 6858000 h 6858000"/>
              <a:gd name="connsiteX3" fmla="*/ 0 w 121919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8" h="6858000">
                <a:moveTo>
                  <a:pt x="0" y="0"/>
                </a:moveTo>
                <a:lnTo>
                  <a:pt x="12191998" y="0"/>
                </a:lnTo>
                <a:lnTo>
                  <a:pt x="12191998" y="6858000"/>
                </a:lnTo>
                <a:lnTo>
                  <a:pt x="0" y="6858000"/>
                </a:lnTo>
                <a:close/>
              </a:path>
            </a:pathLst>
          </a:custGeom>
        </p:spPr>
      </p:pic>
      <p:sp>
        <p:nvSpPr>
          <p:cNvPr id="3" name="矩形 2"/>
          <p:cNvSpPr/>
          <p:nvPr userDrawn="1"/>
        </p:nvSpPr>
        <p:spPr>
          <a:xfrm flipV="1">
            <a:off x="0" y="0"/>
            <a:ext cx="9144000" cy="5143500"/>
          </a:xfrm>
          <a:prstGeom prst="rect">
            <a:avLst/>
          </a:prstGeom>
          <a:gradFill flip="none" rotWithShape="1">
            <a:gsLst>
              <a:gs pos="48000">
                <a:srgbClr val="002742">
                  <a:alpha val="76000"/>
                </a:srgbClr>
              </a:gs>
              <a:gs pos="0">
                <a:srgbClr val="002A52">
                  <a:alpha val="0"/>
                </a:srgbClr>
              </a:gs>
              <a:gs pos="69000">
                <a:srgbClr val="002742">
                  <a:alpha val="0"/>
                </a:srgbClr>
              </a:gs>
            </a:gsLst>
            <a:path path="circle">
              <a:fillToRect l="50000" t="130000" r="50000" b="-3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4000" fill="hold"/>
                                        <p:tgtEl>
                                          <p:spTgt spid="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7" name="矩形 6"/>
          <p:cNvSpPr/>
          <p:nvPr userDrawn="1"/>
        </p:nvSpPr>
        <p:spPr>
          <a:xfrm flipV="1">
            <a:off x="0" y="0"/>
            <a:ext cx="9144000" cy="5181456"/>
          </a:xfrm>
          <a:prstGeom prst="rect">
            <a:avLst/>
          </a:prstGeom>
          <a:gradFill flip="none" rotWithShape="1">
            <a:gsLst>
              <a:gs pos="30000">
                <a:srgbClr val="002742"/>
              </a:gs>
              <a:gs pos="0">
                <a:srgbClr val="002A52"/>
              </a:gs>
              <a:gs pos="100000">
                <a:srgbClr val="002742">
                  <a:alpha val="19000"/>
                </a:srgbClr>
              </a:gs>
            </a:gsLst>
            <a:path path="circle">
              <a:fillToRect l="50000" t="130000" r="50000" b="-3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15" name="椭圆 14"/>
          <p:cNvSpPr/>
          <p:nvPr userDrawn="1"/>
        </p:nvSpPr>
        <p:spPr>
          <a:xfrm>
            <a:off x="-2175388" y="-2142989"/>
            <a:ext cx="12912212" cy="6300652"/>
          </a:xfrm>
          <a:prstGeom prst="ellipse">
            <a:avLst/>
          </a:prstGeom>
          <a:solidFill>
            <a:srgbClr val="1473CA">
              <a:alpha val="5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9" name="椭圆 8"/>
          <p:cNvSpPr/>
          <p:nvPr userDrawn="1"/>
        </p:nvSpPr>
        <p:spPr>
          <a:xfrm>
            <a:off x="760666" y="-1784392"/>
            <a:ext cx="7622669" cy="3683789"/>
          </a:xfrm>
          <a:prstGeom prst="ellipse">
            <a:avLst/>
          </a:prstGeom>
          <a:solidFill>
            <a:srgbClr val="1473CA">
              <a:alpha val="28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8" name="椭圆 7"/>
          <p:cNvSpPr/>
          <p:nvPr userDrawn="1"/>
        </p:nvSpPr>
        <p:spPr>
          <a:xfrm>
            <a:off x="-1884106" y="-2002473"/>
            <a:ext cx="12912212" cy="4341557"/>
          </a:xfrm>
          <a:prstGeom prst="ellipse">
            <a:avLst/>
          </a:prstGeom>
          <a:solidFill>
            <a:srgbClr val="1473CA">
              <a:alpha val="14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pic>
        <p:nvPicPr>
          <p:cNvPr id="22" name="图片 21" descr="图片包含 绿色, 大, 灯光, 风筝&#10;&#10;描述已自动生成"/>
          <p:cNvPicPr>
            <a:picLocks noChangeAspect="1"/>
          </p:cNvPicPr>
          <p:nvPr userDrawn="1"/>
        </p:nvPicPr>
        <p:blipFill>
          <a:blip r:embed="rId2">
            <a:alphaModFix amt="2000"/>
            <a:extLst>
              <a:ext uri="{BEBA8EAE-BF5A-486C-A8C5-ECC9F3942E4B}">
                <a14:imgProps xmlns:a14="http://schemas.microsoft.com/office/drawing/2010/main">
                  <a14:imgLayer r:embed="rId3">
                    <a14:imgEffect>
                      <a14:brightnessContrast contrast="40000"/>
                    </a14:imgEffect>
                    <a14:imgEffect>
                      <a14:colorTemperature colorTemp="4700"/>
                    </a14:imgEffect>
                    <a14:imgEffect>
                      <a14:saturation sat="66000"/>
                    </a14:imgEffect>
                    <a14:imgEffect>
                      <a14:sharpenSoften amount="-50000"/>
                    </a14:imgEffect>
                  </a14:imgLayer>
                </a14:imgProps>
              </a:ext>
            </a:extLst>
          </a:blip>
          <a:stretch>
            <a:fillRect/>
          </a:stretch>
        </p:blipFill>
        <p:spPr>
          <a:xfrm>
            <a:off x="1264292" y="1802390"/>
            <a:ext cx="7429500" cy="3486150"/>
          </a:xfrm>
          <a:prstGeom prst="rect">
            <a:avLst/>
          </a:prstGeom>
          <a:effectLst>
            <a:softEdge rad="914400"/>
          </a:effectLst>
        </p:spPr>
      </p:pic>
      <p:sp>
        <p:nvSpPr>
          <p:cNvPr id="2" name="矩形 1"/>
          <p:cNvSpPr/>
          <p:nvPr userDrawn="1"/>
        </p:nvSpPr>
        <p:spPr>
          <a:xfrm>
            <a:off x="0" y="3019922"/>
            <a:ext cx="9144001" cy="2123578"/>
          </a:xfrm>
          <a:prstGeom prst="rect">
            <a:avLst/>
          </a:prstGeom>
          <a:gradFill>
            <a:gsLst>
              <a:gs pos="0">
                <a:srgbClr val="031E3B">
                  <a:alpha val="0"/>
                </a:srgbClr>
              </a:gs>
              <a:gs pos="63000">
                <a:srgbClr val="011225">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pic>
        <p:nvPicPr>
          <p:cNvPr id="3" name="图片 2" descr="背景图案&#10;&#10;中度可信度描述已自动生成"/>
          <p:cNvPicPr>
            <a:picLocks noChangeAspect="1"/>
          </p:cNvPicPr>
          <p:nvPr userDrawn="1"/>
        </p:nvPicPr>
        <p:blipFill>
          <a:blip r:embed="rId4" cstate="screen">
            <a:alphaModFix amt="30000"/>
            <a:extLst>
              <a:ext uri="{BEBA8EAE-BF5A-486C-A8C5-ECC9F3942E4B}">
                <a14:imgProps xmlns:a14="http://schemas.microsoft.com/office/drawing/2010/main">
                  <a14:imgLayer r:embed="rId5">
                    <a14:imgEffect>
                      <a14:brightnessContrast contrast="-40000"/>
                    </a14:imgEffect>
                    <a14:imgEffect>
                      <a14:colorTemperature colorTemp="4700"/>
                    </a14:imgEffect>
                    <a14:imgEffect>
                      <a14:saturation sat="400000"/>
                    </a14:imgEffect>
                    <a14:imgEffect>
                      <a14:sharpenSoften amount="50000"/>
                    </a14:imgEffect>
                  </a14:imgLayer>
                </a14:imgProps>
              </a:ext>
            </a:extLst>
          </a:blip>
          <a:srcRect/>
          <a:stretch>
            <a:fillRect/>
          </a:stretch>
        </p:blipFill>
        <p:spPr>
          <a:xfrm rot="20768342">
            <a:off x="5746277" y="464137"/>
            <a:ext cx="4048894" cy="4944077"/>
          </a:xfrm>
          <a:custGeom>
            <a:avLst/>
            <a:gdLst>
              <a:gd name="connsiteX0" fmla="*/ 5398525 w 5398525"/>
              <a:gd name="connsiteY0" fmla="*/ 0 h 6592103"/>
              <a:gd name="connsiteX1" fmla="*/ 3771909 w 5398525"/>
              <a:gd name="connsiteY1" fmla="*/ 6592103 h 6592103"/>
              <a:gd name="connsiteX2" fmla="*/ 0 w 5398525"/>
              <a:gd name="connsiteY2" fmla="*/ 5661377 h 6592103"/>
              <a:gd name="connsiteX3" fmla="*/ 0 w 5398525"/>
              <a:gd name="connsiteY3" fmla="*/ 0 h 6592103"/>
            </a:gdLst>
            <a:ahLst/>
            <a:cxnLst>
              <a:cxn ang="0">
                <a:pos x="connsiteX0" y="connsiteY0"/>
              </a:cxn>
              <a:cxn ang="0">
                <a:pos x="connsiteX1" y="connsiteY1"/>
              </a:cxn>
              <a:cxn ang="0">
                <a:pos x="connsiteX2" y="connsiteY2"/>
              </a:cxn>
              <a:cxn ang="0">
                <a:pos x="connsiteX3" y="connsiteY3"/>
              </a:cxn>
            </a:cxnLst>
            <a:rect l="l" t="t" r="r" b="b"/>
            <a:pathLst>
              <a:path w="5398525" h="6592102">
                <a:moveTo>
                  <a:pt x="5398525" y="0"/>
                </a:moveTo>
                <a:lnTo>
                  <a:pt x="3771909" y="6592103"/>
                </a:lnTo>
                <a:lnTo>
                  <a:pt x="0" y="5661377"/>
                </a:lnTo>
                <a:lnTo>
                  <a:pt x="0" y="0"/>
                </a:lnTo>
                <a:close/>
              </a:path>
            </a:pathLst>
          </a:custGeom>
        </p:spPr>
      </p:pic>
      <p:pic>
        <p:nvPicPr>
          <p:cNvPr id="4" name="图片 3" descr="背景图案&#10;&#10;中度可信度描述已自动生成"/>
          <p:cNvPicPr>
            <a:picLocks noChangeAspect="1"/>
          </p:cNvPicPr>
          <p:nvPr userDrawn="1"/>
        </p:nvPicPr>
        <p:blipFill>
          <a:blip r:embed="rId6" cstate="screen">
            <a:alphaModFix amt="30000"/>
            <a:extLst>
              <a:ext uri="{BEBA8EAE-BF5A-486C-A8C5-ECC9F3942E4B}">
                <a14:imgProps xmlns:a14="http://schemas.microsoft.com/office/drawing/2010/main">
                  <a14:imgLayer r:embed="rId7">
                    <a14:imgEffect>
                      <a14:brightnessContrast contrast="-40000"/>
                    </a14:imgEffect>
                    <a14:imgEffect>
                      <a14:colorTemperature colorTemp="4700"/>
                    </a14:imgEffect>
                    <a14:imgEffect>
                      <a14:saturation sat="400000"/>
                    </a14:imgEffect>
                    <a14:imgEffect>
                      <a14:sharpenSoften amount="50000"/>
                    </a14:imgEffect>
                  </a14:imgLayer>
                </a14:imgProps>
              </a:ext>
            </a:extLst>
          </a:blip>
          <a:srcRect/>
          <a:stretch>
            <a:fillRect/>
          </a:stretch>
        </p:blipFill>
        <p:spPr>
          <a:xfrm rot="271206" flipH="1">
            <a:off x="-180046" y="829144"/>
            <a:ext cx="3494095" cy="4431323"/>
          </a:xfrm>
          <a:custGeom>
            <a:avLst/>
            <a:gdLst>
              <a:gd name="connsiteX0" fmla="*/ 4658793 w 4658793"/>
              <a:gd name="connsiteY0" fmla="*/ 0 h 5908430"/>
              <a:gd name="connsiteX1" fmla="*/ 0 w 4658793"/>
              <a:gd name="connsiteY1" fmla="*/ 0 h 5908430"/>
              <a:gd name="connsiteX2" fmla="*/ 0 w 4658793"/>
              <a:gd name="connsiteY2" fmla="*/ 5577056 h 5908430"/>
              <a:gd name="connsiteX3" fmla="*/ 4191704 w 4658793"/>
              <a:gd name="connsiteY3" fmla="*/ 5908430 h 5908430"/>
            </a:gdLst>
            <a:ahLst/>
            <a:cxnLst>
              <a:cxn ang="0">
                <a:pos x="connsiteX0" y="connsiteY0"/>
              </a:cxn>
              <a:cxn ang="0">
                <a:pos x="connsiteX1" y="connsiteY1"/>
              </a:cxn>
              <a:cxn ang="0">
                <a:pos x="connsiteX2" y="connsiteY2"/>
              </a:cxn>
              <a:cxn ang="0">
                <a:pos x="connsiteX3" y="connsiteY3"/>
              </a:cxn>
            </a:cxnLst>
            <a:rect l="l" t="t" r="r" b="b"/>
            <a:pathLst>
              <a:path w="4658793" h="5908430">
                <a:moveTo>
                  <a:pt x="4658793" y="0"/>
                </a:moveTo>
                <a:lnTo>
                  <a:pt x="0" y="0"/>
                </a:lnTo>
                <a:lnTo>
                  <a:pt x="0" y="5577056"/>
                </a:lnTo>
                <a:lnTo>
                  <a:pt x="4191704" y="5908430"/>
                </a:lnTo>
                <a:close/>
              </a:path>
            </a:pathLst>
          </a:custGeom>
        </p:spPr>
      </p:pic>
      <p:pic>
        <p:nvPicPr>
          <p:cNvPr id="6" name="图片 5"/>
          <p:cNvPicPr>
            <a:picLocks noChangeAspect="1"/>
          </p:cNvPicPr>
          <p:nvPr userDrawn="1"/>
        </p:nvPicPr>
        <p:blipFill>
          <a:blip r:embed="rId8" cstate="email">
            <a:alphaModFix amt="79000"/>
            <a:extLst>
              <a:ext uri="{BEBA8EAE-BF5A-486C-A8C5-ECC9F3942E4B}">
                <a14:imgProps xmlns:a14="http://schemas.microsoft.com/office/drawing/2010/main">
                  <a14:imgLayer r:embed="rId9">
                    <a14:imgEffect>
                      <a14:colorTemperature colorTemp="4700"/>
                    </a14:imgEffect>
                  </a14:imgLayer>
                </a14:imgProps>
              </a:ext>
            </a:extLst>
          </a:blip>
          <a:srcRect/>
          <a:stretch>
            <a:fillRect/>
          </a:stretch>
        </p:blipFill>
        <p:spPr>
          <a:xfrm>
            <a:off x="-1" y="0"/>
            <a:ext cx="9144001" cy="959455"/>
          </a:xfrm>
          <a:prstGeom prst="rect">
            <a:avLst/>
          </a:prstGeom>
          <a:effectLst>
            <a:softEdge rad="228600"/>
          </a:effectLst>
        </p:spPr>
      </p:pic>
      <p:sp>
        <p:nvSpPr>
          <p:cNvPr id="14" name="图形 46"/>
          <p:cNvSpPr/>
          <p:nvPr userDrawn="1"/>
        </p:nvSpPr>
        <p:spPr>
          <a:xfrm>
            <a:off x="112569" y="352311"/>
            <a:ext cx="368612" cy="421271"/>
          </a:xfrm>
          <a:custGeom>
            <a:avLst/>
            <a:gdLst>
              <a:gd name="connsiteX0" fmla="*/ 885899 w 1666875"/>
              <a:gd name="connsiteY0" fmla="*/ 454670 h 1905000"/>
              <a:gd name="connsiteX1" fmla="*/ 780976 w 1666875"/>
              <a:gd name="connsiteY1" fmla="*/ 454670 h 1905000"/>
              <a:gd name="connsiteX2" fmla="*/ 930 w 1666875"/>
              <a:gd name="connsiteY2" fmla="*/ 1905000 h 1905000"/>
              <a:gd name="connsiteX3" fmla="*/ 110877 w 1666875"/>
              <a:gd name="connsiteY3" fmla="*/ 1905000 h 1905000"/>
              <a:gd name="connsiteX4" fmla="*/ 164083 w 1666875"/>
              <a:gd name="connsiteY4" fmla="*/ 1872072 h 1905000"/>
              <a:gd name="connsiteX5" fmla="*/ 296168 w 1666875"/>
              <a:gd name="connsiteY5" fmla="*/ 1607344 h 1905000"/>
              <a:gd name="connsiteX6" fmla="*/ 1370707 w 1666875"/>
              <a:gd name="connsiteY6" fmla="*/ 1607344 h 1905000"/>
              <a:gd name="connsiteX7" fmla="*/ 1502792 w 1666875"/>
              <a:gd name="connsiteY7" fmla="*/ 1872072 h 1905000"/>
              <a:gd name="connsiteX8" fmla="*/ 1555998 w 1666875"/>
              <a:gd name="connsiteY8" fmla="*/ 1905000 h 1905000"/>
              <a:gd name="connsiteX9" fmla="*/ 1665945 w 1666875"/>
              <a:gd name="connsiteY9" fmla="*/ 1905000 h 1905000"/>
              <a:gd name="connsiteX10" fmla="*/ 885899 w 1666875"/>
              <a:gd name="connsiteY10" fmla="*/ 454670 h 1905000"/>
              <a:gd name="connsiteX11" fmla="*/ 807207 w 1666875"/>
              <a:gd name="connsiteY11" fmla="*/ 657262 h 1905000"/>
              <a:gd name="connsiteX12" fmla="*/ 859668 w 1666875"/>
              <a:gd name="connsiteY12" fmla="*/ 657262 h 1905000"/>
              <a:gd name="connsiteX13" fmla="*/ 1050541 w 1666875"/>
              <a:gd name="connsiteY13" fmla="*/ 1012031 h 1905000"/>
              <a:gd name="connsiteX14" fmla="*/ 616334 w 1666875"/>
              <a:gd name="connsiteY14" fmla="*/ 1012031 h 1905000"/>
              <a:gd name="connsiteX15" fmla="*/ 807207 w 1666875"/>
              <a:gd name="connsiteY15" fmla="*/ 657262 h 1905000"/>
              <a:gd name="connsiteX16" fmla="*/ 552338 w 1666875"/>
              <a:gd name="connsiteY16" fmla="*/ 1131094 h 1905000"/>
              <a:gd name="connsiteX17" fmla="*/ 868970 w 1666875"/>
              <a:gd name="connsiteY17" fmla="*/ 1131094 h 1905000"/>
              <a:gd name="connsiteX18" fmla="*/ 409649 w 1666875"/>
              <a:gd name="connsiteY18" fmla="*/ 1396194 h 1905000"/>
              <a:gd name="connsiteX19" fmla="*/ 552338 w 1666875"/>
              <a:gd name="connsiteY19" fmla="*/ 1131094 h 1905000"/>
              <a:gd name="connsiteX20" fmla="*/ 488342 w 1666875"/>
              <a:gd name="connsiteY20" fmla="*/ 1488281 h 1905000"/>
              <a:gd name="connsiteX21" fmla="*/ 1106909 w 1666875"/>
              <a:gd name="connsiteY21" fmla="*/ 1131094 h 1905000"/>
              <a:gd name="connsiteX22" fmla="*/ 1112676 w 1666875"/>
              <a:gd name="connsiteY22" fmla="*/ 1127745 h 1905000"/>
              <a:gd name="connsiteX23" fmla="*/ 1114351 w 1666875"/>
              <a:gd name="connsiteY23" fmla="*/ 1131094 h 1905000"/>
              <a:gd name="connsiteX24" fmla="*/ 1306525 w 1666875"/>
              <a:gd name="connsiteY24" fmla="*/ 1488281 h 1905000"/>
              <a:gd name="connsiteX25" fmla="*/ 488342 w 1666875"/>
              <a:gd name="connsiteY25" fmla="*/ 1488281 h 1905000"/>
              <a:gd name="connsiteX26" fmla="*/ 1127187 w 1666875"/>
              <a:gd name="connsiteY26" fmla="*/ 272914 h 1905000"/>
              <a:gd name="connsiteX27" fmla="*/ 1029333 w 1666875"/>
              <a:gd name="connsiteY27" fmla="*/ 340630 h 1905000"/>
              <a:gd name="connsiteX28" fmla="*/ 1071563 w 1666875"/>
              <a:gd name="connsiteY28" fmla="*/ 476250 h 1905000"/>
              <a:gd name="connsiteX29" fmla="*/ 1029333 w 1666875"/>
              <a:gd name="connsiteY29" fmla="*/ 611870 h 1905000"/>
              <a:gd name="connsiteX30" fmla="*/ 1127187 w 1666875"/>
              <a:gd name="connsiteY30" fmla="*/ 679586 h 1905000"/>
              <a:gd name="connsiteX31" fmla="*/ 1190625 w 1666875"/>
              <a:gd name="connsiteY31" fmla="*/ 476250 h 1905000"/>
              <a:gd name="connsiteX32" fmla="*/ 1127187 w 1666875"/>
              <a:gd name="connsiteY32" fmla="*/ 272914 h 1905000"/>
              <a:gd name="connsiteX33" fmla="*/ 539688 w 1666875"/>
              <a:gd name="connsiteY33" fmla="*/ 272914 h 1905000"/>
              <a:gd name="connsiteX34" fmla="*/ 476250 w 1666875"/>
              <a:gd name="connsiteY34" fmla="*/ 476250 h 1905000"/>
              <a:gd name="connsiteX35" fmla="*/ 539688 w 1666875"/>
              <a:gd name="connsiteY35" fmla="*/ 679586 h 1905000"/>
              <a:gd name="connsiteX36" fmla="*/ 637543 w 1666875"/>
              <a:gd name="connsiteY36" fmla="*/ 611870 h 1905000"/>
              <a:gd name="connsiteX37" fmla="*/ 595313 w 1666875"/>
              <a:gd name="connsiteY37" fmla="*/ 476250 h 1905000"/>
              <a:gd name="connsiteX38" fmla="*/ 637543 w 1666875"/>
              <a:gd name="connsiteY38" fmla="*/ 340630 h 1905000"/>
              <a:gd name="connsiteX39" fmla="*/ 539688 w 1666875"/>
              <a:gd name="connsiteY39" fmla="*/ 272914 h 1905000"/>
              <a:gd name="connsiteX40" fmla="*/ 1299270 w 1666875"/>
              <a:gd name="connsiteY40" fmla="*/ 153665 h 1905000"/>
              <a:gd name="connsiteX41" fmla="*/ 1201415 w 1666875"/>
              <a:gd name="connsiteY41" fmla="*/ 221382 h 1905000"/>
              <a:gd name="connsiteX42" fmla="*/ 1244389 w 1666875"/>
              <a:gd name="connsiteY42" fmla="*/ 300261 h 1905000"/>
              <a:gd name="connsiteX43" fmla="*/ 1279922 w 1666875"/>
              <a:gd name="connsiteY43" fmla="*/ 476250 h 1905000"/>
              <a:gd name="connsiteX44" fmla="*/ 1244389 w 1666875"/>
              <a:gd name="connsiteY44" fmla="*/ 652239 h 1905000"/>
              <a:gd name="connsiteX45" fmla="*/ 1201415 w 1666875"/>
              <a:gd name="connsiteY45" fmla="*/ 731118 h 1905000"/>
              <a:gd name="connsiteX46" fmla="*/ 1299270 w 1666875"/>
              <a:gd name="connsiteY46" fmla="*/ 798835 h 1905000"/>
              <a:gd name="connsiteX47" fmla="*/ 1398984 w 1666875"/>
              <a:gd name="connsiteY47" fmla="*/ 476250 h 1905000"/>
              <a:gd name="connsiteX48" fmla="*/ 1299270 w 1666875"/>
              <a:gd name="connsiteY48" fmla="*/ 153665 h 1905000"/>
              <a:gd name="connsiteX49" fmla="*/ 458019 w 1666875"/>
              <a:gd name="connsiteY49" fmla="*/ 216359 h 1905000"/>
              <a:gd name="connsiteX50" fmla="*/ 360164 w 1666875"/>
              <a:gd name="connsiteY50" fmla="*/ 148642 h 1905000"/>
              <a:gd name="connsiteX51" fmla="*/ 256729 w 1666875"/>
              <a:gd name="connsiteY51" fmla="*/ 476250 h 1905000"/>
              <a:gd name="connsiteX52" fmla="*/ 359978 w 1666875"/>
              <a:gd name="connsiteY52" fmla="*/ 804044 h 1905000"/>
              <a:gd name="connsiteX53" fmla="*/ 457833 w 1666875"/>
              <a:gd name="connsiteY53" fmla="*/ 736327 h 1905000"/>
              <a:gd name="connsiteX54" fmla="*/ 411138 w 1666875"/>
              <a:gd name="connsiteY54" fmla="*/ 652239 h 1905000"/>
              <a:gd name="connsiteX55" fmla="*/ 375791 w 1666875"/>
              <a:gd name="connsiteY55" fmla="*/ 476250 h 1905000"/>
              <a:gd name="connsiteX56" fmla="*/ 411324 w 1666875"/>
              <a:gd name="connsiteY56" fmla="*/ 300261 h 1905000"/>
              <a:gd name="connsiteX57" fmla="*/ 458019 w 1666875"/>
              <a:gd name="connsiteY57" fmla="*/ 216359 h 1905000"/>
              <a:gd name="connsiteX58" fmla="*/ 1521396 w 1666875"/>
              <a:gd name="connsiteY58" fmla="*/ 0 h 1905000"/>
              <a:gd name="connsiteX59" fmla="*/ 1423541 w 1666875"/>
              <a:gd name="connsiteY59" fmla="*/ 67717 h 1905000"/>
              <a:gd name="connsiteX60" fmla="*/ 1491816 w 1666875"/>
              <a:gd name="connsiteY60" fmla="*/ 192546 h 1905000"/>
              <a:gd name="connsiteX61" fmla="*/ 1547999 w 1666875"/>
              <a:gd name="connsiteY61" fmla="*/ 470669 h 1905000"/>
              <a:gd name="connsiteX62" fmla="*/ 1491816 w 1666875"/>
              <a:gd name="connsiteY62" fmla="*/ 748792 h 1905000"/>
              <a:gd name="connsiteX63" fmla="*/ 1418332 w 1666875"/>
              <a:gd name="connsiteY63" fmla="*/ 881249 h 1905000"/>
              <a:gd name="connsiteX64" fmla="*/ 1516187 w 1666875"/>
              <a:gd name="connsiteY64" fmla="*/ 948779 h 1905000"/>
              <a:gd name="connsiteX65" fmla="*/ 1666875 w 1666875"/>
              <a:gd name="connsiteY65" fmla="*/ 470669 h 1905000"/>
              <a:gd name="connsiteX66" fmla="*/ 1521396 w 1666875"/>
              <a:gd name="connsiteY66" fmla="*/ 0 h 1905000"/>
              <a:gd name="connsiteX67" fmla="*/ 119063 w 1666875"/>
              <a:gd name="connsiteY67" fmla="*/ 470669 h 1905000"/>
              <a:gd name="connsiteX68" fmla="*/ 175245 w 1666875"/>
              <a:gd name="connsiteY68" fmla="*/ 192546 h 1905000"/>
              <a:gd name="connsiteX69" fmla="*/ 243520 w 1666875"/>
              <a:gd name="connsiteY69" fmla="*/ 67717 h 1905000"/>
              <a:gd name="connsiteX70" fmla="*/ 145479 w 1666875"/>
              <a:gd name="connsiteY70" fmla="*/ 0 h 1905000"/>
              <a:gd name="connsiteX71" fmla="*/ 0 w 1666875"/>
              <a:gd name="connsiteY71" fmla="*/ 470669 h 1905000"/>
              <a:gd name="connsiteX72" fmla="*/ 150688 w 1666875"/>
              <a:gd name="connsiteY72" fmla="*/ 948779 h 1905000"/>
              <a:gd name="connsiteX73" fmla="*/ 248543 w 1666875"/>
              <a:gd name="connsiteY73" fmla="*/ 881063 h 1905000"/>
              <a:gd name="connsiteX74" fmla="*/ 175059 w 1666875"/>
              <a:gd name="connsiteY74" fmla="*/ 748605 h 1905000"/>
              <a:gd name="connsiteX75" fmla="*/ 119063 w 1666875"/>
              <a:gd name="connsiteY75" fmla="*/ 47066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666875" h="1905000">
                <a:moveTo>
                  <a:pt x="885899" y="454670"/>
                </a:moveTo>
                <a:cubicBezTo>
                  <a:pt x="863389" y="412812"/>
                  <a:pt x="803486" y="412812"/>
                  <a:pt x="780976" y="454670"/>
                </a:cubicBezTo>
                <a:lnTo>
                  <a:pt x="930" y="1905000"/>
                </a:lnTo>
                <a:lnTo>
                  <a:pt x="110877" y="1905000"/>
                </a:lnTo>
                <a:cubicBezTo>
                  <a:pt x="133387" y="1905000"/>
                  <a:pt x="154037" y="1892164"/>
                  <a:pt x="164083" y="1872072"/>
                </a:cubicBezTo>
                <a:lnTo>
                  <a:pt x="296168" y="1607344"/>
                </a:lnTo>
                <a:lnTo>
                  <a:pt x="1370707" y="1607344"/>
                </a:lnTo>
                <a:lnTo>
                  <a:pt x="1502792" y="1872072"/>
                </a:lnTo>
                <a:cubicBezTo>
                  <a:pt x="1512838" y="1892350"/>
                  <a:pt x="1533488" y="1905000"/>
                  <a:pt x="1555998" y="1905000"/>
                </a:cubicBezTo>
                <a:lnTo>
                  <a:pt x="1665945" y="1905000"/>
                </a:lnTo>
                <a:lnTo>
                  <a:pt x="885899" y="454670"/>
                </a:lnTo>
                <a:close/>
                <a:moveTo>
                  <a:pt x="807207" y="657262"/>
                </a:moveTo>
                <a:cubicBezTo>
                  <a:pt x="818369" y="636426"/>
                  <a:pt x="848320" y="636426"/>
                  <a:pt x="859668" y="657262"/>
                </a:cubicBezTo>
                <a:lnTo>
                  <a:pt x="1050541" y="1012031"/>
                </a:lnTo>
                <a:lnTo>
                  <a:pt x="616334" y="1012031"/>
                </a:lnTo>
                <a:lnTo>
                  <a:pt x="807207" y="657262"/>
                </a:lnTo>
                <a:close/>
                <a:moveTo>
                  <a:pt x="552338" y="1131094"/>
                </a:moveTo>
                <a:lnTo>
                  <a:pt x="868970" y="1131094"/>
                </a:lnTo>
                <a:lnTo>
                  <a:pt x="409649" y="1396194"/>
                </a:lnTo>
                <a:lnTo>
                  <a:pt x="552338" y="1131094"/>
                </a:lnTo>
                <a:close/>
                <a:moveTo>
                  <a:pt x="488342" y="1488281"/>
                </a:moveTo>
                <a:lnTo>
                  <a:pt x="1106909" y="1131094"/>
                </a:lnTo>
                <a:lnTo>
                  <a:pt x="1112676" y="1127745"/>
                </a:lnTo>
                <a:lnTo>
                  <a:pt x="1114351" y="1131094"/>
                </a:lnTo>
                <a:lnTo>
                  <a:pt x="1306525" y="1488281"/>
                </a:lnTo>
                <a:lnTo>
                  <a:pt x="488342" y="1488281"/>
                </a:lnTo>
                <a:close/>
                <a:moveTo>
                  <a:pt x="1127187" y="272914"/>
                </a:moveTo>
                <a:lnTo>
                  <a:pt x="1029333" y="340630"/>
                </a:lnTo>
                <a:cubicBezTo>
                  <a:pt x="1056680" y="380256"/>
                  <a:pt x="1071563" y="427137"/>
                  <a:pt x="1071563" y="476250"/>
                </a:cubicBezTo>
                <a:cubicBezTo>
                  <a:pt x="1071563" y="525363"/>
                  <a:pt x="1056680" y="572244"/>
                  <a:pt x="1029333" y="611870"/>
                </a:cubicBezTo>
                <a:lnTo>
                  <a:pt x="1127187" y="679586"/>
                </a:lnTo>
                <a:cubicBezTo>
                  <a:pt x="1167185" y="621916"/>
                  <a:pt x="1190625" y="551780"/>
                  <a:pt x="1190625" y="476250"/>
                </a:cubicBezTo>
                <a:cubicBezTo>
                  <a:pt x="1190625" y="400720"/>
                  <a:pt x="1167185" y="330584"/>
                  <a:pt x="1127187" y="272914"/>
                </a:cubicBezTo>
                <a:close/>
                <a:moveTo>
                  <a:pt x="539688" y="272914"/>
                </a:moveTo>
                <a:cubicBezTo>
                  <a:pt x="499690" y="330584"/>
                  <a:pt x="476250" y="400720"/>
                  <a:pt x="476250" y="476250"/>
                </a:cubicBezTo>
                <a:cubicBezTo>
                  <a:pt x="476250" y="551780"/>
                  <a:pt x="499690" y="621916"/>
                  <a:pt x="539688" y="679586"/>
                </a:cubicBezTo>
                <a:lnTo>
                  <a:pt x="637543" y="611870"/>
                </a:lnTo>
                <a:cubicBezTo>
                  <a:pt x="610195" y="572244"/>
                  <a:pt x="595313" y="525363"/>
                  <a:pt x="595313" y="476250"/>
                </a:cubicBezTo>
                <a:cubicBezTo>
                  <a:pt x="595313" y="427137"/>
                  <a:pt x="610195" y="380256"/>
                  <a:pt x="637543" y="340630"/>
                </a:cubicBezTo>
                <a:lnTo>
                  <a:pt x="539688" y="272914"/>
                </a:lnTo>
                <a:close/>
                <a:moveTo>
                  <a:pt x="1299270" y="153665"/>
                </a:moveTo>
                <a:lnTo>
                  <a:pt x="1201415" y="221382"/>
                </a:lnTo>
                <a:cubicBezTo>
                  <a:pt x="1218344" y="246125"/>
                  <a:pt x="1232669" y="272355"/>
                  <a:pt x="1244389" y="300261"/>
                </a:cubicBezTo>
                <a:cubicBezTo>
                  <a:pt x="1268016" y="355885"/>
                  <a:pt x="1279922" y="415044"/>
                  <a:pt x="1279922" y="476250"/>
                </a:cubicBezTo>
                <a:cubicBezTo>
                  <a:pt x="1279922" y="537270"/>
                  <a:pt x="1268016" y="596429"/>
                  <a:pt x="1244389" y="652239"/>
                </a:cubicBezTo>
                <a:cubicBezTo>
                  <a:pt x="1232669" y="679959"/>
                  <a:pt x="1218344" y="706376"/>
                  <a:pt x="1201415" y="731118"/>
                </a:cubicBezTo>
                <a:lnTo>
                  <a:pt x="1299270" y="798835"/>
                </a:lnTo>
                <a:cubicBezTo>
                  <a:pt x="1362149" y="706934"/>
                  <a:pt x="1398984" y="595871"/>
                  <a:pt x="1398984" y="476250"/>
                </a:cubicBezTo>
                <a:cubicBezTo>
                  <a:pt x="1398984" y="356629"/>
                  <a:pt x="1362149" y="245566"/>
                  <a:pt x="1299270" y="153665"/>
                </a:cubicBezTo>
                <a:close/>
                <a:moveTo>
                  <a:pt x="458019" y="216359"/>
                </a:moveTo>
                <a:lnTo>
                  <a:pt x="360164" y="148642"/>
                </a:lnTo>
                <a:cubicBezTo>
                  <a:pt x="294866" y="241288"/>
                  <a:pt x="256729" y="354397"/>
                  <a:pt x="256729" y="476250"/>
                </a:cubicBezTo>
                <a:cubicBezTo>
                  <a:pt x="256729" y="598103"/>
                  <a:pt x="294866" y="711212"/>
                  <a:pt x="359978" y="804044"/>
                </a:cubicBezTo>
                <a:lnTo>
                  <a:pt x="457833" y="736327"/>
                </a:lnTo>
                <a:cubicBezTo>
                  <a:pt x="439415" y="710096"/>
                  <a:pt x="423788" y="682005"/>
                  <a:pt x="411138" y="652239"/>
                </a:cubicBezTo>
                <a:cubicBezTo>
                  <a:pt x="387697" y="596429"/>
                  <a:pt x="375791" y="537270"/>
                  <a:pt x="375791" y="476250"/>
                </a:cubicBezTo>
                <a:cubicBezTo>
                  <a:pt x="375791" y="415230"/>
                  <a:pt x="387697" y="355885"/>
                  <a:pt x="411324" y="300261"/>
                </a:cubicBezTo>
                <a:cubicBezTo>
                  <a:pt x="423788" y="270495"/>
                  <a:pt x="439415" y="242404"/>
                  <a:pt x="458019" y="216359"/>
                </a:cubicBezTo>
                <a:close/>
                <a:moveTo>
                  <a:pt x="1521396" y="0"/>
                </a:moveTo>
                <a:lnTo>
                  <a:pt x="1423541" y="67717"/>
                </a:lnTo>
                <a:cubicBezTo>
                  <a:pt x="1450330" y="106784"/>
                  <a:pt x="1473213" y="148642"/>
                  <a:pt x="1491816" y="192546"/>
                </a:cubicBezTo>
                <a:cubicBezTo>
                  <a:pt x="1529023" y="280541"/>
                  <a:pt x="1547999" y="374117"/>
                  <a:pt x="1547999" y="470669"/>
                </a:cubicBezTo>
                <a:cubicBezTo>
                  <a:pt x="1547999" y="567221"/>
                  <a:pt x="1529209" y="660611"/>
                  <a:pt x="1491816" y="748792"/>
                </a:cubicBezTo>
                <a:cubicBezTo>
                  <a:pt x="1471910" y="795672"/>
                  <a:pt x="1447354" y="839949"/>
                  <a:pt x="1418332" y="881249"/>
                </a:cubicBezTo>
                <a:lnTo>
                  <a:pt x="1516187" y="948779"/>
                </a:lnTo>
                <a:cubicBezTo>
                  <a:pt x="1611251" y="813346"/>
                  <a:pt x="1666875" y="648519"/>
                  <a:pt x="1666875" y="470669"/>
                </a:cubicBezTo>
                <a:cubicBezTo>
                  <a:pt x="1666875" y="295982"/>
                  <a:pt x="1613111" y="133945"/>
                  <a:pt x="1521396" y="0"/>
                </a:cubicBezTo>
                <a:close/>
                <a:moveTo>
                  <a:pt x="119063" y="470669"/>
                </a:moveTo>
                <a:cubicBezTo>
                  <a:pt x="119063" y="374117"/>
                  <a:pt x="137852" y="280541"/>
                  <a:pt x="175245" y="192546"/>
                </a:cubicBezTo>
                <a:cubicBezTo>
                  <a:pt x="193849" y="148456"/>
                  <a:pt x="216731" y="106784"/>
                  <a:pt x="243520" y="67717"/>
                </a:cubicBezTo>
                <a:lnTo>
                  <a:pt x="145479" y="0"/>
                </a:lnTo>
                <a:cubicBezTo>
                  <a:pt x="53764" y="133945"/>
                  <a:pt x="0" y="295982"/>
                  <a:pt x="0" y="470669"/>
                </a:cubicBezTo>
                <a:cubicBezTo>
                  <a:pt x="0" y="648519"/>
                  <a:pt x="55811" y="813532"/>
                  <a:pt x="150688" y="948779"/>
                </a:cubicBezTo>
                <a:lnTo>
                  <a:pt x="248543" y="881063"/>
                </a:lnTo>
                <a:cubicBezTo>
                  <a:pt x="219521" y="839763"/>
                  <a:pt x="194965" y="795486"/>
                  <a:pt x="175059" y="748605"/>
                </a:cubicBezTo>
                <a:cubicBezTo>
                  <a:pt x="137852" y="660611"/>
                  <a:pt x="119063" y="567221"/>
                  <a:pt x="119063" y="470669"/>
                </a:cubicBezTo>
                <a:close/>
              </a:path>
            </a:pathLst>
          </a:custGeom>
          <a:gradFill flip="none" rotWithShape="1">
            <a:gsLst>
              <a:gs pos="0">
                <a:srgbClr val="E6F7FE"/>
              </a:gs>
              <a:gs pos="82000">
                <a:srgbClr val="5ECDF6"/>
              </a:gs>
            </a:gsLst>
            <a:lin ang="5400000" scaled="1"/>
          </a:gradFill>
          <a:ln w="1860" cap="flat">
            <a:noFill/>
            <a:prstDash val="solid"/>
            <a:miter/>
          </a:ln>
        </p:spPr>
        <p:txBody>
          <a:bodyPr rtlCol="0" anchor="ctr"/>
          <a:lstStyle/>
          <a:p>
            <a:pPr defTabSz="914400"/>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面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email"/>
          <a:stretch>
            <a:fillRect/>
          </a:stretch>
        </p:blipFill>
        <p:spPr>
          <a:xfrm>
            <a:off x="0" y="0"/>
            <a:ext cx="9144000" cy="5143500"/>
          </a:xfrm>
          <a:prstGeom prst="rect">
            <a:avLst/>
          </a:prstGeom>
        </p:spPr>
      </p:pic>
      <p:sp>
        <p:nvSpPr>
          <p:cNvPr id="6" name="竖排文字占位符 9"/>
          <p:cNvSpPr>
            <a:spLocks noGrp="1"/>
          </p:cNvSpPr>
          <p:nvPr>
            <p:ph type="body" orient="vert" sz="quarter" idx="15" hasCustomPrompt="1"/>
          </p:nvPr>
        </p:nvSpPr>
        <p:spPr>
          <a:xfrm flipH="1">
            <a:off x="2284256" y="2237286"/>
            <a:ext cx="4575489" cy="429823"/>
          </a:xfrm>
          <a:prstGeom prst="rect">
            <a:avLst/>
          </a:prstGeom>
          <a:noFill/>
        </p:spPr>
        <p:txBody>
          <a:bodyPr vert="horz" lIns="91440" tIns="45720" rIns="91440" bIns="45720" rtlCol="0" anchor="ctr">
            <a:noAutofit/>
          </a:bodyPr>
          <a:lstStyle>
            <a:lvl1pPr marL="0" indent="0" algn="ctr">
              <a:lnSpc>
                <a:spcPct val="100000"/>
              </a:lnSpc>
              <a:spcBef>
                <a:spcPct val="0"/>
              </a:spcBef>
              <a:buNone/>
              <a:defRPr lang="zh-CN" altLang="en-US" sz="1800" b="1">
                <a:solidFill>
                  <a:schemeClr val="bg1"/>
                </a:solidFill>
                <a:latin typeface="+mn-ea"/>
                <a:ea typeface="+mn-ea"/>
              </a:defRPr>
            </a:lvl1pPr>
          </a:lstStyle>
          <a:p>
            <a:pPr lvl="0">
              <a:buNone/>
            </a:pPr>
            <a:r>
              <a:rPr lang="zh-CN" altLang="en-US"/>
              <a:t>编辑文本</a:t>
            </a:r>
            <a:endParaRPr lang="zh-CN" altLang="en-US"/>
          </a:p>
        </p:txBody>
      </p:sp>
      <p:sp>
        <p:nvSpPr>
          <p:cNvPr id="5" name="文本占位符 15"/>
          <p:cNvSpPr>
            <a:spLocks noGrp="1"/>
          </p:cNvSpPr>
          <p:nvPr>
            <p:ph type="body" sz="quarter" idx="13" hasCustomPrompt="1"/>
          </p:nvPr>
        </p:nvSpPr>
        <p:spPr>
          <a:xfrm>
            <a:off x="494110" y="1215798"/>
            <a:ext cx="8155781" cy="800645"/>
          </a:xfrm>
        </p:spPr>
        <p:txBody>
          <a:bodyPr anchor="ctr">
            <a:noAutofit/>
          </a:bodyPr>
          <a:lstStyle>
            <a:lvl1pPr marL="0" indent="0" algn="ctr">
              <a:spcBef>
                <a:spcPct val="0"/>
              </a:spcBef>
              <a:buNone/>
              <a:defRPr lang="zh-CN" altLang="en-US" sz="4950" b="0" kern="1200" spc="0" baseline="0" smtClean="0">
                <a:gradFill>
                  <a:gsLst>
                    <a:gs pos="0">
                      <a:schemeClr val="bg1"/>
                    </a:gs>
                    <a:gs pos="100000">
                      <a:schemeClr val="bg1">
                        <a:alpha val="60000"/>
                      </a:schemeClr>
                    </a:gs>
                  </a:gsLst>
                  <a:lin ang="5400000" scaled="1"/>
                </a:gradFill>
                <a:effectLst/>
                <a:latin typeface="+mj-ea"/>
                <a:ea typeface="+mj-ea"/>
                <a:cs typeface="+mn-cs"/>
              </a:defRPr>
            </a:lvl1pPr>
            <a:lvl2pPr>
              <a:buNone/>
              <a:defRPr/>
            </a:lvl2pPr>
          </a:lstStyle>
          <a:p>
            <a:pPr lvl="0"/>
            <a:r>
              <a:rPr lang="zh-CN" altLang="en-US"/>
              <a:t>标题文字</a:t>
            </a:r>
            <a:endParaRPr lang="en-US" altLang="zh-CN"/>
          </a:p>
        </p:txBody>
      </p:sp>
      <p:sp>
        <p:nvSpPr>
          <p:cNvPr id="10" name="竖排文字占位符 9"/>
          <p:cNvSpPr>
            <a:spLocks noGrp="1"/>
          </p:cNvSpPr>
          <p:nvPr>
            <p:ph type="body" orient="vert" sz="quarter" idx="17" hasCustomPrompt="1"/>
          </p:nvPr>
        </p:nvSpPr>
        <p:spPr>
          <a:xfrm flipH="1">
            <a:off x="3636596" y="2934557"/>
            <a:ext cx="1870808" cy="429823"/>
          </a:xfrm>
          <a:prstGeom prst="rect">
            <a:avLst/>
          </a:prstGeom>
          <a:noFill/>
          <a:ln>
            <a:gradFill flip="none" rotWithShape="1">
              <a:gsLst>
                <a:gs pos="60500">
                  <a:srgbClr val="2EBDFA"/>
                </a:gs>
                <a:gs pos="0">
                  <a:schemeClr val="accent4">
                    <a:alpha val="0"/>
                  </a:schemeClr>
                </a:gs>
                <a:gs pos="100000">
                  <a:schemeClr val="accent4">
                    <a:alpha val="0"/>
                  </a:schemeClr>
                </a:gs>
              </a:gsLst>
              <a:lin ang="16200000" scaled="1"/>
            </a:gradFill>
          </a:ln>
        </p:spPr>
        <p:txBody>
          <a:bodyPr vert="horz" lIns="91440" tIns="45720" rIns="91440" bIns="45720" rtlCol="0" anchor="ctr">
            <a:noAutofit/>
          </a:bodyPr>
          <a:lstStyle>
            <a:lvl1pPr marL="0" indent="0" algn="ctr">
              <a:lnSpc>
                <a:spcPct val="120000"/>
              </a:lnSpc>
              <a:spcBef>
                <a:spcPct val="0"/>
              </a:spcBef>
              <a:buNone/>
              <a:defRPr lang="zh-CN" altLang="en-US" sz="1350" b="1">
                <a:solidFill>
                  <a:schemeClr val="bg1"/>
                </a:solidFill>
                <a:latin typeface="+mn-ea"/>
                <a:ea typeface="+mn-ea"/>
              </a:defRPr>
            </a:lvl1pPr>
          </a:lstStyle>
          <a:p>
            <a:pPr lvl="0">
              <a:buNone/>
            </a:pPr>
            <a:r>
              <a:rPr lang="zh-CN" altLang="en-US"/>
              <a:t>编辑文本</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hf sldNum="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stretch>
            <a:fillRect/>
          </a:stretch>
        </p:blipFill>
        <p:spPr>
          <a:xfrm>
            <a:off x="0" y="0"/>
            <a:ext cx="9144000" cy="5143500"/>
          </a:xfrm>
          <a:prstGeom prst="rect">
            <a:avLst/>
          </a:prstGeom>
        </p:spPr>
      </p:pic>
      <p:sp>
        <p:nvSpPr>
          <p:cNvPr id="7" name="矩形 6"/>
          <p:cNvSpPr/>
          <p:nvPr userDrawn="1"/>
        </p:nvSpPr>
        <p:spPr>
          <a:xfrm>
            <a:off x="0" y="0"/>
            <a:ext cx="9144000" cy="5143500"/>
          </a:xfrm>
          <a:prstGeom prst="rect">
            <a:avLst/>
          </a:prstGeom>
          <a:solidFill>
            <a:srgbClr val="022C5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等线"/>
              <a:ea typeface="等线"/>
              <a:cs typeface="+mn-cs"/>
            </a:endParaRPr>
          </a:p>
        </p:txBody>
      </p:sp>
      <p:pic>
        <p:nvPicPr>
          <p:cNvPr id="8" name="图片 7"/>
          <p:cNvPicPr>
            <a:picLocks noChangeAspect="1"/>
          </p:cNvPicPr>
          <p:nvPr userDrawn="1"/>
        </p:nvPicPr>
        <p:blipFill>
          <a:blip r:embed="rId3"/>
          <a:stretch>
            <a:fillRect/>
          </a:stretch>
        </p:blipFill>
        <p:spPr>
          <a:xfrm>
            <a:off x="1951667" y="-830628"/>
            <a:ext cx="5240666" cy="29478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grpSp>
        <p:nvGrpSpPr>
          <p:cNvPr id="8" name="组合 7"/>
          <p:cNvGrpSpPr/>
          <p:nvPr userDrawn="1"/>
        </p:nvGrpSpPr>
        <p:grpSpPr>
          <a:xfrm>
            <a:off x="0" y="-476"/>
            <a:ext cx="9144000" cy="5144929"/>
            <a:chOff x="0" y="-1"/>
            <a:chExt cx="19200" cy="10803"/>
          </a:xfrm>
        </p:grpSpPr>
        <p:pic>
          <p:nvPicPr>
            <p:cNvPr id="3" name="图片 2" descr="微信图片_20250718163043_316"/>
            <p:cNvPicPr>
              <a:picLocks noChangeAspect="1"/>
            </p:cNvPicPr>
            <p:nvPr/>
          </p:nvPicPr>
          <p:blipFill>
            <a:blip r:embed="rId2"/>
            <a:stretch>
              <a:fillRect/>
            </a:stretch>
          </p:blipFill>
          <p:spPr>
            <a:xfrm>
              <a:off x="0" y="-1"/>
              <a:ext cx="19200" cy="10802"/>
            </a:xfrm>
            <a:prstGeom prst="rect">
              <a:avLst/>
            </a:prstGeom>
          </p:spPr>
        </p:pic>
        <p:sp>
          <p:nvSpPr>
            <p:cNvPr id="6" name="矩形 5"/>
            <p:cNvSpPr/>
            <p:nvPr/>
          </p:nvSpPr>
          <p:spPr>
            <a:xfrm>
              <a:off x="0" y="0"/>
              <a:ext cx="19200" cy="10802"/>
            </a:xfrm>
            <a:prstGeom prst="rect">
              <a:avLst/>
            </a:prstGeom>
            <a:solidFill>
              <a:srgbClr val="000000">
                <a:alpha val="8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14.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E51D812D-BC7E-4A63-8046-08152F57DFA8}"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84D0A57E-7639-4332-A278-621DDC23627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mc:Choice xmlns:p14="http://schemas.microsoft.com/office/powerpoint/2010/main" Requires="p14">
      <p:transition spd="slow" p14:dur="800"/>
    </mc:Choice>
    <mc:Fallback>
      <p:transition spd="slow"/>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1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00" name="蓝图-直接连接符 179"/>
          <p:cNvSpPr>
            <a:spLocks noGrp="1"/>
          </p:cNvSpPr>
          <p:nvPr/>
        </p:nvSpPr>
        <p:spPr>
          <a:xfrm>
            <a:off x="167628" y="1497935"/>
            <a:ext cx="7935818"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01" name="蓝图-直接连接符 180"/>
          <p:cNvSpPr>
            <a:spLocks noGrp="1"/>
          </p:cNvSpPr>
          <p:nvPr/>
        </p:nvSpPr>
        <p:spPr>
          <a:xfrm>
            <a:off x="169545" y="2037688"/>
            <a:ext cx="7933901"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02" name="蓝图-Shape 67"/>
          <p:cNvSpPr>
            <a:spLocks noGrp="1"/>
          </p:cNvSpPr>
          <p:nvPr/>
        </p:nvSpPr>
        <p:spPr>
          <a:xfrm>
            <a:off x="1164230" y="2341182"/>
            <a:ext cx="1209761" cy="1018241"/>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03" name="蓝图-Shape 0"/>
          <p:cNvSpPr>
            <a:spLocks noGrp="1"/>
          </p:cNvSpPr>
          <p:nvPr/>
        </p:nvSpPr>
        <p:spPr>
          <a:xfrm>
            <a:off x="6834300" y="2549483"/>
            <a:ext cx="8282" cy="102164"/>
          </a:xfrm>
          <a:prstGeom prst="line">
            <a:avLst/>
          </a:prstGeom>
          <a:noFill/>
          <a:ln w="1270">
            <a:solidFill>
              <a:srgbClr val="7A6A5C"/>
            </a:solidFill>
            <a:prstDash val="solid"/>
            <a:headEnd type="none"/>
            <a:tailEnd type="triangle"/>
          </a:ln>
        </p:spPr>
      </p:sp>
      <p:sp>
        <p:nvSpPr>
          <p:cNvPr id="1004" name="蓝图-Shape 1"/>
          <p:cNvSpPr>
            <a:spLocks noGrp="1"/>
          </p:cNvSpPr>
          <p:nvPr/>
        </p:nvSpPr>
        <p:spPr>
          <a:xfrm>
            <a:off x="6822668" y="3144167"/>
            <a:ext cx="8282" cy="93014"/>
          </a:xfrm>
          <a:prstGeom prst="line">
            <a:avLst/>
          </a:prstGeom>
          <a:noFill/>
          <a:ln w="1270">
            <a:solidFill>
              <a:srgbClr val="7A6A5C"/>
            </a:solidFill>
            <a:prstDash val="solid"/>
            <a:headEnd type="none"/>
            <a:tailEnd type="triangle"/>
          </a:ln>
        </p:spPr>
      </p:sp>
      <p:sp>
        <p:nvSpPr>
          <p:cNvPr id="1005" name="蓝图-Shape 2"/>
          <p:cNvSpPr>
            <a:spLocks noGrp="1"/>
          </p:cNvSpPr>
          <p:nvPr/>
        </p:nvSpPr>
        <p:spPr>
          <a:xfrm>
            <a:off x="1365874" y="2512887"/>
            <a:ext cx="8282" cy="123512"/>
          </a:xfrm>
          <a:prstGeom prst="line">
            <a:avLst/>
          </a:prstGeom>
          <a:noFill/>
          <a:ln w="1270">
            <a:solidFill>
              <a:srgbClr val="7A6A5C"/>
            </a:solidFill>
            <a:prstDash val="solid"/>
            <a:headEnd type="none"/>
            <a:tailEnd type="triangle"/>
          </a:ln>
        </p:spPr>
      </p:sp>
      <p:sp>
        <p:nvSpPr>
          <p:cNvPr id="1006" name="蓝图-Shape 3"/>
          <p:cNvSpPr>
            <a:spLocks noGrp="1"/>
          </p:cNvSpPr>
          <p:nvPr/>
        </p:nvSpPr>
        <p:spPr>
          <a:xfrm>
            <a:off x="4913897" y="3031329"/>
            <a:ext cx="8282" cy="99114"/>
          </a:xfrm>
          <a:prstGeom prst="line">
            <a:avLst/>
          </a:prstGeom>
          <a:noFill/>
          <a:ln w="1270">
            <a:solidFill>
              <a:srgbClr val="7A6A5C"/>
            </a:solidFill>
            <a:prstDash val="solid"/>
            <a:headEnd type="none"/>
            <a:tailEnd type="triangle"/>
          </a:ln>
        </p:spPr>
      </p:sp>
      <p:sp>
        <p:nvSpPr>
          <p:cNvPr id="1007" name="蓝图-Shape 4"/>
          <p:cNvSpPr>
            <a:spLocks noGrp="1"/>
          </p:cNvSpPr>
          <p:nvPr/>
        </p:nvSpPr>
        <p:spPr>
          <a:xfrm>
            <a:off x="3697003" y="2657746"/>
            <a:ext cx="8282" cy="91490"/>
          </a:xfrm>
          <a:prstGeom prst="line">
            <a:avLst/>
          </a:prstGeom>
          <a:noFill/>
          <a:ln w="1270">
            <a:solidFill>
              <a:srgbClr val="7A6A5C"/>
            </a:solidFill>
            <a:prstDash val="solid"/>
            <a:headEnd type="none"/>
            <a:tailEnd type="triangle"/>
          </a:ln>
        </p:spPr>
      </p:sp>
      <p:sp>
        <p:nvSpPr>
          <p:cNvPr id="1008" name="蓝图-Shape 5"/>
          <p:cNvSpPr>
            <a:spLocks noGrp="1"/>
          </p:cNvSpPr>
          <p:nvPr/>
        </p:nvSpPr>
        <p:spPr>
          <a:xfrm>
            <a:off x="3697003" y="2840725"/>
            <a:ext cx="8282" cy="91490"/>
          </a:xfrm>
          <a:prstGeom prst="line">
            <a:avLst/>
          </a:prstGeom>
          <a:noFill/>
          <a:ln w="1270">
            <a:solidFill>
              <a:srgbClr val="7A6A5C"/>
            </a:solidFill>
            <a:prstDash val="solid"/>
            <a:headEnd type="none"/>
            <a:tailEnd type="triangle"/>
          </a:ln>
        </p:spPr>
      </p:sp>
      <p:sp>
        <p:nvSpPr>
          <p:cNvPr id="1009" name="蓝图-Shape 6"/>
          <p:cNvSpPr>
            <a:spLocks noGrp="1"/>
          </p:cNvSpPr>
          <p:nvPr/>
        </p:nvSpPr>
        <p:spPr>
          <a:xfrm>
            <a:off x="8143839" y="806751"/>
            <a:ext cx="830617" cy="3866550"/>
          </a:xfrm>
          <a:prstGeom prst="roundRect">
            <a:avLst>
              <a:gd name="adj" fmla="val 4000"/>
            </a:avLst>
          </a:prstGeom>
          <a:solidFill>
            <a:schemeClr val="accent2">
              <a:lumMod val="20000"/>
              <a:lumOff val="80000"/>
            </a:schemeClr>
          </a:solidFill>
          <a:ln w="1270">
            <a:noFill/>
            <a:prstDash val="solid"/>
          </a:ln>
        </p:spPr>
        <p:txBody>
          <a:bodyPr/>
          <a:lstStyle/>
          <a:p>
            <a:endParaRPr sz="1015"/>
          </a:p>
        </p:txBody>
      </p:sp>
      <p:sp>
        <p:nvSpPr>
          <p:cNvPr id="1010" name="蓝图-Text 8"/>
          <p:cNvSpPr>
            <a:spLocks noGrp="1"/>
          </p:cNvSpPr>
          <p:nvPr/>
        </p:nvSpPr>
        <p:spPr>
          <a:xfrm>
            <a:off x="169545" y="806793"/>
            <a:ext cx="558304" cy="640428"/>
          </a:xfrm>
          <a:prstGeom prst="rect">
            <a:avLst/>
          </a:prstGeom>
          <a:solidFill>
            <a:schemeClr val="accent6">
              <a:lumMod val="50000"/>
            </a:schemeClr>
          </a:solidFill>
          <a:ln w="1270">
            <a:noFill/>
            <a:prstDash val="solid"/>
          </a:ln>
        </p:spPr>
        <p:txBody>
          <a:bodyPr wrap="square" lIns="0" tIns="0" rIns="0" bIns="0" anchor="ctr"/>
          <a:lstStyle/>
          <a:p>
            <a:pPr algn="ctr"/>
            <a:r>
              <a:rPr sz="990" b="1">
                <a:solidFill>
                  <a:schemeClr val="bg1"/>
                </a:solidFill>
                <a:latin typeface="微软雅黑"/>
                <a:ea typeface="微软雅黑"/>
                <a:cs typeface="微软雅黑"/>
              </a:rPr>
              <a:t>用户</a:t>
            </a:r>
            <a:endParaRPr sz="990" b="1">
              <a:solidFill>
                <a:schemeClr val="bg1"/>
              </a:solidFill>
              <a:latin typeface="微软雅黑"/>
              <a:ea typeface="微软雅黑"/>
              <a:cs typeface="微软雅黑"/>
            </a:endParaRPr>
          </a:p>
        </p:txBody>
      </p:sp>
      <p:sp>
        <p:nvSpPr>
          <p:cNvPr id="1011" name="蓝图-Shape 9"/>
          <p:cNvSpPr>
            <a:spLocks noGrp="1"/>
          </p:cNvSpPr>
          <p:nvPr/>
        </p:nvSpPr>
        <p:spPr>
          <a:xfrm>
            <a:off x="727849" y="806793"/>
            <a:ext cx="7375118" cy="640428"/>
          </a:xfrm>
          <a:prstGeom prst="roundRect">
            <a:avLst>
              <a:gd name="adj" fmla="val 400"/>
            </a:avLst>
          </a:prstGeom>
          <a:solidFill>
            <a:srgbClr val="FFFFFF"/>
          </a:solidFill>
          <a:ln w="1270">
            <a:solidFill>
              <a:schemeClr val="accent6">
                <a:lumMod val="40000"/>
                <a:lumOff val="60000"/>
              </a:schemeClr>
            </a:solidFill>
            <a:prstDash val="solid"/>
          </a:ln>
        </p:spPr>
      </p:sp>
      <p:sp>
        <p:nvSpPr>
          <p:cNvPr id="1012" name="蓝图-Text 12"/>
          <p:cNvSpPr>
            <a:spLocks noGrp="1"/>
          </p:cNvSpPr>
          <p:nvPr/>
        </p:nvSpPr>
        <p:spPr>
          <a:xfrm>
            <a:off x="8279714" y="806750"/>
            <a:ext cx="558867" cy="287471"/>
          </a:xfrm>
          <a:prstGeom prst="rect">
            <a:avLst/>
          </a:prstGeom>
          <a:noFill/>
        </p:spPr>
        <p:txBody>
          <a:bodyPr wrap="square" lIns="0" tIns="0" rIns="0" bIns="0" anchor="ctr"/>
          <a:lstStyle/>
          <a:p>
            <a:pPr algn="ctr"/>
            <a:r>
              <a:rPr sz="990" b="1">
                <a:solidFill>
                  <a:srgbClr val="333333"/>
                </a:solidFill>
                <a:latin typeface="微软雅黑"/>
                <a:ea typeface="微软雅黑"/>
                <a:cs typeface="微软雅黑"/>
              </a:rPr>
              <a:t>未来展望</a:t>
            </a:r>
            <a:endParaRPr sz="990" b="1">
              <a:solidFill>
                <a:srgbClr val="333333"/>
              </a:solidFill>
              <a:latin typeface="微软雅黑"/>
              <a:ea typeface="微软雅黑"/>
              <a:cs typeface="微软雅黑"/>
            </a:endParaRPr>
          </a:p>
        </p:txBody>
      </p:sp>
      <p:sp>
        <p:nvSpPr>
          <p:cNvPr id="1013" name="蓝图-Text 14"/>
          <p:cNvSpPr>
            <a:spLocks noGrp="1"/>
          </p:cNvSpPr>
          <p:nvPr/>
        </p:nvSpPr>
        <p:spPr>
          <a:xfrm>
            <a:off x="2919385" y="913531"/>
            <a:ext cx="2396055" cy="466598"/>
          </a:xfrm>
          <a:prstGeom prst="rect">
            <a:avLst/>
          </a:prstGeom>
          <a:solidFill>
            <a:schemeClr val="accent4">
              <a:lumMod val="20000"/>
              <a:lumOff val="80000"/>
            </a:schemeClr>
          </a:solidFill>
        </p:spPr>
        <p:txBody>
          <a:bodyPr wrap="square" lIns="0" tIns="0" rIns="0" bIns="0" anchor="ctr"/>
          <a:lstStyle/>
          <a:p>
            <a:pPr algn="ctr"/>
            <a:r>
              <a:rPr sz="990" b="1" dirty="0" err="1">
                <a:solidFill>
                  <a:schemeClr val="accent4">
                    <a:lumMod val="50000"/>
                  </a:schemeClr>
                </a:solidFill>
                <a:latin typeface="微软雅黑"/>
                <a:ea typeface="微软雅黑"/>
                <a:cs typeface="微软雅黑"/>
              </a:rPr>
              <a:t>合作社</a:t>
            </a:r>
            <a:r>
              <a:rPr sz="990" b="1" dirty="0">
                <a:solidFill>
                  <a:schemeClr val="accent4">
                    <a:lumMod val="50000"/>
                  </a:schemeClr>
                </a:solidFill>
                <a:latin typeface="微软雅黑"/>
                <a:ea typeface="微软雅黑"/>
                <a:cs typeface="微软雅黑"/>
              </a:rPr>
              <a:t>/</a:t>
            </a:r>
            <a:r>
              <a:rPr sz="990" b="1" dirty="0" err="1">
                <a:solidFill>
                  <a:schemeClr val="accent4">
                    <a:lumMod val="50000"/>
                  </a:schemeClr>
                </a:solidFill>
                <a:latin typeface="微软雅黑"/>
                <a:ea typeface="微软雅黑"/>
                <a:cs typeface="微软雅黑"/>
              </a:rPr>
              <a:t>技术员</a:t>
            </a:r>
            <a:endParaRPr sz="990" b="1" dirty="0">
              <a:solidFill>
                <a:srgbClr val="333333"/>
              </a:solidFill>
              <a:latin typeface="微软雅黑"/>
              <a:ea typeface="微软雅黑"/>
              <a:cs typeface="微软雅黑"/>
            </a:endParaRPr>
          </a:p>
          <a:p>
            <a:pPr algn="ctr"/>
            <a:r>
              <a:rPr sz="695" dirty="0" err="1">
                <a:latin typeface="微软雅黑"/>
                <a:ea typeface="微软雅黑"/>
                <a:cs typeface="微软雅黑"/>
              </a:rPr>
              <a:t>预约管理・日常巡检</a:t>
            </a:r>
            <a:endParaRPr sz="695" dirty="0">
              <a:latin typeface="微软雅黑"/>
              <a:ea typeface="微软雅黑"/>
              <a:cs typeface="微软雅黑"/>
            </a:endParaRPr>
          </a:p>
          <a:p>
            <a:pPr algn="ctr"/>
            <a:r>
              <a:rPr sz="695" dirty="0" err="1">
                <a:latin typeface="微软雅黑"/>
                <a:ea typeface="微软雅黑"/>
                <a:cs typeface="微软雅黑"/>
              </a:rPr>
              <a:t>维修工单响应・验收闭环</a:t>
            </a:r>
            <a:endParaRPr sz="695" dirty="0">
              <a:latin typeface="微软雅黑"/>
              <a:ea typeface="微软雅黑"/>
              <a:cs typeface="微软雅黑"/>
            </a:endParaRPr>
          </a:p>
        </p:txBody>
      </p:sp>
      <p:sp>
        <p:nvSpPr>
          <p:cNvPr id="1014" name="蓝图-Text 16"/>
          <p:cNvSpPr>
            <a:spLocks noGrp="1"/>
          </p:cNvSpPr>
          <p:nvPr/>
        </p:nvSpPr>
        <p:spPr>
          <a:xfrm>
            <a:off x="5667204" y="913531"/>
            <a:ext cx="2248895" cy="466598"/>
          </a:xfrm>
          <a:prstGeom prst="rect">
            <a:avLst/>
          </a:prstGeom>
          <a:solidFill>
            <a:schemeClr val="accent5">
              <a:lumMod val="20000"/>
              <a:lumOff val="80000"/>
            </a:schemeClr>
          </a:solidFill>
        </p:spPr>
        <p:txBody>
          <a:bodyPr wrap="square" lIns="0" tIns="0" rIns="0" bIns="0" anchor="ctr"/>
          <a:lstStyle/>
          <a:p>
            <a:pPr algn="ctr"/>
            <a:r>
              <a:rPr sz="990" b="1">
                <a:solidFill>
                  <a:schemeClr val="accent5">
                    <a:lumMod val="50000"/>
                  </a:schemeClr>
                </a:solidFill>
                <a:latin typeface="微软雅黑"/>
                <a:ea typeface="微软雅黑"/>
                <a:cs typeface="微软雅黑"/>
              </a:rPr>
              <a:t>管理人员</a:t>
            </a:r>
            <a:endParaRPr sz="990" b="1">
              <a:solidFill>
                <a:srgbClr val="333333"/>
              </a:solidFill>
              <a:latin typeface="微软雅黑"/>
              <a:ea typeface="微软雅黑"/>
              <a:cs typeface="微软雅黑"/>
            </a:endParaRPr>
          </a:p>
          <a:p>
            <a:pPr algn="ctr"/>
            <a:r>
              <a:rPr sz="695">
                <a:latin typeface="微软雅黑"/>
                <a:ea typeface="微软雅黑"/>
                <a:cs typeface="微软雅黑"/>
              </a:rPr>
              <a:t>维修决策・资金投入</a:t>
            </a:r>
            <a:endParaRPr sz="695">
              <a:latin typeface="微软雅黑"/>
              <a:ea typeface="微软雅黑"/>
              <a:cs typeface="微软雅黑"/>
            </a:endParaRPr>
          </a:p>
          <a:p>
            <a:pPr algn="ctr"/>
            <a:r>
              <a:rPr sz="695">
                <a:latin typeface="微软雅黑"/>
                <a:ea typeface="微软雅黑"/>
                <a:cs typeface="微软雅黑"/>
              </a:rPr>
              <a:t>新建决策・查收反馈</a:t>
            </a:r>
            <a:endParaRPr sz="695">
              <a:latin typeface="微软雅黑"/>
              <a:ea typeface="微软雅黑"/>
              <a:cs typeface="微软雅黑"/>
            </a:endParaRPr>
          </a:p>
        </p:txBody>
      </p:sp>
      <p:sp>
        <p:nvSpPr>
          <p:cNvPr id="1015" name="蓝图-Text 18"/>
          <p:cNvSpPr>
            <a:spLocks noGrp="1"/>
          </p:cNvSpPr>
          <p:nvPr/>
        </p:nvSpPr>
        <p:spPr>
          <a:xfrm>
            <a:off x="1091245" y="928651"/>
            <a:ext cx="1341089" cy="466550"/>
          </a:xfrm>
          <a:prstGeom prst="rect">
            <a:avLst/>
          </a:prstGeom>
          <a:solidFill>
            <a:schemeClr val="accent6">
              <a:lumMod val="20000"/>
              <a:lumOff val="80000"/>
            </a:schemeClr>
          </a:solidFill>
          <a:ln w="4189">
            <a:solidFill>
              <a:schemeClr val="accent6">
                <a:lumMod val="20000"/>
                <a:lumOff val="80000"/>
              </a:schemeClr>
            </a:solidFill>
          </a:ln>
        </p:spPr>
        <p:txBody>
          <a:bodyPr wrap="square" lIns="0" tIns="0" rIns="0" bIns="0" anchor="ctr"/>
          <a:lstStyle/>
          <a:p>
            <a:pPr algn="ctr"/>
            <a:r>
              <a:rPr sz="990" b="1" dirty="0" err="1">
                <a:solidFill>
                  <a:schemeClr val="accent6">
                    <a:lumMod val="50000"/>
                  </a:schemeClr>
                </a:solidFill>
                <a:latin typeface="微软雅黑"/>
                <a:ea typeface="微软雅黑"/>
                <a:cs typeface="微软雅黑"/>
              </a:rPr>
              <a:t>烟农</a:t>
            </a:r>
            <a:endParaRPr sz="990" b="1" dirty="0">
              <a:solidFill>
                <a:schemeClr val="accent6">
                  <a:lumMod val="50000"/>
                </a:schemeClr>
              </a:solidFill>
              <a:latin typeface="微软雅黑"/>
              <a:ea typeface="微软雅黑"/>
              <a:cs typeface="微软雅黑"/>
            </a:endParaRPr>
          </a:p>
          <a:p>
            <a:pPr algn="ctr"/>
            <a:r>
              <a:rPr sz="695" dirty="0" err="1">
                <a:latin typeface="微软雅黑"/>
                <a:ea typeface="微软雅黑"/>
                <a:cs typeface="微软雅黑"/>
              </a:rPr>
              <a:t>预约分配・临时调剂</a:t>
            </a:r>
            <a:endParaRPr sz="695" dirty="0">
              <a:latin typeface="微软雅黑"/>
              <a:ea typeface="微软雅黑"/>
              <a:cs typeface="微软雅黑"/>
            </a:endParaRPr>
          </a:p>
          <a:p>
            <a:pPr algn="ctr"/>
            <a:r>
              <a:rPr sz="695" dirty="0" err="1">
                <a:latin typeface="微软雅黑"/>
                <a:ea typeface="微软雅黑"/>
                <a:cs typeface="微软雅黑"/>
              </a:rPr>
              <a:t>提报维修・评价反馈</a:t>
            </a:r>
            <a:endParaRPr sz="695" dirty="0">
              <a:latin typeface="微软雅黑"/>
              <a:ea typeface="微软雅黑"/>
              <a:cs typeface="微软雅黑"/>
            </a:endParaRPr>
          </a:p>
        </p:txBody>
      </p:sp>
      <p:sp>
        <p:nvSpPr>
          <p:cNvPr id="1016" name="蓝图-Text 20"/>
          <p:cNvSpPr>
            <a:spLocks noGrp="1"/>
          </p:cNvSpPr>
          <p:nvPr/>
        </p:nvSpPr>
        <p:spPr>
          <a:xfrm>
            <a:off x="8256732" y="1200107"/>
            <a:ext cx="604830" cy="579435"/>
          </a:xfrm>
          <a:prstGeom prst="rect">
            <a:avLst/>
          </a:prstGeom>
          <a:solidFill>
            <a:srgbClr val="F8CECC"/>
          </a:solidFill>
          <a:ln>
            <a:noFill/>
          </a:ln>
        </p:spPr>
        <p:txBody>
          <a:bodyPr wrap="square" lIns="0" tIns="0" rIns="0" bIns="0" anchor="ctr"/>
          <a:lstStyle/>
          <a:p>
            <a:pPr algn="ctr"/>
            <a:r>
              <a:rPr sz="790" b="1">
                <a:solidFill>
                  <a:srgbClr val="333333"/>
                </a:solidFill>
                <a:latin typeface="微软雅黑"/>
                <a:ea typeface="微软雅黑"/>
                <a:cs typeface="微软雅黑"/>
              </a:rPr>
              <a:t>跨域</a:t>
            </a:r>
            <a:endParaRPr sz="790" b="1">
              <a:solidFill>
                <a:srgbClr val="333333"/>
              </a:solidFill>
              <a:latin typeface="微软雅黑"/>
              <a:ea typeface="微软雅黑"/>
              <a:cs typeface="微软雅黑"/>
            </a:endParaRPr>
          </a:p>
          <a:p>
            <a:pPr algn="ctr"/>
            <a:r>
              <a:rPr sz="790" b="1">
                <a:solidFill>
                  <a:srgbClr val="333333"/>
                </a:solidFill>
                <a:latin typeface="微软雅黑"/>
                <a:ea typeface="微软雅黑"/>
                <a:cs typeface="微软雅黑"/>
              </a:rPr>
              <a:t>共享</a:t>
            </a:r>
            <a:endParaRPr sz="790" b="1">
              <a:solidFill>
                <a:srgbClr val="333333"/>
              </a:solidFill>
              <a:latin typeface="微软雅黑"/>
              <a:ea typeface="微软雅黑"/>
              <a:cs typeface="微软雅黑"/>
            </a:endParaRPr>
          </a:p>
        </p:txBody>
      </p:sp>
      <p:sp>
        <p:nvSpPr>
          <p:cNvPr id="1019" name="蓝图-Text 28"/>
          <p:cNvSpPr>
            <a:spLocks noGrp="1"/>
          </p:cNvSpPr>
          <p:nvPr/>
        </p:nvSpPr>
        <p:spPr>
          <a:xfrm>
            <a:off x="167149" y="1535636"/>
            <a:ext cx="565578" cy="466236"/>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应用层</a:t>
            </a:r>
            <a:endParaRPr sz="990" b="1">
              <a:solidFill>
                <a:schemeClr val="bg1"/>
              </a:solidFill>
              <a:latin typeface="微软雅黑"/>
              <a:ea typeface="微软雅黑"/>
              <a:cs typeface="微软雅黑"/>
            </a:endParaRPr>
          </a:p>
        </p:txBody>
      </p:sp>
      <p:sp>
        <p:nvSpPr>
          <p:cNvPr id="1020" name="蓝图-Shape 29"/>
          <p:cNvSpPr>
            <a:spLocks noGrp="1"/>
          </p:cNvSpPr>
          <p:nvPr/>
        </p:nvSpPr>
        <p:spPr>
          <a:xfrm>
            <a:off x="732727" y="1538779"/>
            <a:ext cx="7370240" cy="459638"/>
          </a:xfrm>
          <a:prstGeom prst="roundRect">
            <a:avLst>
              <a:gd name="adj" fmla="val 400"/>
            </a:avLst>
          </a:prstGeom>
          <a:solidFill>
            <a:srgbClr val="FFFFFF"/>
          </a:solidFill>
          <a:ln w="1270">
            <a:solidFill>
              <a:schemeClr val="accent6">
                <a:lumMod val="40000"/>
                <a:lumOff val="60000"/>
              </a:schemeClr>
            </a:solidFill>
            <a:prstDash val="solid"/>
          </a:ln>
        </p:spPr>
      </p:sp>
      <p:sp>
        <p:nvSpPr>
          <p:cNvPr id="1021" name="蓝图-Shape 30"/>
          <p:cNvSpPr>
            <a:spLocks noGrp="1"/>
          </p:cNvSpPr>
          <p:nvPr/>
        </p:nvSpPr>
        <p:spPr>
          <a:xfrm>
            <a:off x="2919306" y="1569253"/>
            <a:ext cx="5128541" cy="366014"/>
          </a:xfrm>
          <a:prstGeom prst="roundRect">
            <a:avLst>
              <a:gd name="adj" fmla="val 4000"/>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txBody>
          <a:bodyPr/>
          <a:lstStyle/>
          <a:p>
            <a:pPr algn="ctr">
              <a:buNone/>
            </a:pPr>
            <a:endParaRPr sz="595"/>
          </a:p>
        </p:txBody>
      </p:sp>
      <p:sp>
        <p:nvSpPr>
          <p:cNvPr id="1022" name="蓝图-Text 36"/>
          <p:cNvSpPr>
            <a:spLocks noGrp="1"/>
          </p:cNvSpPr>
          <p:nvPr/>
        </p:nvSpPr>
        <p:spPr>
          <a:xfrm>
            <a:off x="1091245" y="1618265"/>
            <a:ext cx="1337672" cy="265164"/>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微信小程序</a:t>
            </a:r>
            <a:endParaRPr sz="695" b="1">
              <a:solidFill>
                <a:srgbClr val="333333"/>
              </a:solidFill>
              <a:latin typeface="微软雅黑"/>
              <a:ea typeface="微软雅黑"/>
              <a:cs typeface="微软雅黑"/>
            </a:endParaRPr>
          </a:p>
        </p:txBody>
      </p:sp>
      <p:sp>
        <p:nvSpPr>
          <p:cNvPr id="1023" name="蓝图-Text 38"/>
          <p:cNvSpPr>
            <a:spLocks noGrp="1"/>
          </p:cNvSpPr>
          <p:nvPr/>
        </p:nvSpPr>
        <p:spPr>
          <a:xfrm>
            <a:off x="3007498" y="1700349"/>
            <a:ext cx="1116608" cy="182980"/>
          </a:xfrm>
          <a:prstGeom prst="rect">
            <a:avLst/>
          </a:prstGeom>
          <a:solidFill>
            <a:schemeClr val="accent4">
              <a:lumMod val="20000"/>
              <a:lumOff val="80000"/>
            </a:schemeClr>
          </a:solidFill>
          <a:ln w="1270">
            <a:noFill/>
            <a:prstDash val="solid"/>
          </a:ln>
        </p:spPr>
        <p:txBody>
          <a:bodyPr wrap="square" lIns="0" tIns="0" rIns="0" bIns="0" anchor="ctr"/>
          <a:lstStyle/>
          <a:p>
            <a:pPr algn="ctr"/>
            <a:r>
              <a:rPr sz="530" b="1">
                <a:latin typeface="微软雅黑"/>
                <a:ea typeface="微软雅黑"/>
                <a:cs typeface="微软雅黑"/>
              </a:rPr>
              <a:t>预警研判</a:t>
            </a:r>
            <a:endParaRPr sz="530" b="1">
              <a:latin typeface="微软雅黑"/>
              <a:ea typeface="微软雅黑"/>
              <a:cs typeface="微软雅黑"/>
            </a:endParaRPr>
          </a:p>
        </p:txBody>
      </p:sp>
      <p:sp>
        <p:nvSpPr>
          <p:cNvPr id="1024" name="蓝图-Text 40"/>
          <p:cNvSpPr>
            <a:spLocks noGrp="1"/>
          </p:cNvSpPr>
          <p:nvPr/>
        </p:nvSpPr>
        <p:spPr>
          <a:xfrm>
            <a:off x="4265143" y="1700349"/>
            <a:ext cx="1116608" cy="182980"/>
          </a:xfrm>
          <a:prstGeom prst="rect">
            <a:avLst/>
          </a:prstGeom>
          <a:solidFill>
            <a:schemeClr val="accent4">
              <a:lumMod val="20000"/>
              <a:lumOff val="80000"/>
            </a:schemeClr>
          </a:solidFill>
          <a:ln w="1270">
            <a:noFill/>
            <a:prstDash val="solid"/>
          </a:ln>
        </p:spPr>
        <p:txBody>
          <a:bodyPr wrap="square" lIns="0" tIns="0" rIns="0" bIns="0" anchor="ctr">
            <a:noAutofit/>
          </a:bodyPr>
          <a:lstStyle/>
          <a:p>
            <a:pPr lvl="0" algn="ctr">
              <a:buClrTx/>
              <a:buSzTx/>
              <a:buFontTx/>
              <a:buNone/>
            </a:pPr>
            <a:r>
              <a:rPr sz="530" b="1">
                <a:latin typeface="微软雅黑"/>
                <a:ea typeface="微软雅黑"/>
                <a:cs typeface="微软雅黑"/>
              </a:rPr>
              <a:t>AI助手</a:t>
            </a:r>
            <a:endParaRPr sz="530" b="1">
              <a:latin typeface="微软雅黑"/>
              <a:ea typeface="微软雅黑"/>
              <a:cs typeface="微软雅黑"/>
            </a:endParaRPr>
          </a:p>
        </p:txBody>
      </p:sp>
      <p:sp>
        <p:nvSpPr>
          <p:cNvPr id="1025" name="蓝图-Text 42"/>
          <p:cNvSpPr>
            <a:spLocks noGrp="1"/>
          </p:cNvSpPr>
          <p:nvPr/>
        </p:nvSpPr>
        <p:spPr>
          <a:xfrm>
            <a:off x="5706452" y="1700264"/>
            <a:ext cx="997430" cy="18285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综合报告</a:t>
            </a:r>
            <a:endParaRPr sz="530">
              <a:solidFill>
                <a:srgbClr val="333333"/>
              </a:solidFill>
              <a:latin typeface="微软雅黑"/>
              <a:ea typeface="微软雅黑"/>
              <a:cs typeface="微软雅黑"/>
            </a:endParaRPr>
          </a:p>
        </p:txBody>
      </p:sp>
      <p:sp>
        <p:nvSpPr>
          <p:cNvPr id="1026" name="蓝图-Text 44"/>
          <p:cNvSpPr>
            <a:spLocks noGrp="1"/>
          </p:cNvSpPr>
          <p:nvPr/>
        </p:nvSpPr>
        <p:spPr>
          <a:xfrm>
            <a:off x="6910461" y="1700264"/>
            <a:ext cx="1005578" cy="18285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BI看板</a:t>
            </a:r>
            <a:endParaRPr sz="530">
              <a:solidFill>
                <a:srgbClr val="333333"/>
              </a:solidFill>
              <a:latin typeface="微软雅黑"/>
              <a:ea typeface="微软雅黑"/>
              <a:cs typeface="微软雅黑"/>
            </a:endParaRPr>
          </a:p>
        </p:txBody>
      </p:sp>
      <p:sp>
        <p:nvSpPr>
          <p:cNvPr id="1027" name="蓝图-Text 49"/>
          <p:cNvSpPr>
            <a:spLocks noGrp="1"/>
          </p:cNvSpPr>
          <p:nvPr/>
        </p:nvSpPr>
        <p:spPr>
          <a:xfrm>
            <a:off x="8256707" y="1973073"/>
            <a:ext cx="604880" cy="1048403"/>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数字</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孪生</a:t>
            </a:r>
            <a:endParaRPr sz="790" b="1">
              <a:solidFill>
                <a:srgbClr val="333333"/>
              </a:solidFill>
              <a:latin typeface="微软雅黑"/>
              <a:ea typeface="微软雅黑"/>
              <a:cs typeface="微软雅黑"/>
            </a:endParaRPr>
          </a:p>
        </p:txBody>
      </p:sp>
      <p:sp>
        <p:nvSpPr>
          <p:cNvPr id="1028" name="蓝图-Text 51"/>
          <p:cNvSpPr>
            <a:spLocks noGrp="1"/>
          </p:cNvSpPr>
          <p:nvPr/>
        </p:nvSpPr>
        <p:spPr>
          <a:xfrm>
            <a:off x="169546" y="2073505"/>
            <a:ext cx="555751" cy="1860857"/>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业务层</a:t>
            </a:r>
            <a:endParaRPr sz="990" b="1">
              <a:solidFill>
                <a:schemeClr val="bg1"/>
              </a:solidFill>
              <a:latin typeface="微软雅黑"/>
              <a:ea typeface="微软雅黑"/>
              <a:cs typeface="微软雅黑"/>
            </a:endParaRPr>
          </a:p>
        </p:txBody>
      </p:sp>
      <p:sp>
        <p:nvSpPr>
          <p:cNvPr id="1029" name="蓝图-Shape 52"/>
          <p:cNvSpPr>
            <a:spLocks noGrp="1"/>
          </p:cNvSpPr>
          <p:nvPr/>
        </p:nvSpPr>
        <p:spPr>
          <a:xfrm>
            <a:off x="725537" y="2073504"/>
            <a:ext cx="7377430" cy="1860859"/>
          </a:xfrm>
          <a:prstGeom prst="roundRect">
            <a:avLst>
              <a:gd name="adj" fmla="val 400"/>
            </a:avLst>
          </a:prstGeom>
          <a:solidFill>
            <a:srgbClr val="FFFFFF"/>
          </a:solidFill>
          <a:ln w="1270">
            <a:solidFill>
              <a:schemeClr val="accent6">
                <a:lumMod val="40000"/>
                <a:lumOff val="60000"/>
              </a:schemeClr>
            </a:solidFill>
            <a:prstDash val="solid"/>
          </a:ln>
        </p:spPr>
      </p:sp>
      <p:sp>
        <p:nvSpPr>
          <p:cNvPr id="1030" name="蓝图-Shape 56"/>
          <p:cNvSpPr>
            <a:spLocks noGrp="1"/>
          </p:cNvSpPr>
          <p:nvPr/>
        </p:nvSpPr>
        <p:spPr>
          <a:xfrm>
            <a:off x="889938" y="2203258"/>
            <a:ext cx="1653543" cy="1219942"/>
          </a:xfrm>
          <a:prstGeom prst="roundRect">
            <a:avLst>
              <a:gd name="adj" fmla="val 2472"/>
            </a:avLst>
          </a:prstGeom>
          <a:solidFill>
            <a:srgbClr val="FFFFFF"/>
          </a:solidFill>
          <a:ln w="1270">
            <a:solidFill>
              <a:srgbClr val="C73500"/>
            </a:solidFill>
            <a:prstDash val="solid"/>
          </a:ln>
        </p:spPr>
      </p:sp>
      <p:sp>
        <p:nvSpPr>
          <p:cNvPr id="1031" name="蓝图-Text 58"/>
          <p:cNvSpPr>
            <a:spLocks noGrp="1"/>
          </p:cNvSpPr>
          <p:nvPr/>
        </p:nvSpPr>
        <p:spPr>
          <a:xfrm>
            <a:off x="1091244" y="2156131"/>
            <a:ext cx="1337673" cy="124773"/>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烤房调剂和分配</a:t>
            </a:r>
            <a:endParaRPr sz="790" b="1">
              <a:solidFill>
                <a:srgbClr val="FFFFFF"/>
              </a:solidFill>
              <a:latin typeface="微软雅黑"/>
              <a:ea typeface="微软雅黑"/>
              <a:cs typeface="微软雅黑"/>
            </a:endParaRPr>
          </a:p>
        </p:txBody>
      </p:sp>
      <p:sp>
        <p:nvSpPr>
          <p:cNvPr id="1032" name="蓝图-Shape 59"/>
          <p:cNvSpPr>
            <a:spLocks noGrp="1"/>
          </p:cNvSpPr>
          <p:nvPr/>
        </p:nvSpPr>
        <p:spPr>
          <a:xfrm>
            <a:off x="5653249" y="2203258"/>
            <a:ext cx="2369195" cy="1219628"/>
          </a:xfrm>
          <a:prstGeom prst="roundRect">
            <a:avLst>
              <a:gd name="adj" fmla="val 4000"/>
            </a:avLst>
          </a:prstGeom>
          <a:solidFill>
            <a:srgbClr val="FFFFFF"/>
          </a:solidFill>
          <a:ln w="1270">
            <a:solidFill>
              <a:srgbClr val="C73500"/>
            </a:solidFill>
            <a:prstDash val="solid"/>
          </a:ln>
        </p:spPr>
      </p:sp>
      <p:sp>
        <p:nvSpPr>
          <p:cNvPr id="1033" name="蓝图-Text 61"/>
          <p:cNvSpPr>
            <a:spLocks noGrp="1"/>
          </p:cNvSpPr>
          <p:nvPr/>
        </p:nvSpPr>
        <p:spPr>
          <a:xfrm>
            <a:off x="5891463" y="2140737"/>
            <a:ext cx="1888454" cy="14514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烤房投建</a:t>
            </a:r>
            <a:endParaRPr sz="790" b="1">
              <a:solidFill>
                <a:srgbClr val="FFFFFF"/>
              </a:solidFill>
              <a:latin typeface="微软雅黑"/>
              <a:ea typeface="微软雅黑"/>
              <a:cs typeface="微软雅黑"/>
            </a:endParaRPr>
          </a:p>
        </p:txBody>
      </p:sp>
      <p:sp>
        <p:nvSpPr>
          <p:cNvPr id="1034" name="蓝图-Shape 62"/>
          <p:cNvSpPr>
            <a:spLocks noGrp="1"/>
          </p:cNvSpPr>
          <p:nvPr/>
        </p:nvSpPr>
        <p:spPr>
          <a:xfrm>
            <a:off x="2926975" y="2230794"/>
            <a:ext cx="2579008" cy="1192417"/>
          </a:xfrm>
          <a:prstGeom prst="roundRect">
            <a:avLst>
              <a:gd name="adj" fmla="val 4000"/>
            </a:avLst>
          </a:prstGeom>
          <a:solidFill>
            <a:srgbClr val="FFFFFF"/>
          </a:solidFill>
          <a:ln w="1270">
            <a:solidFill>
              <a:srgbClr val="C73500"/>
            </a:solidFill>
            <a:prstDash val="solid"/>
          </a:ln>
        </p:spPr>
      </p:sp>
      <p:sp>
        <p:nvSpPr>
          <p:cNvPr id="1036" name="蓝图-Shape 67"/>
          <p:cNvSpPr>
            <a:spLocks noGrp="1"/>
          </p:cNvSpPr>
          <p:nvPr/>
        </p:nvSpPr>
        <p:spPr>
          <a:xfrm>
            <a:off x="3027815" y="2320131"/>
            <a:ext cx="1057822" cy="1058770"/>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37" name="蓝图-Shape 70"/>
          <p:cNvSpPr>
            <a:spLocks noGrp="1"/>
          </p:cNvSpPr>
          <p:nvPr/>
        </p:nvSpPr>
        <p:spPr>
          <a:xfrm>
            <a:off x="4299269" y="2341182"/>
            <a:ext cx="1169216" cy="987138"/>
          </a:xfrm>
          <a:prstGeom prst="round2SameRect">
            <a:avLst/>
          </a:prstGeom>
          <a:solidFill>
            <a:srgbClr val="FFFFFF"/>
          </a:solidFill>
          <a:ln w="1270">
            <a:solidFill>
              <a:schemeClr val="accent2">
                <a:lumMod val="40000"/>
                <a:lumOff val="60000"/>
              </a:schemeClr>
            </a:solidFill>
            <a:prstDash val="solid"/>
          </a:ln>
        </p:spPr>
        <p:txBody>
          <a:bodyPr>
            <a:noAutofit/>
          </a:bodyPr>
          <a:lstStyle/>
          <a:p>
            <a:pPr lvl="0" algn="ctr">
              <a:buClrTx/>
              <a:buSzTx/>
              <a:buFontTx/>
              <a:buNone/>
            </a:pPr>
            <a:endParaRPr sz="695" dirty="0"/>
          </a:p>
        </p:txBody>
      </p:sp>
      <p:sp>
        <p:nvSpPr>
          <p:cNvPr id="1049" name="蓝图-Text 98"/>
          <p:cNvSpPr>
            <a:spLocks noGrp="1"/>
          </p:cNvSpPr>
          <p:nvPr/>
        </p:nvSpPr>
        <p:spPr>
          <a:xfrm>
            <a:off x="8273003" y="3214902"/>
            <a:ext cx="572288" cy="752450"/>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AI升级</a:t>
            </a:r>
            <a:endParaRPr sz="790" b="1">
              <a:solidFill>
                <a:srgbClr val="333333"/>
              </a:solidFill>
              <a:latin typeface="微软雅黑"/>
              <a:ea typeface="微软雅黑"/>
              <a:cs typeface="微软雅黑"/>
            </a:endParaRPr>
          </a:p>
        </p:txBody>
      </p:sp>
      <p:sp>
        <p:nvSpPr>
          <p:cNvPr id="1052" name="蓝图-Shape 104"/>
          <p:cNvSpPr>
            <a:spLocks noGrp="1"/>
          </p:cNvSpPr>
          <p:nvPr/>
        </p:nvSpPr>
        <p:spPr>
          <a:xfrm>
            <a:off x="2245864" y="3412536"/>
            <a:ext cx="115384" cy="129611"/>
          </a:xfrm>
          <a:prstGeom prst="upArrow">
            <a:avLst/>
          </a:prstGeom>
          <a:solidFill>
            <a:srgbClr val="6D8764"/>
          </a:solidFill>
          <a:ln w="1270">
            <a:noFill/>
            <a:prstDash val="solid"/>
          </a:ln>
        </p:spPr>
      </p:sp>
      <p:sp>
        <p:nvSpPr>
          <p:cNvPr id="1053" name="蓝图-Text 105"/>
          <p:cNvSpPr>
            <a:spLocks noGrp="1"/>
          </p:cNvSpPr>
          <p:nvPr/>
        </p:nvSpPr>
        <p:spPr>
          <a:xfrm>
            <a:off x="3850112" y="3450848"/>
            <a:ext cx="465403" cy="91425"/>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5" name="蓝图-Text 107"/>
          <p:cNvSpPr>
            <a:spLocks noGrp="1"/>
          </p:cNvSpPr>
          <p:nvPr/>
        </p:nvSpPr>
        <p:spPr>
          <a:xfrm>
            <a:off x="1780545" y="3458489"/>
            <a:ext cx="465254" cy="91490"/>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6" name="蓝图-Shape 112"/>
          <p:cNvSpPr>
            <a:spLocks noGrp="1"/>
          </p:cNvSpPr>
          <p:nvPr/>
        </p:nvSpPr>
        <p:spPr>
          <a:xfrm>
            <a:off x="1658739" y="3566150"/>
            <a:ext cx="2475120" cy="338366"/>
          </a:xfrm>
          <a:prstGeom prst="roundRect">
            <a:avLst>
              <a:gd name="adj" fmla="val 4000"/>
            </a:avLst>
          </a:prstGeom>
          <a:solidFill>
            <a:srgbClr val="FFFFFF"/>
          </a:solidFill>
          <a:ln w="1270">
            <a:solidFill>
              <a:schemeClr val="bg2">
                <a:lumMod val="90000"/>
              </a:schemeClr>
            </a:solidFill>
            <a:prstDash val="solid"/>
          </a:ln>
        </p:spPr>
      </p:sp>
      <p:sp>
        <p:nvSpPr>
          <p:cNvPr id="1057" name="蓝图-Text 114"/>
          <p:cNvSpPr>
            <a:spLocks noGrp="1"/>
          </p:cNvSpPr>
          <p:nvPr/>
        </p:nvSpPr>
        <p:spPr>
          <a:xfrm>
            <a:off x="1895994" y="3542273"/>
            <a:ext cx="1954118" cy="103049"/>
          </a:xfrm>
          <a:prstGeom prst="rect">
            <a:avLst/>
          </a:prstGeom>
          <a:solidFill>
            <a:schemeClr val="bg2">
              <a:lumMod val="90000"/>
            </a:schemeClr>
          </a:solidFill>
        </p:spPr>
        <p:txBody>
          <a:bodyPr wrap="square" lIns="0" tIns="0" rIns="0" bIns="0" anchor="ctr"/>
          <a:lstStyle/>
          <a:p>
            <a:pPr algn="ctr"/>
            <a:r>
              <a:rPr sz="695" b="1">
                <a:solidFill>
                  <a:srgbClr val="333333"/>
                </a:solidFill>
                <a:latin typeface="微软雅黑"/>
                <a:ea typeface="微软雅黑"/>
                <a:cs typeface="微软雅黑"/>
              </a:rPr>
              <a:t>反馈评价</a:t>
            </a:r>
            <a:endParaRPr sz="695" b="1">
              <a:solidFill>
                <a:srgbClr val="333333"/>
              </a:solidFill>
              <a:latin typeface="微软雅黑"/>
              <a:ea typeface="微软雅黑"/>
              <a:cs typeface="微软雅黑"/>
            </a:endParaRPr>
          </a:p>
        </p:txBody>
      </p:sp>
      <p:sp>
        <p:nvSpPr>
          <p:cNvPr id="1058" name="蓝图-Text 119"/>
          <p:cNvSpPr>
            <a:spLocks noGrp="1"/>
          </p:cNvSpPr>
          <p:nvPr/>
        </p:nvSpPr>
        <p:spPr>
          <a:xfrm>
            <a:off x="1698043" y="3692134"/>
            <a:ext cx="602963"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总体</a:t>
            </a:r>
            <a:endParaRPr sz="595" b="1" dirty="0">
              <a:solidFill>
                <a:srgbClr val="333333"/>
              </a:solidFill>
              <a:latin typeface="微软雅黑"/>
              <a:ea typeface="微软雅黑"/>
              <a:cs typeface="微软雅黑"/>
            </a:endParaRPr>
          </a:p>
        </p:txBody>
      </p:sp>
      <p:sp>
        <p:nvSpPr>
          <p:cNvPr id="1059" name="蓝图-Text 121"/>
          <p:cNvSpPr>
            <a:spLocks noGrp="1"/>
          </p:cNvSpPr>
          <p:nvPr/>
        </p:nvSpPr>
        <p:spPr>
          <a:xfrm>
            <a:off x="2368587" y="3701245"/>
            <a:ext cx="558388"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设施设备</a:t>
            </a:r>
            <a:endParaRPr sz="595" b="1">
              <a:solidFill>
                <a:srgbClr val="333333"/>
              </a:solidFill>
              <a:latin typeface="微软雅黑"/>
              <a:ea typeface="微软雅黑"/>
              <a:cs typeface="微软雅黑"/>
            </a:endParaRPr>
          </a:p>
        </p:txBody>
      </p:sp>
      <p:sp>
        <p:nvSpPr>
          <p:cNvPr id="1060" name="蓝图-Text 123"/>
          <p:cNvSpPr>
            <a:spLocks noGrp="1"/>
          </p:cNvSpPr>
          <p:nvPr/>
        </p:nvSpPr>
        <p:spPr>
          <a:xfrm>
            <a:off x="2994557" y="3701559"/>
            <a:ext cx="508061"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烘烤师</a:t>
            </a:r>
            <a:endParaRPr sz="595" b="1">
              <a:solidFill>
                <a:srgbClr val="333333"/>
              </a:solidFill>
              <a:latin typeface="微软雅黑"/>
              <a:ea typeface="微软雅黑"/>
              <a:cs typeface="微软雅黑"/>
            </a:endParaRPr>
          </a:p>
        </p:txBody>
      </p:sp>
      <p:sp>
        <p:nvSpPr>
          <p:cNvPr id="1061" name="蓝图-Text 125"/>
          <p:cNvSpPr>
            <a:spLocks noGrp="1"/>
          </p:cNvSpPr>
          <p:nvPr/>
        </p:nvSpPr>
        <p:spPr>
          <a:xfrm>
            <a:off x="3570199" y="3700931"/>
            <a:ext cx="507582"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服务</a:t>
            </a:r>
            <a:endParaRPr sz="595" b="1">
              <a:solidFill>
                <a:srgbClr val="333333"/>
              </a:solidFill>
              <a:latin typeface="微软雅黑"/>
              <a:ea typeface="微软雅黑"/>
              <a:cs typeface="微软雅黑"/>
            </a:endParaRPr>
          </a:p>
        </p:txBody>
      </p:sp>
      <p:sp>
        <p:nvSpPr>
          <p:cNvPr id="1062" name="蓝图-Text 131"/>
          <p:cNvSpPr>
            <a:spLocks noGrp="1"/>
          </p:cNvSpPr>
          <p:nvPr/>
        </p:nvSpPr>
        <p:spPr>
          <a:xfrm>
            <a:off x="169545" y="4022960"/>
            <a:ext cx="572288" cy="650341"/>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dirty="0" err="1">
                <a:solidFill>
                  <a:schemeClr val="bg1"/>
                </a:solidFill>
                <a:latin typeface="微软雅黑"/>
                <a:ea typeface="微软雅黑"/>
                <a:cs typeface="微软雅黑"/>
              </a:rPr>
              <a:t>数据层</a:t>
            </a:r>
            <a:endParaRPr sz="990" b="1" dirty="0">
              <a:solidFill>
                <a:schemeClr val="bg1"/>
              </a:solidFill>
              <a:latin typeface="微软雅黑"/>
              <a:ea typeface="微软雅黑"/>
              <a:cs typeface="微软雅黑"/>
            </a:endParaRPr>
          </a:p>
        </p:txBody>
      </p:sp>
      <p:sp>
        <p:nvSpPr>
          <p:cNvPr id="1063" name="蓝图-Shape 132"/>
          <p:cNvSpPr>
            <a:spLocks noGrp="1"/>
          </p:cNvSpPr>
          <p:nvPr/>
        </p:nvSpPr>
        <p:spPr>
          <a:xfrm>
            <a:off x="736081" y="4032700"/>
            <a:ext cx="7367365" cy="640603"/>
          </a:xfrm>
          <a:prstGeom prst="roundRect">
            <a:avLst>
              <a:gd name="adj" fmla="val 400"/>
            </a:avLst>
          </a:prstGeom>
          <a:solidFill>
            <a:srgbClr val="FFFFFF"/>
          </a:solidFill>
          <a:ln w="1270">
            <a:solidFill>
              <a:schemeClr val="accent6">
                <a:lumMod val="40000"/>
                <a:lumOff val="60000"/>
              </a:schemeClr>
            </a:solidFill>
            <a:prstDash val="solid"/>
          </a:ln>
        </p:spPr>
      </p:sp>
      <p:sp>
        <p:nvSpPr>
          <p:cNvPr id="1064" name="蓝图-Shape 88"/>
          <p:cNvSpPr>
            <a:spLocks noGrp="1"/>
          </p:cNvSpPr>
          <p:nvPr/>
        </p:nvSpPr>
        <p:spPr>
          <a:xfrm>
            <a:off x="1116569" y="4067496"/>
            <a:ext cx="4300949" cy="271221"/>
          </a:xfrm>
          <a:prstGeom prst="can">
            <a:avLst/>
          </a:prstGeom>
          <a:solidFill>
            <a:srgbClr val="F5F5F5"/>
          </a:solidFill>
          <a:ln w="8378">
            <a:solidFill>
              <a:schemeClr val="bg2">
                <a:lumMod val="90000"/>
              </a:schemeClr>
            </a:solidFill>
            <a:prstDash val="solid"/>
          </a:ln>
        </p:spPr>
        <p:txBody>
          <a:bodyPr anchor="ctr"/>
          <a:lstStyle/>
          <a:p>
            <a:pPr algn="ctr">
              <a:buNone/>
            </a:pPr>
            <a:r>
              <a:rPr sz="695" b="1" dirty="0" err="1">
                <a:latin typeface="微软雅黑"/>
                <a:ea typeface="微软雅黑"/>
                <a:cs typeface="微软雅黑"/>
              </a:rPr>
              <a:t>烤房信息</a:t>
            </a:r>
            <a:endParaRPr sz="695" b="1" dirty="0">
              <a:latin typeface="微软雅黑"/>
              <a:ea typeface="微软雅黑"/>
              <a:cs typeface="微软雅黑"/>
            </a:endParaRPr>
          </a:p>
        </p:txBody>
      </p:sp>
      <p:sp>
        <p:nvSpPr>
          <p:cNvPr id="1065" name="蓝图-Text 142"/>
          <p:cNvSpPr>
            <a:spLocks noGrp="1"/>
          </p:cNvSpPr>
          <p:nvPr/>
        </p:nvSpPr>
        <p:spPr>
          <a:xfrm>
            <a:off x="8279995" y="4064285"/>
            <a:ext cx="558304" cy="548864"/>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GIS</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接入</a:t>
            </a:r>
            <a:endParaRPr sz="790" b="1">
              <a:solidFill>
                <a:srgbClr val="333333"/>
              </a:solidFill>
              <a:latin typeface="微软雅黑"/>
              <a:ea typeface="微软雅黑"/>
              <a:cs typeface="微软雅黑"/>
            </a:endParaRPr>
          </a:p>
        </p:txBody>
      </p:sp>
      <p:sp>
        <p:nvSpPr>
          <p:cNvPr id="1066" name="蓝图-Text 144"/>
          <p:cNvSpPr>
            <a:spLocks noGrp="1"/>
          </p:cNvSpPr>
          <p:nvPr/>
        </p:nvSpPr>
        <p:spPr>
          <a:xfrm>
            <a:off x="3530251" y="4120328"/>
            <a:ext cx="790931" cy="182980"/>
          </a:xfrm>
          <a:prstGeom prst="rect">
            <a:avLst/>
          </a:prstGeom>
          <a:noFill/>
        </p:spPr>
        <p:txBody>
          <a:bodyPr wrap="square" lIns="0" tIns="0" rIns="0" bIns="0" anchor="ctr"/>
          <a:lstStyle/>
          <a:p>
            <a:pPr algn="ctr"/>
            <a:r>
              <a:rPr sz="690" dirty="0">
                <a:solidFill>
                  <a:srgbClr val="333333"/>
                </a:solidFill>
                <a:latin typeface="微软雅黑"/>
                <a:ea typeface="微软雅黑"/>
                <a:cs typeface="微软雅黑"/>
              </a:rPr>
              <a:t>2442座烤房</a:t>
            </a:r>
            <a:endParaRPr sz="690" dirty="0">
              <a:solidFill>
                <a:srgbClr val="333333"/>
              </a:solidFill>
              <a:latin typeface="微软雅黑"/>
              <a:ea typeface="微软雅黑"/>
              <a:cs typeface="微软雅黑"/>
            </a:endParaRPr>
          </a:p>
        </p:txBody>
      </p:sp>
      <p:sp>
        <p:nvSpPr>
          <p:cNvPr id="1067" name="蓝图-Text 146"/>
          <p:cNvSpPr>
            <a:spLocks noGrp="1"/>
          </p:cNvSpPr>
          <p:nvPr/>
        </p:nvSpPr>
        <p:spPr>
          <a:xfrm>
            <a:off x="2268223" y="4126700"/>
            <a:ext cx="604830" cy="167732"/>
          </a:xfrm>
          <a:prstGeom prst="rect">
            <a:avLst/>
          </a:prstGeom>
          <a:noFill/>
        </p:spPr>
        <p:txBody>
          <a:bodyPr wrap="square" lIns="0" tIns="0" rIns="0" bIns="0" anchor="ctr"/>
          <a:lstStyle/>
          <a:p>
            <a:pPr algn="ctr"/>
            <a:r>
              <a:rPr sz="695" dirty="0">
                <a:solidFill>
                  <a:srgbClr val="333333"/>
                </a:solidFill>
                <a:latin typeface="微软雅黑"/>
                <a:ea typeface="微软雅黑"/>
                <a:cs typeface="微软雅黑"/>
              </a:rPr>
              <a:t>7个乡镇</a:t>
            </a:r>
            <a:endParaRPr sz="695" dirty="0">
              <a:solidFill>
                <a:srgbClr val="333333"/>
              </a:solidFill>
              <a:latin typeface="微软雅黑"/>
              <a:ea typeface="微软雅黑"/>
              <a:cs typeface="微软雅黑"/>
            </a:endParaRPr>
          </a:p>
        </p:txBody>
      </p:sp>
      <p:sp>
        <p:nvSpPr>
          <p:cNvPr id="1068" name="蓝图-Text 151"/>
          <p:cNvSpPr>
            <a:spLocks noGrp="1"/>
          </p:cNvSpPr>
          <p:nvPr/>
        </p:nvSpPr>
        <p:spPr>
          <a:xfrm>
            <a:off x="1116569" y="4425399"/>
            <a:ext cx="2163428" cy="182980"/>
          </a:xfrm>
          <a:prstGeom prst="rect">
            <a:avLst/>
          </a:prstGeom>
          <a:solidFill>
            <a:srgbClr val="F5F5F5"/>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低代码平台</a:t>
            </a:r>
            <a:endParaRPr sz="695" b="1">
              <a:solidFill>
                <a:srgbClr val="333333"/>
              </a:solidFill>
              <a:latin typeface="微软雅黑"/>
              <a:ea typeface="微软雅黑"/>
              <a:cs typeface="微软雅黑"/>
            </a:endParaRPr>
          </a:p>
        </p:txBody>
      </p:sp>
      <p:sp>
        <p:nvSpPr>
          <p:cNvPr id="1069" name="蓝图-Text 153"/>
          <p:cNvSpPr>
            <a:spLocks noGrp="1"/>
          </p:cNvSpPr>
          <p:nvPr/>
        </p:nvSpPr>
        <p:spPr>
          <a:xfrm>
            <a:off x="3570462" y="4425399"/>
            <a:ext cx="1847056"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物联网传感器</a:t>
            </a:r>
            <a:endParaRPr sz="695" b="1">
              <a:solidFill>
                <a:srgbClr val="333333"/>
              </a:solidFill>
              <a:latin typeface="微软雅黑"/>
              <a:ea typeface="微软雅黑"/>
              <a:cs typeface="微软雅黑"/>
            </a:endParaRPr>
          </a:p>
        </p:txBody>
      </p:sp>
      <p:sp>
        <p:nvSpPr>
          <p:cNvPr id="1070" name="蓝图-Text 155"/>
          <p:cNvSpPr>
            <a:spLocks noGrp="1"/>
          </p:cNvSpPr>
          <p:nvPr/>
        </p:nvSpPr>
        <p:spPr>
          <a:xfrm>
            <a:off x="6155037" y="4425399"/>
            <a:ext cx="1395761"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表单导入</a:t>
            </a:r>
            <a:endParaRPr sz="695" b="1">
              <a:solidFill>
                <a:srgbClr val="333333"/>
              </a:solidFill>
              <a:latin typeface="微软雅黑"/>
              <a:ea typeface="微软雅黑"/>
              <a:cs typeface="微软雅黑"/>
            </a:endParaRPr>
          </a:p>
        </p:txBody>
      </p:sp>
      <p:sp>
        <p:nvSpPr>
          <p:cNvPr id="1071" name="蓝图-Shape 90"/>
          <p:cNvSpPr>
            <a:spLocks noGrp="1"/>
          </p:cNvSpPr>
          <p:nvPr/>
        </p:nvSpPr>
        <p:spPr>
          <a:xfrm>
            <a:off x="6359830" y="4067495"/>
            <a:ext cx="997655" cy="271221"/>
          </a:xfrm>
          <a:prstGeom prst="can">
            <a:avLst/>
          </a:prstGeom>
          <a:solidFill>
            <a:srgbClr val="F5F5F5"/>
          </a:solidFill>
          <a:ln w="8378">
            <a:solidFill>
              <a:schemeClr val="bg2">
                <a:lumMod val="90000"/>
              </a:schemeClr>
            </a:solidFill>
            <a:prstDash val="solid"/>
          </a:ln>
        </p:spPr>
        <p:txBody>
          <a:bodyPr/>
          <a:lstStyle/>
          <a:p>
            <a:pPr algn="ctr">
              <a:buNone/>
            </a:pPr>
            <a:r>
              <a:rPr sz="695">
                <a:latin typeface="微软雅黑"/>
                <a:ea typeface="微软雅黑"/>
                <a:cs typeface="微软雅黑"/>
              </a:rPr>
              <a:t>维修记录</a:t>
            </a:r>
            <a:endParaRPr sz="695">
              <a:latin typeface="微软雅黑"/>
              <a:ea typeface="微软雅黑"/>
              <a:cs typeface="微软雅黑"/>
            </a:endParaRPr>
          </a:p>
        </p:txBody>
      </p:sp>
      <p:sp>
        <p:nvSpPr>
          <p:cNvPr id="1075" name="蓝图-Text 54"/>
          <p:cNvSpPr>
            <a:spLocks noGrp="1"/>
          </p:cNvSpPr>
          <p:nvPr/>
        </p:nvSpPr>
        <p:spPr>
          <a:xfrm>
            <a:off x="1288718" y="2009413"/>
            <a:ext cx="6087147" cy="123785"/>
          </a:xfrm>
          <a:prstGeom prst="rect">
            <a:avLst/>
          </a:prstGeom>
          <a:solidFill>
            <a:schemeClr val="bg2">
              <a:lumMod val="90000"/>
            </a:schemeClr>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六大场景</a:t>
            </a:r>
            <a:endParaRPr sz="695" b="1">
              <a:solidFill>
                <a:srgbClr val="333333"/>
              </a:solidFill>
              <a:latin typeface="微软雅黑"/>
              <a:ea typeface="微软雅黑"/>
              <a:cs typeface="微软雅黑"/>
            </a:endParaRPr>
          </a:p>
        </p:txBody>
      </p:sp>
      <p:sp>
        <p:nvSpPr>
          <p:cNvPr id="1079" name="蓝图-Text 66"/>
          <p:cNvSpPr>
            <a:spLocks noGrp="1"/>
          </p:cNvSpPr>
          <p:nvPr/>
        </p:nvSpPr>
        <p:spPr>
          <a:xfrm>
            <a:off x="4471288" y="2304737"/>
            <a:ext cx="790850" cy="102735"/>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寿命预测</a:t>
            </a:r>
            <a:endParaRPr sz="595" b="1" dirty="0">
              <a:solidFill>
                <a:srgbClr val="333333"/>
              </a:solidFill>
              <a:latin typeface="微软雅黑"/>
              <a:ea typeface="微软雅黑"/>
              <a:cs typeface="微软雅黑"/>
            </a:endParaRPr>
          </a:p>
        </p:txBody>
      </p:sp>
      <p:sp>
        <p:nvSpPr>
          <p:cNvPr id="1080" name="蓝图-Shape 67"/>
          <p:cNvSpPr>
            <a:spLocks noGrp="1"/>
          </p:cNvSpPr>
          <p:nvPr/>
        </p:nvSpPr>
        <p:spPr>
          <a:xfrm>
            <a:off x="5775952" y="2371970"/>
            <a:ext cx="938954" cy="710036"/>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81" name="蓝图-Shape 46"/>
          <p:cNvSpPr>
            <a:spLocks noGrp="1"/>
          </p:cNvSpPr>
          <p:nvPr/>
        </p:nvSpPr>
        <p:spPr>
          <a:xfrm>
            <a:off x="3571270" y="1935253"/>
            <a:ext cx="134015" cy="182980"/>
          </a:xfrm>
          <a:prstGeom prst="upArrow">
            <a:avLst/>
          </a:prstGeom>
          <a:solidFill>
            <a:srgbClr val="A20025"/>
          </a:solidFill>
          <a:ln w="1270">
            <a:noFill/>
            <a:prstDash val="solid"/>
          </a:ln>
        </p:spPr>
      </p:sp>
      <p:sp>
        <p:nvSpPr>
          <p:cNvPr id="1082" name="蓝图-Shape 45"/>
          <p:cNvSpPr>
            <a:spLocks noGrp="1"/>
          </p:cNvSpPr>
          <p:nvPr/>
        </p:nvSpPr>
        <p:spPr>
          <a:xfrm>
            <a:off x="1602259" y="1883114"/>
            <a:ext cx="134015" cy="241337"/>
          </a:xfrm>
          <a:prstGeom prst="upArrow">
            <a:avLst/>
          </a:prstGeom>
          <a:solidFill>
            <a:srgbClr val="A20025"/>
          </a:solidFill>
          <a:ln w="1270">
            <a:noFill/>
            <a:prstDash val="solid"/>
          </a:ln>
        </p:spPr>
      </p:sp>
      <p:sp>
        <p:nvSpPr>
          <p:cNvPr id="1085" name="蓝图-Shape 67"/>
          <p:cNvSpPr>
            <a:spLocks noGrp="1"/>
          </p:cNvSpPr>
          <p:nvPr/>
        </p:nvSpPr>
        <p:spPr>
          <a:xfrm>
            <a:off x="1068849" y="2371656"/>
            <a:ext cx="1305142" cy="1018240"/>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noFill/>
            </a:endParaRPr>
          </a:p>
        </p:txBody>
      </p:sp>
      <p:sp>
        <p:nvSpPr>
          <p:cNvPr id="1089" name="蓝图-Text 66"/>
          <p:cNvSpPr>
            <a:spLocks noGrp="1"/>
          </p:cNvSpPr>
          <p:nvPr/>
        </p:nvSpPr>
        <p:spPr>
          <a:xfrm>
            <a:off x="5887030" y="2310706"/>
            <a:ext cx="736209" cy="109647"/>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维修资金投入</a:t>
            </a:r>
            <a:endParaRPr sz="595" b="1">
              <a:solidFill>
                <a:srgbClr val="333333"/>
              </a:solidFill>
              <a:latin typeface="微软雅黑"/>
              <a:ea typeface="微软雅黑"/>
              <a:cs typeface="微软雅黑"/>
            </a:endParaRPr>
          </a:p>
        </p:txBody>
      </p:sp>
      <p:sp>
        <p:nvSpPr>
          <p:cNvPr id="1090" name="蓝图-Shape 67"/>
          <p:cNvSpPr>
            <a:spLocks noGrp="1"/>
          </p:cNvSpPr>
          <p:nvPr/>
        </p:nvSpPr>
        <p:spPr>
          <a:xfrm>
            <a:off x="6815559" y="2349035"/>
            <a:ext cx="1063094" cy="1063501"/>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p>
        </p:txBody>
      </p:sp>
      <p:sp>
        <p:nvSpPr>
          <p:cNvPr id="1091" name="蓝图-Text 66"/>
          <p:cNvSpPr>
            <a:spLocks noGrp="1"/>
          </p:cNvSpPr>
          <p:nvPr/>
        </p:nvSpPr>
        <p:spPr>
          <a:xfrm>
            <a:off x="6953119" y="2297197"/>
            <a:ext cx="760175" cy="9142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新建个数</a:t>
            </a:r>
            <a:endParaRPr sz="595" b="1">
              <a:solidFill>
                <a:srgbClr val="333333"/>
              </a:solidFill>
              <a:latin typeface="微软雅黑"/>
              <a:ea typeface="微软雅黑"/>
              <a:cs typeface="微软雅黑"/>
            </a:endParaRPr>
          </a:p>
        </p:txBody>
      </p:sp>
      <p:sp>
        <p:nvSpPr>
          <p:cNvPr id="1096" name="蓝图-直接连接符 181"/>
          <p:cNvSpPr>
            <a:spLocks noGrp="1"/>
          </p:cNvSpPr>
          <p:nvPr/>
        </p:nvSpPr>
        <p:spPr>
          <a:xfrm>
            <a:off x="167149" y="3967351"/>
            <a:ext cx="7936297"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98" name="蓝图-任意多边形 182"/>
          <p:cNvSpPr>
            <a:spLocks noGrp="1"/>
          </p:cNvSpPr>
          <p:nvPr/>
        </p:nvSpPr>
        <p:spPr>
          <a:xfrm>
            <a:off x="811331" y="806749"/>
            <a:ext cx="3412940" cy="3138295"/>
          </a:xfrm>
          <a:custGeom>
            <a:avLst/>
            <a:gdLst>
              <a:gd name="connisteX0" fmla="*/ 49530 w 4537710"/>
              <a:gd name="connsiteY0" fmla="*/ 24765 h 6442075"/>
              <a:gd name="connisteX1" fmla="*/ 2497455 w 4537710"/>
              <a:gd name="connsiteY1" fmla="*/ 0 h 6442075"/>
              <a:gd name="connisteX2" fmla="*/ 2534920 w 4537710"/>
              <a:gd name="connsiteY2" fmla="*/ 2769870 h 6442075"/>
              <a:gd name="connisteX3" fmla="*/ 4512945 w 4537710"/>
              <a:gd name="connsiteY3" fmla="*/ 2757170 h 6442075"/>
              <a:gd name="connisteX4" fmla="*/ 4537710 w 4537710"/>
              <a:gd name="connsiteY4" fmla="*/ 6442075 h 6442075"/>
              <a:gd name="connisteX5" fmla="*/ 0 w 4537710"/>
              <a:gd name="connsiteY5" fmla="*/ 6392545 h 6442075"/>
              <a:gd name="connisteX6" fmla="*/ 49530 w 4537710"/>
              <a:gd name="connsiteY6" fmla="*/ 24765 h 6442075"/>
            </a:gdLst>
            <a:ahLst/>
            <a:cxnLst/>
            <a:rect l="l" t="t" r="r" b="b"/>
            <a:pathLst>
              <a:path w="4537710" h="6442075">
                <a:moveTo>
                  <a:pt x="49530" y="24765"/>
                </a:moveTo>
                <a:lnTo>
                  <a:pt x="2497455" y="0"/>
                </a:lnTo>
                <a:lnTo>
                  <a:pt x="2534920" y="2769870"/>
                </a:lnTo>
                <a:lnTo>
                  <a:pt x="4512945" y="2757170"/>
                </a:lnTo>
                <a:lnTo>
                  <a:pt x="4537710" y="6442075"/>
                </a:lnTo>
                <a:lnTo>
                  <a:pt x="0" y="6392545"/>
                </a:lnTo>
                <a:lnTo>
                  <a:pt x="49530" y="24765"/>
                </a:lnTo>
                <a:close/>
              </a:path>
            </a:pathLst>
          </a:custGeom>
          <a:noFill/>
          <a:ln w="18851" cmpd="sng">
            <a:solidFill>
              <a:srgbClr val="0070C0"/>
            </a:solidFill>
            <a:prstDash val="lgDash"/>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sz="1015"/>
          </a:p>
        </p:txBody>
      </p:sp>
      <p:sp>
        <p:nvSpPr>
          <p:cNvPr id="1099" name="蓝图-矩形 183"/>
          <p:cNvSpPr>
            <a:spLocks noGrp="1"/>
          </p:cNvSpPr>
          <p:nvPr/>
        </p:nvSpPr>
        <p:spPr>
          <a:xfrm>
            <a:off x="5597650" y="799211"/>
            <a:ext cx="2471191" cy="2659278"/>
          </a:xfrm>
          <a:prstGeom prst="rect">
            <a:avLst/>
          </a:prstGeom>
          <a:noFill/>
          <a:ln w="18851" cmpd="sng">
            <a:solidFill>
              <a:schemeClr val="accent2"/>
            </a:solidFill>
            <a:prstDash val="lgDash"/>
          </a:ln>
        </p:spPr>
        <p:style>
          <a:lnRef idx="2">
            <a:schemeClr val="accent1">
              <a:lumMod val="75000"/>
            </a:schemeClr>
          </a:lnRef>
          <a:fillRef idx="1">
            <a:schemeClr val="accent1"/>
          </a:fillRef>
          <a:effectRef idx="0">
            <a:srgbClr val="FFFFFF"/>
          </a:effectRef>
          <a:fontRef idx="minor">
            <a:schemeClr val="lt1"/>
          </a:fontRef>
        </p:style>
        <p:txBody>
          <a:bodyPr vert="horz" wrap="square" anchor="ctr">
            <a:noAutofit/>
          </a:bodyPr>
          <a:lstStyle/>
          <a:p>
            <a:pPr lvl="0" algn="ctr">
              <a:buClrTx/>
              <a:buSzTx/>
              <a:buFontTx/>
              <a:buNone/>
            </a:pPr>
            <a:endParaRPr sz="1015"/>
          </a:p>
        </p:txBody>
      </p:sp>
      <p:sp>
        <p:nvSpPr>
          <p:cNvPr id="1100" name="蓝图-Text 64"/>
          <p:cNvSpPr>
            <a:spLocks noGrp="1"/>
          </p:cNvSpPr>
          <p:nvPr/>
        </p:nvSpPr>
        <p:spPr>
          <a:xfrm>
            <a:off x="3280221" y="2164929"/>
            <a:ext cx="1973769" cy="12786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烤房维护</a:t>
            </a:r>
            <a:endParaRPr sz="790" b="1">
              <a:solidFill>
                <a:srgbClr val="FFFFFF"/>
              </a:solidFill>
              <a:latin typeface="微软雅黑"/>
              <a:ea typeface="微软雅黑"/>
              <a:cs typeface="微软雅黑"/>
            </a:endParaRPr>
          </a:p>
        </p:txBody>
      </p:sp>
      <p:sp>
        <p:nvSpPr>
          <p:cNvPr id="1101" name="蓝图-Text 36"/>
          <p:cNvSpPr>
            <a:spLocks noGrp="1"/>
          </p:cNvSpPr>
          <p:nvPr/>
        </p:nvSpPr>
        <p:spPr>
          <a:xfrm>
            <a:off x="4438696" y="1532809"/>
            <a:ext cx="2136253" cy="129440"/>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Web端</a:t>
            </a:r>
            <a:endParaRPr sz="695" b="1">
              <a:solidFill>
                <a:srgbClr val="333333"/>
              </a:solidFill>
              <a:latin typeface="微软雅黑"/>
              <a:ea typeface="微软雅黑"/>
              <a:cs typeface="微软雅黑"/>
            </a:endParaRPr>
          </a:p>
        </p:txBody>
      </p:sp>
      <p:sp>
        <p:nvSpPr>
          <p:cNvPr id="1017" name="蓝图-Text 23"/>
          <p:cNvSpPr>
            <a:spLocks noGrp="1"/>
          </p:cNvSpPr>
          <p:nvPr/>
        </p:nvSpPr>
        <p:spPr>
          <a:xfrm>
            <a:off x="3780657" y="1582464"/>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1018" name="蓝图-Text 24"/>
          <p:cNvSpPr>
            <a:spLocks noGrp="1"/>
          </p:cNvSpPr>
          <p:nvPr/>
        </p:nvSpPr>
        <p:spPr>
          <a:xfrm>
            <a:off x="6703882" y="1589989"/>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查看</a:t>
            </a:r>
            <a:endParaRPr sz="595" b="1" dirty="0">
              <a:solidFill>
                <a:srgbClr val="333333"/>
              </a:solidFill>
              <a:latin typeface="微软雅黑"/>
              <a:ea typeface="微软雅黑"/>
              <a:cs typeface="微软雅黑"/>
            </a:endParaRPr>
          </a:p>
        </p:txBody>
      </p:sp>
      <p:sp>
        <p:nvSpPr>
          <p:cNvPr id="1097" name="蓝图-Text 26"/>
          <p:cNvSpPr>
            <a:spLocks noGrp="1"/>
          </p:cNvSpPr>
          <p:nvPr/>
        </p:nvSpPr>
        <p:spPr>
          <a:xfrm>
            <a:off x="1643716" y="1529826"/>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3" name="蓝图-Shape 46"/>
          <p:cNvSpPr>
            <a:spLocks noGrp="1"/>
          </p:cNvSpPr>
          <p:nvPr/>
        </p:nvSpPr>
        <p:spPr>
          <a:xfrm>
            <a:off x="6724643" y="1953749"/>
            <a:ext cx="134015" cy="182980"/>
          </a:xfrm>
          <a:prstGeom prst="upArrow">
            <a:avLst/>
          </a:prstGeom>
          <a:solidFill>
            <a:srgbClr val="A20025"/>
          </a:solidFill>
          <a:ln w="1270">
            <a:noFill/>
            <a:prstDash val="solid"/>
          </a:ln>
        </p:spPr>
      </p:sp>
      <p:sp>
        <p:nvSpPr>
          <p:cNvPr id="5" name="蓝图-Shape 45"/>
          <p:cNvSpPr>
            <a:spLocks noGrp="1"/>
          </p:cNvSpPr>
          <p:nvPr/>
        </p:nvSpPr>
        <p:spPr>
          <a:xfrm>
            <a:off x="1595069" y="1400152"/>
            <a:ext cx="148394" cy="214549"/>
          </a:xfrm>
          <a:prstGeom prst="upArrow">
            <a:avLst/>
          </a:prstGeom>
          <a:solidFill>
            <a:srgbClr val="A20025"/>
          </a:solidFill>
          <a:ln w="1270">
            <a:noFill/>
            <a:prstDash val="solid"/>
          </a:ln>
        </p:spPr>
      </p:sp>
      <p:sp>
        <p:nvSpPr>
          <p:cNvPr id="8" name="蓝图-Shape 45"/>
          <p:cNvSpPr>
            <a:spLocks noGrp="1"/>
          </p:cNvSpPr>
          <p:nvPr/>
        </p:nvSpPr>
        <p:spPr>
          <a:xfrm>
            <a:off x="3775915" y="1406831"/>
            <a:ext cx="148394" cy="162422"/>
          </a:xfrm>
          <a:prstGeom prst="upArrow">
            <a:avLst/>
          </a:prstGeom>
          <a:solidFill>
            <a:srgbClr val="A20025"/>
          </a:solidFill>
          <a:ln w="1270">
            <a:noFill/>
            <a:prstDash val="solid"/>
          </a:ln>
        </p:spPr>
      </p:sp>
      <p:sp>
        <p:nvSpPr>
          <p:cNvPr id="10" name="蓝图-Shape 45"/>
          <p:cNvSpPr>
            <a:spLocks noGrp="1"/>
          </p:cNvSpPr>
          <p:nvPr/>
        </p:nvSpPr>
        <p:spPr>
          <a:xfrm>
            <a:off x="6696199" y="1418947"/>
            <a:ext cx="148394" cy="158028"/>
          </a:xfrm>
          <a:prstGeom prst="upArrow">
            <a:avLst/>
          </a:prstGeom>
          <a:solidFill>
            <a:srgbClr val="A20025"/>
          </a:solidFill>
          <a:ln w="1270">
            <a:noFill/>
            <a:prstDash val="solid"/>
          </a:ln>
        </p:spPr>
      </p:sp>
      <p:sp>
        <p:nvSpPr>
          <p:cNvPr id="16" name="蓝图-Shape 104"/>
          <p:cNvSpPr>
            <a:spLocks noGrp="1"/>
          </p:cNvSpPr>
          <p:nvPr/>
        </p:nvSpPr>
        <p:spPr>
          <a:xfrm>
            <a:off x="3610412" y="3421230"/>
            <a:ext cx="115384" cy="129611"/>
          </a:xfrm>
          <a:prstGeom prst="upArrow">
            <a:avLst/>
          </a:prstGeom>
          <a:solidFill>
            <a:srgbClr val="6D8764"/>
          </a:solidFill>
          <a:ln w="1270">
            <a:noFill/>
            <a:prstDash val="solid"/>
          </a:ln>
        </p:spPr>
      </p:sp>
      <p:sp>
        <p:nvSpPr>
          <p:cNvPr id="18" name="蓝图-Shape 104"/>
          <p:cNvSpPr>
            <a:spLocks noGrp="1"/>
          </p:cNvSpPr>
          <p:nvPr/>
        </p:nvSpPr>
        <p:spPr>
          <a:xfrm>
            <a:off x="2089269" y="4303167"/>
            <a:ext cx="115384" cy="129611"/>
          </a:xfrm>
          <a:prstGeom prst="upArrow">
            <a:avLst/>
          </a:prstGeom>
          <a:solidFill>
            <a:srgbClr val="6D8764"/>
          </a:solidFill>
          <a:ln w="1270">
            <a:noFill/>
            <a:prstDash val="solid"/>
          </a:ln>
        </p:spPr>
      </p:sp>
      <p:sp>
        <p:nvSpPr>
          <p:cNvPr id="20" name="蓝图-Shape 104"/>
          <p:cNvSpPr>
            <a:spLocks noGrp="1"/>
          </p:cNvSpPr>
          <p:nvPr/>
        </p:nvSpPr>
        <p:spPr>
          <a:xfrm>
            <a:off x="4403004" y="4295386"/>
            <a:ext cx="115384" cy="129611"/>
          </a:xfrm>
          <a:prstGeom prst="upArrow">
            <a:avLst/>
          </a:prstGeom>
          <a:solidFill>
            <a:srgbClr val="6D8764"/>
          </a:solidFill>
          <a:ln w="1270">
            <a:noFill/>
            <a:prstDash val="solid"/>
          </a:ln>
        </p:spPr>
      </p:sp>
      <p:sp>
        <p:nvSpPr>
          <p:cNvPr id="22" name="蓝图-Shape 104"/>
          <p:cNvSpPr>
            <a:spLocks noGrp="1"/>
          </p:cNvSpPr>
          <p:nvPr/>
        </p:nvSpPr>
        <p:spPr>
          <a:xfrm>
            <a:off x="6804126" y="4303308"/>
            <a:ext cx="115384" cy="129611"/>
          </a:xfrm>
          <a:prstGeom prst="upArrow">
            <a:avLst/>
          </a:prstGeom>
          <a:solidFill>
            <a:srgbClr val="6D8764"/>
          </a:solidFill>
          <a:ln w="1270">
            <a:noFill/>
            <a:prstDash val="solid"/>
          </a:ln>
        </p:spPr>
        <p:txBody>
          <a:bodyPr/>
          <a:lstStyle/>
          <a:p>
            <a:endParaRPr lang="zh-CN" altLang="en-US" dirty="0"/>
          </a:p>
        </p:txBody>
      </p:sp>
      <p:sp>
        <p:nvSpPr>
          <p:cNvPr id="24" name="蓝图-Shape 45"/>
          <p:cNvSpPr>
            <a:spLocks noGrp="1"/>
          </p:cNvSpPr>
          <p:nvPr/>
        </p:nvSpPr>
        <p:spPr>
          <a:xfrm rot="10800000">
            <a:off x="1635663" y="2407368"/>
            <a:ext cx="134015" cy="988997"/>
          </a:xfrm>
          <a:prstGeom prst="upArrow">
            <a:avLst/>
          </a:prstGeom>
          <a:solidFill>
            <a:srgbClr val="FFC000"/>
          </a:solidFill>
          <a:ln w="1270">
            <a:noFill/>
            <a:prstDash val="solid"/>
          </a:ln>
        </p:spPr>
      </p:sp>
      <p:sp>
        <p:nvSpPr>
          <p:cNvPr id="26" name="蓝图-Shape 45"/>
          <p:cNvSpPr>
            <a:spLocks noGrp="1"/>
          </p:cNvSpPr>
          <p:nvPr/>
        </p:nvSpPr>
        <p:spPr>
          <a:xfrm rot="10800000">
            <a:off x="3490666" y="2398601"/>
            <a:ext cx="134015" cy="990040"/>
          </a:xfrm>
          <a:prstGeom prst="upArrow">
            <a:avLst/>
          </a:prstGeom>
          <a:solidFill>
            <a:srgbClr val="FFC000"/>
          </a:solidFill>
          <a:ln w="1270">
            <a:noFill/>
            <a:prstDash val="solid"/>
          </a:ln>
        </p:spPr>
      </p:sp>
      <p:sp>
        <p:nvSpPr>
          <p:cNvPr id="28" name="蓝图-Shape 45"/>
          <p:cNvSpPr>
            <a:spLocks noGrp="1"/>
          </p:cNvSpPr>
          <p:nvPr/>
        </p:nvSpPr>
        <p:spPr>
          <a:xfrm rot="10800000">
            <a:off x="4813934" y="2394430"/>
            <a:ext cx="134015" cy="915361"/>
          </a:xfrm>
          <a:prstGeom prst="upArrow">
            <a:avLst/>
          </a:prstGeom>
          <a:solidFill>
            <a:srgbClr val="FFC000"/>
          </a:solidFill>
          <a:ln w="1270">
            <a:noFill/>
            <a:prstDash val="solid"/>
          </a:ln>
        </p:spPr>
      </p:sp>
      <p:sp>
        <p:nvSpPr>
          <p:cNvPr id="30" name="蓝图-Shape 45"/>
          <p:cNvSpPr>
            <a:spLocks noGrp="1"/>
          </p:cNvSpPr>
          <p:nvPr/>
        </p:nvSpPr>
        <p:spPr>
          <a:xfrm rot="10800000">
            <a:off x="6188125" y="2422866"/>
            <a:ext cx="134015" cy="668880"/>
          </a:xfrm>
          <a:prstGeom prst="upArrow">
            <a:avLst/>
          </a:prstGeom>
          <a:solidFill>
            <a:srgbClr val="FFC000"/>
          </a:solidFill>
          <a:ln w="1270">
            <a:noFill/>
            <a:prstDash val="solid"/>
          </a:ln>
        </p:spPr>
      </p:sp>
      <p:sp>
        <p:nvSpPr>
          <p:cNvPr id="32" name="蓝图-Shape 45"/>
          <p:cNvSpPr>
            <a:spLocks noGrp="1"/>
          </p:cNvSpPr>
          <p:nvPr/>
        </p:nvSpPr>
        <p:spPr>
          <a:xfrm rot="10800000">
            <a:off x="7266198" y="2385114"/>
            <a:ext cx="134015" cy="1023583"/>
          </a:xfrm>
          <a:prstGeom prst="upArrow">
            <a:avLst/>
          </a:prstGeom>
          <a:solidFill>
            <a:srgbClr val="FFC000"/>
          </a:solidFill>
          <a:ln w="1270">
            <a:noFill/>
            <a:prstDash val="solid"/>
          </a:ln>
        </p:spPr>
      </p:sp>
      <p:sp>
        <p:nvSpPr>
          <p:cNvPr id="1039" name="蓝图-Text 76"/>
          <p:cNvSpPr>
            <a:spLocks noGrp="1"/>
          </p:cNvSpPr>
          <p:nvPr/>
        </p:nvSpPr>
        <p:spPr>
          <a:xfrm>
            <a:off x="4361535" y="2487292"/>
            <a:ext cx="1064285" cy="254168"/>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健康评分</a:t>
            </a:r>
            <a:r>
              <a:rPr sz="695" b="1" dirty="0">
                <a:solidFill>
                  <a:srgbClr val="F8F7F7"/>
                </a:solidFill>
                <a:latin typeface="微软雅黑"/>
                <a:ea typeface="微软雅黑"/>
                <a:cs typeface="微软雅黑"/>
              </a:rPr>
              <a:t> &amp; </a:t>
            </a:r>
            <a:r>
              <a:rPr sz="695" b="1" dirty="0" err="1">
                <a:solidFill>
                  <a:srgbClr val="F8F7F7"/>
                </a:solidFill>
                <a:latin typeface="微软雅黑"/>
                <a:ea typeface="微软雅黑"/>
                <a:cs typeface="微软雅黑"/>
              </a:rPr>
              <a:t>寿命预测算法</a:t>
            </a:r>
            <a:endParaRPr sz="695" b="1" dirty="0">
              <a:solidFill>
                <a:srgbClr val="F8F7F7"/>
              </a:solidFill>
              <a:latin typeface="微软雅黑"/>
              <a:ea typeface="微软雅黑"/>
              <a:cs typeface="微软雅黑"/>
            </a:endParaRPr>
          </a:p>
        </p:txBody>
      </p:sp>
      <p:sp>
        <p:nvSpPr>
          <p:cNvPr id="1043" name="蓝图-Text 86"/>
          <p:cNvSpPr>
            <a:spLocks noGrp="1"/>
          </p:cNvSpPr>
          <p:nvPr/>
        </p:nvSpPr>
        <p:spPr>
          <a:xfrm>
            <a:off x="4418086" y="2821452"/>
            <a:ext cx="897255" cy="197300"/>
          </a:xfrm>
          <a:prstGeom prst="rect">
            <a:avLst/>
          </a:prstGeom>
          <a:solidFill>
            <a:schemeClr val="accent4">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健康分・剩余寿命等优先级安排维修</a:t>
            </a:r>
            <a:endParaRPr sz="595" dirty="0"/>
          </a:p>
        </p:txBody>
      </p:sp>
      <p:sp>
        <p:nvSpPr>
          <p:cNvPr id="1048" name="蓝图-Text 96"/>
          <p:cNvSpPr>
            <a:spLocks noGrp="1"/>
          </p:cNvSpPr>
          <p:nvPr/>
        </p:nvSpPr>
        <p:spPr>
          <a:xfrm>
            <a:off x="4428391" y="3098657"/>
            <a:ext cx="876645" cy="111846"/>
          </a:xfrm>
          <a:prstGeom prst="rect">
            <a:avLst/>
          </a:prstGeom>
          <a:solidFill>
            <a:schemeClr val="accent4">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维修完成</a:t>
            </a:r>
            <a:endParaRPr sz="595" b="1">
              <a:solidFill>
                <a:srgbClr val="333333"/>
              </a:solidFill>
              <a:latin typeface="微软雅黑"/>
              <a:ea typeface="微软雅黑"/>
              <a:cs typeface="微软雅黑"/>
            </a:endParaRPr>
          </a:p>
        </p:txBody>
      </p:sp>
      <p:sp>
        <p:nvSpPr>
          <p:cNvPr id="1040" name="蓝图-Text 78"/>
          <p:cNvSpPr>
            <a:spLocks noGrp="1"/>
          </p:cNvSpPr>
          <p:nvPr/>
        </p:nvSpPr>
        <p:spPr>
          <a:xfrm>
            <a:off x="3175919" y="2450325"/>
            <a:ext cx="790850" cy="109333"/>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一键报修</a:t>
            </a:r>
            <a:endParaRPr sz="595" b="1">
              <a:solidFill>
                <a:srgbClr val="333333"/>
              </a:solidFill>
              <a:latin typeface="微软雅黑"/>
              <a:ea typeface="微软雅黑"/>
              <a:cs typeface="微软雅黑"/>
            </a:endParaRPr>
          </a:p>
        </p:txBody>
      </p:sp>
      <p:sp>
        <p:nvSpPr>
          <p:cNvPr id="1044" name="蓝图-Text 88"/>
          <p:cNvSpPr>
            <a:spLocks noGrp="1"/>
          </p:cNvSpPr>
          <p:nvPr/>
        </p:nvSpPr>
        <p:spPr>
          <a:xfrm>
            <a:off x="3175919" y="2825701"/>
            <a:ext cx="790850" cy="115931"/>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查看维修进度</a:t>
            </a:r>
            <a:endParaRPr sz="595" b="1">
              <a:solidFill>
                <a:srgbClr val="333333"/>
              </a:solidFill>
              <a:latin typeface="微软雅黑"/>
              <a:ea typeface="微软雅黑"/>
              <a:cs typeface="微软雅黑"/>
            </a:endParaRPr>
          </a:p>
        </p:txBody>
      </p:sp>
      <p:sp>
        <p:nvSpPr>
          <p:cNvPr id="1047" name="蓝图-Text 94"/>
          <p:cNvSpPr>
            <a:spLocks noGrp="1"/>
          </p:cNvSpPr>
          <p:nvPr/>
        </p:nvSpPr>
        <p:spPr>
          <a:xfrm>
            <a:off x="3158425" y="2996424"/>
            <a:ext cx="825839" cy="123785"/>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匹配到维修人员</a:t>
            </a:r>
            <a:endParaRPr sz="595" b="1">
              <a:solidFill>
                <a:srgbClr val="333333"/>
              </a:solidFill>
              <a:latin typeface="微软雅黑"/>
              <a:ea typeface="微软雅黑"/>
              <a:cs typeface="微软雅黑"/>
            </a:endParaRPr>
          </a:p>
        </p:txBody>
      </p:sp>
      <p:sp>
        <p:nvSpPr>
          <p:cNvPr id="1078" name="蓝图-Text 66"/>
          <p:cNvSpPr>
            <a:spLocks noGrp="1"/>
          </p:cNvSpPr>
          <p:nvPr/>
        </p:nvSpPr>
        <p:spPr>
          <a:xfrm>
            <a:off x="3175919" y="2292798"/>
            <a:ext cx="790850" cy="10273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主动报修</a:t>
            </a:r>
            <a:endParaRPr sz="595" b="1">
              <a:solidFill>
                <a:srgbClr val="333333"/>
              </a:solidFill>
              <a:latin typeface="微软雅黑"/>
              <a:ea typeface="微软雅黑"/>
              <a:cs typeface="微软雅黑"/>
            </a:endParaRPr>
          </a:p>
        </p:txBody>
      </p:sp>
      <p:sp>
        <p:nvSpPr>
          <p:cNvPr id="1087" name="蓝图-Text 94"/>
          <p:cNvSpPr>
            <a:spLocks noGrp="1"/>
          </p:cNvSpPr>
          <p:nvPr/>
        </p:nvSpPr>
        <p:spPr>
          <a:xfrm>
            <a:off x="3164416" y="3175001"/>
            <a:ext cx="813857" cy="134153"/>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匹配到维修部件</a:t>
            </a:r>
            <a:endParaRPr sz="595" b="1" dirty="0">
              <a:solidFill>
                <a:srgbClr val="333333"/>
              </a:solidFill>
              <a:latin typeface="微软雅黑"/>
              <a:ea typeface="微软雅黑"/>
              <a:cs typeface="微软雅黑"/>
            </a:endParaRPr>
          </a:p>
        </p:txBody>
      </p:sp>
      <p:sp>
        <p:nvSpPr>
          <p:cNvPr id="1088" name="蓝图-Text 76"/>
          <p:cNvSpPr>
            <a:spLocks noGrp="1"/>
          </p:cNvSpPr>
          <p:nvPr/>
        </p:nvSpPr>
        <p:spPr>
          <a:xfrm>
            <a:off x="3132782" y="2614450"/>
            <a:ext cx="877124" cy="156459"/>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自动匹配算法</a:t>
            </a:r>
            <a:endParaRPr sz="695" b="1" dirty="0">
              <a:solidFill>
                <a:srgbClr val="F8F7F7"/>
              </a:solidFill>
              <a:latin typeface="微软雅黑"/>
              <a:ea typeface="微软雅黑"/>
              <a:cs typeface="微软雅黑"/>
            </a:endParaRPr>
          </a:p>
        </p:txBody>
      </p:sp>
      <p:sp>
        <p:nvSpPr>
          <p:cNvPr id="1035" name="蓝图-Text 66"/>
          <p:cNvSpPr>
            <a:spLocks noGrp="1"/>
          </p:cNvSpPr>
          <p:nvPr/>
        </p:nvSpPr>
        <p:spPr>
          <a:xfrm>
            <a:off x="1243795" y="2473397"/>
            <a:ext cx="938954" cy="116245"/>
          </a:xfrm>
          <a:prstGeom prst="rect">
            <a:avLst/>
          </a:prstGeom>
          <a:solidFill>
            <a:schemeClr val="accent6">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发起烤房申请</a:t>
            </a:r>
            <a:endParaRPr sz="595" b="1" dirty="0">
              <a:solidFill>
                <a:srgbClr val="333333"/>
              </a:solidFill>
              <a:latin typeface="微软雅黑"/>
              <a:ea typeface="微软雅黑"/>
              <a:cs typeface="微软雅黑"/>
            </a:endParaRPr>
          </a:p>
        </p:txBody>
      </p:sp>
      <p:sp>
        <p:nvSpPr>
          <p:cNvPr id="1041" name="蓝图-Text 80"/>
          <p:cNvSpPr>
            <a:spLocks noGrp="1"/>
          </p:cNvSpPr>
          <p:nvPr/>
        </p:nvSpPr>
        <p:spPr>
          <a:xfrm>
            <a:off x="1184361" y="2663735"/>
            <a:ext cx="1057822" cy="140330"/>
          </a:xfrm>
          <a:prstGeom prst="roundRect">
            <a:avLst/>
          </a:prstGeom>
          <a:solidFill>
            <a:srgbClr val="FA6800"/>
          </a:solidFill>
        </p:spPr>
        <p:txBody>
          <a:bodyPr wrap="square" lIns="0" tIns="0" rIns="0" bIns="0" anchor="ctr"/>
          <a:lstStyle/>
          <a:p>
            <a:pPr algn="ctr"/>
            <a:r>
              <a:rPr sz="695" b="1">
                <a:solidFill>
                  <a:srgbClr val="F8F7F7"/>
                </a:solidFill>
                <a:latin typeface="微软雅黑"/>
                <a:ea typeface="微软雅黑"/>
                <a:cs typeface="微软雅黑"/>
              </a:rPr>
              <a:t>烤房推荐算法</a:t>
            </a:r>
            <a:endParaRPr sz="695" b="1">
              <a:solidFill>
                <a:srgbClr val="F8F7F7"/>
              </a:solidFill>
              <a:latin typeface="微软雅黑"/>
              <a:ea typeface="微软雅黑"/>
              <a:cs typeface="微软雅黑"/>
            </a:endParaRPr>
          </a:p>
        </p:txBody>
      </p:sp>
      <p:sp>
        <p:nvSpPr>
          <p:cNvPr id="1045" name="蓝图-Text 90"/>
          <p:cNvSpPr>
            <a:spLocks noGrp="1"/>
          </p:cNvSpPr>
          <p:nvPr/>
        </p:nvSpPr>
        <p:spPr>
          <a:xfrm>
            <a:off x="1243555" y="2878158"/>
            <a:ext cx="939434" cy="204842"/>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使用状态・容量・距离・健康状态优先级排序</a:t>
            </a:r>
            <a:endParaRPr sz="595" b="1">
              <a:solidFill>
                <a:srgbClr val="333333"/>
              </a:solidFill>
              <a:latin typeface="微软雅黑"/>
              <a:ea typeface="微软雅黑"/>
              <a:cs typeface="微软雅黑"/>
            </a:endParaRPr>
          </a:p>
        </p:txBody>
      </p:sp>
      <p:sp>
        <p:nvSpPr>
          <p:cNvPr id="1050" name="蓝图-Text 100"/>
          <p:cNvSpPr>
            <a:spLocks noGrp="1"/>
          </p:cNvSpPr>
          <p:nvPr/>
        </p:nvSpPr>
        <p:spPr>
          <a:xfrm>
            <a:off x="1235887" y="3157094"/>
            <a:ext cx="954771" cy="145149"/>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调剂到烤房</a:t>
            </a:r>
            <a:endParaRPr sz="595"/>
          </a:p>
        </p:txBody>
      </p:sp>
      <p:sp>
        <p:nvSpPr>
          <p:cNvPr id="1086" name="蓝图-Text 66"/>
          <p:cNvSpPr>
            <a:spLocks noGrp="1"/>
          </p:cNvSpPr>
          <p:nvPr/>
        </p:nvSpPr>
        <p:spPr>
          <a:xfrm>
            <a:off x="1217194" y="2306308"/>
            <a:ext cx="992157" cy="92996"/>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烤房预约</a:t>
            </a:r>
            <a:endParaRPr sz="595" b="1" dirty="0">
              <a:solidFill>
                <a:srgbClr val="333333"/>
              </a:solidFill>
              <a:latin typeface="微软雅黑"/>
              <a:ea typeface="微软雅黑"/>
              <a:cs typeface="微软雅黑"/>
            </a:endParaRPr>
          </a:p>
        </p:txBody>
      </p:sp>
      <p:sp>
        <p:nvSpPr>
          <p:cNvPr id="1092" name="蓝图-Text 74"/>
          <p:cNvSpPr>
            <a:spLocks noGrp="1"/>
          </p:cNvSpPr>
          <p:nvPr/>
        </p:nvSpPr>
        <p:spPr>
          <a:xfrm>
            <a:off x="5881278" y="2472611"/>
            <a:ext cx="747713" cy="111846"/>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分析维修数据</a:t>
            </a:r>
            <a:endParaRPr sz="595" b="1">
              <a:solidFill>
                <a:srgbClr val="333333"/>
              </a:solidFill>
              <a:latin typeface="微软雅黑"/>
              <a:ea typeface="微软雅黑"/>
              <a:cs typeface="微软雅黑"/>
            </a:endParaRPr>
          </a:p>
        </p:txBody>
      </p:sp>
      <p:sp>
        <p:nvSpPr>
          <p:cNvPr id="1093" name="蓝图-Text 74"/>
          <p:cNvSpPr>
            <a:spLocks noGrp="1"/>
          </p:cNvSpPr>
          <p:nvPr/>
        </p:nvSpPr>
        <p:spPr>
          <a:xfrm>
            <a:off x="5873849" y="2636715"/>
            <a:ext cx="762571" cy="181593"/>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生成维修建议</a:t>
            </a:r>
            <a:endParaRPr sz="595" b="1">
              <a:solidFill>
                <a:srgbClr val="333333"/>
              </a:solidFill>
              <a:latin typeface="微软雅黑"/>
              <a:ea typeface="微软雅黑"/>
              <a:cs typeface="微软雅黑"/>
            </a:endParaRPr>
          </a:p>
          <a:p>
            <a:pPr lvl="0" algn="ctr">
              <a:buClrTx/>
              <a:buSzTx/>
              <a:buFontTx/>
              <a:buNone/>
            </a:pPr>
            <a:r>
              <a:rPr sz="595" b="1">
                <a:solidFill>
                  <a:srgbClr val="333333"/>
                </a:solidFill>
                <a:latin typeface="微软雅黑"/>
                <a:ea typeface="微软雅黑"/>
                <a:cs typeface="微软雅黑"/>
              </a:rPr>
              <a:t>报告</a:t>
            </a:r>
            <a:endParaRPr sz="595" b="1">
              <a:solidFill>
                <a:srgbClr val="333333"/>
              </a:solidFill>
              <a:latin typeface="微软雅黑"/>
              <a:ea typeface="微软雅黑"/>
              <a:cs typeface="微软雅黑"/>
            </a:endParaRPr>
          </a:p>
        </p:txBody>
      </p:sp>
      <p:sp>
        <p:nvSpPr>
          <p:cNvPr id="1094" name="蓝图-Text 74"/>
          <p:cNvSpPr>
            <a:spLocks noGrp="1"/>
          </p:cNvSpPr>
          <p:nvPr/>
        </p:nvSpPr>
        <p:spPr>
          <a:xfrm>
            <a:off x="5867857" y="2870566"/>
            <a:ext cx="774554" cy="12975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分配资金</a:t>
            </a:r>
            <a:endParaRPr sz="595" b="1">
              <a:solidFill>
                <a:srgbClr val="333333"/>
              </a:solidFill>
              <a:latin typeface="微软雅黑"/>
              <a:ea typeface="微软雅黑"/>
              <a:cs typeface="微软雅黑"/>
            </a:endParaRPr>
          </a:p>
        </p:txBody>
      </p:sp>
      <p:sp>
        <p:nvSpPr>
          <p:cNvPr id="1038" name="蓝图-Text 74"/>
          <p:cNvSpPr>
            <a:spLocks noGrp="1"/>
          </p:cNvSpPr>
          <p:nvPr/>
        </p:nvSpPr>
        <p:spPr>
          <a:xfrm>
            <a:off x="6894644" y="2428585"/>
            <a:ext cx="877124" cy="136667"/>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逐个新增烤房点</a:t>
            </a:r>
            <a:endParaRPr sz="595" b="1">
              <a:solidFill>
                <a:srgbClr val="333333"/>
              </a:solidFill>
              <a:latin typeface="微软雅黑"/>
              <a:ea typeface="微软雅黑"/>
              <a:cs typeface="微软雅黑"/>
            </a:endParaRPr>
          </a:p>
        </p:txBody>
      </p:sp>
      <p:sp>
        <p:nvSpPr>
          <p:cNvPr id="1042" name="蓝图-Text 82"/>
          <p:cNvSpPr>
            <a:spLocks noGrp="1"/>
          </p:cNvSpPr>
          <p:nvPr/>
        </p:nvSpPr>
        <p:spPr>
          <a:xfrm>
            <a:off x="6837128" y="2736917"/>
            <a:ext cx="992157" cy="192904"/>
          </a:xfrm>
          <a:prstGeom prst="roundRect">
            <a:avLst/>
          </a:prstGeom>
          <a:solidFill>
            <a:srgbClr val="FA6800"/>
          </a:solidFill>
        </p:spPr>
        <p:txBody>
          <a:bodyPr wrap="square" lIns="0" tIns="0" rIns="0" bIns="0" anchor="ctr">
            <a:noAutofit/>
          </a:bodyPr>
          <a:lstStyle/>
          <a:p>
            <a:pPr lvl="0" algn="ctr">
              <a:buClrTx/>
              <a:buSzTx/>
              <a:buFontTx/>
              <a:buNone/>
            </a:pPr>
            <a:r>
              <a:rPr sz="695" b="1">
                <a:solidFill>
                  <a:srgbClr val="F8F7F7"/>
                </a:solidFill>
                <a:latin typeface="微软雅黑"/>
                <a:ea typeface="微软雅黑"/>
                <a:cs typeface="微软雅黑"/>
              </a:rPr>
              <a:t>烤房负载度算法</a:t>
            </a:r>
            <a:endParaRPr sz="695" b="1">
              <a:solidFill>
                <a:srgbClr val="F8F7F7"/>
              </a:solidFill>
              <a:latin typeface="微软雅黑"/>
              <a:ea typeface="微软雅黑"/>
              <a:cs typeface="微软雅黑"/>
            </a:endParaRPr>
          </a:p>
        </p:txBody>
      </p:sp>
      <p:sp>
        <p:nvSpPr>
          <p:cNvPr id="1046" name="蓝图-Text 92"/>
          <p:cNvSpPr>
            <a:spLocks noGrp="1"/>
          </p:cNvSpPr>
          <p:nvPr/>
        </p:nvSpPr>
        <p:spPr>
          <a:xfrm>
            <a:off x="6898478" y="2969784"/>
            <a:ext cx="869456" cy="17719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对比全县全市平均烤房负载度</a:t>
            </a:r>
            <a:endParaRPr sz="595" b="1">
              <a:solidFill>
                <a:srgbClr val="333333"/>
              </a:solidFill>
              <a:latin typeface="微软雅黑"/>
              <a:ea typeface="微软雅黑"/>
              <a:cs typeface="微软雅黑"/>
            </a:endParaRPr>
          </a:p>
        </p:txBody>
      </p:sp>
      <p:sp>
        <p:nvSpPr>
          <p:cNvPr id="1051" name="蓝图-Text 102"/>
          <p:cNvSpPr>
            <a:spLocks noGrp="1"/>
          </p:cNvSpPr>
          <p:nvPr/>
        </p:nvSpPr>
        <p:spPr>
          <a:xfrm>
            <a:off x="6887694" y="3186941"/>
            <a:ext cx="891024" cy="14137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确定新建个数等</a:t>
            </a:r>
            <a:endParaRPr sz="595" b="1">
              <a:solidFill>
                <a:srgbClr val="333333"/>
              </a:solidFill>
              <a:latin typeface="微软雅黑"/>
              <a:ea typeface="微软雅黑"/>
              <a:cs typeface="微软雅黑"/>
            </a:endParaRPr>
          </a:p>
        </p:txBody>
      </p:sp>
      <p:sp>
        <p:nvSpPr>
          <p:cNvPr id="1095" name="蓝图-Text 92"/>
          <p:cNvSpPr>
            <a:spLocks noGrp="1"/>
          </p:cNvSpPr>
          <p:nvPr/>
        </p:nvSpPr>
        <p:spPr>
          <a:xfrm>
            <a:off x="6898239" y="2605215"/>
            <a:ext cx="869935" cy="9173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沙盘演练</a:t>
            </a:r>
            <a:endParaRPr sz="595" b="1" dirty="0">
              <a:solidFill>
                <a:srgbClr val="333333"/>
              </a:solidFill>
              <a:latin typeface="微软雅黑"/>
              <a:ea typeface="微软雅黑"/>
              <a:cs typeface="微软雅黑"/>
            </a:endParaRPr>
          </a:p>
        </p:txBody>
      </p:sp>
      <p:sp>
        <p:nvSpPr>
          <p:cNvPr id="35" name="文本框 34"/>
          <p:cNvSpPr txBox="1"/>
          <p:nvPr/>
        </p:nvSpPr>
        <p:spPr>
          <a:xfrm>
            <a:off x="4905307" y="3574526"/>
            <a:ext cx="2751238" cy="300082"/>
          </a:xfrm>
          <a:prstGeom prst="rect">
            <a:avLst/>
          </a:prstGeom>
          <a:noFill/>
        </p:spPr>
        <p:txBody>
          <a:bodyPr wrap="square" rtlCol="0">
            <a:spAutoFit/>
          </a:bodyPr>
          <a:lstStyle/>
          <a:p>
            <a:r>
              <a:rPr lang="zh-CN" altLang="en-US" b="1" spc="600" dirty="0"/>
              <a:t>一切以服务烟农为目标</a:t>
            </a:r>
            <a:endParaRPr lang="zh-CN" altLang="en-US" b="1" spc="600" dirty="0"/>
          </a:p>
        </p:txBody>
      </p:sp>
    </p:spTree>
  </p:cSld>
  <p:clrMapOvr>
    <a:overrideClrMapping bg1="lt1" tx1="dk1" bg2="lt2" tx2="dk2" accent1="accent1" accent2="accent2" accent3="accent3" accent4="accent4" accent5="accent5" accent6="accent6" hlink="hlink" folHlink="folHlink"/>
  </p:clrMapOvr>
  <p:transition spd="slow" advTm="46738">
    <p:comb/>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00" name="蓝图-直接连接符 179"/>
          <p:cNvSpPr>
            <a:spLocks noGrp="1"/>
          </p:cNvSpPr>
          <p:nvPr/>
        </p:nvSpPr>
        <p:spPr>
          <a:xfrm>
            <a:off x="167628" y="1033115"/>
            <a:ext cx="7935818"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01" name="蓝图-直接连接符 180"/>
          <p:cNvSpPr>
            <a:spLocks noGrp="1"/>
          </p:cNvSpPr>
          <p:nvPr/>
        </p:nvSpPr>
        <p:spPr>
          <a:xfrm>
            <a:off x="169545" y="1621128"/>
            <a:ext cx="7933901"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02" name="蓝图-Shape 67"/>
          <p:cNvSpPr>
            <a:spLocks noGrp="1"/>
          </p:cNvSpPr>
          <p:nvPr/>
        </p:nvSpPr>
        <p:spPr>
          <a:xfrm>
            <a:off x="965835" y="1924685"/>
            <a:ext cx="955675" cy="1018540"/>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03" name="蓝图-Shape 0"/>
          <p:cNvSpPr>
            <a:spLocks noGrp="1"/>
          </p:cNvSpPr>
          <p:nvPr/>
        </p:nvSpPr>
        <p:spPr>
          <a:xfrm>
            <a:off x="5726860" y="2132923"/>
            <a:ext cx="8282" cy="102164"/>
          </a:xfrm>
          <a:prstGeom prst="line">
            <a:avLst/>
          </a:prstGeom>
          <a:noFill/>
          <a:ln w="1270">
            <a:solidFill>
              <a:srgbClr val="7A6A5C"/>
            </a:solidFill>
            <a:prstDash val="solid"/>
            <a:headEnd type="none"/>
            <a:tailEnd type="triangle"/>
          </a:ln>
        </p:spPr>
      </p:sp>
      <p:sp>
        <p:nvSpPr>
          <p:cNvPr id="1004" name="蓝图-Shape 1"/>
          <p:cNvSpPr>
            <a:spLocks noGrp="1"/>
          </p:cNvSpPr>
          <p:nvPr/>
        </p:nvSpPr>
        <p:spPr>
          <a:xfrm>
            <a:off x="5715228" y="2727607"/>
            <a:ext cx="8282" cy="93014"/>
          </a:xfrm>
          <a:prstGeom prst="line">
            <a:avLst/>
          </a:prstGeom>
          <a:noFill/>
          <a:ln w="1270">
            <a:solidFill>
              <a:srgbClr val="7A6A5C"/>
            </a:solidFill>
            <a:prstDash val="solid"/>
            <a:headEnd type="none"/>
            <a:tailEnd type="triangle"/>
          </a:ln>
        </p:spPr>
      </p:sp>
      <p:sp>
        <p:nvSpPr>
          <p:cNvPr id="1005" name="蓝图-Shape 2"/>
          <p:cNvSpPr>
            <a:spLocks noGrp="1"/>
          </p:cNvSpPr>
          <p:nvPr/>
        </p:nvSpPr>
        <p:spPr>
          <a:xfrm>
            <a:off x="1167765" y="2096135"/>
            <a:ext cx="7620" cy="123825"/>
          </a:xfrm>
          <a:prstGeom prst="line">
            <a:avLst/>
          </a:prstGeom>
          <a:noFill/>
          <a:ln w="1270">
            <a:solidFill>
              <a:srgbClr val="7A6A5C"/>
            </a:solidFill>
            <a:prstDash val="solid"/>
            <a:headEnd type="none"/>
            <a:tailEnd type="triangle"/>
          </a:ln>
        </p:spPr>
      </p:sp>
      <p:sp>
        <p:nvSpPr>
          <p:cNvPr id="1006" name="蓝图-Shape 3"/>
          <p:cNvSpPr>
            <a:spLocks noGrp="1"/>
          </p:cNvSpPr>
          <p:nvPr/>
        </p:nvSpPr>
        <p:spPr>
          <a:xfrm>
            <a:off x="3069857" y="2614769"/>
            <a:ext cx="8282" cy="99114"/>
          </a:xfrm>
          <a:prstGeom prst="line">
            <a:avLst/>
          </a:prstGeom>
          <a:noFill/>
          <a:ln w="1270">
            <a:solidFill>
              <a:srgbClr val="7A6A5C"/>
            </a:solidFill>
            <a:prstDash val="solid"/>
            <a:headEnd type="none"/>
            <a:tailEnd type="triangle"/>
          </a:ln>
        </p:spPr>
      </p:sp>
      <p:sp>
        <p:nvSpPr>
          <p:cNvPr id="1007" name="蓝图-Shape 4"/>
          <p:cNvSpPr>
            <a:spLocks noGrp="1"/>
          </p:cNvSpPr>
          <p:nvPr/>
        </p:nvSpPr>
        <p:spPr>
          <a:xfrm>
            <a:off x="2797843" y="2241186"/>
            <a:ext cx="8282" cy="91490"/>
          </a:xfrm>
          <a:prstGeom prst="line">
            <a:avLst/>
          </a:prstGeom>
          <a:noFill/>
          <a:ln w="1270">
            <a:solidFill>
              <a:srgbClr val="7A6A5C"/>
            </a:solidFill>
            <a:prstDash val="solid"/>
            <a:headEnd type="none"/>
            <a:tailEnd type="triangle"/>
          </a:ln>
        </p:spPr>
      </p:sp>
      <p:sp>
        <p:nvSpPr>
          <p:cNvPr id="1008" name="蓝图-Shape 5"/>
          <p:cNvSpPr>
            <a:spLocks noGrp="1"/>
          </p:cNvSpPr>
          <p:nvPr/>
        </p:nvSpPr>
        <p:spPr>
          <a:xfrm>
            <a:off x="2797843" y="2424165"/>
            <a:ext cx="8282" cy="91490"/>
          </a:xfrm>
          <a:prstGeom prst="line">
            <a:avLst/>
          </a:prstGeom>
          <a:noFill/>
          <a:ln w="1270">
            <a:solidFill>
              <a:srgbClr val="7A6A5C"/>
            </a:solidFill>
            <a:prstDash val="solid"/>
            <a:headEnd type="none"/>
            <a:tailEnd type="triangle"/>
          </a:ln>
        </p:spPr>
      </p:sp>
      <p:sp>
        <p:nvSpPr>
          <p:cNvPr id="1009" name="蓝图-Shape 6"/>
          <p:cNvSpPr>
            <a:spLocks noGrp="1"/>
          </p:cNvSpPr>
          <p:nvPr/>
        </p:nvSpPr>
        <p:spPr>
          <a:xfrm>
            <a:off x="8143875" y="341630"/>
            <a:ext cx="830580" cy="4174490"/>
          </a:xfrm>
          <a:prstGeom prst="roundRect">
            <a:avLst>
              <a:gd name="adj" fmla="val 4000"/>
            </a:avLst>
          </a:prstGeom>
          <a:solidFill>
            <a:schemeClr val="accent2">
              <a:lumMod val="20000"/>
              <a:lumOff val="80000"/>
            </a:schemeClr>
          </a:solidFill>
          <a:ln w="1270">
            <a:noFill/>
            <a:prstDash val="solid"/>
          </a:ln>
        </p:spPr>
        <p:txBody>
          <a:bodyPr/>
          <a:lstStyle/>
          <a:p>
            <a:endParaRPr sz="1015"/>
          </a:p>
        </p:txBody>
      </p:sp>
      <p:sp>
        <p:nvSpPr>
          <p:cNvPr id="1010" name="蓝图-Text 8"/>
          <p:cNvSpPr>
            <a:spLocks noGrp="1"/>
          </p:cNvSpPr>
          <p:nvPr/>
        </p:nvSpPr>
        <p:spPr>
          <a:xfrm>
            <a:off x="169545" y="341973"/>
            <a:ext cx="558304" cy="640428"/>
          </a:xfrm>
          <a:prstGeom prst="rect">
            <a:avLst/>
          </a:prstGeom>
          <a:solidFill>
            <a:schemeClr val="accent6">
              <a:lumMod val="50000"/>
            </a:schemeClr>
          </a:solidFill>
          <a:ln w="1270">
            <a:noFill/>
            <a:prstDash val="solid"/>
          </a:ln>
        </p:spPr>
        <p:txBody>
          <a:bodyPr wrap="square" lIns="0" tIns="0" rIns="0" bIns="0" anchor="ctr"/>
          <a:lstStyle/>
          <a:p>
            <a:pPr algn="ctr"/>
            <a:r>
              <a:rPr sz="990" b="1">
                <a:solidFill>
                  <a:schemeClr val="bg1"/>
                </a:solidFill>
                <a:latin typeface="微软雅黑"/>
                <a:ea typeface="微软雅黑"/>
                <a:cs typeface="微软雅黑"/>
              </a:rPr>
              <a:t>用户</a:t>
            </a:r>
            <a:endParaRPr sz="990" b="1">
              <a:solidFill>
                <a:schemeClr val="bg1"/>
              </a:solidFill>
              <a:latin typeface="微软雅黑"/>
              <a:ea typeface="微软雅黑"/>
              <a:cs typeface="微软雅黑"/>
            </a:endParaRPr>
          </a:p>
        </p:txBody>
      </p:sp>
      <p:sp>
        <p:nvSpPr>
          <p:cNvPr id="1011" name="蓝图-Shape 9"/>
          <p:cNvSpPr>
            <a:spLocks noGrp="1"/>
          </p:cNvSpPr>
          <p:nvPr/>
        </p:nvSpPr>
        <p:spPr>
          <a:xfrm>
            <a:off x="727849" y="341973"/>
            <a:ext cx="7375118" cy="640428"/>
          </a:xfrm>
          <a:prstGeom prst="roundRect">
            <a:avLst>
              <a:gd name="adj" fmla="val 400"/>
            </a:avLst>
          </a:prstGeom>
          <a:solidFill>
            <a:srgbClr val="FFFFFF"/>
          </a:solidFill>
          <a:ln w="1270">
            <a:solidFill>
              <a:schemeClr val="accent6">
                <a:lumMod val="40000"/>
                <a:lumOff val="60000"/>
              </a:schemeClr>
            </a:solidFill>
            <a:prstDash val="solid"/>
          </a:ln>
        </p:spPr>
      </p:sp>
      <p:sp>
        <p:nvSpPr>
          <p:cNvPr id="1012" name="蓝图-Text 12"/>
          <p:cNvSpPr>
            <a:spLocks noGrp="1"/>
          </p:cNvSpPr>
          <p:nvPr/>
        </p:nvSpPr>
        <p:spPr>
          <a:xfrm>
            <a:off x="8279714" y="341930"/>
            <a:ext cx="558867" cy="287471"/>
          </a:xfrm>
          <a:prstGeom prst="rect">
            <a:avLst/>
          </a:prstGeom>
          <a:noFill/>
        </p:spPr>
        <p:txBody>
          <a:bodyPr wrap="square" lIns="0" tIns="0" rIns="0" bIns="0" anchor="ctr"/>
          <a:lstStyle/>
          <a:p>
            <a:pPr algn="ctr"/>
            <a:r>
              <a:rPr sz="990" b="1">
                <a:solidFill>
                  <a:srgbClr val="333333"/>
                </a:solidFill>
                <a:latin typeface="微软雅黑"/>
                <a:ea typeface="微软雅黑"/>
                <a:cs typeface="微软雅黑"/>
              </a:rPr>
              <a:t>未来展望</a:t>
            </a:r>
            <a:endParaRPr sz="990" b="1">
              <a:solidFill>
                <a:srgbClr val="333333"/>
              </a:solidFill>
              <a:latin typeface="微软雅黑"/>
              <a:ea typeface="微软雅黑"/>
              <a:cs typeface="微软雅黑"/>
            </a:endParaRPr>
          </a:p>
        </p:txBody>
      </p:sp>
      <p:sp>
        <p:nvSpPr>
          <p:cNvPr id="1013" name="蓝图-Text 14"/>
          <p:cNvSpPr>
            <a:spLocks noGrp="1"/>
          </p:cNvSpPr>
          <p:nvPr/>
        </p:nvSpPr>
        <p:spPr>
          <a:xfrm>
            <a:off x="2020225" y="448711"/>
            <a:ext cx="2396055" cy="466598"/>
          </a:xfrm>
          <a:prstGeom prst="rect">
            <a:avLst/>
          </a:prstGeom>
          <a:solidFill>
            <a:schemeClr val="accent4">
              <a:lumMod val="20000"/>
              <a:lumOff val="80000"/>
            </a:schemeClr>
          </a:solidFill>
        </p:spPr>
        <p:txBody>
          <a:bodyPr wrap="square" lIns="0" tIns="0" rIns="0" bIns="0" anchor="ctr"/>
          <a:lstStyle/>
          <a:p>
            <a:pPr algn="ctr"/>
            <a:r>
              <a:rPr sz="990" b="1" dirty="0" err="1">
                <a:solidFill>
                  <a:schemeClr val="accent4">
                    <a:lumMod val="50000"/>
                  </a:schemeClr>
                </a:solidFill>
                <a:latin typeface="微软雅黑"/>
                <a:ea typeface="微软雅黑"/>
                <a:cs typeface="微软雅黑"/>
              </a:rPr>
              <a:t>合作社</a:t>
            </a:r>
            <a:r>
              <a:rPr sz="990" b="1" dirty="0">
                <a:solidFill>
                  <a:schemeClr val="accent4">
                    <a:lumMod val="50000"/>
                  </a:schemeClr>
                </a:solidFill>
                <a:latin typeface="微软雅黑"/>
                <a:ea typeface="微软雅黑"/>
                <a:cs typeface="微软雅黑"/>
              </a:rPr>
              <a:t>/</a:t>
            </a:r>
            <a:r>
              <a:rPr sz="990" b="1" dirty="0" err="1">
                <a:solidFill>
                  <a:schemeClr val="accent4">
                    <a:lumMod val="50000"/>
                  </a:schemeClr>
                </a:solidFill>
                <a:latin typeface="微软雅黑"/>
                <a:ea typeface="微软雅黑"/>
                <a:cs typeface="微软雅黑"/>
              </a:rPr>
              <a:t>技术员</a:t>
            </a:r>
            <a:endParaRPr sz="990" b="1" dirty="0">
              <a:solidFill>
                <a:srgbClr val="333333"/>
              </a:solidFill>
              <a:latin typeface="微软雅黑"/>
              <a:ea typeface="微软雅黑"/>
              <a:cs typeface="微软雅黑"/>
            </a:endParaRPr>
          </a:p>
          <a:p>
            <a:pPr algn="ctr"/>
            <a:r>
              <a:rPr sz="695" dirty="0" err="1">
                <a:latin typeface="微软雅黑"/>
                <a:ea typeface="微软雅黑"/>
                <a:cs typeface="微软雅黑"/>
              </a:rPr>
              <a:t>预约管理・日常巡检</a:t>
            </a:r>
            <a:endParaRPr sz="695" dirty="0">
              <a:latin typeface="微软雅黑"/>
              <a:ea typeface="微软雅黑"/>
              <a:cs typeface="微软雅黑"/>
            </a:endParaRPr>
          </a:p>
          <a:p>
            <a:pPr algn="ctr"/>
            <a:r>
              <a:rPr sz="695" dirty="0" err="1">
                <a:latin typeface="微软雅黑"/>
                <a:ea typeface="微软雅黑"/>
                <a:cs typeface="微软雅黑"/>
              </a:rPr>
              <a:t>维修工单响应・验收闭环</a:t>
            </a:r>
            <a:endParaRPr sz="695" dirty="0">
              <a:latin typeface="微软雅黑"/>
              <a:ea typeface="微软雅黑"/>
              <a:cs typeface="微软雅黑"/>
            </a:endParaRPr>
          </a:p>
        </p:txBody>
      </p:sp>
      <p:sp>
        <p:nvSpPr>
          <p:cNvPr id="1014" name="蓝图-Text 16"/>
          <p:cNvSpPr>
            <a:spLocks noGrp="1"/>
          </p:cNvSpPr>
          <p:nvPr/>
        </p:nvSpPr>
        <p:spPr>
          <a:xfrm>
            <a:off x="4722495" y="448945"/>
            <a:ext cx="3186430" cy="466725"/>
          </a:xfrm>
          <a:prstGeom prst="rect">
            <a:avLst/>
          </a:prstGeom>
          <a:solidFill>
            <a:schemeClr val="accent5">
              <a:lumMod val="20000"/>
              <a:lumOff val="80000"/>
            </a:schemeClr>
          </a:solidFill>
        </p:spPr>
        <p:txBody>
          <a:bodyPr wrap="square" lIns="0" tIns="0" rIns="0" bIns="0" anchor="ctr"/>
          <a:lstStyle/>
          <a:p>
            <a:pPr algn="ctr"/>
            <a:r>
              <a:rPr sz="990" b="1">
                <a:solidFill>
                  <a:schemeClr val="accent5">
                    <a:lumMod val="50000"/>
                  </a:schemeClr>
                </a:solidFill>
                <a:latin typeface="微软雅黑"/>
                <a:ea typeface="微软雅黑"/>
                <a:cs typeface="微软雅黑"/>
              </a:rPr>
              <a:t>管理人员</a:t>
            </a:r>
            <a:endParaRPr sz="990" b="1">
              <a:solidFill>
                <a:srgbClr val="333333"/>
              </a:solidFill>
              <a:latin typeface="微软雅黑"/>
              <a:ea typeface="微软雅黑"/>
              <a:cs typeface="微软雅黑"/>
            </a:endParaRPr>
          </a:p>
          <a:p>
            <a:pPr algn="ctr"/>
            <a:r>
              <a:rPr sz="695">
                <a:latin typeface="微软雅黑"/>
                <a:ea typeface="微软雅黑"/>
                <a:cs typeface="微软雅黑"/>
              </a:rPr>
              <a:t>维修决策・资金投入</a:t>
            </a:r>
            <a:endParaRPr sz="695">
              <a:latin typeface="微软雅黑"/>
              <a:ea typeface="微软雅黑"/>
              <a:cs typeface="微软雅黑"/>
            </a:endParaRPr>
          </a:p>
          <a:p>
            <a:pPr algn="ctr"/>
            <a:r>
              <a:rPr sz="695">
                <a:latin typeface="微软雅黑"/>
                <a:ea typeface="微软雅黑"/>
                <a:cs typeface="微软雅黑"/>
              </a:rPr>
              <a:t>新建决策・查收反馈</a:t>
            </a:r>
            <a:endParaRPr sz="695">
              <a:latin typeface="微软雅黑"/>
              <a:ea typeface="微软雅黑"/>
              <a:cs typeface="微软雅黑"/>
            </a:endParaRPr>
          </a:p>
        </p:txBody>
      </p:sp>
      <p:sp>
        <p:nvSpPr>
          <p:cNvPr id="1015" name="蓝图-Text 18"/>
          <p:cNvSpPr>
            <a:spLocks noGrp="1"/>
          </p:cNvSpPr>
          <p:nvPr/>
        </p:nvSpPr>
        <p:spPr>
          <a:xfrm>
            <a:off x="915670" y="463550"/>
            <a:ext cx="955675" cy="466725"/>
          </a:xfrm>
          <a:prstGeom prst="rect">
            <a:avLst/>
          </a:prstGeom>
          <a:solidFill>
            <a:schemeClr val="accent6">
              <a:lumMod val="20000"/>
              <a:lumOff val="80000"/>
            </a:schemeClr>
          </a:solidFill>
          <a:ln w="4189">
            <a:solidFill>
              <a:schemeClr val="accent6">
                <a:lumMod val="20000"/>
                <a:lumOff val="80000"/>
              </a:schemeClr>
            </a:solidFill>
          </a:ln>
        </p:spPr>
        <p:txBody>
          <a:bodyPr wrap="square" lIns="0" tIns="0" rIns="0" bIns="0" anchor="ctr"/>
          <a:lstStyle/>
          <a:p>
            <a:pPr algn="ctr"/>
            <a:r>
              <a:rPr sz="990" b="1" dirty="0" err="1">
                <a:solidFill>
                  <a:schemeClr val="accent6">
                    <a:lumMod val="50000"/>
                  </a:schemeClr>
                </a:solidFill>
                <a:latin typeface="微软雅黑"/>
                <a:ea typeface="微软雅黑"/>
                <a:cs typeface="微软雅黑"/>
              </a:rPr>
              <a:t>烟农</a:t>
            </a:r>
            <a:endParaRPr sz="990" b="1" dirty="0">
              <a:solidFill>
                <a:schemeClr val="accent6">
                  <a:lumMod val="50000"/>
                </a:schemeClr>
              </a:solidFill>
              <a:latin typeface="微软雅黑"/>
              <a:ea typeface="微软雅黑"/>
              <a:cs typeface="微软雅黑"/>
            </a:endParaRPr>
          </a:p>
          <a:p>
            <a:pPr algn="ctr"/>
            <a:r>
              <a:rPr sz="695" dirty="0" err="1">
                <a:latin typeface="微软雅黑"/>
                <a:ea typeface="微软雅黑"/>
                <a:cs typeface="微软雅黑"/>
              </a:rPr>
              <a:t>预约分配・临时调剂</a:t>
            </a:r>
            <a:endParaRPr sz="695" dirty="0">
              <a:latin typeface="微软雅黑"/>
              <a:ea typeface="微软雅黑"/>
              <a:cs typeface="微软雅黑"/>
            </a:endParaRPr>
          </a:p>
          <a:p>
            <a:pPr algn="ctr"/>
            <a:r>
              <a:rPr sz="695" dirty="0" err="1">
                <a:latin typeface="微软雅黑"/>
                <a:ea typeface="微软雅黑"/>
                <a:cs typeface="微软雅黑"/>
              </a:rPr>
              <a:t>提报维修・评价反馈</a:t>
            </a:r>
            <a:endParaRPr sz="695" dirty="0">
              <a:latin typeface="微软雅黑"/>
              <a:ea typeface="微软雅黑"/>
              <a:cs typeface="微软雅黑"/>
            </a:endParaRPr>
          </a:p>
        </p:txBody>
      </p:sp>
      <p:sp>
        <p:nvSpPr>
          <p:cNvPr id="1016" name="蓝图-Text 20"/>
          <p:cNvSpPr>
            <a:spLocks noGrp="1"/>
          </p:cNvSpPr>
          <p:nvPr/>
        </p:nvSpPr>
        <p:spPr>
          <a:xfrm>
            <a:off x="8256732" y="702267"/>
            <a:ext cx="604830" cy="579435"/>
          </a:xfrm>
          <a:prstGeom prst="rect">
            <a:avLst/>
          </a:prstGeom>
          <a:solidFill>
            <a:srgbClr val="F8CECC"/>
          </a:solidFill>
          <a:ln>
            <a:noFill/>
          </a:ln>
        </p:spPr>
        <p:txBody>
          <a:bodyPr wrap="square" lIns="0" tIns="0" rIns="0" bIns="0" anchor="ctr"/>
          <a:lstStyle/>
          <a:p>
            <a:pPr algn="ctr"/>
            <a:r>
              <a:rPr sz="790" b="1">
                <a:solidFill>
                  <a:srgbClr val="333333"/>
                </a:solidFill>
                <a:latin typeface="微软雅黑"/>
                <a:ea typeface="微软雅黑"/>
                <a:cs typeface="微软雅黑"/>
              </a:rPr>
              <a:t>跨域</a:t>
            </a:r>
            <a:endParaRPr sz="790" b="1">
              <a:solidFill>
                <a:srgbClr val="333333"/>
              </a:solidFill>
              <a:latin typeface="微软雅黑"/>
              <a:ea typeface="微软雅黑"/>
              <a:cs typeface="微软雅黑"/>
            </a:endParaRPr>
          </a:p>
          <a:p>
            <a:pPr algn="ctr"/>
            <a:r>
              <a:rPr sz="790" b="1">
                <a:solidFill>
                  <a:srgbClr val="333333"/>
                </a:solidFill>
                <a:latin typeface="微软雅黑"/>
                <a:ea typeface="微软雅黑"/>
                <a:cs typeface="微软雅黑"/>
              </a:rPr>
              <a:t>共享</a:t>
            </a:r>
            <a:endParaRPr sz="790" b="1">
              <a:solidFill>
                <a:srgbClr val="333333"/>
              </a:solidFill>
              <a:latin typeface="微软雅黑"/>
              <a:ea typeface="微软雅黑"/>
              <a:cs typeface="微软雅黑"/>
            </a:endParaRPr>
          </a:p>
        </p:txBody>
      </p:sp>
      <p:sp>
        <p:nvSpPr>
          <p:cNvPr id="1019" name="蓝图-Text 28"/>
          <p:cNvSpPr>
            <a:spLocks noGrp="1"/>
          </p:cNvSpPr>
          <p:nvPr/>
        </p:nvSpPr>
        <p:spPr>
          <a:xfrm>
            <a:off x="167149" y="1050496"/>
            <a:ext cx="565578" cy="466236"/>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应用层</a:t>
            </a:r>
            <a:endParaRPr sz="990" b="1">
              <a:solidFill>
                <a:schemeClr val="bg1"/>
              </a:solidFill>
              <a:latin typeface="微软雅黑"/>
              <a:ea typeface="微软雅黑"/>
              <a:cs typeface="微软雅黑"/>
            </a:endParaRPr>
          </a:p>
        </p:txBody>
      </p:sp>
      <p:sp>
        <p:nvSpPr>
          <p:cNvPr id="1020" name="蓝图-Shape 29"/>
          <p:cNvSpPr>
            <a:spLocks noGrp="1"/>
          </p:cNvSpPr>
          <p:nvPr/>
        </p:nvSpPr>
        <p:spPr>
          <a:xfrm>
            <a:off x="732727" y="1053639"/>
            <a:ext cx="7370240" cy="459638"/>
          </a:xfrm>
          <a:prstGeom prst="roundRect">
            <a:avLst>
              <a:gd name="adj" fmla="val 400"/>
            </a:avLst>
          </a:prstGeom>
          <a:solidFill>
            <a:srgbClr val="FFFFFF"/>
          </a:solidFill>
          <a:ln w="1270">
            <a:solidFill>
              <a:schemeClr val="accent6">
                <a:lumMod val="40000"/>
                <a:lumOff val="60000"/>
              </a:schemeClr>
            </a:solidFill>
            <a:prstDash val="solid"/>
          </a:ln>
        </p:spPr>
      </p:sp>
      <p:sp>
        <p:nvSpPr>
          <p:cNvPr id="1021" name="蓝图-Shape 30"/>
          <p:cNvSpPr>
            <a:spLocks noGrp="1"/>
          </p:cNvSpPr>
          <p:nvPr/>
        </p:nvSpPr>
        <p:spPr>
          <a:xfrm>
            <a:off x="1974215" y="1083945"/>
            <a:ext cx="5963285" cy="365760"/>
          </a:xfrm>
          <a:prstGeom prst="roundRect">
            <a:avLst>
              <a:gd name="adj" fmla="val 4000"/>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txBody>
          <a:bodyPr/>
          <a:lstStyle/>
          <a:p>
            <a:pPr algn="ctr">
              <a:buNone/>
            </a:pPr>
            <a:endParaRPr sz="595"/>
          </a:p>
        </p:txBody>
      </p:sp>
      <p:sp>
        <p:nvSpPr>
          <p:cNvPr id="1022" name="蓝图-Text 36"/>
          <p:cNvSpPr>
            <a:spLocks noGrp="1"/>
          </p:cNvSpPr>
          <p:nvPr/>
        </p:nvSpPr>
        <p:spPr>
          <a:xfrm>
            <a:off x="915670" y="1132840"/>
            <a:ext cx="953135" cy="265430"/>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微信小程序</a:t>
            </a:r>
            <a:endParaRPr sz="695" b="1">
              <a:solidFill>
                <a:srgbClr val="333333"/>
              </a:solidFill>
              <a:latin typeface="微软雅黑"/>
              <a:ea typeface="微软雅黑"/>
              <a:cs typeface="微软雅黑"/>
            </a:endParaRPr>
          </a:p>
        </p:txBody>
      </p:sp>
      <p:sp>
        <p:nvSpPr>
          <p:cNvPr id="1023" name="蓝图-Text 38"/>
          <p:cNvSpPr>
            <a:spLocks noGrp="1"/>
          </p:cNvSpPr>
          <p:nvPr/>
        </p:nvSpPr>
        <p:spPr>
          <a:xfrm>
            <a:off x="2108338" y="1215209"/>
            <a:ext cx="1116608" cy="182980"/>
          </a:xfrm>
          <a:prstGeom prst="rect">
            <a:avLst/>
          </a:prstGeom>
          <a:solidFill>
            <a:schemeClr val="accent4">
              <a:lumMod val="20000"/>
              <a:lumOff val="80000"/>
            </a:schemeClr>
          </a:solidFill>
          <a:ln w="1270">
            <a:noFill/>
            <a:prstDash val="solid"/>
          </a:ln>
        </p:spPr>
        <p:txBody>
          <a:bodyPr wrap="square" lIns="0" tIns="0" rIns="0" bIns="0" anchor="ctr"/>
          <a:lstStyle/>
          <a:p>
            <a:pPr algn="ctr"/>
            <a:r>
              <a:rPr sz="530" b="1">
                <a:latin typeface="微软雅黑"/>
                <a:ea typeface="微软雅黑"/>
                <a:cs typeface="微软雅黑"/>
              </a:rPr>
              <a:t>预警研判</a:t>
            </a:r>
            <a:endParaRPr sz="530" b="1">
              <a:latin typeface="微软雅黑"/>
              <a:ea typeface="微软雅黑"/>
              <a:cs typeface="微软雅黑"/>
            </a:endParaRPr>
          </a:p>
        </p:txBody>
      </p:sp>
      <p:sp>
        <p:nvSpPr>
          <p:cNvPr id="1024" name="蓝图-Text 40"/>
          <p:cNvSpPr>
            <a:spLocks noGrp="1"/>
          </p:cNvSpPr>
          <p:nvPr/>
        </p:nvSpPr>
        <p:spPr>
          <a:xfrm>
            <a:off x="3365983" y="1215209"/>
            <a:ext cx="1116608" cy="182980"/>
          </a:xfrm>
          <a:prstGeom prst="rect">
            <a:avLst/>
          </a:prstGeom>
          <a:solidFill>
            <a:schemeClr val="accent4">
              <a:lumMod val="20000"/>
              <a:lumOff val="80000"/>
            </a:schemeClr>
          </a:solidFill>
          <a:ln w="1270">
            <a:noFill/>
            <a:prstDash val="solid"/>
          </a:ln>
        </p:spPr>
        <p:txBody>
          <a:bodyPr wrap="square" lIns="0" tIns="0" rIns="0" bIns="0" anchor="ctr">
            <a:noAutofit/>
          </a:bodyPr>
          <a:lstStyle/>
          <a:p>
            <a:pPr lvl="0" algn="ctr">
              <a:buClrTx/>
              <a:buSzTx/>
              <a:buFontTx/>
              <a:buNone/>
            </a:pPr>
            <a:r>
              <a:rPr sz="530" b="1">
                <a:latin typeface="微软雅黑"/>
                <a:ea typeface="微软雅黑"/>
                <a:cs typeface="微软雅黑"/>
              </a:rPr>
              <a:t>AI助手</a:t>
            </a:r>
            <a:endParaRPr sz="530" b="1">
              <a:latin typeface="微软雅黑"/>
              <a:ea typeface="微软雅黑"/>
              <a:cs typeface="微软雅黑"/>
            </a:endParaRPr>
          </a:p>
        </p:txBody>
      </p:sp>
      <p:sp>
        <p:nvSpPr>
          <p:cNvPr id="1025" name="蓝图-Text 42"/>
          <p:cNvSpPr>
            <a:spLocks noGrp="1"/>
          </p:cNvSpPr>
          <p:nvPr/>
        </p:nvSpPr>
        <p:spPr>
          <a:xfrm>
            <a:off x="4761865" y="1215390"/>
            <a:ext cx="1364615" cy="18288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综合报告</a:t>
            </a:r>
            <a:endParaRPr sz="530">
              <a:solidFill>
                <a:srgbClr val="333333"/>
              </a:solidFill>
              <a:latin typeface="微软雅黑"/>
              <a:ea typeface="微软雅黑"/>
              <a:cs typeface="微软雅黑"/>
            </a:endParaRPr>
          </a:p>
        </p:txBody>
      </p:sp>
      <p:sp>
        <p:nvSpPr>
          <p:cNvPr id="1026" name="蓝图-Text 44"/>
          <p:cNvSpPr>
            <a:spLocks noGrp="1"/>
          </p:cNvSpPr>
          <p:nvPr/>
        </p:nvSpPr>
        <p:spPr>
          <a:xfrm>
            <a:off x="6420485" y="1215390"/>
            <a:ext cx="1376045" cy="18288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BI看板</a:t>
            </a:r>
            <a:endParaRPr sz="530">
              <a:solidFill>
                <a:srgbClr val="333333"/>
              </a:solidFill>
              <a:latin typeface="微软雅黑"/>
              <a:ea typeface="微软雅黑"/>
              <a:cs typeface="微软雅黑"/>
            </a:endParaRPr>
          </a:p>
        </p:txBody>
      </p:sp>
      <p:sp>
        <p:nvSpPr>
          <p:cNvPr id="1027" name="蓝图-Text 49"/>
          <p:cNvSpPr>
            <a:spLocks noGrp="1"/>
          </p:cNvSpPr>
          <p:nvPr/>
        </p:nvSpPr>
        <p:spPr>
          <a:xfrm>
            <a:off x="8256707" y="1475233"/>
            <a:ext cx="604880" cy="1048403"/>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数字</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孪生</a:t>
            </a:r>
            <a:endParaRPr sz="790" b="1">
              <a:solidFill>
                <a:srgbClr val="333333"/>
              </a:solidFill>
              <a:latin typeface="微软雅黑"/>
              <a:ea typeface="微软雅黑"/>
              <a:cs typeface="微软雅黑"/>
            </a:endParaRPr>
          </a:p>
        </p:txBody>
      </p:sp>
      <p:sp>
        <p:nvSpPr>
          <p:cNvPr id="1028" name="蓝图-Text 51"/>
          <p:cNvSpPr>
            <a:spLocks noGrp="1"/>
          </p:cNvSpPr>
          <p:nvPr/>
        </p:nvSpPr>
        <p:spPr>
          <a:xfrm>
            <a:off x="169545" y="1656715"/>
            <a:ext cx="555625" cy="2146935"/>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业务层</a:t>
            </a:r>
            <a:endParaRPr sz="990" b="1">
              <a:solidFill>
                <a:schemeClr val="bg1"/>
              </a:solidFill>
              <a:latin typeface="微软雅黑"/>
              <a:ea typeface="微软雅黑"/>
              <a:cs typeface="微软雅黑"/>
            </a:endParaRPr>
          </a:p>
        </p:txBody>
      </p:sp>
      <p:sp>
        <p:nvSpPr>
          <p:cNvPr id="1029" name="蓝图-Shape 52"/>
          <p:cNvSpPr>
            <a:spLocks noGrp="1"/>
          </p:cNvSpPr>
          <p:nvPr/>
        </p:nvSpPr>
        <p:spPr>
          <a:xfrm>
            <a:off x="725805" y="1656715"/>
            <a:ext cx="7377430" cy="2146935"/>
          </a:xfrm>
          <a:prstGeom prst="roundRect">
            <a:avLst>
              <a:gd name="adj" fmla="val 400"/>
            </a:avLst>
          </a:prstGeom>
          <a:solidFill>
            <a:srgbClr val="FFFFFF"/>
          </a:solidFill>
          <a:ln w="1270">
            <a:solidFill>
              <a:schemeClr val="accent6">
                <a:lumMod val="40000"/>
                <a:lumOff val="60000"/>
              </a:schemeClr>
            </a:solidFill>
            <a:prstDash val="solid"/>
          </a:ln>
        </p:spPr>
      </p:sp>
      <p:sp>
        <p:nvSpPr>
          <p:cNvPr id="1030" name="蓝图-Shape 56"/>
          <p:cNvSpPr>
            <a:spLocks noGrp="1"/>
          </p:cNvSpPr>
          <p:nvPr/>
        </p:nvSpPr>
        <p:spPr>
          <a:xfrm>
            <a:off x="880745" y="1786890"/>
            <a:ext cx="1069975" cy="1219835"/>
          </a:xfrm>
          <a:prstGeom prst="roundRect">
            <a:avLst>
              <a:gd name="adj" fmla="val 2472"/>
            </a:avLst>
          </a:prstGeom>
          <a:solidFill>
            <a:srgbClr val="FFFFFF"/>
          </a:solidFill>
          <a:ln w="1270">
            <a:solidFill>
              <a:srgbClr val="C73500"/>
            </a:solidFill>
            <a:prstDash val="solid"/>
          </a:ln>
        </p:spPr>
      </p:sp>
      <p:sp>
        <p:nvSpPr>
          <p:cNvPr id="1031" name="蓝图-Text 58"/>
          <p:cNvSpPr>
            <a:spLocks noGrp="1"/>
          </p:cNvSpPr>
          <p:nvPr/>
        </p:nvSpPr>
        <p:spPr>
          <a:xfrm>
            <a:off x="953135" y="1739265"/>
            <a:ext cx="869315" cy="124460"/>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烤房调剂和分配</a:t>
            </a:r>
            <a:endParaRPr sz="790" b="1">
              <a:solidFill>
                <a:srgbClr val="FFFFFF"/>
              </a:solidFill>
              <a:latin typeface="微软雅黑"/>
              <a:ea typeface="微软雅黑"/>
              <a:cs typeface="微软雅黑"/>
            </a:endParaRPr>
          </a:p>
        </p:txBody>
      </p:sp>
      <p:sp>
        <p:nvSpPr>
          <p:cNvPr id="1032" name="蓝图-Shape 59"/>
          <p:cNvSpPr>
            <a:spLocks noGrp="1"/>
          </p:cNvSpPr>
          <p:nvPr/>
        </p:nvSpPr>
        <p:spPr>
          <a:xfrm>
            <a:off x="4708525" y="1786890"/>
            <a:ext cx="3270885" cy="1219835"/>
          </a:xfrm>
          <a:prstGeom prst="roundRect">
            <a:avLst>
              <a:gd name="adj" fmla="val 4000"/>
            </a:avLst>
          </a:prstGeom>
          <a:solidFill>
            <a:srgbClr val="FFFFFF"/>
          </a:solidFill>
          <a:ln w="1270">
            <a:solidFill>
              <a:srgbClr val="C73500"/>
            </a:solidFill>
            <a:prstDash val="solid"/>
          </a:ln>
        </p:spPr>
      </p:sp>
      <p:sp>
        <p:nvSpPr>
          <p:cNvPr id="1033" name="蓝图-Text 61"/>
          <p:cNvSpPr>
            <a:spLocks noGrp="1"/>
          </p:cNvSpPr>
          <p:nvPr/>
        </p:nvSpPr>
        <p:spPr>
          <a:xfrm>
            <a:off x="4946650" y="1732280"/>
            <a:ext cx="2578735" cy="137160"/>
          </a:xfrm>
          <a:prstGeom prst="rect">
            <a:avLst/>
          </a:prstGeom>
          <a:solidFill>
            <a:srgbClr val="FA6800"/>
          </a:solidFill>
        </p:spPr>
        <p:txBody>
          <a:bodyPr wrap="square" lIns="0" tIns="0" rIns="0" bIns="0" anchor="ctr"/>
          <a:lstStyle/>
          <a:p>
            <a:pPr algn="ctr"/>
            <a:r>
              <a:rPr lang="zh-CN" altLang="en-US" sz="790" b="1">
                <a:solidFill>
                  <a:srgbClr val="FFFFFF"/>
                </a:solidFill>
                <a:latin typeface="微软雅黑"/>
                <a:ea typeface="微软雅黑"/>
                <a:cs typeface="微软雅黑"/>
              </a:rPr>
              <a:t>烤房投建和烟农</a:t>
            </a:r>
            <a:r>
              <a:rPr lang="zh-CN" altLang="en-US" sz="790" b="1">
                <a:solidFill>
                  <a:srgbClr val="FFFFFF"/>
                </a:solidFill>
                <a:latin typeface="微软雅黑"/>
                <a:ea typeface="微软雅黑"/>
                <a:cs typeface="微软雅黑"/>
              </a:rPr>
              <a:t>培育</a:t>
            </a:r>
            <a:endParaRPr lang="zh-CN" altLang="en-US" sz="790" b="1">
              <a:solidFill>
                <a:srgbClr val="FFFFFF"/>
              </a:solidFill>
              <a:latin typeface="微软雅黑"/>
              <a:ea typeface="微软雅黑"/>
              <a:cs typeface="微软雅黑"/>
            </a:endParaRPr>
          </a:p>
        </p:txBody>
      </p:sp>
      <p:sp>
        <p:nvSpPr>
          <p:cNvPr id="1034" name="蓝图-Shape 62"/>
          <p:cNvSpPr>
            <a:spLocks noGrp="1"/>
          </p:cNvSpPr>
          <p:nvPr/>
        </p:nvSpPr>
        <p:spPr>
          <a:xfrm>
            <a:off x="2027815" y="1814234"/>
            <a:ext cx="2579008" cy="1192417"/>
          </a:xfrm>
          <a:prstGeom prst="roundRect">
            <a:avLst>
              <a:gd name="adj" fmla="val 4000"/>
            </a:avLst>
          </a:prstGeom>
          <a:solidFill>
            <a:srgbClr val="FFFFFF"/>
          </a:solidFill>
          <a:ln w="1270">
            <a:solidFill>
              <a:srgbClr val="C73500"/>
            </a:solidFill>
            <a:prstDash val="solid"/>
          </a:ln>
        </p:spPr>
      </p:sp>
      <p:sp>
        <p:nvSpPr>
          <p:cNvPr id="1036" name="蓝图-Shape 67"/>
          <p:cNvSpPr>
            <a:spLocks noGrp="1"/>
          </p:cNvSpPr>
          <p:nvPr/>
        </p:nvSpPr>
        <p:spPr>
          <a:xfrm>
            <a:off x="2128655" y="1903571"/>
            <a:ext cx="1057822" cy="1058770"/>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37" name="蓝图-Shape 70"/>
          <p:cNvSpPr>
            <a:spLocks noGrp="1"/>
          </p:cNvSpPr>
          <p:nvPr/>
        </p:nvSpPr>
        <p:spPr>
          <a:xfrm>
            <a:off x="3400109" y="1924622"/>
            <a:ext cx="1169216" cy="987138"/>
          </a:xfrm>
          <a:prstGeom prst="round2SameRect">
            <a:avLst/>
          </a:prstGeom>
          <a:solidFill>
            <a:srgbClr val="FFFFFF"/>
          </a:solidFill>
          <a:ln w="1270">
            <a:solidFill>
              <a:schemeClr val="accent2">
                <a:lumMod val="40000"/>
                <a:lumOff val="60000"/>
              </a:schemeClr>
            </a:solidFill>
            <a:prstDash val="solid"/>
          </a:ln>
        </p:spPr>
        <p:txBody>
          <a:bodyPr>
            <a:noAutofit/>
          </a:bodyPr>
          <a:lstStyle/>
          <a:p>
            <a:pPr lvl="0" algn="ctr">
              <a:buClrTx/>
              <a:buSzTx/>
              <a:buFontTx/>
              <a:buNone/>
            </a:pPr>
            <a:endParaRPr sz="695" dirty="0"/>
          </a:p>
        </p:txBody>
      </p:sp>
      <p:sp>
        <p:nvSpPr>
          <p:cNvPr id="1049" name="蓝图-Text 98"/>
          <p:cNvSpPr>
            <a:spLocks noGrp="1"/>
          </p:cNvSpPr>
          <p:nvPr/>
        </p:nvSpPr>
        <p:spPr>
          <a:xfrm>
            <a:off x="8273003" y="2717062"/>
            <a:ext cx="572288" cy="752450"/>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AI升级</a:t>
            </a:r>
            <a:endParaRPr sz="790" b="1">
              <a:solidFill>
                <a:srgbClr val="333333"/>
              </a:solidFill>
              <a:latin typeface="微软雅黑"/>
              <a:ea typeface="微软雅黑"/>
              <a:cs typeface="微软雅黑"/>
            </a:endParaRPr>
          </a:p>
        </p:txBody>
      </p:sp>
      <p:sp>
        <p:nvSpPr>
          <p:cNvPr id="1052" name="蓝图-Shape 104"/>
          <p:cNvSpPr>
            <a:spLocks noGrp="1"/>
          </p:cNvSpPr>
          <p:nvPr/>
        </p:nvSpPr>
        <p:spPr>
          <a:xfrm>
            <a:off x="1445764" y="3011216"/>
            <a:ext cx="115384" cy="129611"/>
          </a:xfrm>
          <a:prstGeom prst="upArrow">
            <a:avLst/>
          </a:prstGeom>
          <a:solidFill>
            <a:srgbClr val="6D8764"/>
          </a:solidFill>
          <a:ln w="1270">
            <a:noFill/>
            <a:prstDash val="solid"/>
          </a:ln>
        </p:spPr>
      </p:sp>
      <p:sp>
        <p:nvSpPr>
          <p:cNvPr id="1053" name="蓝图-Text 105"/>
          <p:cNvSpPr>
            <a:spLocks noGrp="1"/>
          </p:cNvSpPr>
          <p:nvPr/>
        </p:nvSpPr>
        <p:spPr>
          <a:xfrm>
            <a:off x="2150852" y="3049528"/>
            <a:ext cx="465403" cy="91425"/>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5" name="蓝图-Text 107"/>
          <p:cNvSpPr>
            <a:spLocks noGrp="1"/>
          </p:cNvSpPr>
          <p:nvPr/>
        </p:nvSpPr>
        <p:spPr>
          <a:xfrm>
            <a:off x="980445" y="3057169"/>
            <a:ext cx="465254" cy="91490"/>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6" name="蓝图-Shape 112"/>
          <p:cNvSpPr>
            <a:spLocks noGrp="1"/>
          </p:cNvSpPr>
          <p:nvPr/>
        </p:nvSpPr>
        <p:spPr>
          <a:xfrm>
            <a:off x="858639" y="3248650"/>
            <a:ext cx="2475120" cy="338366"/>
          </a:xfrm>
          <a:prstGeom prst="roundRect">
            <a:avLst>
              <a:gd name="adj" fmla="val 4000"/>
            </a:avLst>
          </a:prstGeom>
          <a:solidFill>
            <a:srgbClr val="FFFFFF"/>
          </a:solidFill>
          <a:ln w="1270">
            <a:solidFill>
              <a:schemeClr val="bg2">
                <a:lumMod val="90000"/>
              </a:schemeClr>
            </a:solidFill>
            <a:prstDash val="solid"/>
          </a:ln>
        </p:spPr>
      </p:sp>
      <p:sp>
        <p:nvSpPr>
          <p:cNvPr id="1057" name="蓝图-Text 114"/>
          <p:cNvSpPr>
            <a:spLocks noGrp="1"/>
          </p:cNvSpPr>
          <p:nvPr/>
        </p:nvSpPr>
        <p:spPr>
          <a:xfrm>
            <a:off x="1095894" y="3224773"/>
            <a:ext cx="1954118" cy="103049"/>
          </a:xfrm>
          <a:prstGeom prst="rect">
            <a:avLst/>
          </a:prstGeom>
          <a:solidFill>
            <a:schemeClr val="bg2">
              <a:lumMod val="90000"/>
            </a:schemeClr>
          </a:solidFill>
        </p:spPr>
        <p:txBody>
          <a:bodyPr wrap="square" lIns="0" tIns="0" rIns="0" bIns="0" anchor="ctr"/>
          <a:lstStyle/>
          <a:p>
            <a:pPr algn="ctr"/>
            <a:r>
              <a:rPr sz="695" b="1">
                <a:solidFill>
                  <a:srgbClr val="333333"/>
                </a:solidFill>
                <a:latin typeface="微软雅黑"/>
                <a:ea typeface="微软雅黑"/>
                <a:cs typeface="微软雅黑"/>
              </a:rPr>
              <a:t>反馈评价</a:t>
            </a:r>
            <a:endParaRPr sz="695" b="1">
              <a:solidFill>
                <a:srgbClr val="333333"/>
              </a:solidFill>
              <a:latin typeface="微软雅黑"/>
              <a:ea typeface="微软雅黑"/>
              <a:cs typeface="微软雅黑"/>
            </a:endParaRPr>
          </a:p>
        </p:txBody>
      </p:sp>
      <p:sp>
        <p:nvSpPr>
          <p:cNvPr id="1058" name="蓝图-Text 119"/>
          <p:cNvSpPr>
            <a:spLocks noGrp="1"/>
          </p:cNvSpPr>
          <p:nvPr/>
        </p:nvSpPr>
        <p:spPr>
          <a:xfrm>
            <a:off x="897943" y="3374634"/>
            <a:ext cx="602963"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总体</a:t>
            </a:r>
            <a:endParaRPr sz="595" b="1" dirty="0">
              <a:solidFill>
                <a:srgbClr val="333333"/>
              </a:solidFill>
              <a:latin typeface="微软雅黑"/>
              <a:ea typeface="微软雅黑"/>
              <a:cs typeface="微软雅黑"/>
            </a:endParaRPr>
          </a:p>
        </p:txBody>
      </p:sp>
      <p:sp>
        <p:nvSpPr>
          <p:cNvPr id="1059" name="蓝图-Text 121"/>
          <p:cNvSpPr>
            <a:spLocks noGrp="1"/>
          </p:cNvSpPr>
          <p:nvPr/>
        </p:nvSpPr>
        <p:spPr>
          <a:xfrm>
            <a:off x="1568487" y="3383745"/>
            <a:ext cx="558388"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设施设备</a:t>
            </a:r>
            <a:endParaRPr sz="595" b="1">
              <a:solidFill>
                <a:srgbClr val="333333"/>
              </a:solidFill>
              <a:latin typeface="微软雅黑"/>
              <a:ea typeface="微软雅黑"/>
              <a:cs typeface="微软雅黑"/>
            </a:endParaRPr>
          </a:p>
        </p:txBody>
      </p:sp>
      <p:sp>
        <p:nvSpPr>
          <p:cNvPr id="1060" name="蓝图-Text 123"/>
          <p:cNvSpPr>
            <a:spLocks noGrp="1"/>
          </p:cNvSpPr>
          <p:nvPr/>
        </p:nvSpPr>
        <p:spPr>
          <a:xfrm>
            <a:off x="2194457" y="3384059"/>
            <a:ext cx="508061"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烘烤师</a:t>
            </a:r>
            <a:endParaRPr sz="595" b="1">
              <a:solidFill>
                <a:srgbClr val="333333"/>
              </a:solidFill>
              <a:latin typeface="微软雅黑"/>
              <a:ea typeface="微软雅黑"/>
              <a:cs typeface="微软雅黑"/>
            </a:endParaRPr>
          </a:p>
        </p:txBody>
      </p:sp>
      <p:sp>
        <p:nvSpPr>
          <p:cNvPr id="1061" name="蓝图-Text 125"/>
          <p:cNvSpPr>
            <a:spLocks noGrp="1"/>
          </p:cNvSpPr>
          <p:nvPr/>
        </p:nvSpPr>
        <p:spPr>
          <a:xfrm>
            <a:off x="2770099" y="3383431"/>
            <a:ext cx="507582"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服务</a:t>
            </a:r>
            <a:endParaRPr sz="595" b="1">
              <a:solidFill>
                <a:srgbClr val="333333"/>
              </a:solidFill>
              <a:latin typeface="微软雅黑"/>
              <a:ea typeface="微软雅黑"/>
              <a:cs typeface="微软雅黑"/>
            </a:endParaRPr>
          </a:p>
        </p:txBody>
      </p:sp>
      <p:sp>
        <p:nvSpPr>
          <p:cNvPr id="1062" name="蓝图-Text 131"/>
          <p:cNvSpPr>
            <a:spLocks noGrp="1"/>
          </p:cNvSpPr>
          <p:nvPr/>
        </p:nvSpPr>
        <p:spPr>
          <a:xfrm>
            <a:off x="161290" y="3864845"/>
            <a:ext cx="572288" cy="650341"/>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dirty="0" err="1">
                <a:solidFill>
                  <a:schemeClr val="bg1"/>
                </a:solidFill>
                <a:latin typeface="微软雅黑"/>
                <a:ea typeface="微软雅黑"/>
                <a:cs typeface="微软雅黑"/>
              </a:rPr>
              <a:t>数据层</a:t>
            </a:r>
            <a:endParaRPr sz="990" b="1" dirty="0">
              <a:solidFill>
                <a:schemeClr val="bg1"/>
              </a:solidFill>
              <a:latin typeface="微软雅黑"/>
              <a:ea typeface="微软雅黑"/>
              <a:cs typeface="微软雅黑"/>
            </a:endParaRPr>
          </a:p>
        </p:txBody>
      </p:sp>
      <p:sp>
        <p:nvSpPr>
          <p:cNvPr id="1063" name="蓝图-Shape 132"/>
          <p:cNvSpPr>
            <a:spLocks noGrp="1"/>
          </p:cNvSpPr>
          <p:nvPr/>
        </p:nvSpPr>
        <p:spPr>
          <a:xfrm>
            <a:off x="727826" y="3874585"/>
            <a:ext cx="7367365" cy="640603"/>
          </a:xfrm>
          <a:prstGeom prst="roundRect">
            <a:avLst>
              <a:gd name="adj" fmla="val 400"/>
            </a:avLst>
          </a:prstGeom>
          <a:solidFill>
            <a:srgbClr val="FFFFFF"/>
          </a:solidFill>
          <a:ln w="1270">
            <a:solidFill>
              <a:schemeClr val="accent6">
                <a:lumMod val="40000"/>
                <a:lumOff val="60000"/>
              </a:schemeClr>
            </a:solidFill>
            <a:prstDash val="solid"/>
          </a:ln>
        </p:spPr>
      </p:sp>
      <p:sp>
        <p:nvSpPr>
          <p:cNvPr id="1064" name="蓝图-Shape 88"/>
          <p:cNvSpPr>
            <a:spLocks noGrp="1"/>
          </p:cNvSpPr>
          <p:nvPr/>
        </p:nvSpPr>
        <p:spPr>
          <a:xfrm>
            <a:off x="1108314" y="3909381"/>
            <a:ext cx="4300949" cy="271221"/>
          </a:xfrm>
          <a:prstGeom prst="can">
            <a:avLst/>
          </a:prstGeom>
          <a:solidFill>
            <a:srgbClr val="F5F5F5"/>
          </a:solidFill>
          <a:ln w="8378">
            <a:solidFill>
              <a:schemeClr val="bg2">
                <a:lumMod val="90000"/>
              </a:schemeClr>
            </a:solidFill>
            <a:prstDash val="solid"/>
          </a:ln>
        </p:spPr>
        <p:txBody>
          <a:bodyPr anchor="ctr"/>
          <a:lstStyle/>
          <a:p>
            <a:pPr algn="ctr">
              <a:buNone/>
            </a:pPr>
            <a:r>
              <a:rPr sz="695" b="1" dirty="0" err="1">
                <a:latin typeface="微软雅黑"/>
                <a:ea typeface="微软雅黑"/>
                <a:cs typeface="微软雅黑"/>
              </a:rPr>
              <a:t>烤房信息</a:t>
            </a:r>
            <a:endParaRPr sz="695" b="1" dirty="0">
              <a:latin typeface="微软雅黑"/>
              <a:ea typeface="微软雅黑"/>
              <a:cs typeface="微软雅黑"/>
            </a:endParaRPr>
          </a:p>
        </p:txBody>
      </p:sp>
      <p:sp>
        <p:nvSpPr>
          <p:cNvPr id="1065" name="蓝图-Text 142"/>
          <p:cNvSpPr>
            <a:spLocks noGrp="1"/>
          </p:cNvSpPr>
          <p:nvPr/>
        </p:nvSpPr>
        <p:spPr>
          <a:xfrm>
            <a:off x="8279995" y="3566445"/>
            <a:ext cx="558304" cy="548864"/>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GIS</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接入</a:t>
            </a:r>
            <a:endParaRPr sz="790" b="1">
              <a:solidFill>
                <a:srgbClr val="333333"/>
              </a:solidFill>
              <a:latin typeface="微软雅黑"/>
              <a:ea typeface="微软雅黑"/>
              <a:cs typeface="微软雅黑"/>
            </a:endParaRPr>
          </a:p>
        </p:txBody>
      </p:sp>
      <p:sp>
        <p:nvSpPr>
          <p:cNvPr id="1066" name="蓝图-Text 144"/>
          <p:cNvSpPr>
            <a:spLocks noGrp="1"/>
          </p:cNvSpPr>
          <p:nvPr/>
        </p:nvSpPr>
        <p:spPr>
          <a:xfrm>
            <a:off x="3521996" y="3962213"/>
            <a:ext cx="790931" cy="182980"/>
          </a:xfrm>
          <a:prstGeom prst="rect">
            <a:avLst/>
          </a:prstGeom>
          <a:noFill/>
        </p:spPr>
        <p:txBody>
          <a:bodyPr wrap="square" lIns="0" tIns="0" rIns="0" bIns="0" anchor="ctr"/>
          <a:lstStyle/>
          <a:p>
            <a:pPr algn="ctr"/>
            <a:r>
              <a:rPr sz="690" dirty="0">
                <a:solidFill>
                  <a:srgbClr val="333333"/>
                </a:solidFill>
                <a:latin typeface="微软雅黑"/>
                <a:ea typeface="微软雅黑"/>
                <a:cs typeface="微软雅黑"/>
              </a:rPr>
              <a:t>2442座烤房</a:t>
            </a:r>
            <a:endParaRPr sz="690" dirty="0">
              <a:solidFill>
                <a:srgbClr val="333333"/>
              </a:solidFill>
              <a:latin typeface="微软雅黑"/>
              <a:ea typeface="微软雅黑"/>
              <a:cs typeface="微软雅黑"/>
            </a:endParaRPr>
          </a:p>
        </p:txBody>
      </p:sp>
      <p:sp>
        <p:nvSpPr>
          <p:cNvPr id="1067" name="蓝图-Text 146"/>
          <p:cNvSpPr>
            <a:spLocks noGrp="1"/>
          </p:cNvSpPr>
          <p:nvPr/>
        </p:nvSpPr>
        <p:spPr>
          <a:xfrm>
            <a:off x="2259968" y="3968585"/>
            <a:ext cx="604830" cy="167732"/>
          </a:xfrm>
          <a:prstGeom prst="rect">
            <a:avLst/>
          </a:prstGeom>
          <a:noFill/>
        </p:spPr>
        <p:txBody>
          <a:bodyPr wrap="square" lIns="0" tIns="0" rIns="0" bIns="0" anchor="ctr"/>
          <a:lstStyle/>
          <a:p>
            <a:pPr algn="ctr"/>
            <a:r>
              <a:rPr sz="695" dirty="0">
                <a:solidFill>
                  <a:srgbClr val="333333"/>
                </a:solidFill>
                <a:latin typeface="微软雅黑"/>
                <a:ea typeface="微软雅黑"/>
                <a:cs typeface="微软雅黑"/>
              </a:rPr>
              <a:t>7个乡镇</a:t>
            </a:r>
            <a:endParaRPr sz="695" dirty="0">
              <a:solidFill>
                <a:srgbClr val="333333"/>
              </a:solidFill>
              <a:latin typeface="微软雅黑"/>
              <a:ea typeface="微软雅黑"/>
              <a:cs typeface="微软雅黑"/>
            </a:endParaRPr>
          </a:p>
        </p:txBody>
      </p:sp>
      <p:sp>
        <p:nvSpPr>
          <p:cNvPr id="1068" name="蓝图-Text 151"/>
          <p:cNvSpPr>
            <a:spLocks noGrp="1"/>
          </p:cNvSpPr>
          <p:nvPr/>
        </p:nvSpPr>
        <p:spPr>
          <a:xfrm>
            <a:off x="1108314" y="4267284"/>
            <a:ext cx="2163428" cy="182980"/>
          </a:xfrm>
          <a:prstGeom prst="rect">
            <a:avLst/>
          </a:prstGeom>
          <a:solidFill>
            <a:srgbClr val="F5F5F5"/>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低代码平台</a:t>
            </a:r>
            <a:endParaRPr sz="695" b="1">
              <a:solidFill>
                <a:srgbClr val="333333"/>
              </a:solidFill>
              <a:latin typeface="微软雅黑"/>
              <a:ea typeface="微软雅黑"/>
              <a:cs typeface="微软雅黑"/>
            </a:endParaRPr>
          </a:p>
        </p:txBody>
      </p:sp>
      <p:sp>
        <p:nvSpPr>
          <p:cNvPr id="1069" name="蓝图-Text 153"/>
          <p:cNvSpPr>
            <a:spLocks noGrp="1"/>
          </p:cNvSpPr>
          <p:nvPr/>
        </p:nvSpPr>
        <p:spPr>
          <a:xfrm>
            <a:off x="3562207" y="4267284"/>
            <a:ext cx="1847056"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物联网传感器</a:t>
            </a:r>
            <a:endParaRPr sz="695" b="1">
              <a:solidFill>
                <a:srgbClr val="333333"/>
              </a:solidFill>
              <a:latin typeface="微软雅黑"/>
              <a:ea typeface="微软雅黑"/>
              <a:cs typeface="微软雅黑"/>
            </a:endParaRPr>
          </a:p>
        </p:txBody>
      </p:sp>
      <p:sp>
        <p:nvSpPr>
          <p:cNvPr id="1070" name="蓝图-Text 155"/>
          <p:cNvSpPr>
            <a:spLocks noGrp="1"/>
          </p:cNvSpPr>
          <p:nvPr/>
        </p:nvSpPr>
        <p:spPr>
          <a:xfrm>
            <a:off x="5544802" y="4267284"/>
            <a:ext cx="1395761"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表单导入</a:t>
            </a:r>
            <a:endParaRPr sz="695" b="1">
              <a:solidFill>
                <a:srgbClr val="333333"/>
              </a:solidFill>
              <a:latin typeface="微软雅黑"/>
              <a:ea typeface="微软雅黑"/>
              <a:cs typeface="微软雅黑"/>
            </a:endParaRPr>
          </a:p>
        </p:txBody>
      </p:sp>
      <p:sp>
        <p:nvSpPr>
          <p:cNvPr id="1071" name="蓝图-Shape 90"/>
          <p:cNvSpPr>
            <a:spLocks noGrp="1"/>
          </p:cNvSpPr>
          <p:nvPr/>
        </p:nvSpPr>
        <p:spPr>
          <a:xfrm>
            <a:off x="5751500" y="3909380"/>
            <a:ext cx="997655" cy="271221"/>
          </a:xfrm>
          <a:prstGeom prst="can">
            <a:avLst/>
          </a:prstGeom>
          <a:solidFill>
            <a:srgbClr val="F5F5F5"/>
          </a:solidFill>
          <a:ln w="8378">
            <a:solidFill>
              <a:schemeClr val="bg2">
                <a:lumMod val="90000"/>
              </a:schemeClr>
            </a:solidFill>
            <a:prstDash val="solid"/>
          </a:ln>
        </p:spPr>
        <p:txBody>
          <a:bodyPr/>
          <a:lstStyle/>
          <a:p>
            <a:pPr algn="ctr">
              <a:buNone/>
            </a:pPr>
            <a:r>
              <a:rPr sz="695">
                <a:latin typeface="微软雅黑"/>
                <a:ea typeface="微软雅黑"/>
                <a:cs typeface="微软雅黑"/>
              </a:rPr>
              <a:t>维修记录</a:t>
            </a:r>
            <a:endParaRPr sz="695">
              <a:latin typeface="微软雅黑"/>
              <a:ea typeface="微软雅黑"/>
              <a:cs typeface="微软雅黑"/>
            </a:endParaRPr>
          </a:p>
        </p:txBody>
      </p:sp>
      <p:sp>
        <p:nvSpPr>
          <p:cNvPr id="1075" name="蓝图-Text 54"/>
          <p:cNvSpPr>
            <a:spLocks noGrp="1"/>
          </p:cNvSpPr>
          <p:nvPr/>
        </p:nvSpPr>
        <p:spPr>
          <a:xfrm>
            <a:off x="1288718" y="1577613"/>
            <a:ext cx="6087147" cy="123785"/>
          </a:xfrm>
          <a:prstGeom prst="rect">
            <a:avLst/>
          </a:prstGeom>
          <a:solidFill>
            <a:schemeClr val="bg2">
              <a:lumMod val="90000"/>
            </a:schemeClr>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六大场景</a:t>
            </a:r>
            <a:endParaRPr sz="695" b="1">
              <a:solidFill>
                <a:srgbClr val="333333"/>
              </a:solidFill>
              <a:latin typeface="微软雅黑"/>
              <a:ea typeface="微软雅黑"/>
              <a:cs typeface="微软雅黑"/>
            </a:endParaRPr>
          </a:p>
        </p:txBody>
      </p:sp>
      <p:sp>
        <p:nvSpPr>
          <p:cNvPr id="1079" name="蓝图-Text 66"/>
          <p:cNvSpPr>
            <a:spLocks noGrp="1"/>
          </p:cNvSpPr>
          <p:nvPr/>
        </p:nvSpPr>
        <p:spPr>
          <a:xfrm>
            <a:off x="3572128" y="1888177"/>
            <a:ext cx="790850" cy="102735"/>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寿命预测</a:t>
            </a:r>
            <a:endParaRPr sz="595" b="1" dirty="0">
              <a:solidFill>
                <a:srgbClr val="333333"/>
              </a:solidFill>
              <a:latin typeface="微软雅黑"/>
              <a:ea typeface="微软雅黑"/>
              <a:cs typeface="微软雅黑"/>
            </a:endParaRPr>
          </a:p>
        </p:txBody>
      </p:sp>
      <p:sp>
        <p:nvSpPr>
          <p:cNvPr id="1080" name="蓝图-Shape 67"/>
          <p:cNvSpPr>
            <a:spLocks noGrp="1"/>
          </p:cNvSpPr>
          <p:nvPr/>
        </p:nvSpPr>
        <p:spPr>
          <a:xfrm>
            <a:off x="4831080" y="1955165"/>
            <a:ext cx="798195" cy="711835"/>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81" name="蓝图-Shape 46"/>
          <p:cNvSpPr>
            <a:spLocks noGrp="1"/>
          </p:cNvSpPr>
          <p:nvPr/>
        </p:nvSpPr>
        <p:spPr>
          <a:xfrm>
            <a:off x="2672110" y="1450113"/>
            <a:ext cx="134015" cy="182980"/>
          </a:xfrm>
          <a:prstGeom prst="upArrow">
            <a:avLst/>
          </a:prstGeom>
          <a:solidFill>
            <a:srgbClr val="A20025"/>
          </a:solidFill>
          <a:ln w="1270">
            <a:noFill/>
            <a:prstDash val="solid"/>
          </a:ln>
        </p:spPr>
      </p:sp>
      <p:sp>
        <p:nvSpPr>
          <p:cNvPr id="1082" name="蓝图-Shape 45"/>
          <p:cNvSpPr>
            <a:spLocks noGrp="1"/>
          </p:cNvSpPr>
          <p:nvPr/>
        </p:nvSpPr>
        <p:spPr>
          <a:xfrm>
            <a:off x="1426845" y="1398270"/>
            <a:ext cx="95885" cy="241300"/>
          </a:xfrm>
          <a:prstGeom prst="upArrow">
            <a:avLst/>
          </a:prstGeom>
          <a:solidFill>
            <a:srgbClr val="A20025"/>
          </a:solidFill>
          <a:ln w="1270">
            <a:noFill/>
            <a:prstDash val="solid"/>
          </a:ln>
        </p:spPr>
      </p:sp>
      <p:sp>
        <p:nvSpPr>
          <p:cNvPr id="1085" name="蓝图-Shape 67"/>
          <p:cNvSpPr>
            <a:spLocks noGrp="1"/>
          </p:cNvSpPr>
          <p:nvPr/>
        </p:nvSpPr>
        <p:spPr>
          <a:xfrm>
            <a:off x="944880" y="1955165"/>
            <a:ext cx="956310" cy="1018540"/>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noFill/>
            </a:endParaRPr>
          </a:p>
        </p:txBody>
      </p:sp>
      <p:sp>
        <p:nvSpPr>
          <p:cNvPr id="1089" name="蓝图-Text 66"/>
          <p:cNvSpPr>
            <a:spLocks noGrp="1"/>
          </p:cNvSpPr>
          <p:nvPr/>
        </p:nvSpPr>
        <p:spPr>
          <a:xfrm>
            <a:off x="4942205" y="1887220"/>
            <a:ext cx="613410" cy="116840"/>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维修资金投入</a:t>
            </a:r>
            <a:endParaRPr sz="595" b="1">
              <a:solidFill>
                <a:srgbClr val="333333"/>
              </a:solidFill>
              <a:latin typeface="微软雅黑"/>
              <a:ea typeface="微软雅黑"/>
              <a:cs typeface="微软雅黑"/>
            </a:endParaRPr>
          </a:p>
        </p:txBody>
      </p:sp>
      <p:sp>
        <p:nvSpPr>
          <p:cNvPr id="1090" name="蓝图-Shape 67"/>
          <p:cNvSpPr>
            <a:spLocks noGrp="1"/>
          </p:cNvSpPr>
          <p:nvPr/>
        </p:nvSpPr>
        <p:spPr>
          <a:xfrm>
            <a:off x="5708015" y="1932305"/>
            <a:ext cx="1062990" cy="1010285"/>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p>
        </p:txBody>
      </p:sp>
      <p:sp>
        <p:nvSpPr>
          <p:cNvPr id="1091" name="蓝图-Text 66"/>
          <p:cNvSpPr>
            <a:spLocks noGrp="1"/>
          </p:cNvSpPr>
          <p:nvPr/>
        </p:nvSpPr>
        <p:spPr>
          <a:xfrm>
            <a:off x="5845679" y="1880637"/>
            <a:ext cx="760175" cy="9142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新建</a:t>
            </a:r>
            <a:r>
              <a:rPr lang="zh-CN" sz="595" b="1">
                <a:solidFill>
                  <a:srgbClr val="333333"/>
                </a:solidFill>
                <a:latin typeface="微软雅黑"/>
                <a:ea typeface="微软雅黑"/>
                <a:cs typeface="微软雅黑"/>
              </a:rPr>
              <a:t>烤房</a:t>
            </a:r>
            <a:endParaRPr lang="zh-CN" sz="595" b="1">
              <a:solidFill>
                <a:srgbClr val="333333"/>
              </a:solidFill>
              <a:latin typeface="微软雅黑"/>
              <a:ea typeface="微软雅黑"/>
              <a:cs typeface="微软雅黑"/>
            </a:endParaRPr>
          </a:p>
        </p:txBody>
      </p:sp>
      <p:sp>
        <p:nvSpPr>
          <p:cNvPr id="1096" name="蓝图-直接连接符 181"/>
          <p:cNvSpPr>
            <a:spLocks noGrp="1"/>
          </p:cNvSpPr>
          <p:nvPr/>
        </p:nvSpPr>
        <p:spPr>
          <a:xfrm>
            <a:off x="158894" y="3877816"/>
            <a:ext cx="7936297"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98" name="蓝图-任意多边形 182"/>
          <p:cNvSpPr>
            <a:spLocks noGrp="1"/>
          </p:cNvSpPr>
          <p:nvPr/>
        </p:nvSpPr>
        <p:spPr>
          <a:xfrm>
            <a:off x="715010" y="449580"/>
            <a:ext cx="2628265" cy="3274060"/>
          </a:xfrm>
          <a:custGeom>
            <a:avLst/>
            <a:gdLst>
              <a:gd name="connisteX0" fmla="*/ 49530 w 4537710"/>
              <a:gd name="connsiteY0" fmla="*/ 24765 h 6442075"/>
              <a:gd name="connisteX1" fmla="*/ 2497455 w 4537710"/>
              <a:gd name="connsiteY1" fmla="*/ 0 h 6442075"/>
              <a:gd name="connisteX2" fmla="*/ 2534920 w 4537710"/>
              <a:gd name="connsiteY2" fmla="*/ 2769870 h 6442075"/>
              <a:gd name="connisteX3" fmla="*/ 4512945 w 4537710"/>
              <a:gd name="connsiteY3" fmla="*/ 2757170 h 6442075"/>
              <a:gd name="connisteX4" fmla="*/ 4537710 w 4537710"/>
              <a:gd name="connsiteY4" fmla="*/ 6442075 h 6442075"/>
              <a:gd name="connisteX5" fmla="*/ 0 w 4537710"/>
              <a:gd name="connsiteY5" fmla="*/ 6392545 h 6442075"/>
              <a:gd name="connisteX6" fmla="*/ 49530 w 4537710"/>
              <a:gd name="connsiteY6" fmla="*/ 24765 h 6442075"/>
            </a:gdLst>
            <a:ahLst/>
            <a:cxnLst/>
            <a:rect l="l" t="t" r="r" b="b"/>
            <a:pathLst>
              <a:path w="4537710" h="6442075">
                <a:moveTo>
                  <a:pt x="49530" y="24765"/>
                </a:moveTo>
                <a:lnTo>
                  <a:pt x="2497455" y="0"/>
                </a:lnTo>
                <a:lnTo>
                  <a:pt x="2534920" y="2769870"/>
                </a:lnTo>
                <a:lnTo>
                  <a:pt x="4512945" y="2757170"/>
                </a:lnTo>
                <a:lnTo>
                  <a:pt x="4537710" y="6442075"/>
                </a:lnTo>
                <a:lnTo>
                  <a:pt x="0" y="6392545"/>
                </a:lnTo>
                <a:lnTo>
                  <a:pt x="49530" y="24765"/>
                </a:lnTo>
                <a:close/>
              </a:path>
            </a:pathLst>
          </a:custGeom>
          <a:noFill/>
          <a:ln w="18851" cmpd="sng">
            <a:solidFill>
              <a:srgbClr val="0070C0"/>
            </a:solidFill>
            <a:prstDash val="lgDash"/>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sz="1015"/>
          </a:p>
        </p:txBody>
      </p:sp>
      <p:sp>
        <p:nvSpPr>
          <p:cNvPr id="1099" name="蓝图-矩形 183"/>
          <p:cNvSpPr>
            <a:spLocks noGrp="1"/>
          </p:cNvSpPr>
          <p:nvPr/>
        </p:nvSpPr>
        <p:spPr>
          <a:xfrm>
            <a:off x="4652645" y="398145"/>
            <a:ext cx="3413125" cy="3325495"/>
          </a:xfrm>
          <a:prstGeom prst="rect">
            <a:avLst/>
          </a:prstGeom>
          <a:noFill/>
          <a:ln w="18851" cmpd="sng">
            <a:solidFill>
              <a:schemeClr val="accent2"/>
            </a:solidFill>
            <a:prstDash val="lgDash"/>
          </a:ln>
        </p:spPr>
        <p:style>
          <a:lnRef idx="2">
            <a:schemeClr val="accent1">
              <a:lumMod val="75000"/>
            </a:schemeClr>
          </a:lnRef>
          <a:fillRef idx="1">
            <a:schemeClr val="accent1"/>
          </a:fillRef>
          <a:effectRef idx="0">
            <a:srgbClr val="FFFFFF"/>
          </a:effectRef>
          <a:fontRef idx="minor">
            <a:schemeClr val="lt1"/>
          </a:fontRef>
        </p:style>
        <p:txBody>
          <a:bodyPr vert="horz" wrap="square" anchor="ctr">
            <a:noAutofit/>
          </a:bodyPr>
          <a:lstStyle/>
          <a:p>
            <a:pPr lvl="0" algn="ctr">
              <a:buClrTx/>
              <a:buSzTx/>
              <a:buFontTx/>
              <a:buNone/>
            </a:pPr>
            <a:endParaRPr sz="1015"/>
          </a:p>
        </p:txBody>
      </p:sp>
      <p:sp>
        <p:nvSpPr>
          <p:cNvPr id="1100" name="蓝图-Text 64"/>
          <p:cNvSpPr>
            <a:spLocks noGrp="1"/>
          </p:cNvSpPr>
          <p:nvPr/>
        </p:nvSpPr>
        <p:spPr>
          <a:xfrm>
            <a:off x="2381061" y="1748369"/>
            <a:ext cx="1973769" cy="12786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烤房维护</a:t>
            </a:r>
            <a:endParaRPr sz="790" b="1">
              <a:solidFill>
                <a:srgbClr val="FFFFFF"/>
              </a:solidFill>
              <a:latin typeface="微软雅黑"/>
              <a:ea typeface="微软雅黑"/>
              <a:cs typeface="微软雅黑"/>
            </a:endParaRPr>
          </a:p>
        </p:txBody>
      </p:sp>
      <p:sp>
        <p:nvSpPr>
          <p:cNvPr id="1101" name="蓝图-Text 36"/>
          <p:cNvSpPr>
            <a:spLocks noGrp="1"/>
          </p:cNvSpPr>
          <p:nvPr/>
        </p:nvSpPr>
        <p:spPr>
          <a:xfrm>
            <a:off x="3493816" y="1047669"/>
            <a:ext cx="2136253" cy="129440"/>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Web端</a:t>
            </a:r>
            <a:endParaRPr sz="695" b="1">
              <a:solidFill>
                <a:srgbClr val="333333"/>
              </a:solidFill>
              <a:latin typeface="微软雅黑"/>
              <a:ea typeface="微软雅黑"/>
              <a:cs typeface="微软雅黑"/>
            </a:endParaRPr>
          </a:p>
        </p:txBody>
      </p:sp>
      <p:sp>
        <p:nvSpPr>
          <p:cNvPr id="1017" name="蓝图-Text 23"/>
          <p:cNvSpPr>
            <a:spLocks noGrp="1"/>
          </p:cNvSpPr>
          <p:nvPr/>
        </p:nvSpPr>
        <p:spPr>
          <a:xfrm>
            <a:off x="2881497" y="1097324"/>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1018" name="蓝图-Text 24"/>
          <p:cNvSpPr>
            <a:spLocks noGrp="1"/>
          </p:cNvSpPr>
          <p:nvPr/>
        </p:nvSpPr>
        <p:spPr>
          <a:xfrm>
            <a:off x="5758815" y="1104900"/>
            <a:ext cx="636270" cy="9144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查看</a:t>
            </a:r>
            <a:endParaRPr sz="595" b="1" dirty="0">
              <a:solidFill>
                <a:srgbClr val="333333"/>
              </a:solidFill>
              <a:latin typeface="微软雅黑"/>
              <a:ea typeface="微软雅黑"/>
              <a:cs typeface="微软雅黑"/>
            </a:endParaRPr>
          </a:p>
        </p:txBody>
      </p:sp>
      <p:sp>
        <p:nvSpPr>
          <p:cNvPr id="1097" name="蓝图-Text 26"/>
          <p:cNvSpPr>
            <a:spLocks noGrp="1"/>
          </p:cNvSpPr>
          <p:nvPr/>
        </p:nvSpPr>
        <p:spPr>
          <a:xfrm>
            <a:off x="1468755" y="1044575"/>
            <a:ext cx="331470" cy="9144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3" name="蓝图-Shape 46"/>
          <p:cNvSpPr>
            <a:spLocks noGrp="1"/>
          </p:cNvSpPr>
          <p:nvPr/>
        </p:nvSpPr>
        <p:spPr>
          <a:xfrm>
            <a:off x="5779763" y="1468609"/>
            <a:ext cx="134015" cy="182980"/>
          </a:xfrm>
          <a:prstGeom prst="upArrow">
            <a:avLst/>
          </a:prstGeom>
          <a:solidFill>
            <a:srgbClr val="A20025"/>
          </a:solidFill>
          <a:ln w="1270">
            <a:noFill/>
            <a:prstDash val="solid"/>
          </a:ln>
        </p:spPr>
      </p:sp>
      <p:sp>
        <p:nvSpPr>
          <p:cNvPr id="5" name="蓝图-Shape 45"/>
          <p:cNvSpPr>
            <a:spLocks noGrp="1"/>
          </p:cNvSpPr>
          <p:nvPr/>
        </p:nvSpPr>
        <p:spPr>
          <a:xfrm>
            <a:off x="1419860" y="915035"/>
            <a:ext cx="106045" cy="214630"/>
          </a:xfrm>
          <a:prstGeom prst="upArrow">
            <a:avLst/>
          </a:prstGeom>
          <a:solidFill>
            <a:srgbClr val="A20025"/>
          </a:solidFill>
          <a:ln w="1270">
            <a:noFill/>
            <a:prstDash val="solid"/>
          </a:ln>
        </p:spPr>
      </p:sp>
      <p:sp>
        <p:nvSpPr>
          <p:cNvPr id="8" name="蓝图-Shape 45"/>
          <p:cNvSpPr>
            <a:spLocks noGrp="1"/>
          </p:cNvSpPr>
          <p:nvPr/>
        </p:nvSpPr>
        <p:spPr>
          <a:xfrm>
            <a:off x="2876755" y="921691"/>
            <a:ext cx="148394" cy="162422"/>
          </a:xfrm>
          <a:prstGeom prst="upArrow">
            <a:avLst/>
          </a:prstGeom>
          <a:solidFill>
            <a:srgbClr val="A20025"/>
          </a:solidFill>
          <a:ln w="1270">
            <a:noFill/>
            <a:prstDash val="solid"/>
          </a:ln>
        </p:spPr>
      </p:sp>
      <p:sp>
        <p:nvSpPr>
          <p:cNvPr id="10" name="蓝图-Shape 45"/>
          <p:cNvSpPr>
            <a:spLocks noGrp="1"/>
          </p:cNvSpPr>
          <p:nvPr/>
        </p:nvSpPr>
        <p:spPr>
          <a:xfrm>
            <a:off x="5751195" y="934085"/>
            <a:ext cx="203200" cy="158115"/>
          </a:xfrm>
          <a:prstGeom prst="upArrow">
            <a:avLst/>
          </a:prstGeom>
          <a:solidFill>
            <a:srgbClr val="A20025"/>
          </a:solidFill>
          <a:ln w="1270">
            <a:noFill/>
            <a:prstDash val="solid"/>
          </a:ln>
        </p:spPr>
      </p:sp>
      <p:sp>
        <p:nvSpPr>
          <p:cNvPr id="16" name="蓝图-Shape 104"/>
          <p:cNvSpPr>
            <a:spLocks noGrp="1"/>
          </p:cNvSpPr>
          <p:nvPr/>
        </p:nvSpPr>
        <p:spPr>
          <a:xfrm>
            <a:off x="1911152" y="3019910"/>
            <a:ext cx="115384" cy="129611"/>
          </a:xfrm>
          <a:prstGeom prst="upArrow">
            <a:avLst/>
          </a:prstGeom>
          <a:solidFill>
            <a:srgbClr val="6D8764"/>
          </a:solidFill>
          <a:ln w="1270">
            <a:noFill/>
            <a:prstDash val="solid"/>
          </a:ln>
        </p:spPr>
      </p:sp>
      <p:sp>
        <p:nvSpPr>
          <p:cNvPr id="18" name="蓝图-Shape 104"/>
          <p:cNvSpPr>
            <a:spLocks noGrp="1"/>
          </p:cNvSpPr>
          <p:nvPr/>
        </p:nvSpPr>
        <p:spPr>
          <a:xfrm>
            <a:off x="2081014" y="4145052"/>
            <a:ext cx="115384" cy="129611"/>
          </a:xfrm>
          <a:prstGeom prst="upArrow">
            <a:avLst/>
          </a:prstGeom>
          <a:solidFill>
            <a:srgbClr val="6D8764"/>
          </a:solidFill>
          <a:ln w="1270">
            <a:noFill/>
            <a:prstDash val="solid"/>
          </a:ln>
        </p:spPr>
      </p:sp>
      <p:sp>
        <p:nvSpPr>
          <p:cNvPr id="20" name="蓝图-Shape 104"/>
          <p:cNvSpPr>
            <a:spLocks noGrp="1"/>
          </p:cNvSpPr>
          <p:nvPr/>
        </p:nvSpPr>
        <p:spPr>
          <a:xfrm>
            <a:off x="3449869" y="4137271"/>
            <a:ext cx="115384" cy="129611"/>
          </a:xfrm>
          <a:prstGeom prst="upArrow">
            <a:avLst/>
          </a:prstGeom>
          <a:solidFill>
            <a:srgbClr val="6D8764"/>
          </a:solidFill>
          <a:ln w="1270">
            <a:noFill/>
            <a:prstDash val="solid"/>
          </a:ln>
        </p:spPr>
      </p:sp>
      <p:sp>
        <p:nvSpPr>
          <p:cNvPr id="22" name="蓝图-Shape 104"/>
          <p:cNvSpPr>
            <a:spLocks noGrp="1"/>
          </p:cNvSpPr>
          <p:nvPr/>
        </p:nvSpPr>
        <p:spPr>
          <a:xfrm>
            <a:off x="6043396" y="4136938"/>
            <a:ext cx="115384" cy="129611"/>
          </a:xfrm>
          <a:prstGeom prst="upArrow">
            <a:avLst/>
          </a:prstGeom>
          <a:solidFill>
            <a:srgbClr val="6D8764"/>
          </a:solidFill>
          <a:ln w="1270">
            <a:noFill/>
            <a:prstDash val="solid"/>
          </a:ln>
        </p:spPr>
        <p:txBody>
          <a:bodyPr/>
          <a:lstStyle/>
          <a:p>
            <a:endParaRPr lang="zh-CN" altLang="en-US" dirty="0"/>
          </a:p>
        </p:txBody>
      </p:sp>
      <p:sp>
        <p:nvSpPr>
          <p:cNvPr id="24" name="蓝图-Shape 45"/>
          <p:cNvSpPr>
            <a:spLocks noGrp="1"/>
          </p:cNvSpPr>
          <p:nvPr/>
        </p:nvSpPr>
        <p:spPr>
          <a:xfrm rot="10800000">
            <a:off x="1347470" y="1968500"/>
            <a:ext cx="106680" cy="988695"/>
          </a:xfrm>
          <a:prstGeom prst="upArrow">
            <a:avLst/>
          </a:prstGeom>
          <a:solidFill>
            <a:srgbClr val="FFC000"/>
          </a:solidFill>
          <a:ln w="1270">
            <a:noFill/>
            <a:prstDash val="solid"/>
          </a:ln>
        </p:spPr>
      </p:sp>
      <p:sp>
        <p:nvSpPr>
          <p:cNvPr id="26" name="蓝图-Shape 45"/>
          <p:cNvSpPr>
            <a:spLocks noGrp="1"/>
          </p:cNvSpPr>
          <p:nvPr/>
        </p:nvSpPr>
        <p:spPr>
          <a:xfrm rot="10800000">
            <a:off x="2591506" y="1982041"/>
            <a:ext cx="134015" cy="990040"/>
          </a:xfrm>
          <a:prstGeom prst="upArrow">
            <a:avLst/>
          </a:prstGeom>
          <a:solidFill>
            <a:srgbClr val="FFC000"/>
          </a:solidFill>
          <a:ln w="1270">
            <a:noFill/>
            <a:prstDash val="solid"/>
          </a:ln>
        </p:spPr>
      </p:sp>
      <p:sp>
        <p:nvSpPr>
          <p:cNvPr id="28" name="蓝图-Shape 45"/>
          <p:cNvSpPr>
            <a:spLocks noGrp="1"/>
          </p:cNvSpPr>
          <p:nvPr/>
        </p:nvSpPr>
        <p:spPr>
          <a:xfrm rot="10800000">
            <a:off x="3914774" y="1977870"/>
            <a:ext cx="134015" cy="915361"/>
          </a:xfrm>
          <a:prstGeom prst="upArrow">
            <a:avLst/>
          </a:prstGeom>
          <a:solidFill>
            <a:srgbClr val="FFC000"/>
          </a:solidFill>
          <a:ln w="1270">
            <a:noFill/>
            <a:prstDash val="solid"/>
          </a:ln>
        </p:spPr>
      </p:sp>
      <p:sp>
        <p:nvSpPr>
          <p:cNvPr id="30" name="蓝图-Shape 45"/>
          <p:cNvSpPr>
            <a:spLocks noGrp="1"/>
          </p:cNvSpPr>
          <p:nvPr/>
        </p:nvSpPr>
        <p:spPr>
          <a:xfrm rot="10800000">
            <a:off x="5192395" y="2013585"/>
            <a:ext cx="111760" cy="712470"/>
          </a:xfrm>
          <a:prstGeom prst="upArrow">
            <a:avLst/>
          </a:prstGeom>
          <a:solidFill>
            <a:srgbClr val="FFC000"/>
          </a:solidFill>
          <a:ln w="1270">
            <a:noFill/>
            <a:prstDash val="solid"/>
          </a:ln>
        </p:spPr>
      </p:sp>
      <p:sp>
        <p:nvSpPr>
          <p:cNvPr id="32" name="蓝图-Shape 45"/>
          <p:cNvSpPr>
            <a:spLocks noGrp="1"/>
          </p:cNvSpPr>
          <p:nvPr/>
        </p:nvSpPr>
        <p:spPr>
          <a:xfrm rot="10800000">
            <a:off x="6158758" y="1968554"/>
            <a:ext cx="134015" cy="1023583"/>
          </a:xfrm>
          <a:prstGeom prst="upArrow">
            <a:avLst/>
          </a:prstGeom>
          <a:solidFill>
            <a:srgbClr val="FFC000"/>
          </a:solidFill>
          <a:ln w="1270">
            <a:noFill/>
            <a:prstDash val="solid"/>
          </a:ln>
        </p:spPr>
      </p:sp>
      <p:sp>
        <p:nvSpPr>
          <p:cNvPr id="1039" name="蓝图-Text 76"/>
          <p:cNvSpPr>
            <a:spLocks noGrp="1"/>
          </p:cNvSpPr>
          <p:nvPr/>
        </p:nvSpPr>
        <p:spPr>
          <a:xfrm>
            <a:off x="3462375" y="2070732"/>
            <a:ext cx="1064285" cy="254168"/>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健康评分</a:t>
            </a:r>
            <a:r>
              <a:rPr sz="695" b="1" dirty="0">
                <a:solidFill>
                  <a:srgbClr val="F8F7F7"/>
                </a:solidFill>
                <a:latin typeface="微软雅黑"/>
                <a:ea typeface="微软雅黑"/>
                <a:cs typeface="微软雅黑"/>
              </a:rPr>
              <a:t> &amp; </a:t>
            </a:r>
            <a:r>
              <a:rPr sz="695" b="1" dirty="0" err="1">
                <a:solidFill>
                  <a:srgbClr val="F8F7F7"/>
                </a:solidFill>
                <a:latin typeface="微软雅黑"/>
                <a:ea typeface="微软雅黑"/>
                <a:cs typeface="微软雅黑"/>
              </a:rPr>
              <a:t>寿命预测</a:t>
            </a:r>
            <a:r>
              <a:rPr lang="zh-CN" sz="695" b="1" dirty="0" err="1">
                <a:solidFill>
                  <a:srgbClr val="F8F7F7"/>
                </a:solidFill>
                <a:latin typeface="微软雅黑"/>
                <a:ea typeface="微软雅黑"/>
                <a:cs typeface="微软雅黑"/>
              </a:rPr>
              <a:t>模型</a:t>
            </a:r>
            <a:endParaRPr lang="zh-CN" sz="695" b="1" dirty="0" err="1">
              <a:solidFill>
                <a:srgbClr val="F8F7F7"/>
              </a:solidFill>
              <a:latin typeface="微软雅黑"/>
              <a:ea typeface="微软雅黑"/>
              <a:cs typeface="微软雅黑"/>
            </a:endParaRPr>
          </a:p>
        </p:txBody>
      </p:sp>
      <p:sp>
        <p:nvSpPr>
          <p:cNvPr id="1043" name="蓝图-Text 86"/>
          <p:cNvSpPr>
            <a:spLocks noGrp="1"/>
          </p:cNvSpPr>
          <p:nvPr/>
        </p:nvSpPr>
        <p:spPr>
          <a:xfrm>
            <a:off x="3518926" y="2404892"/>
            <a:ext cx="897255" cy="197300"/>
          </a:xfrm>
          <a:prstGeom prst="rect">
            <a:avLst/>
          </a:prstGeom>
          <a:solidFill>
            <a:schemeClr val="accent4">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健康分・剩余寿命等优先级安排维修</a:t>
            </a:r>
            <a:endParaRPr sz="595" dirty="0"/>
          </a:p>
        </p:txBody>
      </p:sp>
      <p:sp>
        <p:nvSpPr>
          <p:cNvPr id="1048" name="蓝图-Text 96"/>
          <p:cNvSpPr>
            <a:spLocks noGrp="1"/>
          </p:cNvSpPr>
          <p:nvPr/>
        </p:nvSpPr>
        <p:spPr>
          <a:xfrm>
            <a:off x="3529231" y="2682097"/>
            <a:ext cx="876645" cy="111846"/>
          </a:xfrm>
          <a:prstGeom prst="rect">
            <a:avLst/>
          </a:prstGeom>
          <a:solidFill>
            <a:schemeClr val="accent4">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维修完成</a:t>
            </a:r>
            <a:endParaRPr sz="595" b="1">
              <a:solidFill>
                <a:srgbClr val="333333"/>
              </a:solidFill>
              <a:latin typeface="微软雅黑"/>
              <a:ea typeface="微软雅黑"/>
              <a:cs typeface="微软雅黑"/>
            </a:endParaRPr>
          </a:p>
        </p:txBody>
      </p:sp>
      <p:sp>
        <p:nvSpPr>
          <p:cNvPr id="1040" name="蓝图-Text 78"/>
          <p:cNvSpPr>
            <a:spLocks noGrp="1"/>
          </p:cNvSpPr>
          <p:nvPr/>
        </p:nvSpPr>
        <p:spPr>
          <a:xfrm>
            <a:off x="2276759" y="2033765"/>
            <a:ext cx="790850" cy="109333"/>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一键报修</a:t>
            </a:r>
            <a:endParaRPr sz="595" b="1">
              <a:solidFill>
                <a:srgbClr val="333333"/>
              </a:solidFill>
              <a:latin typeface="微软雅黑"/>
              <a:ea typeface="微软雅黑"/>
              <a:cs typeface="微软雅黑"/>
            </a:endParaRPr>
          </a:p>
        </p:txBody>
      </p:sp>
      <p:sp>
        <p:nvSpPr>
          <p:cNvPr id="1044" name="蓝图-Text 88"/>
          <p:cNvSpPr>
            <a:spLocks noGrp="1"/>
          </p:cNvSpPr>
          <p:nvPr/>
        </p:nvSpPr>
        <p:spPr>
          <a:xfrm>
            <a:off x="2276759" y="2409141"/>
            <a:ext cx="790850" cy="115931"/>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查看维修进度</a:t>
            </a:r>
            <a:endParaRPr sz="595" b="1">
              <a:solidFill>
                <a:srgbClr val="333333"/>
              </a:solidFill>
              <a:latin typeface="微软雅黑"/>
              <a:ea typeface="微软雅黑"/>
              <a:cs typeface="微软雅黑"/>
            </a:endParaRPr>
          </a:p>
        </p:txBody>
      </p:sp>
      <p:sp>
        <p:nvSpPr>
          <p:cNvPr id="1047" name="蓝图-Text 94"/>
          <p:cNvSpPr>
            <a:spLocks noGrp="1"/>
          </p:cNvSpPr>
          <p:nvPr/>
        </p:nvSpPr>
        <p:spPr>
          <a:xfrm>
            <a:off x="2259265" y="2579864"/>
            <a:ext cx="825839" cy="123785"/>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匹配到维修人员</a:t>
            </a:r>
            <a:endParaRPr sz="595" b="1">
              <a:solidFill>
                <a:srgbClr val="333333"/>
              </a:solidFill>
              <a:latin typeface="微软雅黑"/>
              <a:ea typeface="微软雅黑"/>
              <a:cs typeface="微软雅黑"/>
            </a:endParaRPr>
          </a:p>
        </p:txBody>
      </p:sp>
      <p:sp>
        <p:nvSpPr>
          <p:cNvPr id="1078" name="蓝图-Text 66"/>
          <p:cNvSpPr>
            <a:spLocks noGrp="1"/>
          </p:cNvSpPr>
          <p:nvPr/>
        </p:nvSpPr>
        <p:spPr>
          <a:xfrm>
            <a:off x="2276759" y="1876238"/>
            <a:ext cx="790850" cy="10273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主动报修</a:t>
            </a:r>
            <a:endParaRPr sz="595" b="1">
              <a:solidFill>
                <a:srgbClr val="333333"/>
              </a:solidFill>
              <a:latin typeface="微软雅黑"/>
              <a:ea typeface="微软雅黑"/>
              <a:cs typeface="微软雅黑"/>
            </a:endParaRPr>
          </a:p>
        </p:txBody>
      </p:sp>
      <p:sp>
        <p:nvSpPr>
          <p:cNvPr id="1087" name="蓝图-Text 94"/>
          <p:cNvSpPr>
            <a:spLocks noGrp="1"/>
          </p:cNvSpPr>
          <p:nvPr/>
        </p:nvSpPr>
        <p:spPr>
          <a:xfrm>
            <a:off x="2265256" y="2758441"/>
            <a:ext cx="813857" cy="134153"/>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匹配到维修部件</a:t>
            </a:r>
            <a:endParaRPr sz="595" b="1" dirty="0">
              <a:solidFill>
                <a:srgbClr val="333333"/>
              </a:solidFill>
              <a:latin typeface="微软雅黑"/>
              <a:ea typeface="微软雅黑"/>
              <a:cs typeface="微软雅黑"/>
            </a:endParaRPr>
          </a:p>
        </p:txBody>
      </p:sp>
      <p:sp>
        <p:nvSpPr>
          <p:cNvPr id="1088" name="蓝图-Text 76"/>
          <p:cNvSpPr>
            <a:spLocks noGrp="1"/>
          </p:cNvSpPr>
          <p:nvPr/>
        </p:nvSpPr>
        <p:spPr>
          <a:xfrm>
            <a:off x="2284730" y="2197735"/>
            <a:ext cx="762635" cy="156210"/>
          </a:xfrm>
          <a:prstGeom prst="roundRect">
            <a:avLst/>
          </a:prstGeom>
          <a:solidFill>
            <a:srgbClr val="F8CB52">
              <a:alpha val="62000"/>
            </a:srgbClr>
          </a:solidFill>
        </p:spPr>
        <p:txBody>
          <a:bodyPr wrap="square" lIns="0" tIns="0" rIns="0" bIns="0" anchor="ctr">
            <a:noAutofit/>
          </a:bodyPr>
          <a:lstStyle/>
          <a:p>
            <a:pPr lvl="0" algn="ctr">
              <a:buClrTx/>
              <a:buSzTx/>
              <a:buFontTx/>
            </a:pPr>
            <a:r>
              <a:rPr sz="695" b="1">
                <a:latin typeface="微软雅黑"/>
                <a:ea typeface="微软雅黑"/>
                <a:cs typeface="微软雅黑"/>
                <a:sym typeface="+mn-ea"/>
              </a:rPr>
              <a:t>自动匹配</a:t>
            </a:r>
            <a:endParaRPr sz="695" b="1">
              <a:latin typeface="微软雅黑"/>
              <a:ea typeface="微软雅黑"/>
              <a:cs typeface="微软雅黑"/>
              <a:sym typeface="+mn-ea"/>
            </a:endParaRPr>
          </a:p>
        </p:txBody>
      </p:sp>
      <p:sp>
        <p:nvSpPr>
          <p:cNvPr id="1035" name="蓝图-Text 66"/>
          <p:cNvSpPr>
            <a:spLocks noGrp="1"/>
          </p:cNvSpPr>
          <p:nvPr/>
        </p:nvSpPr>
        <p:spPr>
          <a:xfrm>
            <a:off x="1045845" y="2056765"/>
            <a:ext cx="742315" cy="116205"/>
          </a:xfrm>
          <a:prstGeom prst="rect">
            <a:avLst/>
          </a:prstGeom>
          <a:solidFill>
            <a:schemeClr val="accent6">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发起烤房申请</a:t>
            </a:r>
            <a:endParaRPr sz="595" b="1" dirty="0">
              <a:solidFill>
                <a:srgbClr val="333333"/>
              </a:solidFill>
              <a:latin typeface="微软雅黑"/>
              <a:ea typeface="微软雅黑"/>
              <a:cs typeface="微软雅黑"/>
            </a:endParaRPr>
          </a:p>
        </p:txBody>
      </p:sp>
      <p:sp>
        <p:nvSpPr>
          <p:cNvPr id="1041" name="蓝图-Text 80"/>
          <p:cNvSpPr>
            <a:spLocks noGrp="1"/>
          </p:cNvSpPr>
          <p:nvPr/>
        </p:nvSpPr>
        <p:spPr>
          <a:xfrm>
            <a:off x="1045845" y="2247265"/>
            <a:ext cx="713740" cy="145415"/>
          </a:xfrm>
          <a:prstGeom prst="roundRect">
            <a:avLst>
              <a:gd name="adj" fmla="val 22624"/>
            </a:avLst>
          </a:prstGeom>
          <a:solidFill>
            <a:srgbClr val="F8CB52">
              <a:alpha val="62000"/>
            </a:srgbClr>
          </a:solidFill>
        </p:spPr>
        <p:txBody>
          <a:bodyPr wrap="square" lIns="0" tIns="0" rIns="0" bIns="0" anchor="ctr"/>
          <a:lstStyle/>
          <a:p>
            <a:pPr algn="ctr"/>
            <a:r>
              <a:rPr sz="695" b="1">
                <a:solidFill>
                  <a:schemeClr val="tx1"/>
                </a:solidFill>
                <a:latin typeface="微软雅黑"/>
                <a:ea typeface="微软雅黑"/>
                <a:cs typeface="微软雅黑"/>
              </a:rPr>
              <a:t>烤房推荐</a:t>
            </a:r>
            <a:endParaRPr sz="695" b="1">
              <a:solidFill>
                <a:schemeClr val="tx1"/>
              </a:solidFill>
              <a:latin typeface="微软雅黑"/>
              <a:ea typeface="微软雅黑"/>
              <a:cs typeface="微软雅黑"/>
            </a:endParaRPr>
          </a:p>
        </p:txBody>
      </p:sp>
      <p:sp>
        <p:nvSpPr>
          <p:cNvPr id="1045" name="蓝图-Text 90"/>
          <p:cNvSpPr>
            <a:spLocks noGrp="1"/>
          </p:cNvSpPr>
          <p:nvPr/>
        </p:nvSpPr>
        <p:spPr>
          <a:xfrm>
            <a:off x="1045210" y="2461895"/>
            <a:ext cx="742315" cy="205105"/>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使用状态・容量・距离・健康状态优先级排序</a:t>
            </a:r>
            <a:endParaRPr sz="595" b="1">
              <a:solidFill>
                <a:srgbClr val="333333"/>
              </a:solidFill>
              <a:latin typeface="微软雅黑"/>
              <a:ea typeface="微软雅黑"/>
              <a:cs typeface="微软雅黑"/>
            </a:endParaRPr>
          </a:p>
        </p:txBody>
      </p:sp>
      <p:sp>
        <p:nvSpPr>
          <p:cNvPr id="1050" name="蓝图-Text 100"/>
          <p:cNvSpPr>
            <a:spLocks noGrp="1"/>
          </p:cNvSpPr>
          <p:nvPr/>
        </p:nvSpPr>
        <p:spPr>
          <a:xfrm>
            <a:off x="1037590" y="2740660"/>
            <a:ext cx="755015" cy="145415"/>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调剂到烤房</a:t>
            </a:r>
            <a:endParaRPr sz="595"/>
          </a:p>
        </p:txBody>
      </p:sp>
      <p:sp>
        <p:nvSpPr>
          <p:cNvPr id="1086" name="蓝图-Text 66"/>
          <p:cNvSpPr>
            <a:spLocks noGrp="1"/>
          </p:cNvSpPr>
          <p:nvPr/>
        </p:nvSpPr>
        <p:spPr>
          <a:xfrm>
            <a:off x="1019175" y="1889760"/>
            <a:ext cx="784225" cy="92710"/>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烤房预约</a:t>
            </a:r>
            <a:endParaRPr sz="595" b="1" dirty="0">
              <a:solidFill>
                <a:srgbClr val="333333"/>
              </a:solidFill>
              <a:latin typeface="微软雅黑"/>
              <a:ea typeface="微软雅黑"/>
              <a:cs typeface="微软雅黑"/>
            </a:endParaRPr>
          </a:p>
        </p:txBody>
      </p:sp>
      <p:sp>
        <p:nvSpPr>
          <p:cNvPr id="1092" name="蓝图-Text 74"/>
          <p:cNvSpPr>
            <a:spLocks noGrp="1"/>
          </p:cNvSpPr>
          <p:nvPr/>
        </p:nvSpPr>
        <p:spPr>
          <a:xfrm>
            <a:off x="4936490" y="2049145"/>
            <a:ext cx="623570" cy="11874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分析维修数据</a:t>
            </a:r>
            <a:endParaRPr sz="595" b="1">
              <a:solidFill>
                <a:srgbClr val="333333"/>
              </a:solidFill>
              <a:latin typeface="微软雅黑"/>
              <a:ea typeface="微软雅黑"/>
              <a:cs typeface="微软雅黑"/>
            </a:endParaRPr>
          </a:p>
        </p:txBody>
      </p:sp>
      <p:sp>
        <p:nvSpPr>
          <p:cNvPr id="1093" name="蓝图-Text 74"/>
          <p:cNvSpPr>
            <a:spLocks noGrp="1"/>
          </p:cNvSpPr>
          <p:nvPr/>
        </p:nvSpPr>
        <p:spPr>
          <a:xfrm>
            <a:off x="4928870" y="2208530"/>
            <a:ext cx="635635" cy="19304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生成维修建议</a:t>
            </a:r>
            <a:endParaRPr sz="595" b="1">
              <a:solidFill>
                <a:srgbClr val="333333"/>
              </a:solidFill>
              <a:latin typeface="微软雅黑"/>
              <a:ea typeface="微软雅黑"/>
              <a:cs typeface="微软雅黑"/>
            </a:endParaRPr>
          </a:p>
          <a:p>
            <a:pPr lvl="0" algn="ctr">
              <a:buClrTx/>
              <a:buSzTx/>
              <a:buFontTx/>
              <a:buNone/>
            </a:pPr>
            <a:r>
              <a:rPr sz="595" b="1">
                <a:solidFill>
                  <a:srgbClr val="333333"/>
                </a:solidFill>
                <a:latin typeface="微软雅黑"/>
                <a:ea typeface="微软雅黑"/>
                <a:cs typeface="微软雅黑"/>
              </a:rPr>
              <a:t>报告</a:t>
            </a:r>
            <a:endParaRPr sz="595" b="1">
              <a:solidFill>
                <a:srgbClr val="333333"/>
              </a:solidFill>
              <a:latin typeface="微软雅黑"/>
              <a:ea typeface="微软雅黑"/>
              <a:cs typeface="微软雅黑"/>
            </a:endParaRPr>
          </a:p>
        </p:txBody>
      </p:sp>
      <p:sp>
        <p:nvSpPr>
          <p:cNvPr id="1094" name="蓝图-Text 74"/>
          <p:cNvSpPr>
            <a:spLocks noGrp="1"/>
          </p:cNvSpPr>
          <p:nvPr/>
        </p:nvSpPr>
        <p:spPr>
          <a:xfrm>
            <a:off x="4923155" y="2446020"/>
            <a:ext cx="645795" cy="13779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分配资金</a:t>
            </a:r>
            <a:endParaRPr sz="595" b="1">
              <a:solidFill>
                <a:srgbClr val="333333"/>
              </a:solidFill>
              <a:latin typeface="微软雅黑"/>
              <a:ea typeface="微软雅黑"/>
              <a:cs typeface="微软雅黑"/>
            </a:endParaRPr>
          </a:p>
        </p:txBody>
      </p:sp>
      <p:sp>
        <p:nvSpPr>
          <p:cNvPr id="1038" name="蓝图-Text 74"/>
          <p:cNvSpPr>
            <a:spLocks noGrp="1"/>
          </p:cNvSpPr>
          <p:nvPr/>
        </p:nvSpPr>
        <p:spPr>
          <a:xfrm>
            <a:off x="5787204" y="2012025"/>
            <a:ext cx="877124" cy="136667"/>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逐个新增烤房点</a:t>
            </a:r>
            <a:endParaRPr sz="595" b="1">
              <a:solidFill>
                <a:srgbClr val="333333"/>
              </a:solidFill>
              <a:latin typeface="微软雅黑"/>
              <a:ea typeface="微软雅黑"/>
              <a:cs typeface="微软雅黑"/>
            </a:endParaRPr>
          </a:p>
        </p:txBody>
      </p:sp>
      <p:sp>
        <p:nvSpPr>
          <p:cNvPr id="1042" name="蓝图-Text 82"/>
          <p:cNvSpPr>
            <a:spLocks noGrp="1"/>
          </p:cNvSpPr>
          <p:nvPr/>
        </p:nvSpPr>
        <p:spPr>
          <a:xfrm>
            <a:off x="5729688" y="2320357"/>
            <a:ext cx="992157" cy="192904"/>
          </a:xfrm>
          <a:prstGeom prst="roundRect">
            <a:avLst/>
          </a:prstGeom>
          <a:solidFill>
            <a:srgbClr val="FA6800"/>
          </a:solidFill>
        </p:spPr>
        <p:txBody>
          <a:bodyPr wrap="square" lIns="0" tIns="0" rIns="0" bIns="0" anchor="ctr">
            <a:noAutofit/>
          </a:bodyPr>
          <a:lstStyle/>
          <a:p>
            <a:pPr lvl="0" algn="ctr">
              <a:buClrTx/>
              <a:buSzTx/>
              <a:buFontTx/>
              <a:buNone/>
            </a:pPr>
            <a:r>
              <a:rPr sz="695" b="1">
                <a:solidFill>
                  <a:srgbClr val="F8F7F7"/>
                </a:solidFill>
                <a:latin typeface="微软雅黑"/>
                <a:ea typeface="微软雅黑"/>
                <a:cs typeface="微软雅黑"/>
              </a:rPr>
              <a:t>烤房负载度</a:t>
            </a:r>
            <a:r>
              <a:rPr lang="zh-CN" sz="695" b="1">
                <a:solidFill>
                  <a:srgbClr val="F8F7F7"/>
                </a:solidFill>
                <a:latin typeface="微软雅黑"/>
                <a:ea typeface="微软雅黑"/>
                <a:cs typeface="微软雅黑"/>
              </a:rPr>
              <a:t>模型</a:t>
            </a:r>
            <a:endParaRPr lang="zh-CN" sz="695" b="1">
              <a:solidFill>
                <a:srgbClr val="F8F7F7"/>
              </a:solidFill>
              <a:latin typeface="微软雅黑"/>
              <a:ea typeface="微软雅黑"/>
              <a:cs typeface="微软雅黑"/>
            </a:endParaRPr>
          </a:p>
        </p:txBody>
      </p:sp>
      <p:sp>
        <p:nvSpPr>
          <p:cNvPr id="1046" name="蓝图-Text 92"/>
          <p:cNvSpPr>
            <a:spLocks noGrp="1"/>
          </p:cNvSpPr>
          <p:nvPr/>
        </p:nvSpPr>
        <p:spPr>
          <a:xfrm>
            <a:off x="5791038" y="2553224"/>
            <a:ext cx="869456" cy="17719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对比全县全市平均烤房负载度</a:t>
            </a:r>
            <a:endParaRPr sz="595" b="1">
              <a:solidFill>
                <a:srgbClr val="333333"/>
              </a:solidFill>
              <a:latin typeface="微软雅黑"/>
              <a:ea typeface="微软雅黑"/>
              <a:cs typeface="微软雅黑"/>
            </a:endParaRPr>
          </a:p>
        </p:txBody>
      </p:sp>
      <p:sp>
        <p:nvSpPr>
          <p:cNvPr id="1051" name="蓝图-Text 102"/>
          <p:cNvSpPr>
            <a:spLocks noGrp="1"/>
          </p:cNvSpPr>
          <p:nvPr/>
        </p:nvSpPr>
        <p:spPr>
          <a:xfrm>
            <a:off x="5780254" y="2770381"/>
            <a:ext cx="891024" cy="14137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确定新建个数等</a:t>
            </a:r>
            <a:endParaRPr sz="595" b="1">
              <a:solidFill>
                <a:srgbClr val="333333"/>
              </a:solidFill>
              <a:latin typeface="微软雅黑"/>
              <a:ea typeface="微软雅黑"/>
              <a:cs typeface="微软雅黑"/>
            </a:endParaRPr>
          </a:p>
        </p:txBody>
      </p:sp>
      <p:sp>
        <p:nvSpPr>
          <p:cNvPr id="1095" name="蓝图-Text 92"/>
          <p:cNvSpPr>
            <a:spLocks noGrp="1"/>
          </p:cNvSpPr>
          <p:nvPr/>
        </p:nvSpPr>
        <p:spPr>
          <a:xfrm>
            <a:off x="5790799" y="2188655"/>
            <a:ext cx="869935" cy="9173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沙盘演练</a:t>
            </a:r>
            <a:endParaRPr sz="595" b="1" dirty="0">
              <a:solidFill>
                <a:srgbClr val="333333"/>
              </a:solidFill>
              <a:latin typeface="微软雅黑"/>
              <a:ea typeface="微软雅黑"/>
              <a:cs typeface="微软雅黑"/>
            </a:endParaRPr>
          </a:p>
        </p:txBody>
      </p:sp>
      <p:sp>
        <p:nvSpPr>
          <p:cNvPr id="35" name="文本框 34"/>
          <p:cNvSpPr txBox="1"/>
          <p:nvPr/>
        </p:nvSpPr>
        <p:spPr>
          <a:xfrm>
            <a:off x="3703887" y="3215116"/>
            <a:ext cx="2751238" cy="300082"/>
          </a:xfrm>
          <a:prstGeom prst="rect">
            <a:avLst/>
          </a:prstGeom>
          <a:noFill/>
        </p:spPr>
        <p:txBody>
          <a:bodyPr wrap="square" rtlCol="0">
            <a:spAutoFit/>
          </a:bodyPr>
          <a:lstStyle/>
          <a:p>
            <a:r>
              <a:rPr lang="zh-CN" altLang="en-US" b="1" spc="600" dirty="0"/>
              <a:t>一切以服务烟农为目标</a:t>
            </a:r>
            <a:endParaRPr lang="zh-CN" altLang="en-US" b="1" spc="600" dirty="0"/>
          </a:p>
        </p:txBody>
      </p:sp>
      <p:sp>
        <p:nvSpPr>
          <p:cNvPr id="7" name="蓝图-Shape 67"/>
          <p:cNvSpPr>
            <a:spLocks noGrp="1"/>
          </p:cNvSpPr>
          <p:nvPr/>
        </p:nvSpPr>
        <p:spPr>
          <a:xfrm>
            <a:off x="6874510" y="1915160"/>
            <a:ext cx="1062990" cy="915670"/>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p>
        </p:txBody>
      </p:sp>
      <p:sp>
        <p:nvSpPr>
          <p:cNvPr id="9" name="蓝图-Text 66"/>
          <p:cNvSpPr>
            <a:spLocks noGrp="1"/>
          </p:cNvSpPr>
          <p:nvPr/>
        </p:nvSpPr>
        <p:spPr>
          <a:xfrm>
            <a:off x="7032494" y="1863492"/>
            <a:ext cx="760175" cy="91425"/>
          </a:xfrm>
          <a:prstGeom prst="rect">
            <a:avLst/>
          </a:prstGeom>
          <a:solidFill>
            <a:schemeClr val="accent2">
              <a:lumMod val="20000"/>
              <a:lumOff val="80000"/>
            </a:schemeClr>
          </a:solidFill>
        </p:spPr>
        <p:txBody>
          <a:bodyPr wrap="square" lIns="0" tIns="0" rIns="0" bIns="0" anchor="ctr"/>
          <a:lstStyle/>
          <a:p>
            <a:pPr algn="ctr"/>
            <a:r>
              <a:rPr lang="zh-CN" sz="595" b="1">
                <a:solidFill>
                  <a:srgbClr val="333333"/>
                </a:solidFill>
                <a:latin typeface="微软雅黑"/>
                <a:ea typeface="微软雅黑"/>
                <a:cs typeface="微软雅黑"/>
              </a:rPr>
              <a:t>烟农</a:t>
            </a:r>
            <a:r>
              <a:rPr lang="zh-CN" sz="595" b="1">
                <a:solidFill>
                  <a:srgbClr val="333333"/>
                </a:solidFill>
                <a:latin typeface="微软雅黑"/>
                <a:ea typeface="微软雅黑"/>
                <a:cs typeface="微软雅黑"/>
              </a:rPr>
              <a:t>培育</a:t>
            </a:r>
            <a:endParaRPr lang="zh-CN" sz="595" b="1">
              <a:solidFill>
                <a:srgbClr val="333333"/>
              </a:solidFill>
              <a:latin typeface="微软雅黑"/>
              <a:ea typeface="微软雅黑"/>
              <a:cs typeface="微软雅黑"/>
            </a:endParaRPr>
          </a:p>
        </p:txBody>
      </p:sp>
      <p:sp>
        <p:nvSpPr>
          <p:cNvPr id="12" name="蓝图-Shape 45"/>
          <p:cNvSpPr>
            <a:spLocks noGrp="1"/>
          </p:cNvSpPr>
          <p:nvPr/>
        </p:nvSpPr>
        <p:spPr>
          <a:xfrm rot="10800000">
            <a:off x="7345680" y="1951355"/>
            <a:ext cx="133985" cy="915035"/>
          </a:xfrm>
          <a:prstGeom prst="upArrow">
            <a:avLst/>
          </a:prstGeom>
          <a:solidFill>
            <a:srgbClr val="FFC000"/>
          </a:solidFill>
          <a:ln w="1270">
            <a:noFill/>
            <a:prstDash val="solid"/>
          </a:ln>
        </p:spPr>
      </p:sp>
      <p:sp>
        <p:nvSpPr>
          <p:cNvPr id="13" name="蓝图-Text 74"/>
          <p:cNvSpPr>
            <a:spLocks noGrp="1"/>
          </p:cNvSpPr>
          <p:nvPr/>
        </p:nvSpPr>
        <p:spPr>
          <a:xfrm>
            <a:off x="6974019" y="1994880"/>
            <a:ext cx="877124" cy="136667"/>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lang="zh-CN" sz="595" b="1">
                <a:solidFill>
                  <a:srgbClr val="333333"/>
                </a:solidFill>
                <a:latin typeface="微软雅黑"/>
                <a:ea typeface="微软雅黑"/>
                <a:cs typeface="微软雅黑"/>
              </a:rPr>
              <a:t>分析烘烤档案和其他</a:t>
            </a:r>
            <a:r>
              <a:rPr lang="zh-CN" sz="595" b="1">
                <a:solidFill>
                  <a:srgbClr val="333333"/>
                </a:solidFill>
                <a:latin typeface="微软雅黑"/>
                <a:ea typeface="微软雅黑"/>
                <a:cs typeface="微软雅黑"/>
              </a:rPr>
              <a:t>数据</a:t>
            </a:r>
            <a:endParaRPr lang="zh-CN" sz="595" b="1">
              <a:solidFill>
                <a:srgbClr val="333333"/>
              </a:solidFill>
              <a:latin typeface="微软雅黑"/>
              <a:ea typeface="微软雅黑"/>
              <a:cs typeface="微软雅黑"/>
            </a:endParaRPr>
          </a:p>
        </p:txBody>
      </p:sp>
      <p:sp>
        <p:nvSpPr>
          <p:cNvPr id="14" name="蓝图-Text 82"/>
          <p:cNvSpPr>
            <a:spLocks noGrp="1"/>
          </p:cNvSpPr>
          <p:nvPr/>
        </p:nvSpPr>
        <p:spPr>
          <a:xfrm>
            <a:off x="6916503" y="2231457"/>
            <a:ext cx="992157" cy="192904"/>
          </a:xfrm>
          <a:prstGeom prst="roundRect">
            <a:avLst/>
          </a:prstGeom>
          <a:solidFill>
            <a:srgbClr val="FA6800"/>
          </a:solidFill>
        </p:spPr>
        <p:txBody>
          <a:bodyPr wrap="square" lIns="0" tIns="0" rIns="0" bIns="0" anchor="ctr">
            <a:noAutofit/>
          </a:bodyPr>
          <a:lstStyle/>
          <a:p>
            <a:pPr lvl="0" algn="ctr">
              <a:buClrTx/>
              <a:buSzTx/>
              <a:buFontTx/>
              <a:buNone/>
            </a:pPr>
            <a:r>
              <a:rPr lang="zh-CN" sz="695" b="1">
                <a:solidFill>
                  <a:srgbClr val="F8F7F7"/>
                </a:solidFill>
                <a:latin typeface="微软雅黑"/>
                <a:ea typeface="微软雅黑"/>
                <a:cs typeface="微软雅黑"/>
              </a:rPr>
              <a:t>烟农画像分析</a:t>
            </a:r>
            <a:r>
              <a:rPr lang="zh-CN" sz="695" b="1">
                <a:solidFill>
                  <a:srgbClr val="F8F7F7"/>
                </a:solidFill>
                <a:latin typeface="微软雅黑"/>
                <a:ea typeface="微软雅黑"/>
                <a:cs typeface="微软雅黑"/>
              </a:rPr>
              <a:t>模型</a:t>
            </a:r>
            <a:endParaRPr lang="zh-CN" sz="695" b="1">
              <a:solidFill>
                <a:srgbClr val="F8F7F7"/>
              </a:solidFill>
              <a:latin typeface="微软雅黑"/>
              <a:ea typeface="微软雅黑"/>
              <a:cs typeface="微软雅黑"/>
            </a:endParaRPr>
          </a:p>
        </p:txBody>
      </p:sp>
      <p:sp>
        <p:nvSpPr>
          <p:cNvPr id="15" name="蓝图-Text 92"/>
          <p:cNvSpPr>
            <a:spLocks noGrp="1"/>
          </p:cNvSpPr>
          <p:nvPr/>
        </p:nvSpPr>
        <p:spPr>
          <a:xfrm>
            <a:off x="6977853" y="2536079"/>
            <a:ext cx="869456" cy="17719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lang="zh-CN" sz="595" b="1">
                <a:solidFill>
                  <a:srgbClr val="333333"/>
                </a:solidFill>
                <a:latin typeface="微软雅黑"/>
                <a:ea typeface="微软雅黑"/>
                <a:cs typeface="微软雅黑"/>
              </a:rPr>
              <a:t>针对性对烟农</a:t>
            </a:r>
            <a:r>
              <a:rPr lang="zh-CN" sz="595" b="1">
                <a:solidFill>
                  <a:srgbClr val="333333"/>
                </a:solidFill>
                <a:latin typeface="微软雅黑"/>
                <a:ea typeface="微软雅黑"/>
                <a:cs typeface="微软雅黑"/>
              </a:rPr>
              <a:t>开展培训</a:t>
            </a:r>
            <a:endParaRPr lang="zh-CN" sz="595" b="1">
              <a:solidFill>
                <a:srgbClr val="333333"/>
              </a:solidFill>
              <a:latin typeface="微软雅黑"/>
              <a:ea typeface="微软雅黑"/>
              <a:cs typeface="微软雅黑"/>
            </a:endParaRPr>
          </a:p>
        </p:txBody>
      </p:sp>
    </p:spTree>
  </p:cSld>
  <p:clrMapOvr>
    <a:overrideClrMapping bg1="lt1" tx1="dk1" bg2="lt2" tx2="dk2" accent1="accent1" accent2="accent2" accent3="accent3" accent4="accent4" accent5="accent5" accent6="accent6" hlink="hlink" folHlink="folHlink"/>
  </p:clrMapOvr>
  <p:transition spd="slow" advTm="46738">
    <p:comb/>
  </p:transition>
</p:sld>
</file>

<file path=ppt/tags/tag1.xml><?xml version="1.0" encoding="utf-8"?>
<p:tagLst xmlns:p="http://schemas.openxmlformats.org/presentationml/2006/main">
  <p:tag name="OPCH-99A71AD194F49CD88B70F5E7F8D94FA283A5B85718ED1DC830159ABEFDE4C712" val="[{&quot;GradientColorId&quot;:&quot;&quot;,&quot;IsFree&quot;:true,&quot;IsGradient&quot;:false,&quot;ImagePath&quot;:&quot;&quot;,&quot;GradientColor&quot;:null,&quot;SimpleColor&quot;:&quot;#EDEDED&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822</Words>
  <Application>WPS 演示</Application>
  <PresentationFormat>全屏显示(16:9)</PresentationFormat>
  <Paragraphs>288</Paragraphs>
  <Slides>2</Slides>
  <Notes>3</Notes>
  <HiddenSlides>0</HiddenSlides>
  <MMClips>0</MMClips>
  <ScaleCrop>false</ScaleCrop>
  <HeadingPairs>
    <vt:vector size="6" baseType="variant">
      <vt:variant>
        <vt:lpstr>已用的字体</vt:lpstr>
      </vt:variant>
      <vt:variant>
        <vt:i4>45</vt:i4>
      </vt:variant>
      <vt:variant>
        <vt:lpstr>主题</vt:lpstr>
      </vt:variant>
      <vt:variant>
        <vt:i4>1</vt:i4>
      </vt:variant>
      <vt:variant>
        <vt:lpstr>幻灯片标题</vt:lpstr>
      </vt:variant>
      <vt:variant>
        <vt:i4>2</vt:i4>
      </vt:variant>
    </vt:vector>
  </HeadingPairs>
  <TitlesOfParts>
    <vt:vector size="48" baseType="lpstr">
      <vt:lpstr>Arial</vt:lpstr>
      <vt:lpstr>宋体</vt:lpstr>
      <vt:lpstr>Wingdings</vt:lpstr>
      <vt:lpstr>等线</vt:lpstr>
      <vt:lpstr>微软雅黑</vt:lpstr>
      <vt:lpstr>汉仪旗黑</vt:lpstr>
      <vt:lpstr>微软雅黑</vt:lpstr>
      <vt:lpstr>微软雅黑</vt:lpstr>
      <vt:lpstr>Roboto Regular</vt:lpstr>
      <vt:lpstr>思源宋体 CN Heavy</vt:lpstr>
      <vt:lpstr>汉仪综艺体简</vt:lpstr>
      <vt:lpstr>华文宋体</vt:lpstr>
      <vt:lpstr>阿里巴巴普惠体 B</vt:lpstr>
      <vt:lpstr>苹方-简</vt:lpstr>
      <vt:lpstr>黑体</vt:lpstr>
      <vt:lpstr>微软雅黑 Light</vt:lpstr>
      <vt:lpstr>Arial</vt:lpstr>
      <vt:lpstr>黑体</vt:lpstr>
      <vt:lpstr>阿里巴巴普惠体 Heavy</vt:lpstr>
      <vt:lpstr>阿里巴巴普惠体</vt:lpstr>
      <vt:lpstr>Wingdings</vt:lpstr>
      <vt:lpstr>微软雅黑</vt:lpstr>
      <vt:lpstr>PingFang SC</vt:lpstr>
      <vt:lpstr>宋体</vt:lpstr>
      <vt:lpstr>方正正大黑简体</vt:lpstr>
      <vt:lpstr>Calibri</vt:lpstr>
      <vt:lpstr>Helvetica Neue</vt:lpstr>
      <vt:lpstr>Calibri Light</vt:lpstr>
      <vt:lpstr>汉仪书宋二KW</vt:lpstr>
      <vt:lpstr>等线 Light</vt:lpstr>
      <vt:lpstr>汉仪中等线KW</vt:lpstr>
      <vt:lpstr>Apple SD Gothic Neo</vt:lpstr>
      <vt:lpstr>汉仪中黑KW</vt:lpstr>
      <vt:lpstr>Thonburi</vt:lpstr>
      <vt:lpstr>宋体</vt:lpstr>
      <vt:lpstr>Arial Unicode MS</vt:lpstr>
      <vt:lpstr>Roboto Regular</vt:lpstr>
      <vt:lpstr>微软雅黑 Light</vt:lpstr>
      <vt:lpstr>思源宋体 CN Heavy</vt:lpstr>
      <vt:lpstr>方正正大黑简体</vt:lpstr>
      <vt:lpstr>等线</vt:lpstr>
      <vt:lpstr>阿里巴巴普惠体</vt:lpstr>
      <vt:lpstr>阿里巴巴普惠体 B</vt:lpstr>
      <vt:lpstr>阿里巴巴普惠体 Heavy</vt:lpstr>
      <vt:lpstr>MS PGothic</vt: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www.1ppt.com</dc:title>
  <dc:creator>www.1ppt.com</dc:creator>
  <cp:keywords>www.1ppt.com</cp:keywords>
  <cp:lastModifiedBy>上善若水</cp:lastModifiedBy>
  <cp:revision>1113</cp:revision>
  <dcterms:created xsi:type="dcterms:W3CDTF">2026-08-31T15:18:51Z</dcterms:created>
  <dcterms:modified xsi:type="dcterms:W3CDTF">2026-08-31T15:18:51Z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4FC2078A6B84B29A3F608C6A9F642047_42</vt:lpwstr>
  </property>
</Properties>
</file>